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
  </p:handoutMasterIdLst>
  <p:sldIdLst>
    <p:sldId id="256" r:id="rId8"/>
    <p:sldId id="257" r:id="rId9"/>
    <p:sldId id="258" r:id="rId7"/>
    <p:sldId id="259" r:id="rId6"/>
    <p:sldId id="260" r:id="rId5"/>
    <p:sldId id="261" r:id="rId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7010400" cy="9296400"/>
  <p:defaultTextStyle>
    <a:defPPr>
      <a:defRPr lang="en-US"/>
    </a:defPPr>
    <a:lvl1pPr algn="l" rtl="0" fontAlgn="base">
      <a:spcBef>
        <a:spcPct val="0"/>
      </a:spcBef>
      <a:spcAft>
        <a:spcPct val="0"/>
      </a:spcAft>
      <a:defRPr sz="20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90204" pitchFamily="34" charset="0"/>
        <a:ea typeface="+mn-ea"/>
        <a:cs typeface="+mn-cs"/>
      </a:defRPr>
    </a:lvl5pPr>
    <a:lvl6pPr marL="2286000" algn="l" defTabSz="914400" rtl="0" eaLnBrk="1" latinLnBrk="0" hangingPunct="1">
      <a:defRPr sz="2000" kern="1200">
        <a:solidFill>
          <a:schemeClr val="tx1"/>
        </a:solidFill>
        <a:latin typeface="Arial" panose="020B0604020202090204" pitchFamily="34" charset="0"/>
        <a:ea typeface="+mn-ea"/>
        <a:cs typeface="+mn-cs"/>
      </a:defRPr>
    </a:lvl6pPr>
    <a:lvl7pPr marL="2743200" algn="l" defTabSz="914400" rtl="0" eaLnBrk="1" latinLnBrk="0" hangingPunct="1">
      <a:defRPr sz="2000" kern="1200">
        <a:solidFill>
          <a:schemeClr val="tx1"/>
        </a:solidFill>
        <a:latin typeface="Arial" panose="020B0604020202090204" pitchFamily="34" charset="0"/>
        <a:ea typeface="+mn-ea"/>
        <a:cs typeface="+mn-cs"/>
      </a:defRPr>
    </a:lvl7pPr>
    <a:lvl8pPr marL="3200400" algn="l" defTabSz="914400" rtl="0" eaLnBrk="1" latinLnBrk="0" hangingPunct="1">
      <a:defRPr sz="2000" kern="1200">
        <a:solidFill>
          <a:schemeClr val="tx1"/>
        </a:solidFill>
        <a:latin typeface="Arial" panose="020B0604020202090204" pitchFamily="34" charset="0"/>
        <a:ea typeface="+mn-ea"/>
        <a:cs typeface="+mn-cs"/>
      </a:defRPr>
    </a:lvl8pPr>
    <a:lvl9pPr marL="3657600" algn="l" defTabSz="914400" rtl="0" eaLnBrk="1" latinLnBrk="0" hangingPunct="1">
      <a:defRPr sz="2000" kern="120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90B0D4"/>
    <a:srgbClr val="B4593C"/>
    <a:srgbClr val="0066CC"/>
    <a:srgbClr val="547B9C"/>
    <a:srgbClr val="C0309A"/>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200"/>
        <p:guide pos="3840"/>
      </p:guideLst>
    </p:cSldViewPr>
  </p:slideViewPr>
  <p:notesViewPr>
    <p:cSldViewPr snapToGrid="0">
      <p:cViewPr>
        <p:scale>
          <a:sx n="1" d="2"/>
          <a:sy n="1" d="2"/>
        </p:scale>
        <p:origin x="0" y="0"/>
      </p:cViewPr>
      <p:guideLst>
        <p:guide orient="horz" pos="2982"/>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54360"/>
                </a:solidFill>
                <a:latin typeface="Arial"/>
              </a:rPr>
              <a:t>Forecast error: mean absolute daily error (₹), 6 rolling 30-day backtests</a:t>
            </a:r>
          </a:p>
        </c:rich>
      </c:tx>
      <c:layout/>
      <c:overlay val="0"/>
    </c:title>
    <c:autoTitleDeleted val="0"/>
    <c:plotArea>
      <c:barChart>
        <c:barDir val="bar"/>
        <c:grouping val="clustered"/>
        <c:ser>
          <c:idx val="0"/>
          <c:order val="0"/>
          <c:tx>
            <c:strRef>
              <c:f>Sheet1!$B$1</c:f>
              <c:strCache>
                <c:ptCount val="1"/>
                <c:pt idx="0">
                  <c:v>Mean absolute daily error (₹)</c:v>
                </c:pt>
              </c:strCache>
            </c:strRef>
          </c:tx>
          <c:spPr>
            <a:solidFill>
              <a:srgbClr val="0079BC"/>
            </a:solidFill>
          </c:spPr>
          <c:dPt>
            <c:idx val="0"/>
            <c:spPr>
              <a:solidFill>
                <a:srgbClr val="9AA5B1"/>
              </a:solidFill>
            </c:spPr>
          </c:dPt>
          <c:dPt>
            <c:idx val="1"/>
            <c:spPr>
              <a:solidFill>
                <a:srgbClr val="5FA3D6"/>
              </a:solidFill>
            </c:spPr>
          </c:dPt>
          <c:dPt>
            <c:idx val="2"/>
            <c:spPr>
              <a:solidFill>
                <a:srgbClr val="154360"/>
              </a:solidFill>
            </c:spPr>
          </c:dPt>
          <c:cat>
            <c:strRef>
              <c:f>Sheet1!$A$2:$A$4</c:f>
              <c:strCache>
                <c:ptCount val="3"/>
                <c:pt idx="0">
                  <c:v>Seasonal naive</c:v>
                </c:pt>
                <c:pt idx="1">
                  <c:v>Naive + known schedule</c:v>
                </c:pt>
                <c:pt idx="2">
                  <c:v>Prophet + known schedule</c:v>
                </c:pt>
              </c:strCache>
            </c:strRef>
          </c:cat>
          <c:val>
            <c:numRef>
              <c:f>Sheet1!$B$2:$B$4</c:f>
              <c:numCache>
                <c:formatCode>General</c:formatCode>
                <c:ptCount val="3"/>
                <c:pt idx="0">
                  <c:v>9784</c:v>
                </c:pt>
                <c:pt idx="1">
                  <c:v>5771</c:v>
                </c:pt>
                <c:pt idx="2">
                  <c:v>5746</c:v>
                </c:pt>
              </c:numCache>
            </c:numRef>
          </c:val>
        </c:ser>
        <c:dLbls>
          <c:numFmt formatCode="&quot;₹&quot;#,##0" sourceLinked="0"/>
          <c:txPr>
            <a:bodyPr/>
            <a:lstStyle/>
            <a:p>
              <a:pPr>
                <a:defRPr sz="1300" b="1">
                  <a:solidFill>
                    <a:srgbClr val="1F2937"/>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9D3E0"/>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13000.0"/>
          <c:min val="0.0"/>
        </c:scaling>
        <c:delete val="0"/>
        <c:axPos val="b"/>
        <c:majorTickMark val="out"/>
        <c:minorTickMark val="none"/>
        <c:tickLblPos val="none"/>
        <c:spPr>
          <a:ln>
            <a:noFill/>
          </a:ln>
        </c:spPr>
        <c:crossAx val="-2068027336"/>
        <c:crosses val="autoZero"/>
      </c:valAx>
    </c:plotArea>
    <c:dispBlanksAs val="gap"/>
  </c:chart>
  <c:txPr>
    <a:bodyPr/>
    <a:lstStyle/>
    <a:p>
      <a:pPr>
        <a:defRPr sz="1200">
          <a:latin typeface="Arial"/>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628" cy="464981"/>
          </a:xfrm>
          <a:prstGeom prst="rect">
            <a:avLst/>
          </a:prstGeom>
        </p:spPr>
        <p:txBody>
          <a:bodyPr vert="horz" lIns="92153" tIns="46077" rIns="92153" bIns="46077" rtlCol="0"/>
          <a:lstStyle>
            <a:lvl1pPr algn="l">
              <a:defRPr sz="1200"/>
            </a:lvl1pPr>
          </a:lstStyle>
          <a:p>
            <a:endParaRPr lang="en-US"/>
          </a:p>
        </p:txBody>
      </p:sp>
      <p:sp>
        <p:nvSpPr>
          <p:cNvPr id="3" name="Date Placeholder 2"/>
          <p:cNvSpPr>
            <a:spLocks noGrp="1"/>
          </p:cNvSpPr>
          <p:nvPr>
            <p:ph type="dt" sz="quarter" idx="1"/>
          </p:nvPr>
        </p:nvSpPr>
        <p:spPr>
          <a:xfrm>
            <a:off x="3971173" y="1"/>
            <a:ext cx="3037628" cy="464981"/>
          </a:xfrm>
          <a:prstGeom prst="rect">
            <a:avLst/>
          </a:prstGeom>
        </p:spPr>
        <p:txBody>
          <a:bodyPr vert="horz" lIns="92153" tIns="46077" rIns="92153" bIns="46077" rtlCol="0"/>
          <a:lstStyle>
            <a:lvl1pPr algn="r">
              <a:defRPr sz="1200"/>
            </a:lvl1pPr>
          </a:lstStyle>
          <a:p>
            <a:fld id="{006C233A-9D74-4117-ACA8-060D36B7D83A}" type="datetimeFigureOut">
              <a:rPr lang="en-US" smtClean="0"/>
            </a:fld>
            <a:endParaRPr lang="en-US"/>
          </a:p>
        </p:txBody>
      </p:sp>
      <p:sp>
        <p:nvSpPr>
          <p:cNvPr id="4" name="Footer Placeholder 3"/>
          <p:cNvSpPr>
            <a:spLocks noGrp="1"/>
          </p:cNvSpPr>
          <p:nvPr>
            <p:ph type="ftr" sz="quarter" idx="2"/>
          </p:nvPr>
        </p:nvSpPr>
        <p:spPr>
          <a:xfrm>
            <a:off x="0" y="8829824"/>
            <a:ext cx="3037628" cy="464981"/>
          </a:xfrm>
          <a:prstGeom prst="rect">
            <a:avLst/>
          </a:prstGeom>
        </p:spPr>
        <p:txBody>
          <a:bodyPr vert="horz" lIns="92153" tIns="46077" rIns="92153" bIns="46077" rtlCol="0" anchor="b"/>
          <a:lstStyle>
            <a:lvl1pPr algn="l">
              <a:defRPr sz="1200"/>
            </a:lvl1pPr>
          </a:lstStyle>
          <a:p>
            <a:endParaRPr lang="en-US"/>
          </a:p>
        </p:txBody>
      </p:sp>
      <p:sp>
        <p:nvSpPr>
          <p:cNvPr id="5" name="Slide Number Placeholder 4"/>
          <p:cNvSpPr>
            <a:spLocks noGrp="1"/>
          </p:cNvSpPr>
          <p:nvPr>
            <p:ph type="sldNum" sz="quarter" idx="3"/>
          </p:nvPr>
        </p:nvSpPr>
        <p:spPr>
          <a:xfrm>
            <a:off x="3971173" y="8829824"/>
            <a:ext cx="3037628" cy="464981"/>
          </a:xfrm>
          <a:prstGeom prst="rect">
            <a:avLst/>
          </a:prstGeom>
        </p:spPr>
        <p:txBody>
          <a:bodyPr vert="horz" lIns="92153" tIns="46077" rIns="92153" bIns="46077" rtlCol="0" anchor="b"/>
          <a:lstStyle>
            <a:lvl1pPr algn="r">
              <a:defRPr sz="1200"/>
            </a:lvl1pPr>
          </a:lstStyle>
          <a:p>
            <a:fld id="{A28E399E-F7B0-4ADD-938A-755F22AEF96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840" cy="464821"/>
          </a:xfrm>
          <a:prstGeom prst="rect">
            <a:avLst/>
          </a:prstGeom>
          <a:noFill/>
          <a:ln w="9525">
            <a:noFill/>
            <a:miter lim="800000"/>
          </a:ln>
          <a:effectLst/>
        </p:spPr>
        <p:txBody>
          <a:bodyPr vert="horz" wrap="square" lIns="93205" tIns="46603" rIns="93205" bIns="46603" numCol="1" anchor="t" anchorCtr="0" compatLnSpc="1"/>
          <a:lstStyle>
            <a:lvl1pPr>
              <a:defRPr sz="1200"/>
            </a:lvl1pPr>
          </a:lstStyle>
          <a:p>
            <a:endParaRPr lang="en-US"/>
          </a:p>
        </p:txBody>
      </p:sp>
      <p:sp>
        <p:nvSpPr>
          <p:cNvPr id="4099" name="Rectangle 3"/>
          <p:cNvSpPr>
            <a:spLocks noGrp="1" noChangeArrowheads="1"/>
          </p:cNvSpPr>
          <p:nvPr>
            <p:ph type="dt" idx="1"/>
          </p:nvPr>
        </p:nvSpPr>
        <p:spPr bwMode="auto">
          <a:xfrm>
            <a:off x="3972563" y="0"/>
            <a:ext cx="3037840" cy="464821"/>
          </a:xfrm>
          <a:prstGeom prst="rect">
            <a:avLst/>
          </a:prstGeom>
          <a:noFill/>
          <a:ln w="9525">
            <a:noFill/>
            <a:miter lim="800000"/>
          </a:ln>
          <a:effectLst/>
        </p:spPr>
        <p:txBody>
          <a:bodyPr vert="horz" wrap="square" lIns="93205" tIns="46603" rIns="93205" bIns="46603" numCol="1" anchor="t" anchorCtr="0" compatLnSpc="1"/>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406400" y="698500"/>
            <a:ext cx="6197600" cy="34861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34721" y="4415792"/>
            <a:ext cx="5140960" cy="4183380"/>
          </a:xfrm>
          <a:prstGeom prst="rect">
            <a:avLst/>
          </a:prstGeom>
          <a:noFill/>
          <a:ln w="9525">
            <a:noFill/>
            <a:miter lim="800000"/>
          </a:ln>
          <a:effectLst/>
        </p:spPr>
        <p:txBody>
          <a:bodyPr vert="horz" wrap="square" lIns="93205" tIns="46603" rIns="93205" bIns="46603"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102" name="Rectangle 6"/>
          <p:cNvSpPr>
            <a:spLocks noGrp="1" noChangeArrowheads="1"/>
          </p:cNvSpPr>
          <p:nvPr>
            <p:ph type="ftr" sz="quarter" idx="4"/>
          </p:nvPr>
        </p:nvSpPr>
        <p:spPr bwMode="auto">
          <a:xfrm>
            <a:off x="1" y="8831581"/>
            <a:ext cx="3037840" cy="464821"/>
          </a:xfrm>
          <a:prstGeom prst="rect">
            <a:avLst/>
          </a:prstGeom>
          <a:noFill/>
          <a:ln w="9525">
            <a:noFill/>
            <a:miter lim="800000"/>
          </a:ln>
          <a:effectLst/>
        </p:spPr>
        <p:txBody>
          <a:bodyPr vert="horz" wrap="square" lIns="93205" tIns="46603" rIns="93205" bIns="46603" numCol="1" anchor="b" anchorCtr="0" compatLnSpc="1"/>
          <a:lstStyle>
            <a:lvl1pPr>
              <a:defRPr sz="1200"/>
            </a:lvl1pPr>
          </a:lstStyle>
          <a:p>
            <a:endParaRPr lang="en-US"/>
          </a:p>
        </p:txBody>
      </p:sp>
      <p:sp>
        <p:nvSpPr>
          <p:cNvPr id="4103" name="Rectangle 7"/>
          <p:cNvSpPr>
            <a:spLocks noGrp="1" noChangeArrowheads="1"/>
          </p:cNvSpPr>
          <p:nvPr>
            <p:ph type="sldNum" sz="quarter" idx="5"/>
          </p:nvPr>
        </p:nvSpPr>
        <p:spPr bwMode="auto">
          <a:xfrm>
            <a:off x="3972563" y="8831581"/>
            <a:ext cx="3037840" cy="464821"/>
          </a:xfrm>
          <a:prstGeom prst="rect">
            <a:avLst/>
          </a:prstGeom>
          <a:noFill/>
          <a:ln w="9525">
            <a:noFill/>
            <a:miter lim="800000"/>
          </a:ln>
          <a:effectLst/>
        </p:spPr>
        <p:txBody>
          <a:bodyPr vert="horz" wrap="square" lIns="93205" tIns="46603" rIns="93205" bIns="46603" numCol="1" anchor="b" anchorCtr="0" compatLnSpc="1"/>
          <a:lstStyle>
            <a:lvl1pPr algn="r">
              <a:defRPr sz="1200"/>
            </a:lvl1pPr>
          </a:lstStyle>
          <a:p>
            <a:fld id="{848BB432-97C3-4B7D-8D6F-1BA494990EB4}"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FinPilot AI, our UIT2739 full-stack project. It is a personal-finance assistant that builds a user's financial picture from the bank SMS and e-mails they already receive, but only after the user allows each source. This common part covers the problem, requirements, architecture, SDLC, modules, database, testing and lessons learnt; each of us then demonstrates our own features.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FinPilot AI is a full-stack app: a server on the user's laptop, used from a browser or from our Android app. Capture: bank SMS read on the phone and e-mail read from the user's mailbox, each behind its own consent, plus optional uploads. Understand: every message is classified, its fields extracted, duplicates reconciled and the payment categorised. Predict: a 90-day cash-flow forecast, subscription analysis and tax estimates. Act: insights, a coach, budgets, goals and a wishlist checked against what is safe to spend.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already exists: every UPI payment, card swipe and bill produces an SMS or e-mail. The problem is that it stays scattered and existing tools fall short in four ways shown on the right. Our statement: build a reliable, forward-looking picture of a person's money from the messages they already receive, only with their consent, running on their own computer at zero cost.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each mapped to modules we built. On the right is the scope we committed to. Out of scope, as stated in our README: no live bank or Account Aggregator connections, no payments, no product recommendations or crawling, no iOS app because iOS gives apps no SMS access, and tax figures are estimates, not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FR1 to FR7 cover accounts, consent, capture, uploads, transactions, the dashboard and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requirement is implemented end to end: an API endpoint, business logic in a service, database tables and a page. FR8 to FR14 cover subscriptions, tax, insights and coach, budgets and goals, the wishlist, settings and data rights, and the model evaluation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qualities are visible in the code. Security: bcrypt, JWT in httpOnly cookies for the browser and Bearer tokens for the app, rotating refresh tokens, CSRF and CORS checks and a login rate limit. Privacy: personal chats, OTPs and promotions are dropped on the phone; consent per source, Fernet encryption and a 90-day retention purge. Reliability: transactions roll back, analytics stages are isolated, Prophet falls back to a baseline, and syncing the same SMS twice stores it once. Portability: one command for the server, one for the phone app.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is one Python process started by run.py on the laptop. FastAPI on port 8000 serves the JSON API under /api/v1 and the pre-built Next.js site. The same site is bundled into our Android app with Capacitor; the app calls the server over Wi-Fi, the phone's hotspot or a Cloudflare tunnel, with Bearer tokens, and its SMS plugin reads and filters the inbox on the phone. Services hold the business logic and ML; a job runner and scheduler read mailboxes every 30 minutes, re-check wishlist prices daily and run the nightly analytics. Data lives in SQLite in WAL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layered. Routers handle HTTP and validation; dependencies give each request the signed-in user and a database session; services hold the rules; models map to SQLite. On the right is one real request: a what-if purchase on the Forecast page. It only reads the stored forecast, so it answers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tools are free and run locally. The frontend is a Next.js static export served by FastAPI, so Node.js is only needed to rebuild the UI. The backend uses FastAPI with SQLAlchemy and SQLite. ML uses scikit-learn and Prophet. The versions shown are the ones installed in our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followed an iterative and incremental model. Requirements were set at Review 0 in July; afterwards we added consent-based capture and revised the design to one process, SQLite and a one-command launcher instead of Docker and PostgreSQL. At the review, the features still ran on sample data, so we built the real-data release: an Android app that reads SMS, IMAP e-mail, file imports and a real wishlist, and removed the simulators. Each phase ended with a working app and a measurable 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phases as executed. Each one ended with a check we could demonstrate, for example: no transactions created from OTP or promotional messages, a receipt photo attached to its card payment, the property test showing Buy now never breaks the buffer, and the final phase: the Android app passing all 17 checks on an emulator with real-format SMS.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modules, all working end to end on the user's own data. Capture and receipts bring data in; transactions, review and anomaly detection make it trustworthy; forecasting, subscriptions and tax look ahead; insights, the coach, budgets and the wishlist turn it into decisions. Each team member will demonstrate their own modules.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from the running app: the dashboard, the Connections page of a new user after importing their SMS, the forecast with a what-if check, subscriptions, the tax comparison and the wishlist. The live demonstration follows after this common part, including the Android app.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whatever its source, goes through the same pipeline: SMS from the phone, e-mail from the mailbox, or an imported file. First the source must be active and the message inside the consent window; on the phone, chats, OTPs and promotions are dropped before anything is sent. A classifier recognises 12 kinds of message, the extractor reads the fields, and reconciliation makes sure one payment becomes one transaction even when it arrives by SMS and by e-mail. After new data, a background job refreshes the analytics that the pages 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SQLite with 29 tables, created by two Alembic migrations and grouped into four domains. The second migration removed the Smart Picks tables and added the mailbox connection, the wishlist's price history and the phone's sync state. Key decisions: money as integer paise, every user table cascades on delete, transactions record where they came from and how they were categorised, message text and mailbox passwords are encrypted, and the consent log is append-only.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everything on data with known answers. The chart is the forecast backtest: knowing the user's schedule cuts the error by about 41 percent against the seasonal-naive baseline, and Prophet improves it only a little more; an earlier version claimed 85 percent because its backtest saw future payments, which we fixed. The tiles show message understanding, de-duplication, categorisation, the coach and our real-format SMS corpus, which we used while improving the parser, so it is a regression set rather than an unseen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ran at four levels. 82 backend tests with pytest and Hypothesis, all passing on 18 October. 23 Playwright tests in a real browser: a new user's whole journey on real files, the phone layout on 12 pages, and the demo. The Android app on an Android 15 emulator: we planted real-format bank SMS, an OTP, a promotion and a personal chat, and checked that only the bank alerts reached the server, each as one transaction. Models are validated on held-out data, unseen bank formats and backtests.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main challenges and how we solved them, including making every feature work on real data. Right: improvements we identified while reviewing our own code, for example there is no log file yet because logs go to the terminal, the login rate limit lives in memory, the UI does not yet ask for consent again when the notice changes, and new SMS are read only while the app is open.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FinPilot AI turns messages people already receive into a private, forward-looking view of their money; every module works end to end on the user's own SMS and e-mail; privacy is built in; and our results are measured and tested, including on an Android device. In future it could read SMS in the background, connect to bank data through the Account Aggregator framework, and use a local language model behind the coach's provider interface.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11988800" cy="1268412"/>
          </a:xfrm>
          <a:prstGeom prst="rect">
            <a:avLst/>
          </a:prstGeom>
          <a:noFill/>
        </p:spPr>
      </p:pic>
      <p:sp>
        <p:nvSpPr>
          <p:cNvPr id="11267" name="Rectangle 3"/>
          <p:cNvSpPr>
            <a:spLocks noGrp="1" noChangeArrowheads="1"/>
          </p:cNvSpPr>
          <p:nvPr>
            <p:ph type="ctrTitle"/>
          </p:nvPr>
        </p:nvSpPr>
        <p:spPr>
          <a:xfrm>
            <a:off x="914400" y="2286000"/>
            <a:ext cx="10363200" cy="1143000"/>
          </a:xfrm>
        </p:spPr>
        <p:txBody>
          <a:bodyPr/>
          <a:lstStyle>
            <a:lvl1pPr>
              <a:defRPr>
                <a:solidFill>
                  <a:srgbClr val="1B57B5"/>
                </a:solidFill>
              </a:defRPr>
            </a:lvl1pPr>
          </a:lstStyle>
          <a:p>
            <a:r>
              <a:rPr lang="en-US"/>
              <a:t>Click to edit Master title style</a:t>
            </a:r>
            <a:endParaRPr lang="en-US"/>
          </a:p>
        </p:txBody>
      </p:sp>
      <p:sp>
        <p:nvSpPr>
          <p:cNvPr id="11268" name="Rectangle 4"/>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r>
              <a:rPr lang="en-US"/>
              <a:t>Click to edit Master subtitle style</a:t>
            </a:r>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E765331A-FB16-4349-BB1E-9292E7905A34}" type="slidenum">
              <a:rPr lang="en-US"/>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Slide Number Placeholder 2"/>
          <p:cNvSpPr>
            <a:spLocks noGrp="1"/>
          </p:cNvSpPr>
          <p:nvPr>
            <p:ph type="sldNum" sz="quarter" idx="10"/>
          </p:nvPr>
        </p:nvSpPr>
        <p:spPr>
          <a:xfrm>
            <a:off x="0" y="6321425"/>
            <a:ext cx="12192000" cy="476250"/>
          </a:xfrm>
        </p:spPr>
        <p:txBody>
          <a:bodyPr/>
          <a:lstStyle>
            <a:lvl1pPr>
              <a:defRPr/>
            </a:lvl1pPr>
          </a:lstStyle>
          <a:p>
            <a:fld id="{CA127EDD-5AE7-4F7E-A3D2-120782799796}" type="slidenum">
              <a:rPr lang="en-US"/>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50D1D595-6F66-4A04-B04D-68C711B5071F}"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oleObject" Target="../embeddings/oleObject1.bin"/><Relationship Id="rId16" Type="http://schemas.openxmlformats.org/officeDocument/2006/relationships/image" Target="../media/image2.emf"/><Relationship Id="rId17" Type="http://schemas.openxmlformats.org/officeDocument/2006/relationships/vmlDrawing" Target="../drawings/vmlDrawing1.v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09600" y="274638"/>
            <a:ext cx="10972800" cy="1143000"/>
          </a:xfrm>
          <a:prstGeom prst="rect">
            <a:avLst/>
          </a:prstGeom>
          <a:noFill/>
          <a:ln w="9525">
            <a:noFill/>
            <a:miter lim="800000"/>
          </a:ln>
          <a:effectLst/>
        </p:spPr>
        <p:txBody>
          <a:bodyPr vert="horz" wrap="square" lIns="91440" tIns="45720" rIns="91440" bIns="45720" numCol="1" anchor="ctr" anchorCtr="0" compatLnSpc="1"/>
          <a:lstStyle/>
          <a:p>
            <a:pPr lvl="0"/>
            <a:r>
              <a:rPr lang="en-US"/>
              <a:t>Click to edit Master title style</a:t>
            </a:r>
            <a:endParaRPr lang="en-US"/>
          </a:p>
        </p:txBody>
      </p:sp>
      <p:sp>
        <p:nvSpPr>
          <p:cNvPr id="10243" name="Rectangle 3"/>
          <p:cNvSpPr>
            <a:spLocks noGrp="1" noChangeArrowheads="1"/>
          </p:cNvSpPr>
          <p:nvPr>
            <p:ph type="body" idx="1"/>
          </p:nvPr>
        </p:nvSpPr>
        <p:spPr bwMode="auto">
          <a:xfrm>
            <a:off x="609600" y="1600201"/>
            <a:ext cx="10972800" cy="4525963"/>
          </a:xfrm>
          <a:prstGeom prst="rect">
            <a:avLst/>
          </a:prstGeom>
          <a:noFill/>
          <a:ln w="9525">
            <a:noFill/>
            <a:miter lim="800000"/>
          </a:ln>
          <a:effec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aphicFrame>
        <p:nvGraphicFramePr>
          <p:cNvPr id="10244" name="Object 4"/>
          <p:cNvGraphicFramePr>
            <a:graphicFrameLocks noChangeAspect="1"/>
          </p:cNvGraphicFramePr>
          <p:nvPr/>
        </p:nvGraphicFramePr>
        <p:xfrm>
          <a:off x="0" y="6117455"/>
          <a:ext cx="12191999" cy="788671"/>
        </p:xfrm>
        <a:graphic>
          <a:graphicData uri="http://schemas.openxmlformats.org/presentationml/2006/ole">
            <mc:AlternateContent xmlns:mc="http://schemas.openxmlformats.org/markup-compatibility/2006">
              <mc:Choice xmlns:v="urn:schemas-microsoft-com:vml" Requires="v">
                <p:oleObj spid="_x0000_s2" name="CorelDRAW" r:id="rId15" imgW="9529445" imgH="654685" progId="">
                  <p:embed/>
                </p:oleObj>
              </mc:Choice>
              <mc:Fallback>
                <p:oleObj name="CorelDRAW" r:id="rId15" imgW="9529445" imgH="654685" progId="">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117455"/>
                        <a:ext cx="12191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121920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fld id="{8AFEF79D-0508-431A-9382-43A6F8BABA35}"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hdr="0" ftr="0" dt="0"/>
  <p:txStyles>
    <p:titleStyle>
      <a:lvl1pPr algn="ctr" rtl="0" fontAlgn="base">
        <a:spcBef>
          <a:spcPct val="0"/>
        </a:spcBef>
        <a:spcAft>
          <a:spcPct val="0"/>
        </a:spcAft>
        <a:defRPr sz="40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804030504040204" pitchFamily="34" charset="0"/>
        </a:defRPr>
      </a:lvl2pPr>
      <a:lvl3pPr algn="ctr" rtl="0" fontAlgn="base">
        <a:spcBef>
          <a:spcPct val="0"/>
        </a:spcBef>
        <a:spcAft>
          <a:spcPct val="0"/>
        </a:spcAft>
        <a:defRPr sz="4000">
          <a:solidFill>
            <a:schemeClr val="tx2"/>
          </a:solidFill>
          <a:latin typeface="Verdana" panose="020B0804030504040204" pitchFamily="34" charset="0"/>
        </a:defRPr>
      </a:lvl3pPr>
      <a:lvl4pPr algn="ctr" rtl="0" fontAlgn="base">
        <a:spcBef>
          <a:spcPct val="0"/>
        </a:spcBef>
        <a:spcAft>
          <a:spcPct val="0"/>
        </a:spcAft>
        <a:defRPr sz="4000">
          <a:solidFill>
            <a:schemeClr val="tx2"/>
          </a:solidFill>
          <a:latin typeface="Verdana" panose="020B0804030504040204" pitchFamily="34" charset="0"/>
        </a:defRPr>
      </a:lvl4pPr>
      <a:lvl5pPr algn="ctr" rtl="0" fontAlgn="base">
        <a:spcBef>
          <a:spcPct val="0"/>
        </a:spcBef>
        <a:spcAft>
          <a:spcPct val="0"/>
        </a:spcAft>
        <a:defRPr sz="4000">
          <a:solidFill>
            <a:schemeClr val="tx2"/>
          </a:solidFill>
          <a:latin typeface="Verdana" panose="020B0804030504040204" pitchFamily="34" charset="0"/>
        </a:defRPr>
      </a:lvl5pPr>
      <a:lvl6pPr marL="457200" algn="ctr" rtl="0" fontAlgn="base">
        <a:spcBef>
          <a:spcPct val="0"/>
        </a:spcBef>
        <a:spcAft>
          <a:spcPct val="0"/>
        </a:spcAft>
        <a:defRPr sz="4000">
          <a:solidFill>
            <a:schemeClr val="tx2"/>
          </a:solidFill>
          <a:latin typeface="Verdana" panose="020B0804030504040204" pitchFamily="34" charset="0"/>
        </a:defRPr>
      </a:lvl6pPr>
      <a:lvl7pPr marL="914400" algn="ctr" rtl="0" fontAlgn="base">
        <a:spcBef>
          <a:spcPct val="0"/>
        </a:spcBef>
        <a:spcAft>
          <a:spcPct val="0"/>
        </a:spcAft>
        <a:defRPr sz="4000">
          <a:solidFill>
            <a:schemeClr val="tx2"/>
          </a:solidFill>
          <a:latin typeface="Verdana" panose="020B0804030504040204" pitchFamily="34" charset="0"/>
        </a:defRPr>
      </a:lvl7pPr>
      <a:lvl8pPr marL="1371600" algn="ctr" rtl="0" fontAlgn="base">
        <a:spcBef>
          <a:spcPct val="0"/>
        </a:spcBef>
        <a:spcAft>
          <a:spcPct val="0"/>
        </a:spcAft>
        <a:defRPr sz="4000">
          <a:solidFill>
            <a:schemeClr val="tx2"/>
          </a:solidFill>
          <a:latin typeface="Verdana" panose="020B0804030504040204" pitchFamily="34" charset="0"/>
        </a:defRPr>
      </a:lvl8pPr>
      <a:lvl9pPr marL="1828800" algn="ctr" rtl="0" fontAlgn="base">
        <a:spcBef>
          <a:spcPct val="0"/>
        </a:spcBef>
        <a:spcAft>
          <a:spcPct val="0"/>
        </a:spcAft>
        <a:defRPr sz="4000">
          <a:solidFill>
            <a:schemeClr val="tx2"/>
          </a:solidFill>
          <a:latin typeface="Verdana" panose="020B0804030504040204"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1984248"/>
          </a:xfrm>
          <a:solidFill>
            <a:srgbClr val="0079BC"/>
          </a:solidFill>
          <a:ln>
            <a:noFill/>
          </a:ln>
        </p:spPr>
        <p:txBody>
          <a:bodyPr anchor="ctr" wrap="square">
            <a:noAutofit/>
          </a:bodyPr>
          <a:lstStyle/>
          <a:p>
            <a:pPr algn="ctr">
              <a:spcAft>
                <a:spcPts val="200"/>
              </a:spcAft>
              <a:buNone/>
            </a:pPr>
            <a:r>
              <a:rPr sz="3600" b="1" i="0">
                <a:solidFill>
                  <a:srgbClr val="FFFFFF"/>
                </a:solidFill>
                <a:latin typeface="Times New Roman"/>
              </a:rPr>
              <a:t>SSN College of Engineering, Kalavakkam - 603110</a:t>
            </a:r>
          </a:p>
          <a:p>
            <a:pPr algn="ctr">
              <a:spcAft>
                <a:spcPts val="0"/>
              </a:spcAft>
              <a:buNone/>
            </a:pPr>
            <a:r>
              <a:rPr sz="2800" b="1" i="0">
                <a:solidFill>
                  <a:srgbClr val="FFFFFF"/>
                </a:solidFill>
                <a:latin typeface="Times New Roman"/>
              </a:rPr>
              <a:t>Department of Information Technology</a:t>
            </a:r>
          </a:p>
        </p:txBody>
      </p:sp>
      <p:sp>
        <p:nvSpPr>
          <p:cNvPr id="3" name="TextBox 2"/>
          <p:cNvSpPr txBox="1"/>
          <p:nvPr/>
        </p:nvSpPr>
        <p:spPr>
          <a:xfrm>
            <a:off x="731520" y="2240280"/>
            <a:ext cx="10725912" cy="502920"/>
          </a:xfrm>
          <a:prstGeom prst="rect">
            <a:avLst/>
          </a:prstGeom>
          <a:noFill/>
        </p:spPr>
        <p:txBody>
          <a:bodyPr wrap="square" lIns="36576" tIns="18288" rIns="36576" bIns="18288" anchor="t">
            <a:noAutofit/>
          </a:bodyPr>
          <a:lstStyle/>
          <a:p>
            <a:pPr algn="ctr">
              <a:spcAft>
                <a:spcPts val="400"/>
              </a:spcAft>
              <a:buNone/>
            </a:pPr>
            <a:r>
              <a:rPr sz="2600" b="1" i="0">
                <a:solidFill>
                  <a:srgbClr val="0066CC"/>
                </a:solidFill>
                <a:latin typeface="Times New Roman"/>
              </a:rPr>
              <a:t>UIT2739 - Full Stack Development Project</a:t>
            </a:r>
          </a:p>
        </p:txBody>
      </p:sp>
      <p:sp>
        <p:nvSpPr>
          <p:cNvPr id="4" name="TextBox 3"/>
          <p:cNvSpPr txBox="1"/>
          <p:nvPr/>
        </p:nvSpPr>
        <p:spPr>
          <a:xfrm>
            <a:off x="731520" y="2852928"/>
            <a:ext cx="10725912" cy="731520"/>
          </a:xfrm>
          <a:prstGeom prst="rect">
            <a:avLst/>
          </a:prstGeom>
          <a:noFill/>
        </p:spPr>
        <p:txBody>
          <a:bodyPr wrap="square" lIns="36576" tIns="18288" rIns="36576" bIns="18288" anchor="t">
            <a:noAutofit/>
          </a:bodyPr>
          <a:lstStyle/>
          <a:p>
            <a:pPr algn="ctr">
              <a:spcAft>
                <a:spcPts val="400"/>
              </a:spcAft>
              <a:buNone/>
            </a:pPr>
            <a:r>
              <a:rPr sz="4400" b="1" i="0">
                <a:solidFill>
                  <a:srgbClr val="154360"/>
                </a:solidFill>
                <a:latin typeface="Times New Roman"/>
              </a:rPr>
              <a:t>FinPilot AI</a:t>
            </a:r>
          </a:p>
        </p:txBody>
      </p:sp>
      <p:sp>
        <p:nvSpPr>
          <p:cNvPr id="5" name="TextBox 4"/>
          <p:cNvSpPr txBox="1"/>
          <p:nvPr/>
        </p:nvSpPr>
        <p:spPr>
          <a:xfrm>
            <a:off x="731520" y="3584448"/>
            <a:ext cx="10725912" cy="502920"/>
          </a:xfrm>
          <a:prstGeom prst="rect">
            <a:avLst/>
          </a:prstGeom>
          <a:noFill/>
        </p:spPr>
        <p:txBody>
          <a:bodyPr wrap="square" lIns="36576" tIns="18288" rIns="36576" bIns="18288" anchor="t">
            <a:noAutofit/>
          </a:bodyPr>
          <a:lstStyle/>
          <a:p>
            <a:pPr algn="ctr">
              <a:spcAft>
                <a:spcPts val="400"/>
              </a:spcAft>
              <a:buNone/>
            </a:pPr>
            <a:r>
              <a:rPr sz="2400" b="0" i="0">
                <a:solidFill>
                  <a:srgbClr val="154360"/>
                </a:solidFill>
                <a:latin typeface="Times New Roman"/>
              </a:rPr>
              <a:t>A privacy-first personal finance assistant for India</a:t>
            </a:r>
          </a:p>
        </p:txBody>
      </p:sp>
      <p:sp>
        <p:nvSpPr>
          <p:cNvPr id="6" name="TextBox 5"/>
          <p:cNvSpPr txBox="1"/>
          <p:nvPr/>
        </p:nvSpPr>
        <p:spPr>
          <a:xfrm>
            <a:off x="1828800" y="4343400"/>
            <a:ext cx="8531352" cy="1143000"/>
          </a:xfrm>
          <a:prstGeom prst="rect">
            <a:avLst/>
          </a:prstGeom>
          <a:noFill/>
        </p:spPr>
        <p:txBody>
          <a:bodyPr wrap="square" lIns="36576" tIns="18288" rIns="36576" bIns="18288" anchor="t">
            <a:noAutofit/>
          </a:bodyPr>
          <a:lstStyle/>
          <a:p>
            <a:pPr algn="ctr">
              <a:spcAft>
                <a:spcPts val="200"/>
              </a:spcAft>
              <a:buNone/>
            </a:pPr>
            <a:r>
              <a:rPr sz="1800" b="1" i="0">
                <a:solidFill>
                  <a:srgbClr val="0066CC"/>
                </a:solidFill>
                <a:latin typeface="Times New Roman"/>
              </a:rPr>
              <a:t>Jeya Sangavi R - 3122235002054</a:t>
            </a:r>
          </a:p>
          <a:p>
            <a:pPr algn="ctr">
              <a:spcAft>
                <a:spcPts val="200"/>
              </a:spcAft>
              <a:buNone/>
            </a:pPr>
            <a:r>
              <a:rPr sz="1800" b="1" i="0">
                <a:solidFill>
                  <a:srgbClr val="0066CC"/>
                </a:solidFill>
                <a:latin typeface="Times New Roman"/>
              </a:rPr>
              <a:t>Rahul Akshath Rajendran - 3122235002095</a:t>
            </a:r>
          </a:p>
          <a:p>
            <a:pPr algn="ctr">
              <a:spcAft>
                <a:spcPts val="200"/>
              </a:spcAft>
              <a:buNone/>
            </a:pPr>
            <a:r>
              <a:rPr sz="1800" b="1" i="0">
                <a:solidFill>
                  <a:srgbClr val="0066CC"/>
                </a:solidFill>
                <a:latin typeface="Times New Roman"/>
              </a:rPr>
              <a:t>Rakshitha S - 3122235002098</a:t>
            </a:r>
          </a:p>
        </p:txBody>
      </p:sp>
      <p:sp>
        <p:nvSpPr>
          <p:cNvPr id="7" name="TextBox 6"/>
          <p:cNvSpPr txBox="1"/>
          <p:nvPr/>
        </p:nvSpPr>
        <p:spPr>
          <a:xfrm>
            <a:off x="1828800" y="5559552"/>
            <a:ext cx="8531352" cy="320040"/>
          </a:xfrm>
          <a:prstGeom prst="rect">
            <a:avLst/>
          </a:prstGeom>
          <a:noFill/>
        </p:spPr>
        <p:txBody>
          <a:bodyPr wrap="square" lIns="36576" tIns="18288" rIns="36576" bIns="18288" anchor="t">
            <a:noAutofit/>
          </a:bodyPr>
          <a:lstStyle/>
          <a:p>
            <a:pPr algn="ctr">
              <a:spcAft>
                <a:spcPts val="400"/>
              </a:spcAft>
              <a:buNone/>
            </a:pPr>
            <a:r>
              <a:rPr sz="1300" b="0" i="0">
                <a:solidFill>
                  <a:srgbClr val="5B6573"/>
                </a:solidFill>
                <a:latin typeface="Arial"/>
              </a:rPr>
              <a:t>Project evaluation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FinPilot AI at a glance</a:t>
            </a:r>
          </a:p>
        </p:txBody>
      </p:sp>
      <p:sp>
        <p:nvSpPr>
          <p:cNvPr id="3" name="TextBox 2"/>
          <p:cNvSpPr txBox="1"/>
          <p:nvPr/>
        </p:nvSpPr>
        <p:spPr>
          <a:xfrm>
            <a:off x="548640" y="1188720"/>
            <a:ext cx="11094415" cy="914400"/>
          </a:xfrm>
          <a:prstGeom prst="rect">
            <a:avLst/>
          </a:prstGeom>
          <a:noFill/>
        </p:spPr>
        <p:txBody>
          <a:bodyPr wrap="square" lIns="36576" tIns="18288" rIns="36576" bIns="18288" anchor="ctr">
            <a:noAutofit/>
          </a:bodyPr>
          <a:lstStyle/>
          <a:p>
            <a:pPr algn="l">
              <a:spcAft>
                <a:spcPts val="400"/>
              </a:spcAft>
              <a:buNone/>
            </a:pPr>
            <a:r>
              <a:rPr sz="1800" b="0" i="0">
                <a:solidFill>
                  <a:srgbClr val="1F2937"/>
                </a:solidFill>
                <a:latin typeface="Arial"/>
              </a:rPr>
              <a:t>A personal-finance assistant for India that builds your financial picture from the </a:t>
            </a:r>
            <a:r>
              <a:rPr sz="1800" b="1" i="0">
                <a:solidFill>
                  <a:srgbClr val="154360"/>
                </a:solidFill>
                <a:latin typeface="Arial"/>
              </a:rPr>
              <a:t>bank SMS and e-mails you already receive</a:t>
            </a:r>
            <a:r>
              <a:rPr sz="1800" b="0" i="0">
                <a:solidFill>
                  <a:srgbClr val="1F2937"/>
                </a:solidFill>
                <a:latin typeface="Arial"/>
              </a:rPr>
              <a:t> — but only after you allow each source, one at a time, for the purposes you choose.</a:t>
            </a:r>
          </a:p>
        </p:txBody>
      </p:sp>
      <p:sp>
        <p:nvSpPr>
          <p:cNvPr id="4" name="Rounded Rectangle 3"/>
          <p:cNvSpPr/>
          <p:nvPr/>
        </p:nvSpPr>
        <p:spPr>
          <a:xfrm>
            <a:off x="548640"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1</a:t>
            </a:r>
          </a:p>
        </p:txBody>
      </p:sp>
      <p:sp>
        <p:nvSpPr>
          <p:cNvPr id="6" name="TextBox 5"/>
          <p:cNvSpPr txBox="1"/>
          <p:nvPr/>
        </p:nvSpPr>
        <p:spPr>
          <a:xfrm>
            <a:off x="1325880"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Capture</a:t>
            </a:r>
          </a:p>
        </p:txBody>
      </p:sp>
      <p:sp>
        <p:nvSpPr>
          <p:cNvPr id="7" name="TextBox 6"/>
          <p:cNvSpPr txBox="1"/>
          <p:nvPr/>
        </p:nvSpPr>
        <p:spPr>
          <a:xfrm>
            <a:off x="731520"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Bank SMS on the phone and e-mail, each with its own consent</a:t>
            </a:r>
          </a:p>
          <a:p>
            <a:pPr algn="l" marL="201168" indent="-201168">
              <a:spcAft>
                <a:spcPts val="800"/>
              </a:spcAft>
              <a:buFont typeface="Arial"/>
              <a:buChar char="•"/>
            </a:pPr>
            <a:r>
              <a:rPr sz="1400" b="0" i="0">
                <a:solidFill>
                  <a:srgbClr val="1F2937"/>
                </a:solidFill>
                <a:latin typeface="Arial"/>
              </a:rPr>
              <a:t>Optional: receipt OCR, PDF bills, CSV/XLSX statements, manual entry</a:t>
            </a:r>
          </a:p>
        </p:txBody>
      </p:sp>
      <p:sp>
        <p:nvSpPr>
          <p:cNvPr id="8" name="Chevron 7"/>
          <p:cNvSpPr/>
          <p:nvPr/>
        </p:nvSpPr>
        <p:spPr>
          <a:xfrm>
            <a:off x="3127248"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7112"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99992"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2</a:t>
            </a:r>
          </a:p>
        </p:txBody>
      </p:sp>
      <p:sp>
        <p:nvSpPr>
          <p:cNvPr id="11" name="TextBox 10"/>
          <p:cNvSpPr txBox="1"/>
          <p:nvPr/>
        </p:nvSpPr>
        <p:spPr>
          <a:xfrm>
            <a:off x="4194352"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Understand</a:t>
            </a:r>
          </a:p>
        </p:txBody>
      </p:sp>
      <p:sp>
        <p:nvSpPr>
          <p:cNvPr id="12" name="TextBox 11"/>
          <p:cNvSpPr txBox="1"/>
          <p:nvPr/>
        </p:nvSpPr>
        <p:spPr>
          <a:xfrm>
            <a:off x="3599992"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Classify, extract and de-duplicate every message</a:t>
            </a:r>
          </a:p>
          <a:p>
            <a:pPr algn="l" marL="201168" indent="-201168">
              <a:spcAft>
                <a:spcPts val="800"/>
              </a:spcAft>
              <a:buFont typeface="Arial"/>
              <a:buChar char="•"/>
            </a:pPr>
            <a:r>
              <a:rPr sz="1400" b="0" i="0">
                <a:solidFill>
                  <a:srgbClr val="1F2937"/>
                </a:solidFill>
                <a:latin typeface="Arial"/>
              </a:rPr>
              <a:t>Categorise payments and flag unusual ones</a:t>
            </a:r>
          </a:p>
        </p:txBody>
      </p:sp>
      <p:sp>
        <p:nvSpPr>
          <p:cNvPr id="13" name="Chevron 12"/>
          <p:cNvSpPr/>
          <p:nvPr/>
        </p:nvSpPr>
        <p:spPr>
          <a:xfrm>
            <a:off x="5995720"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85585"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8465"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3</a:t>
            </a:r>
          </a:p>
        </p:txBody>
      </p:sp>
      <p:sp>
        <p:nvSpPr>
          <p:cNvPr id="16" name="TextBox 15"/>
          <p:cNvSpPr txBox="1"/>
          <p:nvPr/>
        </p:nvSpPr>
        <p:spPr>
          <a:xfrm>
            <a:off x="7062825"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Predict</a:t>
            </a:r>
          </a:p>
        </p:txBody>
      </p:sp>
      <p:sp>
        <p:nvSpPr>
          <p:cNvPr id="17" name="TextBox 16"/>
          <p:cNvSpPr txBox="1"/>
          <p:nvPr/>
        </p:nvSpPr>
        <p:spPr>
          <a:xfrm>
            <a:off x="6468465"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90-day cash-flow forecast with an 80% range</a:t>
            </a:r>
          </a:p>
          <a:p>
            <a:pPr algn="l" marL="201168" indent="-201168">
              <a:spcAft>
                <a:spcPts val="800"/>
              </a:spcAft>
              <a:buFont typeface="Arial"/>
              <a:buChar char="•"/>
            </a:pPr>
            <a:r>
              <a:rPr sz="1400" b="0" i="0">
                <a:solidFill>
                  <a:srgbClr val="1F2937"/>
                </a:solidFill>
                <a:latin typeface="Arial"/>
              </a:rPr>
              <a:t>Subscriptions and income tax for two years</a:t>
            </a:r>
          </a:p>
        </p:txBody>
      </p:sp>
      <p:sp>
        <p:nvSpPr>
          <p:cNvPr id="18" name="Chevron 17"/>
          <p:cNvSpPr/>
          <p:nvPr/>
        </p:nvSpPr>
        <p:spPr>
          <a:xfrm>
            <a:off x="8864193" y="3387851"/>
            <a:ext cx="201168" cy="402336"/>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4058" y="2286000"/>
            <a:ext cx="2487168" cy="2606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36938" y="2487168"/>
            <a:ext cx="475488" cy="47548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600" b="1" i="0">
                <a:solidFill>
                  <a:srgbClr val="FFFFFF"/>
                </a:solidFill>
                <a:latin typeface="Arial"/>
              </a:rPr>
              <a:t>4</a:t>
            </a:r>
          </a:p>
        </p:txBody>
      </p:sp>
      <p:sp>
        <p:nvSpPr>
          <p:cNvPr id="21" name="TextBox 20"/>
          <p:cNvSpPr txBox="1"/>
          <p:nvPr/>
        </p:nvSpPr>
        <p:spPr>
          <a:xfrm>
            <a:off x="9931298" y="2487168"/>
            <a:ext cx="1572768" cy="475488"/>
          </a:xfrm>
          <a:prstGeom prst="rect">
            <a:avLst/>
          </a:prstGeom>
          <a:noFill/>
        </p:spPr>
        <p:txBody>
          <a:bodyPr wrap="square" lIns="36576" tIns="18288" rIns="36576" bIns="18288" anchor="ctr">
            <a:noAutofit/>
          </a:bodyPr>
          <a:lstStyle/>
          <a:p>
            <a:pPr algn="l">
              <a:spcAft>
                <a:spcPts val="400"/>
              </a:spcAft>
              <a:buNone/>
            </a:pPr>
            <a:r>
              <a:rPr sz="2000" b="1" i="0">
                <a:solidFill>
                  <a:srgbClr val="154360"/>
                </a:solidFill>
                <a:latin typeface="Arial"/>
              </a:rPr>
              <a:t>Act</a:t>
            </a:r>
          </a:p>
        </p:txBody>
      </p:sp>
      <p:sp>
        <p:nvSpPr>
          <p:cNvPr id="22" name="TextBox 21"/>
          <p:cNvSpPr txBox="1"/>
          <p:nvPr/>
        </p:nvSpPr>
        <p:spPr>
          <a:xfrm>
            <a:off x="9336938" y="3154680"/>
            <a:ext cx="2167128" cy="1600200"/>
          </a:xfrm>
          <a:prstGeom prst="rect">
            <a:avLst/>
          </a:prstGeom>
          <a:noFill/>
        </p:spPr>
        <p:txBody>
          <a:bodyPr wrap="square" lIns="36576" tIns="18288" rIns="36576" bIns="18288" anchor="t">
            <a:noAutofit/>
          </a:bodyPr>
          <a:lstStyle/>
          <a:p>
            <a:pPr algn="l" marL="201168" indent="-201168">
              <a:spcAft>
                <a:spcPts val="800"/>
              </a:spcAft>
              <a:buFont typeface="Arial"/>
              <a:buChar char="•"/>
            </a:pPr>
            <a:r>
              <a:rPr sz="1400" b="0" i="0">
                <a:solidFill>
                  <a:srgbClr val="1F2937"/>
                </a:solidFill>
                <a:latin typeface="Arial"/>
              </a:rPr>
              <a:t>Ranked insights and a coach</a:t>
            </a:r>
          </a:p>
          <a:p>
            <a:pPr algn="l" marL="201168" indent="-201168">
              <a:spcAft>
                <a:spcPts val="800"/>
              </a:spcAft>
              <a:buFont typeface="Arial"/>
              <a:buChar char="•"/>
            </a:pPr>
            <a:r>
              <a:rPr sz="1400" b="0" i="0">
                <a:solidFill>
                  <a:srgbClr val="1F2937"/>
                </a:solidFill>
                <a:latin typeface="Arial"/>
              </a:rPr>
              <a:t>Budgets, goals and a wishlist you can afford</a:t>
            </a:r>
          </a:p>
        </p:txBody>
      </p:sp>
      <p:sp>
        <p:nvSpPr>
          <p:cNvPr id="23" name="Rounded Rectangle 22"/>
          <p:cNvSpPr/>
          <p:nvPr/>
        </p:nvSpPr>
        <p:spPr>
          <a:xfrm>
            <a:off x="548640"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One command: </a:t>
            </a:r>
            <a:r>
              <a:rPr sz="1500" b="0" i="0">
                <a:solidFill>
                  <a:srgbClr val="1F2937"/>
                </a:solidFill>
                <a:latin typeface="Arial"/>
              </a:rPr>
              <a:t>python3 run.py</a:t>
            </a:r>
          </a:p>
        </p:txBody>
      </p:sp>
      <p:sp>
        <p:nvSpPr>
          <p:cNvPr id="24" name="Rounded Rectangle 23"/>
          <p:cNvSpPr/>
          <p:nvPr/>
        </p:nvSpPr>
        <p:spPr>
          <a:xfrm>
            <a:off x="4338218"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Private: </a:t>
            </a:r>
            <a:r>
              <a:rPr sz="1500" b="0" i="0">
                <a:solidFill>
                  <a:srgbClr val="1F2937"/>
                </a:solidFill>
                <a:latin typeface="Arial"/>
              </a:rPr>
              <a:t>your laptop is the server</a:t>
            </a:r>
          </a:p>
        </p:txBody>
      </p:sp>
      <p:sp>
        <p:nvSpPr>
          <p:cNvPr id="25" name="Rounded Rectangle 24"/>
          <p:cNvSpPr/>
          <p:nvPr/>
        </p:nvSpPr>
        <p:spPr>
          <a:xfrm>
            <a:off x="8127796" y="5166360"/>
            <a:ext cx="3515258" cy="658368"/>
          </a:xfrm>
          <a:prstGeom prst="roundRect">
            <a:avLst>
              <a:gd name="adj" fmla="val 30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154360"/>
                </a:solidFill>
                <a:latin typeface="Arial"/>
              </a:rPr>
              <a:t>₹0 cost: </a:t>
            </a:r>
            <a:r>
              <a:rPr sz="1500" b="0" i="0">
                <a:solidFill>
                  <a:srgbClr val="1F2937"/>
                </a:solidFill>
                <a:latin typeface="Arial"/>
              </a:rPr>
              <a:t>no paid AI, no bank login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Problem statement and motivation</a:t>
            </a:r>
          </a:p>
        </p:txBody>
      </p:sp>
      <p:sp>
        <p:nvSpPr>
          <p:cNvPr id="3" name="Rounded Rectangle 2"/>
          <p:cNvSpPr/>
          <p:nvPr/>
        </p:nvSpPr>
        <p:spPr>
          <a:xfrm>
            <a:off x="548640" y="1234440"/>
            <a:ext cx="5074920" cy="4069080"/>
          </a:xfrm>
          <a:prstGeom prst="roundRect">
            <a:avLst>
              <a:gd name="adj" fmla="val 4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tIns="228600" rIns="274320" bIns="182880" wrap="square">
            <a:noAutofit/>
          </a:bodyPr>
          <a:lstStyle/>
          <a:p>
            <a:pPr algn="l">
              <a:spcAft>
                <a:spcPts val="1000"/>
              </a:spcAft>
              <a:buNone/>
            </a:pPr>
            <a:r>
              <a:rPr sz="2100" b="1" i="0">
                <a:solidFill>
                  <a:srgbClr val="FFFFFF"/>
                </a:solidFill>
                <a:latin typeface="Arial"/>
              </a:rPr>
              <a:t>Problem statement</a:t>
            </a:r>
          </a:p>
          <a:p>
            <a:pPr algn="l">
              <a:spcAft>
                <a:spcPts val="1200"/>
              </a:spcAft>
              <a:buNone/>
            </a:pPr>
            <a:r>
              <a:rPr sz="1600" b="0" i="0">
                <a:solidFill>
                  <a:srgbClr val="FFFFFF"/>
                </a:solidFill>
                <a:latin typeface="Arial"/>
              </a:rPr>
              <a:t>Every UPI payment, card swipe, bill and salary credit already arrives as a bank SMS or e-mail, yet the information stays scattered. Existing apps make people type transactions, ask for bank credentials, or send personal data to paid cloud AI — and they only describe the past.</a:t>
            </a:r>
          </a:p>
          <a:p>
            <a:pPr algn="l">
              <a:spcAft>
                <a:spcPts val="0"/>
              </a:spcAft>
              <a:buNone/>
            </a:pPr>
            <a:r>
              <a:rPr sz="1600" b="0" i="0">
                <a:solidFill>
                  <a:srgbClr val="FFFFFF"/>
                </a:solidFill>
                <a:latin typeface="Arial"/>
              </a:rPr>
              <a:t>FinPilot AI builds a reliable, forward-looking picture of a person's money from the messages they already receive: only from sources they allow, only for purposes they choose, running on their own computer at zero cost.</a:t>
            </a:r>
          </a:p>
        </p:txBody>
      </p:sp>
      <p:sp>
        <p:nvSpPr>
          <p:cNvPr id="4" name="Rounded Rectangle 3"/>
          <p:cNvSpPr/>
          <p:nvPr/>
        </p:nvSpPr>
        <p:spPr>
          <a:xfrm>
            <a:off x="5897880" y="123444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62472" y="141732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1</a:t>
            </a:r>
          </a:p>
        </p:txBody>
      </p:sp>
      <p:sp>
        <p:nvSpPr>
          <p:cNvPr id="6" name="TextBox 5"/>
          <p:cNvSpPr txBox="1"/>
          <p:nvPr/>
        </p:nvSpPr>
        <p:spPr>
          <a:xfrm>
            <a:off x="6583680" y="139903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Capture is manual</a:t>
            </a:r>
          </a:p>
        </p:txBody>
      </p:sp>
      <p:sp>
        <p:nvSpPr>
          <p:cNvPr id="7" name="TextBox 6"/>
          <p:cNvSpPr txBox="1"/>
          <p:nvPr/>
        </p:nvSpPr>
        <p:spPr>
          <a:xfrm>
            <a:off x="6062472" y="196596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Typing in every payment is tedious, so people give up; cash and paper receipts are lost.</a:t>
            </a:r>
          </a:p>
        </p:txBody>
      </p:sp>
      <p:sp>
        <p:nvSpPr>
          <p:cNvPr id="8" name="Rounded Rectangle 7"/>
          <p:cNvSpPr/>
          <p:nvPr/>
        </p:nvSpPr>
        <p:spPr>
          <a:xfrm>
            <a:off x="8796528" y="123444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0" y="141732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2</a:t>
            </a:r>
          </a:p>
        </p:txBody>
      </p:sp>
      <p:sp>
        <p:nvSpPr>
          <p:cNvPr id="10" name="TextBox 9"/>
          <p:cNvSpPr txBox="1"/>
          <p:nvPr/>
        </p:nvSpPr>
        <p:spPr>
          <a:xfrm>
            <a:off x="9482328" y="139903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Insight looks backwards</a:t>
            </a:r>
          </a:p>
        </p:txBody>
      </p:sp>
      <p:sp>
        <p:nvSpPr>
          <p:cNvPr id="11" name="TextBox 10"/>
          <p:cNvSpPr txBox="1"/>
          <p:nvPr/>
        </p:nvSpPr>
        <p:spPr>
          <a:xfrm>
            <a:off x="8961120" y="196596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Apps show what was spent, not what the balance will be at month end.</a:t>
            </a:r>
          </a:p>
        </p:txBody>
      </p:sp>
      <p:sp>
        <p:nvSpPr>
          <p:cNvPr id="12" name="Rounded Rectangle 11"/>
          <p:cNvSpPr/>
          <p:nvPr/>
        </p:nvSpPr>
        <p:spPr>
          <a:xfrm>
            <a:off x="5897880" y="333756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62472" y="352044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3</a:t>
            </a:r>
          </a:p>
        </p:txBody>
      </p:sp>
      <p:sp>
        <p:nvSpPr>
          <p:cNvPr id="14" name="TextBox 13"/>
          <p:cNvSpPr txBox="1"/>
          <p:nvPr/>
        </p:nvSpPr>
        <p:spPr>
          <a:xfrm>
            <a:off x="6583680" y="350215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Leakage stays hidden</a:t>
            </a:r>
          </a:p>
        </p:txBody>
      </p:sp>
      <p:sp>
        <p:nvSpPr>
          <p:cNvPr id="15" name="TextBox 14"/>
          <p:cNvSpPr txBox="1"/>
          <p:nvPr/>
        </p:nvSpPr>
        <p:spPr>
          <a:xfrm>
            <a:off x="6062472" y="406908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Price rises, unused subscriptions and duplicate charges hide in normal spending.</a:t>
            </a:r>
          </a:p>
        </p:txBody>
      </p:sp>
      <p:sp>
        <p:nvSpPr>
          <p:cNvPr id="16" name="Rounded Rectangle 15"/>
          <p:cNvSpPr/>
          <p:nvPr/>
        </p:nvSpPr>
        <p:spPr>
          <a:xfrm>
            <a:off x="8796528" y="3337560"/>
            <a:ext cx="2715768" cy="19385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61120" y="3520440"/>
            <a:ext cx="411480" cy="41148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4</a:t>
            </a:r>
          </a:p>
        </p:txBody>
      </p:sp>
      <p:sp>
        <p:nvSpPr>
          <p:cNvPr id="18" name="TextBox 17"/>
          <p:cNvSpPr txBox="1"/>
          <p:nvPr/>
        </p:nvSpPr>
        <p:spPr>
          <a:xfrm>
            <a:off x="9482328" y="3502152"/>
            <a:ext cx="192024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Privacy and cost</a:t>
            </a:r>
          </a:p>
        </p:txBody>
      </p:sp>
      <p:sp>
        <p:nvSpPr>
          <p:cNvPr id="19" name="TextBox 18"/>
          <p:cNvSpPr txBox="1"/>
          <p:nvPr/>
        </p:nvSpPr>
        <p:spPr>
          <a:xfrm>
            <a:off x="8961120" y="4069080"/>
            <a:ext cx="2423160" cy="1143000"/>
          </a:xfrm>
          <a:prstGeom prst="rect">
            <a:avLst/>
          </a:prstGeom>
          <a:noFill/>
        </p:spPr>
        <p:txBody>
          <a:bodyPr wrap="square" lIns="36576" tIns="18288" rIns="36576" bIns="18288" anchor="t">
            <a:noAutofit/>
          </a:bodyPr>
          <a:lstStyle/>
          <a:p>
            <a:pPr algn="l">
              <a:spcAft>
                <a:spcPts val="400"/>
              </a:spcAft>
              <a:buNone/>
            </a:pPr>
            <a:r>
              <a:rPr sz="1400" b="0" i="0">
                <a:solidFill>
                  <a:srgbClr val="1F2937"/>
                </a:solidFill>
                <a:latin typeface="Arial"/>
              </a:rPr>
              <a:t>Aggregator apps want bank credentials; AI features need paid cloud services.</a:t>
            </a:r>
          </a:p>
        </p:txBody>
      </p:sp>
      <p:sp>
        <p:nvSpPr>
          <p:cNvPr id="20" name="TextBox 19"/>
          <p:cNvSpPr txBox="1"/>
          <p:nvPr/>
        </p:nvSpPr>
        <p:spPr>
          <a:xfrm>
            <a:off x="548640" y="5486400"/>
            <a:ext cx="11094415" cy="411480"/>
          </a:xfrm>
          <a:prstGeom prst="rect">
            <a:avLst/>
          </a:prstGeom>
          <a:noFill/>
        </p:spPr>
        <p:txBody>
          <a:bodyPr wrap="square" lIns="36576" tIns="18288" rIns="36576" bIns="18288" anchor="t">
            <a:noAutofit/>
          </a:bodyPr>
          <a:lstStyle/>
          <a:p>
            <a:pPr algn="ctr">
              <a:spcAft>
                <a:spcPts val="400"/>
              </a:spcAft>
              <a:buNone/>
            </a:pPr>
            <a:r>
              <a:rPr sz="1600" b="1" i="0">
                <a:solidFill>
                  <a:srgbClr val="154360"/>
                </a:solidFill>
                <a:latin typeface="Arial"/>
              </a:rPr>
              <a:t>Motivation: </a:t>
            </a:r>
            <a:r>
              <a:rPr sz="1600" b="0" i="1">
                <a:solidFill>
                  <a:srgbClr val="154360"/>
                </a:solidFill>
                <a:latin typeface="Arial"/>
              </a:rPr>
              <a:t>make money management automatic, private and forward-looking — with no new data entry and no new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Objectives and scope</a:t>
            </a:r>
          </a:p>
        </p:txBody>
      </p:sp>
      <p:sp>
        <p:nvSpPr>
          <p:cNvPr id="3" name="TextBox 2"/>
          <p:cNvSpPr txBox="1"/>
          <p:nvPr/>
        </p:nvSpPr>
        <p:spPr>
          <a:xfrm>
            <a:off x="548640" y="1188720"/>
            <a:ext cx="6309360" cy="411480"/>
          </a:xfrm>
          <a:prstGeom prst="rect">
            <a:avLst/>
          </a:prstGeom>
          <a:noFill/>
        </p:spPr>
        <p:txBody>
          <a:bodyPr wrap="square" lIns="36576" tIns="18288" rIns="36576" bIns="18288" anchor="t">
            <a:noAutofit/>
          </a:bodyPr>
          <a:lstStyle/>
          <a:p>
            <a:pPr algn="l">
              <a:spcAft>
                <a:spcPts val="400"/>
              </a:spcAft>
              <a:buNone/>
            </a:pPr>
            <a:r>
              <a:rPr sz="2000" b="1" i="0">
                <a:solidFill>
                  <a:srgbClr val="154360"/>
                </a:solidFill>
                <a:latin typeface="Arial"/>
              </a:rPr>
              <a:t>Objectives</a:t>
            </a:r>
          </a:p>
        </p:txBody>
      </p:sp>
      <p:sp>
        <p:nvSpPr>
          <p:cNvPr id="4" name="Oval 3"/>
          <p:cNvSpPr/>
          <p:nvPr/>
        </p:nvSpPr>
        <p:spPr>
          <a:xfrm>
            <a:off x="548640" y="17647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1</a:t>
            </a:r>
          </a:p>
        </p:txBody>
      </p:sp>
      <p:sp>
        <p:nvSpPr>
          <p:cNvPr id="5" name="TextBox 4"/>
          <p:cNvSpPr txBox="1"/>
          <p:nvPr/>
        </p:nvSpPr>
        <p:spPr>
          <a:xfrm>
            <a:off x="1078992" y="16916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Capture transactions from consented bank SMS (read on the phone) and e-mail — no bank login — plus uploads.</a:t>
            </a:r>
          </a:p>
        </p:txBody>
      </p:sp>
      <p:sp>
        <p:nvSpPr>
          <p:cNvPr id="6" name="Oval 5"/>
          <p:cNvSpPr/>
          <p:nvPr/>
        </p:nvSpPr>
        <p:spPr>
          <a:xfrm>
            <a:off x="548640" y="24505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2</a:t>
            </a:r>
          </a:p>
        </p:txBody>
      </p:sp>
      <p:sp>
        <p:nvSpPr>
          <p:cNvPr id="7" name="TextBox 6"/>
          <p:cNvSpPr txBox="1"/>
          <p:nvPr/>
        </p:nvSpPr>
        <p:spPr>
          <a:xfrm>
            <a:off x="1078992" y="23774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Understand spending reliably: classify, extract, de-duplicate, categorise and flag anomalies.</a:t>
            </a:r>
          </a:p>
        </p:txBody>
      </p:sp>
      <p:sp>
        <p:nvSpPr>
          <p:cNvPr id="8" name="Oval 7"/>
          <p:cNvSpPr/>
          <p:nvPr/>
        </p:nvSpPr>
        <p:spPr>
          <a:xfrm>
            <a:off x="548640" y="31363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3</a:t>
            </a:r>
          </a:p>
        </p:txBody>
      </p:sp>
      <p:sp>
        <p:nvSpPr>
          <p:cNvPr id="9" name="TextBox 8"/>
          <p:cNvSpPr txBox="1"/>
          <p:nvPr/>
        </p:nvSpPr>
        <p:spPr>
          <a:xfrm>
            <a:off x="1078992" y="30632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Forecast the balance 90 days ahead and report its accuracy honestly against baselines.</a:t>
            </a:r>
          </a:p>
        </p:txBody>
      </p:sp>
      <p:sp>
        <p:nvSpPr>
          <p:cNvPr id="10" name="Oval 9"/>
          <p:cNvSpPr/>
          <p:nvPr/>
        </p:nvSpPr>
        <p:spPr>
          <a:xfrm>
            <a:off x="548640" y="3822191"/>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4</a:t>
            </a:r>
          </a:p>
        </p:txBody>
      </p:sp>
      <p:sp>
        <p:nvSpPr>
          <p:cNvPr id="11" name="TextBox 10"/>
          <p:cNvSpPr txBox="1"/>
          <p:nvPr/>
        </p:nvSpPr>
        <p:spPr>
          <a:xfrm>
            <a:off x="1078992" y="3749039"/>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Find subscription leakage and estimate income tax under both regimes, with evidence.</a:t>
            </a:r>
          </a:p>
        </p:txBody>
      </p:sp>
      <p:sp>
        <p:nvSpPr>
          <p:cNvPr id="12" name="Oval 11"/>
          <p:cNvSpPr/>
          <p:nvPr/>
        </p:nvSpPr>
        <p:spPr>
          <a:xfrm>
            <a:off x="548640" y="45079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5</a:t>
            </a:r>
          </a:p>
        </p:txBody>
      </p:sp>
      <p:sp>
        <p:nvSpPr>
          <p:cNvPr id="13" name="TextBox 12"/>
          <p:cNvSpPr txBox="1"/>
          <p:nvPr/>
        </p:nvSpPr>
        <p:spPr>
          <a:xfrm>
            <a:off x="1078992" y="44348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Turn data into decisions: insights, a coach, budgets, goals and an affordable wishlist.</a:t>
            </a:r>
          </a:p>
        </p:txBody>
      </p:sp>
      <p:sp>
        <p:nvSpPr>
          <p:cNvPr id="14" name="Oval 13"/>
          <p:cNvSpPr/>
          <p:nvPr/>
        </p:nvSpPr>
        <p:spPr>
          <a:xfrm>
            <a:off x="548640" y="5193792"/>
            <a:ext cx="384048" cy="384048"/>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6</a:t>
            </a:r>
          </a:p>
        </p:txBody>
      </p:sp>
      <p:sp>
        <p:nvSpPr>
          <p:cNvPr id="15" name="TextBox 14"/>
          <p:cNvSpPr txBox="1"/>
          <p:nvPr/>
        </p:nvSpPr>
        <p:spPr>
          <a:xfrm>
            <a:off x="1078992" y="5120640"/>
            <a:ext cx="5760720" cy="640080"/>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Keep users in control: consent per source and purpose, encryption, retention and deletion.</a:t>
            </a:r>
          </a:p>
        </p:txBody>
      </p:sp>
      <p:sp>
        <p:nvSpPr>
          <p:cNvPr id="16" name="Rounded Rectangle 15"/>
          <p:cNvSpPr/>
          <p:nvPr/>
        </p:nvSpPr>
        <p:spPr>
          <a:xfrm>
            <a:off x="7086600" y="1234440"/>
            <a:ext cx="4553712" cy="2240280"/>
          </a:xfrm>
          <a:prstGeom prst="roundRect">
            <a:avLst>
              <a:gd name="adj" fmla="val 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325880"/>
            <a:ext cx="4187952" cy="411480"/>
          </a:xfrm>
          <a:prstGeom prst="rect">
            <a:avLst/>
          </a:prstGeom>
          <a:noFill/>
        </p:spPr>
        <p:txBody>
          <a:bodyPr wrap="square" lIns="36576" tIns="18288" rIns="36576" bIns="18288" anchor="t">
            <a:noAutofit/>
          </a:bodyPr>
          <a:lstStyle/>
          <a:p>
            <a:pPr algn="l">
              <a:spcAft>
                <a:spcPts val="400"/>
              </a:spcAft>
              <a:buNone/>
            </a:pPr>
            <a:r>
              <a:rPr sz="1700" b="1" i="0">
                <a:solidFill>
                  <a:srgbClr val="1E7B4F"/>
                </a:solidFill>
                <a:latin typeface="Arial"/>
              </a:rPr>
              <a:t>In scope</a:t>
            </a:r>
          </a:p>
        </p:txBody>
      </p:sp>
      <p:sp>
        <p:nvSpPr>
          <p:cNvPr id="18" name="TextBox 17"/>
          <p:cNvSpPr txBox="1"/>
          <p:nvPr/>
        </p:nvSpPr>
        <p:spPr>
          <a:xfrm>
            <a:off x="7315200" y="1755648"/>
            <a:ext cx="4142232" cy="1691640"/>
          </a:xfrm>
          <a:prstGeom prst="rect">
            <a:avLst/>
          </a:prstGeom>
          <a:noFill/>
        </p:spPr>
        <p:txBody>
          <a:bodyPr wrap="square" lIns="36576" tIns="18288" rIns="36576" bIns="18288" anchor="t">
            <a:noAutofit/>
          </a:bodyPr>
          <a:lstStyle/>
          <a:p>
            <a:pPr algn="l" marL="201168" indent="-201168">
              <a:spcAft>
                <a:spcPts val="300"/>
              </a:spcAft>
              <a:buFont typeface="Arial"/>
              <a:buChar char="•"/>
            </a:pPr>
            <a:r>
              <a:rPr sz="1400" b="0" i="0">
                <a:solidFill>
                  <a:srgbClr val="1F2937"/>
                </a:solidFill>
                <a:latin typeface="Arial"/>
              </a:rPr>
              <a:t>SMS from an Android app, e-mail over IMAP</a:t>
            </a:r>
          </a:p>
          <a:p>
            <a:pPr algn="l" marL="201168" indent="-201168">
              <a:spcAft>
                <a:spcPts val="300"/>
              </a:spcAft>
              <a:buFont typeface="Arial"/>
              <a:buChar char="•"/>
            </a:pPr>
            <a:r>
              <a:rPr sz="1400" b="0" i="0">
                <a:solidFill>
                  <a:srgbClr val="1F2937"/>
                </a:solidFill>
                <a:latin typeface="Arial"/>
              </a:rPr>
              <a:t>Receipt photos (on-device OCR), PDF bills, CSV/XLSX</a:t>
            </a:r>
          </a:p>
          <a:p>
            <a:pPr algn="l" marL="201168" indent="-201168">
              <a:spcAft>
                <a:spcPts val="300"/>
              </a:spcAft>
              <a:buFont typeface="Arial"/>
              <a:buChar char="•"/>
            </a:pPr>
            <a:r>
              <a:rPr sz="1400" b="0" i="0">
                <a:solidFill>
                  <a:srgbClr val="1F2937"/>
                </a:solidFill>
                <a:latin typeface="Arial"/>
              </a:rPr>
              <a:t>Forecast, subscriptions, tax, anomalies, insights, coach</a:t>
            </a:r>
          </a:p>
          <a:p>
            <a:pPr algn="l" marL="201168" indent="-201168">
              <a:spcAft>
                <a:spcPts val="300"/>
              </a:spcAft>
              <a:buFont typeface="Arial"/>
              <a:buChar char="•"/>
            </a:pPr>
            <a:r>
              <a:rPr sz="1400" b="0" i="0">
                <a:solidFill>
                  <a:srgbClr val="1F2937"/>
                </a:solidFill>
                <a:latin typeface="Arial"/>
              </a:rPr>
              <a:t>A wishlist checked against the budget</a:t>
            </a:r>
          </a:p>
          <a:p>
            <a:pPr algn="l" marL="201168" indent="-201168">
              <a:spcAft>
                <a:spcPts val="300"/>
              </a:spcAft>
              <a:buFont typeface="Arial"/>
              <a:buChar char="•"/>
            </a:pPr>
            <a:r>
              <a:rPr sz="1400" b="0" i="0">
                <a:solidFill>
                  <a:srgbClr val="1F2937"/>
                </a:solidFill>
                <a:latin typeface="Arial"/>
              </a:rPr>
              <a:t>Laptop server; the phone pairs by QR code</a:t>
            </a:r>
          </a:p>
        </p:txBody>
      </p:sp>
      <p:sp>
        <p:nvSpPr>
          <p:cNvPr id="19" name="Rounded Rectangle 18"/>
          <p:cNvSpPr/>
          <p:nvPr/>
        </p:nvSpPr>
        <p:spPr>
          <a:xfrm>
            <a:off x="7086600" y="3639312"/>
            <a:ext cx="4553712" cy="2240280"/>
          </a:xfrm>
          <a:prstGeom prst="roundRect">
            <a:avLst>
              <a:gd name="adj" fmla="val 5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730752"/>
            <a:ext cx="4187952"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Out of scope (stated limits)</a:t>
            </a:r>
          </a:p>
        </p:txBody>
      </p:sp>
      <p:sp>
        <p:nvSpPr>
          <p:cNvPr id="21" name="TextBox 20"/>
          <p:cNvSpPr txBox="1"/>
          <p:nvPr/>
        </p:nvSpPr>
        <p:spPr>
          <a:xfrm>
            <a:off x="7315200" y="4160520"/>
            <a:ext cx="4142232" cy="1691640"/>
          </a:xfrm>
          <a:prstGeom prst="rect">
            <a:avLst/>
          </a:prstGeom>
          <a:noFill/>
        </p:spPr>
        <p:txBody>
          <a:bodyPr wrap="square" lIns="36576" tIns="18288" rIns="36576" bIns="18288" anchor="t">
            <a:noAutofit/>
          </a:bodyPr>
          <a:lstStyle/>
          <a:p>
            <a:pPr algn="l" marL="201168" indent="-201168">
              <a:spcAft>
                <a:spcPts val="300"/>
              </a:spcAft>
              <a:buFont typeface="Arial"/>
              <a:buChar char="•"/>
            </a:pPr>
            <a:r>
              <a:rPr sz="1400" b="0" i="0">
                <a:solidFill>
                  <a:srgbClr val="1F2937"/>
                </a:solidFill>
                <a:latin typeface="Arial"/>
              </a:rPr>
              <a:t>Live bank or account-aggregator connections</a:t>
            </a:r>
          </a:p>
          <a:p>
            <a:pPr algn="l" marL="201168" indent="-201168">
              <a:spcAft>
                <a:spcPts val="300"/>
              </a:spcAft>
              <a:buFont typeface="Arial"/>
              <a:buChar char="•"/>
            </a:pPr>
            <a:r>
              <a:rPr sz="1400" b="0" i="0">
                <a:solidFill>
                  <a:srgbClr val="1F2937"/>
                </a:solidFill>
                <a:latin typeface="Arial"/>
              </a:rPr>
              <a:t>Real payments or money transfers</a:t>
            </a:r>
          </a:p>
          <a:p>
            <a:pPr algn="l" marL="201168" indent="-201168">
              <a:spcAft>
                <a:spcPts val="300"/>
              </a:spcAft>
              <a:buFont typeface="Arial"/>
              <a:buChar char="•"/>
            </a:pPr>
            <a:r>
              <a:rPr sz="1400" b="0" i="0">
                <a:solidFill>
                  <a:srgbClr val="1F2937"/>
                </a:solidFill>
                <a:latin typeface="Arial"/>
              </a:rPr>
              <a:t>Product recommendations or crawling</a:t>
            </a:r>
          </a:p>
          <a:p>
            <a:pPr algn="l" marL="201168" indent="-201168">
              <a:spcAft>
                <a:spcPts val="300"/>
              </a:spcAft>
              <a:buFont typeface="Arial"/>
              <a:buChar char="•"/>
            </a:pPr>
            <a:r>
              <a:rPr sz="1400" b="0" i="0">
                <a:solidFill>
                  <a:srgbClr val="1F2937"/>
                </a:solidFill>
                <a:latin typeface="Arial"/>
              </a:rPr>
              <a:t>Tax filing or financial advice (estimates only)</a:t>
            </a:r>
          </a:p>
          <a:p>
            <a:pPr algn="l" marL="201168" indent="-201168">
              <a:spcAft>
                <a:spcPts val="300"/>
              </a:spcAft>
              <a:buFont typeface="Arial"/>
              <a:buChar char="•"/>
            </a:pPr>
            <a:r>
              <a:rPr sz="1400" b="0" i="0">
                <a:solidFill>
                  <a:srgbClr val="1F2937"/>
                </a:solidFill>
                <a:latin typeface="Arial"/>
              </a:rPr>
              <a:t>iOS (Apple gives apps no SMS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(1/2)</a:t>
            </a:r>
          </a:p>
        </p:txBody>
      </p:sp>
      <p:sp>
        <p:nvSpPr>
          <p:cNvPr id="3" name="Rounded Rectangle 2"/>
          <p:cNvSpPr/>
          <p:nvPr/>
        </p:nvSpPr>
        <p:spPr>
          <a:xfrm>
            <a:off x="548640" y="1234439"/>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371600"/>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a:t>
            </a:r>
          </a:p>
        </p:txBody>
      </p:sp>
      <p:sp>
        <p:nvSpPr>
          <p:cNvPr id="5" name="TextBox 4"/>
          <p:cNvSpPr txBox="1"/>
          <p:nvPr/>
        </p:nvSpPr>
        <p:spPr>
          <a:xfrm>
            <a:off x="1554480" y="1261872"/>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Accounts and sessions</a:t>
            </a:r>
          </a:p>
        </p:txBody>
      </p:sp>
      <p:sp>
        <p:nvSpPr>
          <p:cNvPr id="6" name="TextBox 5"/>
          <p:cNvSpPr txBox="1"/>
          <p:nvPr/>
        </p:nvSpPr>
        <p:spPr>
          <a:xfrm>
            <a:off x="4343400" y="1261872"/>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Register, sign in, labelled demo, sign out; cookies on the web, tokens in the Android app.</a:t>
            </a:r>
          </a:p>
        </p:txBody>
      </p:sp>
      <p:sp>
        <p:nvSpPr>
          <p:cNvPr id="7" name="Rounded Rectangle 6"/>
          <p:cNvSpPr/>
          <p:nvPr/>
        </p:nvSpPr>
        <p:spPr>
          <a:xfrm>
            <a:off x="658368" y="203911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FR2</a:t>
            </a:r>
          </a:p>
        </p:txBody>
      </p:sp>
      <p:sp>
        <p:nvSpPr>
          <p:cNvPr id="8" name="TextBox 7"/>
          <p:cNvSpPr txBox="1"/>
          <p:nvPr/>
        </p:nvSpPr>
        <p:spPr>
          <a:xfrm>
            <a:off x="1554480" y="192938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Consent per source</a:t>
            </a:r>
          </a:p>
        </p:txBody>
      </p:sp>
      <p:sp>
        <p:nvSpPr>
          <p:cNvPr id="9" name="TextBox 8"/>
          <p:cNvSpPr txBox="1"/>
          <p:nvPr/>
        </p:nvSpPr>
        <p:spPr>
          <a:xfrm>
            <a:off x="4343400" y="192938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Allow SMS and e-mail separately, with a purpose and a backfill window; pause, resume, revoke, delete data; consent history.</a:t>
            </a:r>
          </a:p>
        </p:txBody>
      </p:sp>
      <p:sp>
        <p:nvSpPr>
          <p:cNvPr id="10" name="Rounded Rectangle 9"/>
          <p:cNvSpPr/>
          <p:nvPr/>
        </p:nvSpPr>
        <p:spPr>
          <a:xfrm>
            <a:off x="548640" y="2569464"/>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706624"/>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FR3</a:t>
            </a:r>
          </a:p>
        </p:txBody>
      </p:sp>
      <p:sp>
        <p:nvSpPr>
          <p:cNvPr id="12" name="TextBox 11"/>
          <p:cNvSpPr txBox="1"/>
          <p:nvPr/>
        </p:nvSpPr>
        <p:spPr>
          <a:xfrm>
            <a:off x="1554480" y="2596896"/>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Message capture</a:t>
            </a:r>
          </a:p>
        </p:txBody>
      </p:sp>
      <p:sp>
        <p:nvSpPr>
          <p:cNvPr id="13" name="TextBox 12"/>
          <p:cNvSpPr txBox="1"/>
          <p:nvPr/>
        </p:nvSpPr>
        <p:spPr>
          <a:xfrm>
            <a:off x="4343400" y="2596896"/>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Read SMS on the phone and e-mail over IMAP; classify 12 kinds, extract fields, reconcile duplicates, transfers and refunds.</a:t>
            </a:r>
          </a:p>
        </p:txBody>
      </p:sp>
      <p:sp>
        <p:nvSpPr>
          <p:cNvPr id="14" name="Rounded Rectangle 13"/>
          <p:cNvSpPr/>
          <p:nvPr/>
        </p:nvSpPr>
        <p:spPr>
          <a:xfrm>
            <a:off x="658368" y="3374136"/>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FR4</a:t>
            </a:r>
          </a:p>
        </p:txBody>
      </p:sp>
      <p:sp>
        <p:nvSpPr>
          <p:cNvPr id="15" name="TextBox 14"/>
          <p:cNvSpPr txBox="1"/>
          <p:nvPr/>
        </p:nvSpPr>
        <p:spPr>
          <a:xfrm>
            <a:off x="1554480" y="3264408"/>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Optional uploads</a:t>
            </a:r>
          </a:p>
        </p:txBody>
      </p:sp>
      <p:sp>
        <p:nvSpPr>
          <p:cNvPr id="16" name="TextBox 15"/>
          <p:cNvSpPr txBox="1"/>
          <p:nvPr/>
        </p:nvSpPr>
        <p:spPr>
          <a:xfrm>
            <a:off x="4343400" y="3264408"/>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Camera receipt OCR on the device, PDF bills, a CSV/XLSX statement wizard and manual entry.</a:t>
            </a:r>
          </a:p>
        </p:txBody>
      </p:sp>
      <p:sp>
        <p:nvSpPr>
          <p:cNvPr id="17" name="Rounded Rectangle 16"/>
          <p:cNvSpPr/>
          <p:nvPr/>
        </p:nvSpPr>
        <p:spPr>
          <a:xfrm>
            <a:off x="548640" y="3904487"/>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041648"/>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FR5</a:t>
            </a:r>
          </a:p>
        </p:txBody>
      </p:sp>
      <p:sp>
        <p:nvSpPr>
          <p:cNvPr id="19" name="TextBox 18"/>
          <p:cNvSpPr txBox="1"/>
          <p:nvPr/>
        </p:nvSpPr>
        <p:spPr>
          <a:xfrm>
            <a:off x="1554480" y="3931920"/>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Transactions and review</a:t>
            </a:r>
          </a:p>
        </p:txBody>
      </p:sp>
      <p:sp>
        <p:nvSpPr>
          <p:cNvPr id="20" name="TextBox 19"/>
          <p:cNvSpPr txBox="1"/>
          <p:nvPr/>
        </p:nvSpPr>
        <p:spPr>
          <a:xfrm>
            <a:off x="4343400" y="3931920"/>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Search and filter, evidence drawer, recategorise with “apply to all” rules, a review queue that learns.</a:t>
            </a:r>
          </a:p>
        </p:txBody>
      </p:sp>
      <p:sp>
        <p:nvSpPr>
          <p:cNvPr id="21" name="Rounded Rectangle 20"/>
          <p:cNvSpPr/>
          <p:nvPr/>
        </p:nvSpPr>
        <p:spPr>
          <a:xfrm>
            <a:off x="658368" y="4709159"/>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FR6</a:t>
            </a:r>
          </a:p>
        </p:txBody>
      </p:sp>
      <p:sp>
        <p:nvSpPr>
          <p:cNvPr id="22" name="TextBox 21"/>
          <p:cNvSpPr txBox="1"/>
          <p:nvPr/>
        </p:nvSpPr>
        <p:spPr>
          <a:xfrm>
            <a:off x="1554480" y="4599431"/>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Dashboard</a:t>
            </a:r>
          </a:p>
        </p:txBody>
      </p:sp>
      <p:sp>
        <p:nvSpPr>
          <p:cNvPr id="23" name="TextBox 22"/>
          <p:cNvSpPr txBox="1"/>
          <p:nvPr/>
        </p:nvSpPr>
        <p:spPr>
          <a:xfrm>
            <a:off x="4343400" y="4599431"/>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Balance, safe to spend, spending, the 90-day forecast band, attention feed, bills due and anomalies.</a:t>
            </a:r>
          </a:p>
        </p:txBody>
      </p:sp>
      <p:sp>
        <p:nvSpPr>
          <p:cNvPr id="24" name="Rounded Rectangle 23"/>
          <p:cNvSpPr/>
          <p:nvPr/>
        </p:nvSpPr>
        <p:spPr>
          <a:xfrm>
            <a:off x="548640" y="5239512"/>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537667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FR7</a:t>
            </a:r>
          </a:p>
        </p:txBody>
      </p:sp>
      <p:sp>
        <p:nvSpPr>
          <p:cNvPr id="26" name="TextBox 25"/>
          <p:cNvSpPr txBox="1"/>
          <p:nvPr/>
        </p:nvSpPr>
        <p:spPr>
          <a:xfrm>
            <a:off x="1554480" y="526694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Cash-flow forecast</a:t>
            </a:r>
          </a:p>
        </p:txBody>
      </p:sp>
      <p:sp>
        <p:nvSpPr>
          <p:cNvPr id="27" name="TextBox 26"/>
          <p:cNvSpPr txBox="1"/>
          <p:nvPr/>
        </p:nvSpPr>
        <p:spPr>
          <a:xfrm>
            <a:off x="4343400" y="526694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90-day projection with an 80% band, what-if purchases, upcoming payments and a backtest against baselines.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Functional requirements (2/2)</a:t>
            </a:r>
          </a:p>
        </p:txBody>
      </p:sp>
      <p:sp>
        <p:nvSpPr>
          <p:cNvPr id="3" name="Rounded Rectangle 2"/>
          <p:cNvSpPr/>
          <p:nvPr/>
        </p:nvSpPr>
        <p:spPr>
          <a:xfrm>
            <a:off x="548640" y="1234439"/>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371600"/>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FR8</a:t>
            </a:r>
          </a:p>
        </p:txBody>
      </p:sp>
      <p:sp>
        <p:nvSpPr>
          <p:cNvPr id="5" name="TextBox 4"/>
          <p:cNvSpPr txBox="1"/>
          <p:nvPr/>
        </p:nvSpPr>
        <p:spPr>
          <a:xfrm>
            <a:off x="1554480" y="1261872"/>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Subscriptions</a:t>
            </a:r>
          </a:p>
        </p:txBody>
      </p:sp>
      <p:sp>
        <p:nvSpPr>
          <p:cNvPr id="6" name="TextBox 5"/>
          <p:cNvSpPr txBox="1"/>
          <p:nvPr/>
        </p:nvSpPr>
        <p:spPr>
          <a:xfrm>
            <a:off x="4343400" y="1261872"/>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Detect recurring charges; flag price rises, unused plans, trials that became paid and overlaps; keep or cancel.</a:t>
            </a:r>
          </a:p>
        </p:txBody>
      </p:sp>
      <p:sp>
        <p:nvSpPr>
          <p:cNvPr id="7" name="Rounded Rectangle 6"/>
          <p:cNvSpPr/>
          <p:nvPr/>
        </p:nvSpPr>
        <p:spPr>
          <a:xfrm>
            <a:off x="658368" y="203911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FR9</a:t>
            </a:r>
          </a:p>
        </p:txBody>
      </p:sp>
      <p:sp>
        <p:nvSpPr>
          <p:cNvPr id="8" name="TextBox 7"/>
          <p:cNvSpPr txBox="1"/>
          <p:nvPr/>
        </p:nvSpPr>
        <p:spPr>
          <a:xfrm>
            <a:off x="1554480" y="192938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Tax insights</a:t>
            </a:r>
          </a:p>
        </p:txBody>
      </p:sp>
      <p:sp>
        <p:nvSpPr>
          <p:cNvPr id="9" name="TextBox 8"/>
          <p:cNvSpPr txBox="1"/>
          <p:nvPr/>
        </p:nvSpPr>
        <p:spPr>
          <a:xfrm>
            <a:off x="4343400" y="192938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FY 2025-26 and Tax Year 2026-27, both regimes, deductions found in transactions, headroom, advance tax, CSV/PDF.</a:t>
            </a:r>
          </a:p>
        </p:txBody>
      </p:sp>
      <p:sp>
        <p:nvSpPr>
          <p:cNvPr id="10" name="Rounded Rectangle 9"/>
          <p:cNvSpPr/>
          <p:nvPr/>
        </p:nvSpPr>
        <p:spPr>
          <a:xfrm>
            <a:off x="548640" y="2569464"/>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706624"/>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FR10</a:t>
            </a:r>
          </a:p>
        </p:txBody>
      </p:sp>
      <p:sp>
        <p:nvSpPr>
          <p:cNvPr id="12" name="TextBox 11"/>
          <p:cNvSpPr txBox="1"/>
          <p:nvPr/>
        </p:nvSpPr>
        <p:spPr>
          <a:xfrm>
            <a:off x="1554480" y="2596896"/>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Insights and coach</a:t>
            </a:r>
          </a:p>
        </p:txBody>
      </p:sp>
      <p:sp>
        <p:nvSpPr>
          <p:cNvPr id="13" name="TextBox 12"/>
          <p:cNvSpPr txBox="1"/>
          <p:nvPr/>
        </p:nvSpPr>
        <p:spPr>
          <a:xfrm>
            <a:off x="4343400" y="2596896"/>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Ranked, dismissible insights; a coach that answers 13 kinds of question from the user's own data.</a:t>
            </a:r>
          </a:p>
        </p:txBody>
      </p:sp>
      <p:sp>
        <p:nvSpPr>
          <p:cNvPr id="14" name="Rounded Rectangle 13"/>
          <p:cNvSpPr/>
          <p:nvPr/>
        </p:nvSpPr>
        <p:spPr>
          <a:xfrm>
            <a:off x="658368" y="3374136"/>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FR11</a:t>
            </a:r>
          </a:p>
        </p:txBody>
      </p:sp>
      <p:sp>
        <p:nvSpPr>
          <p:cNvPr id="15" name="TextBox 14"/>
          <p:cNvSpPr txBox="1"/>
          <p:nvPr/>
        </p:nvSpPr>
        <p:spPr>
          <a:xfrm>
            <a:off x="1554480" y="3264408"/>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Budgets and goals</a:t>
            </a:r>
          </a:p>
        </p:txBody>
      </p:sp>
      <p:sp>
        <p:nvSpPr>
          <p:cNvPr id="16" name="TextBox 15"/>
          <p:cNvSpPr txBox="1"/>
          <p:nvPr/>
        </p:nvSpPr>
        <p:spPr>
          <a:xfrm>
            <a:off x="4343400" y="3264408"/>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Monthly category limits with pace markers; goals with monthly targets and “add money”.</a:t>
            </a:r>
          </a:p>
        </p:txBody>
      </p:sp>
      <p:sp>
        <p:nvSpPr>
          <p:cNvPr id="17" name="Rounded Rectangle 16"/>
          <p:cNvSpPr/>
          <p:nvPr/>
        </p:nvSpPr>
        <p:spPr>
          <a:xfrm>
            <a:off x="548640" y="3904487"/>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041648"/>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FR12</a:t>
            </a:r>
          </a:p>
        </p:txBody>
      </p:sp>
      <p:sp>
        <p:nvSpPr>
          <p:cNvPr id="19" name="TextBox 18"/>
          <p:cNvSpPr txBox="1"/>
          <p:nvPr/>
        </p:nvSpPr>
        <p:spPr>
          <a:xfrm>
            <a:off x="1554480" y="3931920"/>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Wishlist</a:t>
            </a:r>
          </a:p>
        </p:txBody>
      </p:sp>
      <p:sp>
        <p:nvSpPr>
          <p:cNvPr id="20" name="TextBox 19"/>
          <p:cNvSpPr txBox="1"/>
          <p:nvPr/>
        </p:nvSpPr>
        <p:spPr>
          <a:xfrm>
            <a:off x="4343400" y="3931920"/>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Items with a price or product link, prices read where allowed, Buy now / For your goals / Save up tiers, Can I afford…?</a:t>
            </a:r>
          </a:p>
        </p:txBody>
      </p:sp>
      <p:sp>
        <p:nvSpPr>
          <p:cNvPr id="21" name="Rounded Rectangle 20"/>
          <p:cNvSpPr/>
          <p:nvPr/>
        </p:nvSpPr>
        <p:spPr>
          <a:xfrm>
            <a:off x="658368" y="4709159"/>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FR13</a:t>
            </a:r>
          </a:p>
        </p:txBody>
      </p:sp>
      <p:sp>
        <p:nvSpPr>
          <p:cNvPr id="22" name="TextBox 21"/>
          <p:cNvSpPr txBox="1"/>
          <p:nvPr/>
        </p:nvSpPr>
        <p:spPr>
          <a:xfrm>
            <a:off x="1554480" y="4599431"/>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Settings and data rights</a:t>
            </a:r>
          </a:p>
        </p:txBody>
      </p:sp>
      <p:sp>
        <p:nvSpPr>
          <p:cNvPr id="23" name="TextBox 22"/>
          <p:cNvSpPr txBox="1"/>
          <p:nvPr/>
        </p:nvSpPr>
        <p:spPr>
          <a:xfrm>
            <a:off x="4343400" y="4599431"/>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Buffer, take-home pay, accounts and retention; pair the phone; export all data; delete account.</a:t>
            </a:r>
          </a:p>
        </p:txBody>
      </p:sp>
      <p:sp>
        <p:nvSpPr>
          <p:cNvPr id="24" name="Rounded Rectangle 23"/>
          <p:cNvSpPr/>
          <p:nvPr/>
        </p:nvSpPr>
        <p:spPr>
          <a:xfrm>
            <a:off x="548640" y="5239512"/>
            <a:ext cx="11094415" cy="6309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5376672"/>
            <a:ext cx="731520" cy="36576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FR14</a:t>
            </a:r>
          </a:p>
        </p:txBody>
      </p:sp>
      <p:sp>
        <p:nvSpPr>
          <p:cNvPr id="26" name="TextBox 25"/>
          <p:cNvSpPr txBox="1"/>
          <p:nvPr/>
        </p:nvSpPr>
        <p:spPr>
          <a:xfrm>
            <a:off x="1554480" y="5266944"/>
            <a:ext cx="2743200" cy="576072"/>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Model evaluation</a:t>
            </a:r>
          </a:p>
        </p:txBody>
      </p:sp>
      <p:sp>
        <p:nvSpPr>
          <p:cNvPr id="27" name="TextBox 26"/>
          <p:cNvSpPr txBox="1"/>
          <p:nvPr/>
        </p:nvSpPr>
        <p:spPr>
          <a:xfrm>
            <a:off x="4343400" y="5266944"/>
            <a:ext cx="7162495" cy="576072"/>
          </a:xfrm>
          <a:prstGeom prst="rect">
            <a:avLst/>
          </a:prstGeom>
          <a:noFill/>
        </p:spPr>
        <p:txBody>
          <a:bodyPr wrap="square" lIns="36576" tIns="18288" rIns="36576" bIns="18288" anchor="ctr">
            <a:noAutofit/>
          </a:bodyPr>
          <a:lstStyle/>
          <a:p>
            <a:pPr algn="l">
              <a:spcAft>
                <a:spcPts val="400"/>
              </a:spcAft>
              <a:buNone/>
            </a:pPr>
            <a:r>
              <a:rPr sz="1400" b="0" i="0">
                <a:solidFill>
                  <a:srgbClr val="1F2937"/>
                </a:solidFill>
                <a:latin typeface="Arial"/>
              </a:rPr>
              <a:t>Capability checks and measured model metrics, including a real-format SMS corpus.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Non-functional requirements</a:t>
            </a:r>
          </a:p>
        </p:txBody>
      </p:sp>
      <p:sp>
        <p:nvSpPr>
          <p:cNvPr id="3" name="Rounded Rectangle 2"/>
          <p:cNvSpPr/>
          <p:nvPr/>
        </p:nvSpPr>
        <p:spPr>
          <a:xfrm>
            <a:off x="54864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Security</a:t>
            </a:r>
          </a:p>
        </p:txBody>
      </p:sp>
      <p:sp>
        <p:nvSpPr>
          <p:cNvPr id="5" name="TextBox 4"/>
          <p:cNvSpPr txBox="1"/>
          <p:nvPr/>
        </p:nvSpPr>
        <p:spPr>
          <a:xfrm>
            <a:off x="73152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bcrypt passwords (12 rounds)</a:t>
            </a:r>
          </a:p>
          <a:p>
            <a:pPr algn="l" marL="201168" indent="-201168">
              <a:spcAft>
                <a:spcPts val="600"/>
              </a:spcAft>
              <a:buFont typeface="Arial"/>
              <a:buChar char="•"/>
            </a:pPr>
            <a:r>
              <a:rPr sz="1400" b="0" i="0">
                <a:solidFill>
                  <a:srgbClr val="1F2937"/>
                </a:solidFill>
                <a:latin typeface="Arial"/>
              </a:rPr>
              <a:t>JWT cookies (web) or Bearer tokens (app)</a:t>
            </a:r>
          </a:p>
          <a:p>
            <a:pPr algn="l" marL="201168" indent="-201168">
              <a:spcAft>
                <a:spcPts val="600"/>
              </a:spcAft>
              <a:buFont typeface="Arial"/>
              <a:buChar char="•"/>
            </a:pPr>
            <a:r>
              <a:rPr sz="1400" b="0" i="0">
                <a:solidFill>
                  <a:srgbClr val="1F2937"/>
                </a:solidFill>
                <a:latin typeface="Arial"/>
              </a:rPr>
              <a:t>CSRF and CORS checks; failed-login limit</a:t>
            </a:r>
          </a:p>
        </p:txBody>
      </p:sp>
      <p:sp>
        <p:nvSpPr>
          <p:cNvPr id="6" name="Rounded Rectangle 5"/>
          <p:cNvSpPr/>
          <p:nvPr/>
        </p:nvSpPr>
        <p:spPr>
          <a:xfrm>
            <a:off x="337505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793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Privacy</a:t>
            </a:r>
          </a:p>
        </p:txBody>
      </p:sp>
      <p:sp>
        <p:nvSpPr>
          <p:cNvPr id="8" name="TextBox 7"/>
          <p:cNvSpPr txBox="1"/>
          <p:nvPr/>
        </p:nvSpPr>
        <p:spPr>
          <a:xfrm>
            <a:off x="355793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On-phone filtering; per-source consent</a:t>
            </a:r>
          </a:p>
          <a:p>
            <a:pPr algn="l" marL="201168" indent="-201168">
              <a:spcAft>
                <a:spcPts val="600"/>
              </a:spcAft>
              <a:buFont typeface="Arial"/>
              <a:buChar char="•"/>
            </a:pPr>
            <a:r>
              <a:rPr sz="1400" b="0" i="0">
                <a:solidFill>
                  <a:srgbClr val="1F2937"/>
                </a:solidFill>
                <a:latin typeface="Arial"/>
              </a:rPr>
              <a:t>Message text encrypted, deleted after 90 days</a:t>
            </a:r>
          </a:p>
          <a:p>
            <a:pPr algn="l" marL="201168" indent="-201168">
              <a:spcAft>
                <a:spcPts val="600"/>
              </a:spcAft>
              <a:buFont typeface="Arial"/>
              <a:buChar char="•"/>
            </a:pPr>
            <a:r>
              <a:rPr sz="1400" b="0" i="0">
                <a:solidFill>
                  <a:srgbClr val="1F2937"/>
                </a:solidFill>
                <a:latin typeface="Arial"/>
              </a:rPr>
              <a:t>Append-only consent log; export, delete</a:t>
            </a:r>
          </a:p>
        </p:txBody>
      </p:sp>
      <p:sp>
        <p:nvSpPr>
          <p:cNvPr id="9" name="Rounded Rectangle 8"/>
          <p:cNvSpPr/>
          <p:nvPr/>
        </p:nvSpPr>
        <p:spPr>
          <a:xfrm>
            <a:off x="6201460"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4340"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Reliability</a:t>
            </a:r>
          </a:p>
        </p:txBody>
      </p:sp>
      <p:sp>
        <p:nvSpPr>
          <p:cNvPr id="11" name="TextBox 10"/>
          <p:cNvSpPr txBox="1"/>
          <p:nvPr/>
        </p:nvSpPr>
        <p:spPr>
          <a:xfrm>
            <a:off x="6384340"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Every request commits or rolls back</a:t>
            </a:r>
          </a:p>
          <a:p>
            <a:pPr algn="l" marL="201168" indent="-201168">
              <a:spcAft>
                <a:spcPts val="600"/>
              </a:spcAft>
              <a:buFont typeface="Arial"/>
              <a:buChar char="•"/>
            </a:pPr>
            <a:r>
              <a:rPr sz="1400" b="0" i="0">
                <a:solidFill>
                  <a:srgbClr val="1F2937"/>
                </a:solidFill>
                <a:latin typeface="Arial"/>
              </a:rPr>
              <a:t>Isolated analytics stages and jobs</a:t>
            </a:r>
          </a:p>
          <a:p>
            <a:pPr algn="l" marL="201168" indent="-201168">
              <a:spcAft>
                <a:spcPts val="600"/>
              </a:spcAft>
              <a:buFont typeface="Arial"/>
              <a:buChar char="•"/>
            </a:pPr>
            <a:r>
              <a:rPr sz="1400" b="0" i="0">
                <a:solidFill>
                  <a:srgbClr val="1F2937"/>
                </a:solidFill>
                <a:latin typeface="Arial"/>
              </a:rPr>
              <a:t>Prophet → baseline fallback; idempotent sync</a:t>
            </a:r>
          </a:p>
        </p:txBody>
      </p:sp>
      <p:sp>
        <p:nvSpPr>
          <p:cNvPr id="12" name="Rounded Rectangle 11"/>
          <p:cNvSpPr/>
          <p:nvPr/>
        </p:nvSpPr>
        <p:spPr>
          <a:xfrm>
            <a:off x="9027871" y="123444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10751" y="137160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Performance</a:t>
            </a:r>
          </a:p>
        </p:txBody>
      </p:sp>
      <p:sp>
        <p:nvSpPr>
          <p:cNvPr id="14" name="TextBox 13"/>
          <p:cNvSpPr txBox="1"/>
          <p:nvPr/>
        </p:nvSpPr>
        <p:spPr>
          <a:xfrm>
            <a:off x="9210751" y="182880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Demo ready ≈51 s after a clean start</a:t>
            </a:r>
          </a:p>
          <a:p>
            <a:pPr algn="l" marL="201168" indent="-201168">
              <a:spcAft>
                <a:spcPts val="600"/>
              </a:spcAft>
              <a:buFont typeface="Arial"/>
              <a:buChar char="•"/>
            </a:pPr>
            <a:r>
              <a:rPr sz="1400" b="0" i="0">
                <a:solidFill>
                  <a:srgbClr val="1F2937"/>
                </a:solidFill>
                <a:latin typeface="Arial"/>
              </a:rPr>
              <a:t>Models train in ≈3 s; OCR ≈0.5 s/receipt</a:t>
            </a:r>
          </a:p>
          <a:p>
            <a:pPr algn="l" marL="201168" indent="-201168">
              <a:spcAft>
                <a:spcPts val="600"/>
              </a:spcAft>
              <a:buFont typeface="Arial"/>
              <a:buChar char="•"/>
            </a:pPr>
            <a:r>
              <a:rPr sz="1400" b="0" i="0">
                <a:solidFill>
                  <a:srgbClr val="1F2937"/>
                </a:solidFill>
                <a:latin typeface="Arial"/>
              </a:rPr>
              <a:t>What-if reuses the stored forecast</a:t>
            </a:r>
          </a:p>
        </p:txBody>
      </p:sp>
      <p:sp>
        <p:nvSpPr>
          <p:cNvPr id="15" name="Rounded Rectangle 14"/>
          <p:cNvSpPr/>
          <p:nvPr/>
        </p:nvSpPr>
        <p:spPr>
          <a:xfrm>
            <a:off x="54864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Usability</a:t>
            </a:r>
          </a:p>
        </p:txBody>
      </p:sp>
      <p:sp>
        <p:nvSpPr>
          <p:cNvPr id="17" name="TextBox 16"/>
          <p:cNvSpPr txBox="1"/>
          <p:nvPr/>
        </p:nvSpPr>
        <p:spPr>
          <a:xfrm>
            <a:off x="73152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Android app; bottom tabs on phones</a:t>
            </a:r>
          </a:p>
          <a:p>
            <a:pPr algn="l" marL="201168" indent="-201168">
              <a:spcAft>
                <a:spcPts val="600"/>
              </a:spcAft>
              <a:buFont typeface="Arial"/>
              <a:buChar char="•"/>
            </a:pPr>
            <a:r>
              <a:rPr sz="1400" b="0" i="0">
                <a:solidFill>
                  <a:srgbClr val="1F2937"/>
                </a:solidFill>
                <a:latin typeface="Arial"/>
              </a:rPr>
              <a:t>Every chart has a table view</a:t>
            </a:r>
          </a:p>
          <a:p>
            <a:pPr algn="l" marL="201168" indent="-201168">
              <a:spcAft>
                <a:spcPts val="600"/>
              </a:spcAft>
              <a:buFont typeface="Arial"/>
              <a:buChar char="•"/>
            </a:pPr>
            <a:r>
              <a:rPr sz="1400" b="0" i="0">
                <a:solidFill>
                  <a:srgbClr val="1F2937"/>
                </a:solidFill>
                <a:latin typeface="Arial"/>
              </a:rPr>
              <a:t>Plain-language errors and progress</a:t>
            </a:r>
          </a:p>
        </p:txBody>
      </p:sp>
      <p:sp>
        <p:nvSpPr>
          <p:cNvPr id="18" name="Rounded Rectangle 17"/>
          <p:cNvSpPr/>
          <p:nvPr/>
        </p:nvSpPr>
        <p:spPr>
          <a:xfrm>
            <a:off x="337505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93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Portability</a:t>
            </a:r>
          </a:p>
        </p:txBody>
      </p:sp>
      <p:sp>
        <p:nvSpPr>
          <p:cNvPr id="20" name="TextBox 19"/>
          <p:cNvSpPr txBox="1"/>
          <p:nvPr/>
        </p:nvSpPr>
        <p:spPr>
          <a:xfrm>
            <a:off x="355793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One command: python3 run.py</a:t>
            </a:r>
          </a:p>
          <a:p>
            <a:pPr algn="l" marL="201168" indent="-201168">
              <a:spcAft>
                <a:spcPts val="600"/>
              </a:spcAft>
              <a:buFont typeface="Arial"/>
              <a:buChar char="•"/>
            </a:pPr>
            <a:r>
              <a:rPr sz="1400" b="0" i="0">
                <a:solidFill>
                  <a:srgbClr val="1F2937"/>
                </a:solidFill>
                <a:latin typeface="Arial"/>
              </a:rPr>
              <a:t>Python 3.11+; no Docker, no DB server</a:t>
            </a:r>
          </a:p>
          <a:p>
            <a:pPr algn="l" marL="201168" indent="-201168">
              <a:spcAft>
                <a:spcPts val="600"/>
              </a:spcAft>
              <a:buFont typeface="Arial"/>
              <a:buChar char="•"/>
            </a:pPr>
            <a:r>
              <a:rPr sz="1400" b="0" i="0">
                <a:solidFill>
                  <a:srgbClr val="1F2937"/>
                </a:solidFill>
                <a:latin typeface="Arial"/>
              </a:rPr>
              <a:t>install-android over USB; QR pairing</a:t>
            </a:r>
          </a:p>
        </p:txBody>
      </p:sp>
      <p:sp>
        <p:nvSpPr>
          <p:cNvPr id="21" name="Rounded Rectangle 20"/>
          <p:cNvSpPr/>
          <p:nvPr/>
        </p:nvSpPr>
        <p:spPr>
          <a:xfrm>
            <a:off x="6201460"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4340"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Maintainability</a:t>
            </a:r>
          </a:p>
        </p:txBody>
      </p:sp>
      <p:sp>
        <p:nvSpPr>
          <p:cNvPr id="23" name="TextBox 22"/>
          <p:cNvSpPr txBox="1"/>
          <p:nvPr/>
        </p:nvSpPr>
        <p:spPr>
          <a:xfrm>
            <a:off x="6384340"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Routers → services → models</a:t>
            </a:r>
          </a:p>
          <a:p>
            <a:pPr algn="l" marL="201168" indent="-201168">
              <a:spcAft>
                <a:spcPts val="600"/>
              </a:spcAft>
              <a:buFont typeface="Arial"/>
              <a:buChar char="•"/>
            </a:pPr>
            <a:r>
              <a:rPr sz="1400" b="0" i="0">
                <a:solidFill>
                  <a:srgbClr val="1F2937"/>
                </a:solidFill>
                <a:latin typeface="Arial"/>
              </a:rPr>
              <a:t>Alembic migrations; shared metrics</a:t>
            </a:r>
          </a:p>
          <a:p>
            <a:pPr algn="l" marL="201168" indent="-201168">
              <a:spcAft>
                <a:spcPts val="600"/>
              </a:spcAft>
              <a:buFont typeface="Arial"/>
              <a:buChar char="•"/>
            </a:pPr>
            <a:r>
              <a:rPr sz="1400" b="0" i="0">
                <a:solidFill>
                  <a:srgbClr val="1F2937"/>
                </a:solidFill>
                <a:latin typeface="Arial"/>
              </a:rPr>
              <a:t>82 backend, 23 browser, 17 device checks</a:t>
            </a:r>
          </a:p>
        </p:txBody>
      </p:sp>
      <p:sp>
        <p:nvSpPr>
          <p:cNvPr id="24" name="Rounded Rectangle 23"/>
          <p:cNvSpPr/>
          <p:nvPr/>
        </p:nvSpPr>
        <p:spPr>
          <a:xfrm>
            <a:off x="9027871" y="3611880"/>
            <a:ext cx="2615184" cy="22402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0751" y="3749040"/>
            <a:ext cx="2340864"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Accuracy</a:t>
            </a:r>
          </a:p>
        </p:txBody>
      </p:sp>
      <p:sp>
        <p:nvSpPr>
          <p:cNvPr id="26" name="TextBox 25"/>
          <p:cNvSpPr txBox="1"/>
          <p:nvPr/>
        </p:nvSpPr>
        <p:spPr>
          <a:xfrm>
            <a:off x="9210751" y="4206240"/>
            <a:ext cx="2322576" cy="1600200"/>
          </a:xfrm>
          <a:prstGeom prst="rect">
            <a:avLst/>
          </a:prstGeom>
          <a:noFill/>
        </p:spPr>
        <p:txBody>
          <a:bodyPr wrap="square" lIns="36576" tIns="18288" rIns="36576" bIns="18288" anchor="t">
            <a:noAutofit/>
          </a:bodyPr>
          <a:lstStyle/>
          <a:p>
            <a:pPr algn="l" marL="201168" indent="-201168">
              <a:spcAft>
                <a:spcPts val="600"/>
              </a:spcAft>
              <a:buFont typeface="Arial"/>
              <a:buChar char="•"/>
            </a:pPr>
            <a:r>
              <a:rPr sz="1400" b="0" i="0">
                <a:solidFill>
                  <a:srgbClr val="1F2937"/>
                </a:solidFill>
                <a:latin typeface="Arial"/>
              </a:rPr>
              <a:t>Money as integer paise and Decimal</a:t>
            </a:r>
          </a:p>
          <a:p>
            <a:pPr algn="l" marL="201168" indent="-201168">
              <a:spcAft>
                <a:spcPts val="600"/>
              </a:spcAft>
              <a:buFont typeface="Arial"/>
              <a:buChar char="•"/>
            </a:pPr>
            <a:r>
              <a:rPr sz="1400" b="0" i="0">
                <a:solidFill>
                  <a:srgbClr val="1F2937"/>
                </a:solidFill>
                <a:latin typeface="Arial"/>
              </a:rPr>
              <a:t>Held-out tests, backtests, WAPE</a:t>
            </a:r>
          </a:p>
          <a:p>
            <a:pPr algn="l" marL="201168" indent="-201168">
              <a:spcAft>
                <a:spcPts val="600"/>
              </a:spcAft>
              <a:buFont typeface="Arial"/>
              <a:buChar char="•"/>
            </a:pPr>
            <a:r>
              <a:rPr sz="1400" b="0" i="0">
                <a:solidFill>
                  <a:srgbClr val="1F2937"/>
                </a:solidFill>
                <a:latin typeface="Arial"/>
              </a:rPr>
              <a:t>“Estimates, not advice” disclaimers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System architecture</a:t>
            </a:r>
          </a:p>
        </p:txBody>
      </p:sp>
      <p:sp>
        <p:nvSpPr>
          <p:cNvPr id="3" name="Rounded Rectangle 2"/>
          <p:cNvSpPr/>
          <p:nvPr/>
        </p:nvSpPr>
        <p:spPr>
          <a:xfrm>
            <a:off x="548640" y="1234440"/>
            <a:ext cx="2788920" cy="4526280"/>
          </a:xfrm>
          <a:prstGeom prst="roundRect">
            <a:avLst>
              <a:gd name="adj" fmla="val 4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25880"/>
            <a:ext cx="2560320"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Browser / phone</a:t>
            </a:r>
          </a:p>
        </p:txBody>
      </p:sp>
      <p:sp>
        <p:nvSpPr>
          <p:cNvPr id="5" name="Rounded Rectangle 4"/>
          <p:cNvSpPr/>
          <p:nvPr/>
        </p:nvSpPr>
        <p:spPr>
          <a:xfrm>
            <a:off x="685800" y="182880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Next.js 16 UI (web and Android)</a:t>
            </a:r>
          </a:p>
          <a:p>
            <a:pPr algn="l">
              <a:spcAft>
                <a:spcPts val="0"/>
              </a:spcAft>
              <a:buNone/>
            </a:pPr>
            <a:r>
              <a:rPr sz="1200" b="0" i="0">
                <a:solidFill>
                  <a:srgbClr val="1F2937"/>
                </a:solidFill>
                <a:latin typeface="Arial"/>
              </a:rPr>
              <a:t>Same static UI in the browser and in a Capacitor 8 Android app</a:t>
            </a:r>
          </a:p>
        </p:txBody>
      </p:sp>
      <p:sp>
        <p:nvSpPr>
          <p:cNvPr id="6" name="Rounded Rectangle 5"/>
          <p:cNvSpPr/>
          <p:nvPr/>
        </p:nvSpPr>
        <p:spPr>
          <a:xfrm>
            <a:off x="685800" y="310896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TanStack Query + api.ts</a:t>
            </a:r>
          </a:p>
          <a:p>
            <a:pPr algn="l">
              <a:spcAft>
                <a:spcPts val="0"/>
              </a:spcAft>
              <a:buNone/>
            </a:pPr>
            <a:r>
              <a:rPr sz="1200" b="0" i="0">
                <a:solidFill>
                  <a:srgbClr val="1F2937"/>
                </a:solidFill>
                <a:latin typeface="Arial"/>
              </a:rPr>
              <a:t>cookies + X-Requested-With (web); Bearer tokens (app)</a:t>
            </a:r>
          </a:p>
        </p:txBody>
      </p:sp>
      <p:sp>
        <p:nvSpPr>
          <p:cNvPr id="7" name="Rounded Rectangle 6"/>
          <p:cNvSpPr/>
          <p:nvPr/>
        </p:nvSpPr>
        <p:spPr>
          <a:xfrm>
            <a:off x="685800" y="4389120"/>
            <a:ext cx="2514600" cy="114300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tesseract.js · SMS plugin</a:t>
            </a:r>
          </a:p>
          <a:p>
            <a:pPr algn="l">
              <a:spcAft>
                <a:spcPts val="0"/>
              </a:spcAft>
              <a:buNone/>
            </a:pPr>
            <a:r>
              <a:rPr sz="1200" b="0" i="0">
                <a:solidFill>
                  <a:srgbClr val="1F2937"/>
                </a:solidFill>
                <a:latin typeface="Arial"/>
              </a:rPr>
              <a:t>OCR on the device; the app reads and filters SMS on the phone</a:t>
            </a:r>
          </a:p>
        </p:txBody>
      </p:sp>
      <p:sp>
        <p:nvSpPr>
          <p:cNvPr id="8" name="Rounded Rectangle 7"/>
          <p:cNvSpPr/>
          <p:nvPr/>
        </p:nvSpPr>
        <p:spPr>
          <a:xfrm>
            <a:off x="3794760" y="1234440"/>
            <a:ext cx="5440680" cy="4526280"/>
          </a:xfrm>
          <a:prstGeom prst="roundRect">
            <a:avLst>
              <a:gd name="adj" fmla="val 3000"/>
            </a:avLst>
          </a:prstGeom>
          <a:solidFill>
            <a:srgbClr val="FFFFFF"/>
          </a:solidFill>
          <a:ln w="19050">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59352" y="1325880"/>
            <a:ext cx="5166360"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One Python process</a:t>
            </a:r>
            <a:r>
              <a:rPr sz="1400" b="0" i="0">
                <a:solidFill>
                  <a:srgbClr val="5B6573"/>
                </a:solidFill>
                <a:latin typeface="Arial"/>
              </a:rPr>
              <a:t>  ·  started by python3 run.py</a:t>
            </a:r>
          </a:p>
        </p:txBody>
      </p:sp>
      <p:sp>
        <p:nvSpPr>
          <p:cNvPr id="10" name="Rounded Rectangle 9"/>
          <p:cNvSpPr/>
          <p:nvPr/>
        </p:nvSpPr>
        <p:spPr>
          <a:xfrm>
            <a:off x="3959352" y="1828800"/>
            <a:ext cx="5111496" cy="86868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883664"/>
            <a:ext cx="4754880" cy="777240"/>
          </a:xfrm>
          <a:prstGeom prst="rect">
            <a:avLst/>
          </a:prstGeom>
          <a:noFill/>
        </p:spPr>
        <p:txBody>
          <a:bodyPr wrap="square" lIns="36576" tIns="18288" rIns="36576" bIns="18288" anchor="ctr">
            <a:noAutofit/>
          </a:bodyPr>
          <a:lstStyle/>
          <a:p>
            <a:pPr algn="l">
              <a:spcAft>
                <a:spcPts val="200"/>
              </a:spcAft>
              <a:buNone/>
            </a:pPr>
            <a:r>
              <a:rPr sz="1500" b="1" i="0">
                <a:solidFill>
                  <a:srgbClr val="FFFFFF"/>
                </a:solidFill>
                <a:latin typeface="Arial"/>
              </a:rPr>
              <a:t>FastAPI app on port 8000</a:t>
            </a:r>
          </a:p>
          <a:p>
            <a:pPr algn="l">
              <a:spcAft>
                <a:spcPts val="0"/>
              </a:spcAft>
              <a:buNone/>
            </a:pPr>
            <a:r>
              <a:rPr sz="1200" b="0" i="0">
                <a:solidFill>
                  <a:srgbClr val="FFFFFF"/>
                </a:solidFill>
                <a:latin typeface="Arial"/>
              </a:rPr>
              <a:t>15 routers under /api/v1 · CSRF guard · error handler · serves the web app</a:t>
            </a:r>
          </a:p>
        </p:txBody>
      </p:sp>
      <p:sp>
        <p:nvSpPr>
          <p:cNvPr id="12" name="Rounded Rectangle 11"/>
          <p:cNvSpPr/>
          <p:nvPr/>
        </p:nvSpPr>
        <p:spPr>
          <a:xfrm>
            <a:off x="3959352" y="2834640"/>
            <a:ext cx="5111496" cy="1691640"/>
          </a:xfrm>
          <a:prstGeom prst="roundRect">
            <a:avLst>
              <a:gd name="adj" fmla="val 4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87368" y="2880360"/>
            <a:ext cx="4892040" cy="365760"/>
          </a:xfrm>
          <a:prstGeom prst="rect">
            <a:avLst/>
          </a:prstGeom>
          <a:noFill/>
        </p:spPr>
        <p:txBody>
          <a:bodyPr wrap="square" lIns="36576" tIns="18288" rIns="36576" bIns="18288" anchor="t">
            <a:noAutofit/>
          </a:bodyPr>
          <a:lstStyle/>
          <a:p>
            <a:pPr algn="l">
              <a:spcAft>
                <a:spcPts val="400"/>
              </a:spcAft>
              <a:buNone/>
            </a:pPr>
            <a:r>
              <a:rPr sz="1400" b="1" i="0">
                <a:solidFill>
                  <a:srgbClr val="154360"/>
                </a:solidFill>
                <a:latin typeface="Arial"/>
              </a:rPr>
              <a:t>Services (business logic and ML)</a:t>
            </a:r>
          </a:p>
        </p:txBody>
      </p:sp>
      <p:sp>
        <p:nvSpPr>
          <p:cNvPr id="14" name="Rounded Rectangle 13"/>
          <p:cNvSpPr/>
          <p:nvPr/>
        </p:nvSpPr>
        <p:spPr>
          <a:xfrm>
            <a:off x="4087368"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Consent and capture</a:t>
            </a:r>
          </a:p>
        </p:txBody>
      </p:sp>
      <p:sp>
        <p:nvSpPr>
          <p:cNvPr id="15" name="Rounded Rectangle 14"/>
          <p:cNvSpPr/>
          <p:nvPr/>
        </p:nvSpPr>
        <p:spPr>
          <a:xfrm>
            <a:off x="5340096"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Receipts</a:t>
            </a:r>
          </a:p>
        </p:txBody>
      </p:sp>
      <p:sp>
        <p:nvSpPr>
          <p:cNvPr id="16" name="Rounded Rectangle 15"/>
          <p:cNvSpPr/>
          <p:nvPr/>
        </p:nvSpPr>
        <p:spPr>
          <a:xfrm>
            <a:off x="6592824"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Categories, anomalies</a:t>
            </a:r>
          </a:p>
        </p:txBody>
      </p:sp>
      <p:sp>
        <p:nvSpPr>
          <p:cNvPr id="17" name="Rounded Rectangle 16"/>
          <p:cNvSpPr/>
          <p:nvPr/>
        </p:nvSpPr>
        <p:spPr>
          <a:xfrm>
            <a:off x="7845552" y="3291840"/>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Forecasting</a:t>
            </a:r>
          </a:p>
        </p:txBody>
      </p:sp>
      <p:sp>
        <p:nvSpPr>
          <p:cNvPr id="18" name="Rounded Rectangle 17"/>
          <p:cNvSpPr/>
          <p:nvPr/>
        </p:nvSpPr>
        <p:spPr>
          <a:xfrm>
            <a:off x="4087368"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Subscriptions</a:t>
            </a:r>
          </a:p>
        </p:txBody>
      </p:sp>
      <p:sp>
        <p:nvSpPr>
          <p:cNvPr id="19" name="Rounded Rectangle 18"/>
          <p:cNvSpPr/>
          <p:nvPr/>
        </p:nvSpPr>
        <p:spPr>
          <a:xfrm>
            <a:off x="5340096"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Tax</a:t>
            </a:r>
          </a:p>
        </p:txBody>
      </p:sp>
      <p:sp>
        <p:nvSpPr>
          <p:cNvPr id="20" name="Rounded Rectangle 19"/>
          <p:cNvSpPr/>
          <p:nvPr/>
        </p:nvSpPr>
        <p:spPr>
          <a:xfrm>
            <a:off x="6592824"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Insights and coach</a:t>
            </a:r>
          </a:p>
        </p:txBody>
      </p:sp>
      <p:sp>
        <p:nvSpPr>
          <p:cNvPr id="21" name="Rounded Rectangle 20"/>
          <p:cNvSpPr/>
          <p:nvPr/>
        </p:nvSpPr>
        <p:spPr>
          <a:xfrm>
            <a:off x="7845552" y="3822191"/>
            <a:ext cx="1179576" cy="457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18288" rIns="36576" bIns="18288" wrap="square">
            <a:noAutofit/>
          </a:bodyPr>
          <a:lstStyle/>
          <a:p>
            <a:pPr algn="ctr">
              <a:spcAft>
                <a:spcPts val="0"/>
              </a:spcAft>
              <a:buNone/>
            </a:pPr>
            <a:r>
              <a:rPr sz="1100" b="0" i="0">
                <a:solidFill>
                  <a:srgbClr val="1F2937"/>
                </a:solidFill>
                <a:latin typeface="Arial"/>
              </a:rPr>
              <a:t>Wishlist, prices</a:t>
            </a:r>
          </a:p>
        </p:txBody>
      </p:sp>
      <p:sp>
        <p:nvSpPr>
          <p:cNvPr id="22" name="TextBox 21"/>
          <p:cNvSpPr txBox="1"/>
          <p:nvPr/>
        </p:nvSpPr>
        <p:spPr>
          <a:xfrm>
            <a:off x="4087368" y="4279392"/>
            <a:ext cx="4892040" cy="246888"/>
          </a:xfrm>
          <a:prstGeom prst="rect">
            <a:avLst/>
          </a:prstGeom>
          <a:noFill/>
        </p:spPr>
        <p:txBody>
          <a:bodyPr wrap="square" lIns="36576" tIns="18288" rIns="36576" bIns="18288" anchor="t">
            <a:noAutofit/>
          </a:bodyPr>
          <a:lstStyle/>
          <a:p>
            <a:pPr algn="l">
              <a:spcAft>
                <a:spcPts val="400"/>
              </a:spcAft>
              <a:buNone/>
            </a:pPr>
            <a:r>
              <a:rPr sz="1050" b="0" i="0">
                <a:solidFill>
                  <a:srgbClr val="5B6573"/>
                </a:solidFill>
                <a:latin typeface="Arial"/>
              </a:rPr>
              <a:t>ML in-process: scikit-learn (TF-IDF + logistic regression, IsolationForest) and Prophet</a:t>
            </a:r>
          </a:p>
        </p:txBody>
      </p:sp>
      <p:sp>
        <p:nvSpPr>
          <p:cNvPr id="23" name="Rounded Rectangle 22"/>
          <p:cNvSpPr/>
          <p:nvPr/>
        </p:nvSpPr>
        <p:spPr>
          <a:xfrm>
            <a:off x="3959352" y="4681728"/>
            <a:ext cx="2491740" cy="96012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tIns="27432" rIns="73152" bIns="27432" wrap="square">
            <a:noAutofit/>
          </a:bodyPr>
          <a:lstStyle/>
          <a:p>
            <a:pPr algn="l">
              <a:spcAft>
                <a:spcPts val="200"/>
              </a:spcAft>
              <a:buNone/>
            </a:pPr>
            <a:r>
              <a:rPr sz="1300" b="1" i="0">
                <a:solidFill>
                  <a:srgbClr val="154360"/>
                </a:solidFill>
                <a:latin typeface="Arial"/>
              </a:rPr>
              <a:t>Job runner + scheduler</a:t>
            </a:r>
          </a:p>
          <a:p>
            <a:pPr algn="l">
              <a:spcAft>
                <a:spcPts val="0"/>
              </a:spcAft>
              <a:buNone/>
            </a:pPr>
            <a:r>
              <a:rPr sz="1100" b="0" i="0">
                <a:solidFill>
                  <a:srgbClr val="1F2937"/>
                </a:solidFill>
                <a:latin typeface="Arial"/>
              </a:rPr>
              <a:t>Thread pool; mail every 30 min, prices daily, nightly analytics</a:t>
            </a:r>
          </a:p>
        </p:txBody>
      </p:sp>
      <p:sp>
        <p:nvSpPr>
          <p:cNvPr id="24" name="Rounded Rectangle 23"/>
          <p:cNvSpPr/>
          <p:nvPr/>
        </p:nvSpPr>
        <p:spPr>
          <a:xfrm>
            <a:off x="6579108" y="4681728"/>
            <a:ext cx="2491740" cy="960120"/>
          </a:xfrm>
          <a:prstGeom prst="roundRect">
            <a:avLst>
              <a:gd name="adj" fmla="val 6000"/>
            </a:avLst>
          </a:prstGeom>
          <a:solidFill>
            <a:srgbClr val="FFFFFF"/>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tIns="27432" rIns="73152" bIns="27432" wrap="square">
            <a:noAutofit/>
          </a:bodyPr>
          <a:lstStyle/>
          <a:p>
            <a:pPr algn="l">
              <a:spcAft>
                <a:spcPts val="200"/>
              </a:spcAft>
              <a:buNone/>
            </a:pPr>
            <a:r>
              <a:rPr sz="1300" b="1" i="0">
                <a:solidFill>
                  <a:srgbClr val="154360"/>
                </a:solidFill>
                <a:latin typeface="Arial"/>
              </a:rPr>
              <a:t>IMAP mailboxes · product pages</a:t>
            </a:r>
          </a:p>
          <a:p>
            <a:pPr algn="l">
              <a:spcAft>
                <a:spcPts val="0"/>
              </a:spcAft>
              <a:buNone/>
            </a:pPr>
            <a:r>
              <a:rPr sz="1100" b="0" i="0">
                <a:solidFill>
                  <a:srgbClr val="1F2937"/>
                </a:solidFill>
                <a:latin typeface="Arial"/>
              </a:rPr>
              <a:t>Mail every 30 min; one product page a day (robots.txt)</a:t>
            </a:r>
          </a:p>
        </p:txBody>
      </p:sp>
      <p:sp>
        <p:nvSpPr>
          <p:cNvPr id="25" name="Can 24"/>
          <p:cNvSpPr/>
          <p:nvPr/>
        </p:nvSpPr>
        <p:spPr>
          <a:xfrm>
            <a:off x="9646920" y="1600200"/>
            <a:ext cx="1993392" cy="2286000"/>
          </a:xfrm>
          <a:prstGeom prst="ca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56648" y="2240280"/>
            <a:ext cx="1773936" cy="1508760"/>
          </a:xfrm>
          <a:prstGeom prst="rect">
            <a:avLst/>
          </a:prstGeom>
          <a:noFill/>
        </p:spPr>
        <p:txBody>
          <a:bodyPr wrap="square" lIns="36576" tIns="18288" rIns="36576" bIns="18288" anchor="ctr">
            <a:noAutofit/>
          </a:bodyPr>
          <a:lstStyle/>
          <a:p>
            <a:pPr algn="ctr">
              <a:spcAft>
                <a:spcPts val="400"/>
              </a:spcAft>
              <a:buNone/>
            </a:pPr>
            <a:r>
              <a:rPr sz="1600" b="1" i="0">
                <a:solidFill>
                  <a:srgbClr val="FFFFFF"/>
                </a:solidFill>
                <a:latin typeface="Arial"/>
              </a:rPr>
              <a:t>SQLite (WAL)</a:t>
            </a:r>
          </a:p>
          <a:p>
            <a:pPr algn="ctr">
              <a:spcAft>
                <a:spcPts val="200"/>
              </a:spcAft>
              <a:buNone/>
            </a:pPr>
            <a:r>
              <a:rPr sz="1200" b="0" i="0">
                <a:solidFill>
                  <a:srgbClr val="FFFFFF"/>
                </a:solidFill>
                <a:latin typeface="Arial"/>
              </a:rPr>
              <a:t>data/finpilot.db</a:t>
            </a:r>
          </a:p>
          <a:p>
            <a:pPr algn="ctr">
              <a:spcAft>
                <a:spcPts val="200"/>
              </a:spcAft>
              <a:buNone/>
            </a:pPr>
            <a:r>
              <a:rPr sz="1200" b="0" i="0">
                <a:solidFill>
                  <a:srgbClr val="FFFFFF"/>
                </a:solidFill>
                <a:latin typeface="Arial"/>
              </a:rPr>
              <a:t>29 tables</a:t>
            </a:r>
          </a:p>
          <a:p>
            <a:pPr algn="ctr">
              <a:spcAft>
                <a:spcPts val="0"/>
              </a:spcAft>
              <a:buNone/>
            </a:pPr>
            <a:r>
              <a:rPr sz="1150" b="0" i="0">
                <a:solidFill>
                  <a:srgbClr val="FFFFFF"/>
                </a:solidFill>
                <a:latin typeface="Arial"/>
              </a:rPr>
              <a:t>SQLAlchemy + Alembic</a:t>
            </a:r>
          </a:p>
        </p:txBody>
      </p:sp>
      <p:sp>
        <p:nvSpPr>
          <p:cNvPr id="27" name="Rounded Rectangle 26"/>
          <p:cNvSpPr/>
          <p:nvPr/>
        </p:nvSpPr>
        <p:spPr>
          <a:xfrm>
            <a:off x="9646920" y="4160520"/>
            <a:ext cx="1993392" cy="146304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109728" wrap="square">
            <a:noAutofit/>
          </a:bodyPr>
          <a:lstStyle/>
          <a:p>
            <a:pPr algn="l">
              <a:spcAft>
                <a:spcPts val="300"/>
              </a:spcAft>
              <a:buNone/>
            </a:pPr>
            <a:r>
              <a:rPr sz="1400" b="1" i="0">
                <a:solidFill>
                  <a:srgbClr val="154360"/>
                </a:solidFill>
                <a:latin typeface="Arial"/>
              </a:rPr>
              <a:t>data/ folder</a:t>
            </a:r>
          </a:p>
          <a:p>
            <a:pPr algn="l">
              <a:spcAft>
                <a:spcPts val="0"/>
              </a:spcAft>
              <a:buNone/>
            </a:pPr>
            <a:r>
              <a:rPr sz="1200" b="0" i="0">
                <a:solidFill>
                  <a:srgbClr val="1F2937"/>
                </a:solidFill>
                <a:latin typeface="Arial"/>
              </a:rPr>
              <a:t>Uploads, trained models and the generated secret key</a:t>
            </a:r>
          </a:p>
        </p:txBody>
      </p:sp>
      <p:cxnSp>
        <p:nvCxnSpPr>
          <p:cNvPr id="28" name="Connector 27"/>
          <p:cNvCxnSpPr/>
          <p:nvPr/>
        </p:nvCxnSpPr>
        <p:spPr>
          <a:xfrm>
            <a:off x="3337560" y="2331720"/>
            <a:ext cx="621792"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35440" y="2743200"/>
            <a:ext cx="411480"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217152" y="2377440"/>
            <a:ext cx="457200" cy="320040"/>
          </a:xfrm>
          <a:prstGeom prst="rect">
            <a:avLst/>
          </a:prstGeom>
          <a:noFill/>
        </p:spPr>
        <p:txBody>
          <a:bodyPr wrap="square" lIns="36576" tIns="18288" rIns="36576" bIns="18288" anchor="t">
            <a:noAutofit/>
          </a:bodyPr>
          <a:lstStyle/>
          <a:p>
            <a:pPr algn="ctr">
              <a:spcAft>
                <a:spcPts val="400"/>
              </a:spcAft>
              <a:buNone/>
            </a:pPr>
            <a:r>
              <a:rPr sz="1000" b="0" i="0">
                <a:solidFill>
                  <a:srgbClr val="5B6573"/>
                </a:solidFill>
                <a:latin typeface="Arial"/>
              </a:rPr>
              <a:t>SQL</a:t>
            </a:r>
          </a:p>
        </p:txBody>
      </p:sp>
      <p:sp>
        <p:nvSpPr>
          <p:cNvPr id="31" name="TextBox 30"/>
          <p:cNvSpPr txBox="1"/>
          <p:nvPr/>
        </p:nvSpPr>
        <p:spPr>
          <a:xfrm>
            <a:off x="548640" y="5788152"/>
            <a:ext cx="11094415" cy="274320"/>
          </a:xfrm>
          <a:prstGeom prst="rect">
            <a:avLst/>
          </a:prstGeom>
          <a:noFill/>
        </p:spPr>
        <p:txBody>
          <a:bodyPr wrap="square" lIns="36576" tIns="18288" rIns="36576" bIns="18288" anchor="t">
            <a:noAutofit/>
          </a:bodyPr>
          <a:lstStyle/>
          <a:p>
            <a:pPr algn="ctr">
              <a:spcAft>
                <a:spcPts val="400"/>
              </a:spcAft>
              <a:buNone/>
            </a:pPr>
            <a:r>
              <a:rPr sz="1100" b="0" i="0">
                <a:solidFill>
                  <a:srgbClr val="5B6573"/>
                </a:solidFill>
                <a:latin typeface="Arial"/>
              </a:rPr>
              <a:t>The browser calls /api/v1 on the same server; the Android app calls it over Wi-Fi or a tunnel, allowed by CORS.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Backend layers and the life of one request</a:t>
            </a:r>
          </a:p>
        </p:txBody>
      </p:sp>
      <p:sp>
        <p:nvSpPr>
          <p:cNvPr id="3" name="Rounded Rectangle 2"/>
          <p:cNvSpPr/>
          <p:nvPr/>
        </p:nvSpPr>
        <p:spPr>
          <a:xfrm>
            <a:off x="548640" y="1261872"/>
            <a:ext cx="4663440" cy="73152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FFFFFF"/>
                </a:solidFill>
                <a:latin typeface="Arial"/>
              </a:rPr>
              <a:t>Routers  </a:t>
            </a:r>
            <a:r>
              <a:rPr sz="1200" b="0" i="0">
                <a:solidFill>
                  <a:srgbClr val="FFFFFF"/>
                </a:solidFill>
                <a:latin typeface="Courier New"/>
              </a:rPr>
              <a:t>api/v1/*.py</a:t>
            </a:r>
          </a:p>
        </p:txBody>
      </p:sp>
      <p:sp>
        <p:nvSpPr>
          <p:cNvPr id="5" name="TextBox 4"/>
          <p:cNvSpPr txBox="1"/>
          <p:nvPr/>
        </p:nvSpPr>
        <p:spPr>
          <a:xfrm>
            <a:off x="685800" y="1627631"/>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FFFFFF"/>
                </a:solidFill>
                <a:latin typeface="Arial"/>
              </a:rPr>
              <a:t>HTTP, Pydantic validation, ownership checks</a:t>
            </a:r>
          </a:p>
        </p:txBody>
      </p:sp>
      <p:cxnSp>
        <p:nvCxnSpPr>
          <p:cNvPr id="6" name="Connector 5"/>
          <p:cNvCxnSpPr/>
          <p:nvPr/>
        </p:nvCxnSpPr>
        <p:spPr>
          <a:xfrm>
            <a:off x="2880360" y="1993391"/>
            <a:ext cx="0" cy="118873"/>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8640" y="2112264"/>
            <a:ext cx="4663440" cy="731520"/>
          </a:xfrm>
          <a:prstGeom prst="roundRect">
            <a:avLst>
              <a:gd name="adj" fmla="val 8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148840"/>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Dependencies  </a:t>
            </a:r>
            <a:r>
              <a:rPr sz="1200" b="0" i="0">
                <a:solidFill>
                  <a:srgbClr val="5B6573"/>
                </a:solidFill>
                <a:latin typeface="Courier New"/>
              </a:rPr>
              <a:t>core/deps.py</a:t>
            </a:r>
          </a:p>
        </p:txBody>
      </p:sp>
      <p:sp>
        <p:nvSpPr>
          <p:cNvPr id="9" name="TextBox 8"/>
          <p:cNvSpPr txBox="1"/>
          <p:nvPr/>
        </p:nvSpPr>
        <p:spPr>
          <a:xfrm>
            <a:off x="685800" y="2478024"/>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User from the cookie or Bearer token; one DB session</a:t>
            </a:r>
          </a:p>
        </p:txBody>
      </p:sp>
      <p:cxnSp>
        <p:nvCxnSpPr>
          <p:cNvPr id="10" name="Connector 9"/>
          <p:cNvCxnSpPr/>
          <p:nvPr/>
        </p:nvCxnSpPr>
        <p:spPr>
          <a:xfrm>
            <a:off x="2880360" y="2843784"/>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962656"/>
            <a:ext cx="4663440" cy="731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999232"/>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Services  </a:t>
            </a:r>
            <a:r>
              <a:rPr sz="1200" b="0" i="0">
                <a:solidFill>
                  <a:srgbClr val="5B6573"/>
                </a:solidFill>
                <a:latin typeface="Courier New"/>
              </a:rPr>
              <a:t>services/*.py</a:t>
            </a:r>
          </a:p>
        </p:txBody>
      </p:sp>
      <p:sp>
        <p:nvSpPr>
          <p:cNvPr id="13" name="TextBox 12"/>
          <p:cNvSpPr txBox="1"/>
          <p:nvPr/>
        </p:nvSpPr>
        <p:spPr>
          <a:xfrm>
            <a:off x="685800" y="3328416"/>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Business rules: forecasting, tax, wishlist, consent…</a:t>
            </a:r>
          </a:p>
        </p:txBody>
      </p:sp>
      <p:cxnSp>
        <p:nvCxnSpPr>
          <p:cNvPr id="14" name="Connector 13"/>
          <p:cNvCxnSpPr/>
          <p:nvPr/>
        </p:nvCxnSpPr>
        <p:spPr>
          <a:xfrm>
            <a:off x="2880360" y="3694176"/>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813048"/>
            <a:ext cx="4663440" cy="731520"/>
          </a:xfrm>
          <a:prstGeom prst="roundRect">
            <a:avLst>
              <a:gd name="adj" fmla="val 8000"/>
            </a:avLst>
          </a:prstGeom>
          <a:solidFill>
            <a:srgbClr val="DC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49624"/>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Models  </a:t>
            </a:r>
            <a:r>
              <a:rPr sz="1200" b="0" i="0">
                <a:solidFill>
                  <a:srgbClr val="5B6573"/>
                </a:solidFill>
                <a:latin typeface="Courier New"/>
              </a:rPr>
              <a:t>models/*.py</a:t>
            </a:r>
          </a:p>
        </p:txBody>
      </p:sp>
      <p:sp>
        <p:nvSpPr>
          <p:cNvPr id="17" name="TextBox 16"/>
          <p:cNvSpPr txBox="1"/>
          <p:nvPr/>
        </p:nvSpPr>
        <p:spPr>
          <a:xfrm>
            <a:off x="685800" y="4178808"/>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SQLAlchemy 2 ORM; money as integer paise</a:t>
            </a:r>
          </a:p>
        </p:txBody>
      </p:sp>
      <p:cxnSp>
        <p:nvCxnSpPr>
          <p:cNvPr id="18" name="Connector 17"/>
          <p:cNvCxnSpPr/>
          <p:nvPr/>
        </p:nvCxnSpPr>
        <p:spPr>
          <a:xfrm>
            <a:off x="2880360" y="4544568"/>
            <a:ext cx="0" cy="118872"/>
          </a:xfrm>
          <a:prstGeom prst="line">
            <a:avLst/>
          </a:prstGeom>
          <a:ln w="19050">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4663440"/>
            <a:ext cx="4663440" cy="731520"/>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700016"/>
            <a:ext cx="4434840" cy="329184"/>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Database  </a:t>
            </a:r>
            <a:r>
              <a:rPr sz="1200" b="0" i="0">
                <a:solidFill>
                  <a:srgbClr val="5B6573"/>
                </a:solidFill>
                <a:latin typeface="Courier New"/>
              </a:rPr>
              <a:t>data/finpilot.db</a:t>
            </a:r>
          </a:p>
        </p:txBody>
      </p:sp>
      <p:sp>
        <p:nvSpPr>
          <p:cNvPr id="21" name="TextBox 20"/>
          <p:cNvSpPr txBox="1"/>
          <p:nvPr/>
        </p:nvSpPr>
        <p:spPr>
          <a:xfrm>
            <a:off x="685800" y="5029200"/>
            <a:ext cx="4434840" cy="329184"/>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SQLite in WAL mode; Alembic migrations</a:t>
            </a:r>
          </a:p>
        </p:txBody>
      </p:sp>
      <p:sp>
        <p:nvSpPr>
          <p:cNvPr id="22" name="TextBox 21"/>
          <p:cNvSpPr txBox="1"/>
          <p:nvPr/>
        </p:nvSpPr>
        <p:spPr>
          <a:xfrm>
            <a:off x="548640" y="5532120"/>
            <a:ext cx="4663440" cy="411480"/>
          </a:xfrm>
          <a:prstGeom prst="rect">
            <a:avLst/>
          </a:prstGeom>
          <a:noFill/>
        </p:spPr>
        <p:txBody>
          <a:bodyPr wrap="square" lIns="36576" tIns="18288" rIns="36576" bIns="18288" anchor="t">
            <a:noAutofit/>
          </a:bodyPr>
          <a:lstStyle/>
          <a:p>
            <a:pPr algn="l">
              <a:spcAft>
                <a:spcPts val="400"/>
              </a:spcAft>
              <a:buNone/>
            </a:pPr>
            <a:r>
              <a:rPr sz="1200" b="1" i="0">
                <a:solidFill>
                  <a:srgbClr val="154360"/>
                </a:solidFill>
                <a:latin typeface="Arial"/>
              </a:rPr>
              <a:t>Cross-cutting: </a:t>
            </a:r>
            <a:r>
              <a:rPr sz="1200" b="0" i="0">
                <a:solidFill>
                  <a:srgbClr val="1F2937"/>
                </a:solidFill>
                <a:latin typeface="Arial"/>
              </a:rPr>
              <a:t>core/ (config, security, crypto, money) and jobs/ (runner, scheduler)</a:t>
            </a:r>
          </a:p>
        </p:txBody>
      </p:sp>
      <p:sp>
        <p:nvSpPr>
          <p:cNvPr id="23" name="TextBox 22"/>
          <p:cNvSpPr txBox="1"/>
          <p:nvPr/>
        </p:nvSpPr>
        <p:spPr>
          <a:xfrm>
            <a:off x="5623560" y="1188720"/>
            <a:ext cx="6035040"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Example: a what-if purchase</a:t>
            </a:r>
          </a:p>
        </p:txBody>
      </p:sp>
      <p:sp>
        <p:nvSpPr>
          <p:cNvPr id="24" name="Oval 23"/>
          <p:cNvSpPr/>
          <p:nvPr/>
        </p:nvSpPr>
        <p:spPr>
          <a:xfrm>
            <a:off x="5623560" y="17647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1</a:t>
            </a:r>
          </a:p>
        </p:txBody>
      </p:sp>
      <p:sp>
        <p:nvSpPr>
          <p:cNvPr id="25" name="TextBox 24"/>
          <p:cNvSpPr txBox="1"/>
          <p:nvPr/>
        </p:nvSpPr>
        <p:spPr>
          <a:xfrm>
            <a:off x="6172200" y="16916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User </a:t>
            </a:r>
            <a:r>
              <a:rPr sz="1400" b="0" i="0">
                <a:solidFill>
                  <a:srgbClr val="1F2937"/>
                </a:solidFill>
                <a:latin typeface="Arial"/>
              </a:rPr>
              <a:t>types ₹45,000 under “What if I spend…” on Forecast and clicks Check.</a:t>
            </a:r>
          </a:p>
        </p:txBody>
      </p:sp>
      <p:sp>
        <p:nvSpPr>
          <p:cNvPr id="26" name="Oval 25"/>
          <p:cNvSpPr/>
          <p:nvPr/>
        </p:nvSpPr>
        <p:spPr>
          <a:xfrm>
            <a:off x="5623560" y="24505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2</a:t>
            </a:r>
          </a:p>
        </p:txBody>
      </p:sp>
      <p:sp>
        <p:nvSpPr>
          <p:cNvPr id="27" name="TextBox 26"/>
          <p:cNvSpPr txBox="1"/>
          <p:nvPr/>
        </p:nvSpPr>
        <p:spPr>
          <a:xfrm>
            <a:off x="6172200" y="23774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api.ts </a:t>
            </a:r>
            <a:r>
              <a:rPr sz="1400" b="0" i="0">
                <a:solidFill>
                  <a:srgbClr val="1F2937"/>
                </a:solidFill>
                <a:latin typeface="Arial"/>
              </a:rPr>
              <a:t>sends GET /api/v1/forecast/whatif?amount=45000 with the cookie or token.</a:t>
            </a:r>
          </a:p>
        </p:txBody>
      </p:sp>
      <p:sp>
        <p:nvSpPr>
          <p:cNvPr id="28" name="Oval 27"/>
          <p:cNvSpPr/>
          <p:nvPr/>
        </p:nvSpPr>
        <p:spPr>
          <a:xfrm>
            <a:off x="5623560" y="31363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3</a:t>
            </a:r>
          </a:p>
        </p:txBody>
      </p:sp>
      <p:sp>
        <p:nvSpPr>
          <p:cNvPr id="29" name="TextBox 28"/>
          <p:cNvSpPr txBox="1"/>
          <p:nvPr/>
        </p:nvSpPr>
        <p:spPr>
          <a:xfrm>
            <a:off x="6172200" y="30632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FastAPI </a:t>
            </a:r>
            <a:r>
              <a:rPr sz="1400" b="0" i="0">
                <a:solidFill>
                  <a:srgbClr val="1F2937"/>
                </a:solidFill>
                <a:latin typeface="Arial"/>
              </a:rPr>
              <a:t>checks 0 &lt; amount &lt; ₹1e9 and loads the user from the JWT; otherwise 422 or 401.</a:t>
            </a:r>
          </a:p>
        </p:txBody>
      </p:sp>
      <p:sp>
        <p:nvSpPr>
          <p:cNvPr id="30" name="Oval 29"/>
          <p:cNvSpPr/>
          <p:nvPr/>
        </p:nvSpPr>
        <p:spPr>
          <a:xfrm>
            <a:off x="5623560" y="3822191"/>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4</a:t>
            </a:r>
          </a:p>
        </p:txBody>
      </p:sp>
      <p:sp>
        <p:nvSpPr>
          <p:cNvPr id="31" name="TextBox 30"/>
          <p:cNvSpPr txBox="1"/>
          <p:nvPr/>
        </p:nvSpPr>
        <p:spPr>
          <a:xfrm>
            <a:off x="6172200" y="3749039"/>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Service </a:t>
            </a:r>
            <a:r>
              <a:rPr sz="1400" b="0" i="0">
                <a:solidFill>
                  <a:srgbClr val="1F2937"/>
                </a:solidFill>
                <a:latin typeface="Arial"/>
              </a:rPr>
              <a:t>reads the stored 90-day forecast and lowers p10, p50 and p90 from the purchase date.</a:t>
            </a:r>
          </a:p>
        </p:txBody>
      </p:sp>
      <p:sp>
        <p:nvSpPr>
          <p:cNvPr id="32" name="Oval 31"/>
          <p:cNvSpPr/>
          <p:nvPr/>
        </p:nvSpPr>
        <p:spPr>
          <a:xfrm>
            <a:off x="5623560" y="45079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5</a:t>
            </a:r>
          </a:p>
        </p:txBody>
      </p:sp>
      <p:sp>
        <p:nvSpPr>
          <p:cNvPr id="33" name="TextBox 32"/>
          <p:cNvSpPr txBox="1"/>
          <p:nvPr/>
        </p:nvSpPr>
        <p:spPr>
          <a:xfrm>
            <a:off x="6172200" y="44348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Rule </a:t>
            </a:r>
            <a:r>
              <a:rPr sz="1400" b="0" i="0">
                <a:solidFill>
                  <a:srgbClr val="1F2937"/>
                </a:solidFill>
                <a:latin typeface="Arial"/>
              </a:rPr>
              <a:t>compares the new lowest balance in the next 60 days with the safety buffer.</a:t>
            </a:r>
          </a:p>
        </p:txBody>
      </p:sp>
      <p:sp>
        <p:nvSpPr>
          <p:cNvPr id="34" name="Oval 33"/>
          <p:cNvSpPr/>
          <p:nvPr/>
        </p:nvSpPr>
        <p:spPr>
          <a:xfrm>
            <a:off x="5623560" y="5193792"/>
            <a:ext cx="402336" cy="402336"/>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300" b="1" i="0">
                <a:solidFill>
                  <a:srgbClr val="FFFFFF"/>
                </a:solidFill>
                <a:latin typeface="Arial"/>
              </a:rPr>
              <a:t>6</a:t>
            </a:r>
          </a:p>
        </p:txBody>
      </p:sp>
      <p:sp>
        <p:nvSpPr>
          <p:cNvPr id="35" name="TextBox 34"/>
          <p:cNvSpPr txBox="1"/>
          <p:nvPr/>
        </p:nvSpPr>
        <p:spPr>
          <a:xfrm>
            <a:off x="6172200" y="5120640"/>
            <a:ext cx="5486400" cy="640080"/>
          </a:xfrm>
          <a:prstGeom prst="rect">
            <a:avLst/>
          </a:prstGeom>
          <a:noFill/>
        </p:spPr>
        <p:txBody>
          <a:bodyPr wrap="square" lIns="36576" tIns="18288" rIns="36576" bIns="18288" anchor="ctr">
            <a:noAutofit/>
          </a:bodyPr>
          <a:lstStyle/>
          <a:p>
            <a:pPr algn="l">
              <a:spcAft>
                <a:spcPts val="400"/>
              </a:spcAft>
              <a:buNone/>
            </a:pPr>
            <a:r>
              <a:rPr sz="1400" b="1" i="0">
                <a:solidFill>
                  <a:srgbClr val="154360"/>
                </a:solidFill>
                <a:latin typeface="Arial"/>
              </a:rPr>
              <a:t>UI </a:t>
            </a:r>
            <a:r>
              <a:rPr sz="1400" b="0" i="0">
                <a:solidFill>
                  <a:srgbClr val="1F2937"/>
                </a:solidFill>
                <a:latin typeface="Arial"/>
              </a:rPr>
              <a:t>TanStack Query redraws the chart and shows a green or red verdict.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Technologies, frameworks and tools</a:t>
            </a:r>
          </a:p>
        </p:txBody>
      </p:sp>
      <p:sp>
        <p:nvSpPr>
          <p:cNvPr id="3" name="Rounded Rectangle 2"/>
          <p:cNvSpPr/>
          <p:nvPr/>
        </p:nvSpPr>
        <p:spPr>
          <a:xfrm>
            <a:off x="548640" y="1234440"/>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Frontend</a:t>
            </a:r>
          </a:p>
        </p:txBody>
      </p:sp>
      <p:sp>
        <p:nvSpPr>
          <p:cNvPr id="4" name="Rounded Rectangle 3"/>
          <p:cNvSpPr/>
          <p:nvPr/>
        </p:nvSpPr>
        <p:spPr>
          <a:xfrm>
            <a:off x="2880360" y="1252728"/>
            <a:ext cx="247253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Next.js 16.4 (static export)</a:t>
            </a:r>
          </a:p>
        </p:txBody>
      </p:sp>
      <p:sp>
        <p:nvSpPr>
          <p:cNvPr id="5" name="Rounded Rectangle 4"/>
          <p:cNvSpPr/>
          <p:nvPr/>
        </p:nvSpPr>
        <p:spPr>
          <a:xfrm>
            <a:off x="5444337" y="1252728"/>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React 19.3</a:t>
            </a:r>
          </a:p>
        </p:txBody>
      </p:sp>
      <p:sp>
        <p:nvSpPr>
          <p:cNvPr id="6" name="Rounded Rectangle 5"/>
          <p:cNvSpPr/>
          <p:nvPr/>
        </p:nvSpPr>
        <p:spPr>
          <a:xfrm>
            <a:off x="6559905" y="1252728"/>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TypeScript 5.9</a:t>
            </a:r>
          </a:p>
        </p:txBody>
      </p:sp>
      <p:sp>
        <p:nvSpPr>
          <p:cNvPr id="7" name="Rounded Rectangle 6"/>
          <p:cNvSpPr/>
          <p:nvPr/>
        </p:nvSpPr>
        <p:spPr>
          <a:xfrm>
            <a:off x="7997342" y="1252728"/>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Tailwind CSS 4.3</a:t>
            </a:r>
          </a:p>
        </p:txBody>
      </p:sp>
      <p:sp>
        <p:nvSpPr>
          <p:cNvPr id="8" name="Rounded Rectangle 7"/>
          <p:cNvSpPr/>
          <p:nvPr/>
        </p:nvSpPr>
        <p:spPr>
          <a:xfrm>
            <a:off x="9595713" y="1252728"/>
            <a:ext cx="182879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shadcn/ui on Base UI</a:t>
            </a:r>
          </a:p>
        </p:txBody>
      </p:sp>
      <p:sp>
        <p:nvSpPr>
          <p:cNvPr id="9" name="Rounded Rectangle 8"/>
          <p:cNvSpPr/>
          <p:nvPr/>
        </p:nvSpPr>
        <p:spPr>
          <a:xfrm>
            <a:off x="2880360" y="1673352"/>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TanStack Query 5</a:t>
            </a:r>
          </a:p>
        </p:txBody>
      </p:sp>
      <p:sp>
        <p:nvSpPr>
          <p:cNvPr id="10" name="Rounded Rectangle 9"/>
          <p:cNvSpPr/>
          <p:nvPr/>
        </p:nvSpPr>
        <p:spPr>
          <a:xfrm>
            <a:off x="4478731" y="1673352"/>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Recharts 3</a:t>
            </a:r>
          </a:p>
        </p:txBody>
      </p:sp>
      <p:sp>
        <p:nvSpPr>
          <p:cNvPr id="11" name="Rounded Rectangle 10"/>
          <p:cNvSpPr/>
          <p:nvPr/>
        </p:nvSpPr>
        <p:spPr>
          <a:xfrm>
            <a:off x="5594299" y="1673352"/>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tesseract.js 7</a:t>
            </a:r>
          </a:p>
        </p:txBody>
      </p:sp>
      <p:sp>
        <p:nvSpPr>
          <p:cNvPr id="12" name="Rounded Rectangle 11"/>
          <p:cNvSpPr/>
          <p:nvPr/>
        </p:nvSpPr>
        <p:spPr>
          <a:xfrm>
            <a:off x="548640" y="2176272"/>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Backend</a:t>
            </a:r>
          </a:p>
        </p:txBody>
      </p:sp>
      <p:sp>
        <p:nvSpPr>
          <p:cNvPr id="13" name="Rounded Rectangle 12"/>
          <p:cNvSpPr/>
          <p:nvPr/>
        </p:nvSpPr>
        <p:spPr>
          <a:xfrm>
            <a:off x="2880360" y="2194560"/>
            <a:ext cx="231160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Python 3.11+ (3.14 tested)</a:t>
            </a:r>
          </a:p>
        </p:txBody>
      </p:sp>
      <p:sp>
        <p:nvSpPr>
          <p:cNvPr id="14" name="Rounded Rectangle 13"/>
          <p:cNvSpPr/>
          <p:nvPr/>
        </p:nvSpPr>
        <p:spPr>
          <a:xfrm>
            <a:off x="5283403" y="2194560"/>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FastAPI 0.143</a:t>
            </a:r>
          </a:p>
        </p:txBody>
      </p:sp>
      <p:sp>
        <p:nvSpPr>
          <p:cNvPr id="15" name="Rounded Rectangle 14"/>
          <p:cNvSpPr/>
          <p:nvPr/>
        </p:nvSpPr>
        <p:spPr>
          <a:xfrm>
            <a:off x="6640372" y="2194560"/>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Uvicorn 0.54</a:t>
            </a:r>
          </a:p>
        </p:txBody>
      </p:sp>
      <p:sp>
        <p:nvSpPr>
          <p:cNvPr id="16" name="Rounded Rectangle 15"/>
          <p:cNvSpPr/>
          <p:nvPr/>
        </p:nvSpPr>
        <p:spPr>
          <a:xfrm>
            <a:off x="7916875" y="2194560"/>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Pydantic 2.14</a:t>
            </a:r>
          </a:p>
        </p:txBody>
      </p:sp>
      <p:sp>
        <p:nvSpPr>
          <p:cNvPr id="17" name="Rounded Rectangle 16"/>
          <p:cNvSpPr/>
          <p:nvPr/>
        </p:nvSpPr>
        <p:spPr>
          <a:xfrm>
            <a:off x="9273844" y="2194560"/>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SQLAlchemy 2.1</a:t>
            </a:r>
          </a:p>
        </p:txBody>
      </p:sp>
      <p:sp>
        <p:nvSpPr>
          <p:cNvPr id="18" name="Rounded Rectangle 17"/>
          <p:cNvSpPr/>
          <p:nvPr/>
        </p:nvSpPr>
        <p:spPr>
          <a:xfrm>
            <a:off x="2880360" y="2615184"/>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Alembic 1.20</a:t>
            </a:r>
          </a:p>
        </p:txBody>
      </p:sp>
      <p:sp>
        <p:nvSpPr>
          <p:cNvPr id="19" name="Rounded Rectangle 18"/>
          <p:cNvSpPr/>
          <p:nvPr/>
        </p:nvSpPr>
        <p:spPr>
          <a:xfrm>
            <a:off x="4156862" y="2615184"/>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PyJWT 2.15</a:t>
            </a:r>
          </a:p>
        </p:txBody>
      </p:sp>
      <p:sp>
        <p:nvSpPr>
          <p:cNvPr id="20" name="Rounded Rectangle 19"/>
          <p:cNvSpPr/>
          <p:nvPr/>
        </p:nvSpPr>
        <p:spPr>
          <a:xfrm>
            <a:off x="5272430" y="2615184"/>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pwdlib (bcrypt)</a:t>
            </a:r>
          </a:p>
        </p:txBody>
      </p:sp>
      <p:sp>
        <p:nvSpPr>
          <p:cNvPr id="21" name="Rounded Rectangle 20"/>
          <p:cNvSpPr/>
          <p:nvPr/>
        </p:nvSpPr>
        <p:spPr>
          <a:xfrm>
            <a:off x="6790334" y="2615184"/>
            <a:ext cx="190926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cryptography (Fernet)</a:t>
            </a:r>
          </a:p>
        </p:txBody>
      </p:sp>
      <p:sp>
        <p:nvSpPr>
          <p:cNvPr id="22" name="Rounded Rectangle 21"/>
          <p:cNvSpPr/>
          <p:nvPr/>
        </p:nvSpPr>
        <p:spPr>
          <a:xfrm>
            <a:off x="548640" y="3118104"/>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Data and ML</a:t>
            </a:r>
          </a:p>
        </p:txBody>
      </p:sp>
      <p:sp>
        <p:nvSpPr>
          <p:cNvPr id="23" name="Rounded Rectangle 22"/>
          <p:cNvSpPr/>
          <p:nvPr/>
        </p:nvSpPr>
        <p:spPr>
          <a:xfrm>
            <a:off x="2880360" y="3136392"/>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SQLite (WAL)</a:t>
            </a:r>
          </a:p>
        </p:txBody>
      </p:sp>
      <p:sp>
        <p:nvSpPr>
          <p:cNvPr id="24" name="Rounded Rectangle 23"/>
          <p:cNvSpPr/>
          <p:nvPr/>
        </p:nvSpPr>
        <p:spPr>
          <a:xfrm>
            <a:off x="4156862" y="3136392"/>
            <a:ext cx="1506931"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scikit-learn 1.9</a:t>
            </a:r>
          </a:p>
        </p:txBody>
      </p:sp>
      <p:sp>
        <p:nvSpPr>
          <p:cNvPr id="25" name="Rounded Rectangle 24"/>
          <p:cNvSpPr/>
          <p:nvPr/>
        </p:nvSpPr>
        <p:spPr>
          <a:xfrm>
            <a:off x="5755233" y="3136392"/>
            <a:ext cx="1104595"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Prophet 1.5</a:t>
            </a:r>
          </a:p>
        </p:txBody>
      </p:sp>
      <p:sp>
        <p:nvSpPr>
          <p:cNvPr id="26" name="Rounded Rectangle 25"/>
          <p:cNvSpPr/>
          <p:nvPr/>
        </p:nvSpPr>
        <p:spPr>
          <a:xfrm>
            <a:off x="6951268" y="3136392"/>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pandas 3.0</a:t>
            </a:r>
          </a:p>
        </p:txBody>
      </p:sp>
      <p:sp>
        <p:nvSpPr>
          <p:cNvPr id="27" name="Rounded Rectangle 26"/>
          <p:cNvSpPr/>
          <p:nvPr/>
        </p:nvSpPr>
        <p:spPr>
          <a:xfrm>
            <a:off x="8066836" y="3136392"/>
            <a:ext cx="943660"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NumPy 2.5</a:t>
            </a:r>
          </a:p>
        </p:txBody>
      </p:sp>
      <p:sp>
        <p:nvSpPr>
          <p:cNvPr id="28" name="Rounded Rectangle 27"/>
          <p:cNvSpPr/>
          <p:nvPr/>
        </p:nvSpPr>
        <p:spPr>
          <a:xfrm>
            <a:off x="9101937" y="3136392"/>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RapidFuzz 3.14</a:t>
            </a:r>
          </a:p>
        </p:txBody>
      </p:sp>
      <p:sp>
        <p:nvSpPr>
          <p:cNvPr id="29" name="Rounded Rectangle 28"/>
          <p:cNvSpPr/>
          <p:nvPr/>
        </p:nvSpPr>
        <p:spPr>
          <a:xfrm>
            <a:off x="2880360" y="3557016"/>
            <a:ext cx="1345996"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dateparser 1.4</a:t>
            </a:r>
          </a:p>
        </p:txBody>
      </p:sp>
      <p:sp>
        <p:nvSpPr>
          <p:cNvPr id="30" name="Rounded Rectangle 29"/>
          <p:cNvSpPr/>
          <p:nvPr/>
        </p:nvSpPr>
        <p:spPr>
          <a:xfrm>
            <a:off x="548640" y="4059935"/>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Documents and web</a:t>
            </a:r>
          </a:p>
        </p:txBody>
      </p:sp>
      <p:sp>
        <p:nvSpPr>
          <p:cNvPr id="31" name="Rounded Rectangle 30"/>
          <p:cNvSpPr/>
          <p:nvPr/>
        </p:nvSpPr>
        <p:spPr>
          <a:xfrm>
            <a:off x="2880360" y="4078223"/>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pdfplumber 0.11</a:t>
            </a:r>
          </a:p>
        </p:txBody>
      </p:sp>
      <p:sp>
        <p:nvSpPr>
          <p:cNvPr id="32" name="Rounded Rectangle 31"/>
          <p:cNvSpPr/>
          <p:nvPr/>
        </p:nvSpPr>
        <p:spPr>
          <a:xfrm>
            <a:off x="4398264" y="4078223"/>
            <a:ext cx="126552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ReportLab 5.0</a:t>
            </a:r>
          </a:p>
        </p:txBody>
      </p:sp>
      <p:sp>
        <p:nvSpPr>
          <p:cNvPr id="33" name="Rounded Rectangle 32"/>
          <p:cNvSpPr/>
          <p:nvPr/>
        </p:nvSpPr>
        <p:spPr>
          <a:xfrm>
            <a:off x="5755233" y="4078223"/>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httpx 0.28</a:t>
            </a:r>
          </a:p>
        </p:txBody>
      </p:sp>
      <p:sp>
        <p:nvSpPr>
          <p:cNvPr id="34" name="Rounded Rectangle 33"/>
          <p:cNvSpPr/>
          <p:nvPr/>
        </p:nvSpPr>
        <p:spPr>
          <a:xfrm>
            <a:off x="6870801" y="4078223"/>
            <a:ext cx="2150668"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Protego 0.7 (robots.txt)</a:t>
            </a:r>
          </a:p>
        </p:txBody>
      </p:sp>
      <p:sp>
        <p:nvSpPr>
          <p:cNvPr id="35" name="Rounded Rectangle 34"/>
          <p:cNvSpPr/>
          <p:nvPr/>
        </p:nvSpPr>
        <p:spPr>
          <a:xfrm>
            <a:off x="9112910" y="4078223"/>
            <a:ext cx="1828799"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BeautifulSoup + lxml</a:t>
            </a:r>
          </a:p>
        </p:txBody>
      </p:sp>
      <p:sp>
        <p:nvSpPr>
          <p:cNvPr id="36" name="Rounded Rectangle 35"/>
          <p:cNvSpPr/>
          <p:nvPr/>
        </p:nvSpPr>
        <p:spPr>
          <a:xfrm>
            <a:off x="2880360" y="4498847"/>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openpyxl</a:t>
            </a:r>
          </a:p>
        </p:txBody>
      </p:sp>
      <p:sp>
        <p:nvSpPr>
          <p:cNvPr id="37" name="Rounded Rectangle 36"/>
          <p:cNvSpPr/>
          <p:nvPr/>
        </p:nvSpPr>
        <p:spPr>
          <a:xfrm>
            <a:off x="548640" y="5001768"/>
            <a:ext cx="2148840" cy="822960"/>
          </a:xfrm>
          <a:prstGeom prst="roundRect">
            <a:avLst>
              <a:gd name="adj" fmla="val 8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1500" b="1" i="0">
                <a:solidFill>
                  <a:srgbClr val="FFFFFF"/>
                </a:solidFill>
                <a:latin typeface="Arial"/>
              </a:rPr>
              <a:t>Testing and tools</a:t>
            </a:r>
          </a:p>
        </p:txBody>
      </p:sp>
      <p:sp>
        <p:nvSpPr>
          <p:cNvPr id="38" name="Rounded Rectangle 37"/>
          <p:cNvSpPr/>
          <p:nvPr/>
        </p:nvSpPr>
        <p:spPr>
          <a:xfrm>
            <a:off x="2880360" y="5020056"/>
            <a:ext cx="1024127"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pytest 9.1</a:t>
            </a:r>
          </a:p>
        </p:txBody>
      </p:sp>
      <p:sp>
        <p:nvSpPr>
          <p:cNvPr id="39" name="Rounded Rectangle 38"/>
          <p:cNvSpPr/>
          <p:nvPr/>
        </p:nvSpPr>
        <p:spPr>
          <a:xfrm>
            <a:off x="3995928" y="5020056"/>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Hypothesis 6</a:t>
            </a:r>
          </a:p>
        </p:txBody>
      </p:sp>
      <p:sp>
        <p:nvSpPr>
          <p:cNvPr id="40" name="Rounded Rectangle 39"/>
          <p:cNvSpPr/>
          <p:nvPr/>
        </p:nvSpPr>
        <p:spPr>
          <a:xfrm>
            <a:off x="5272430" y="5020056"/>
            <a:ext cx="1426463"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Playwright 1.64</a:t>
            </a:r>
          </a:p>
        </p:txBody>
      </p:sp>
      <p:sp>
        <p:nvSpPr>
          <p:cNvPr id="41" name="Rounded Rectangle 40"/>
          <p:cNvSpPr/>
          <p:nvPr/>
        </p:nvSpPr>
        <p:spPr>
          <a:xfrm>
            <a:off x="6790334" y="5020056"/>
            <a:ext cx="1185062"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Capacitor 8</a:t>
            </a:r>
          </a:p>
        </p:txBody>
      </p:sp>
      <p:sp>
        <p:nvSpPr>
          <p:cNvPr id="42" name="Rounded Rectangle 41"/>
          <p:cNvSpPr/>
          <p:nvPr/>
        </p:nvSpPr>
        <p:spPr>
          <a:xfrm>
            <a:off x="8066836" y="5020056"/>
            <a:ext cx="2553004" cy="365760"/>
          </a:xfrm>
          <a:prstGeom prst="roundRect">
            <a:avLst>
              <a:gd name="adj" fmla="val 30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00" b="0" i="0">
                <a:solidFill>
                  <a:srgbClr val="1F2937"/>
                </a:solidFill>
                <a:latin typeface="Arial"/>
              </a:rPr>
              <a:t>Node.js / npm (UI and app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Software development life cycle</a:t>
            </a:r>
          </a:p>
        </p:txBody>
      </p:sp>
      <p:sp>
        <p:nvSpPr>
          <p:cNvPr id="3" name="TextBox 2"/>
          <p:cNvSpPr txBox="1"/>
          <p:nvPr/>
        </p:nvSpPr>
        <p:spPr>
          <a:xfrm>
            <a:off x="548640" y="1188720"/>
            <a:ext cx="11094415" cy="45720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Model: iterative and incremental, </a:t>
            </a:r>
            <a:r>
              <a:rPr sz="1700" b="0" i="0">
                <a:solidFill>
                  <a:srgbClr val="1F2937"/>
                </a:solidFill>
                <a:latin typeface="Arial"/>
              </a:rPr>
              <a:t>with a working app and a measurable gate at the end of every phase</a:t>
            </a:r>
          </a:p>
        </p:txBody>
      </p:sp>
      <p:sp>
        <p:nvSpPr>
          <p:cNvPr id="4" name="Pentagon 3"/>
          <p:cNvSpPr/>
          <p:nvPr/>
        </p:nvSpPr>
        <p:spPr>
          <a:xfrm>
            <a:off x="548640" y="1783080"/>
            <a:ext cx="1865376" cy="658368"/>
          </a:xfrm>
          <a:prstGeom prst="homePlat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tIns="0" rIns="109728" bIns="0" wrap="square">
            <a:noAutofit/>
          </a:bodyPr>
          <a:lstStyle/>
          <a:p>
            <a:pPr algn="ctr">
              <a:spcAft>
                <a:spcPts val="0"/>
              </a:spcAft>
              <a:buNone/>
            </a:pPr>
            <a:r>
              <a:rPr sz="1300" b="1" i="0">
                <a:solidFill>
                  <a:srgbClr val="FFFFFF"/>
                </a:solidFill>
                <a:latin typeface="Arial"/>
              </a:rPr>
              <a:t>Requirements</a:t>
            </a:r>
          </a:p>
        </p:txBody>
      </p:sp>
      <p:sp>
        <p:nvSpPr>
          <p:cNvPr id="5" name="Rounded Rectangle 4"/>
          <p:cNvSpPr/>
          <p:nvPr/>
        </p:nvSpPr>
        <p:spPr>
          <a:xfrm>
            <a:off x="548640"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Review 0 (July 2026): problem, objectives, modules</a:t>
            </a:r>
          </a:p>
          <a:p>
            <a:pPr algn="l" marL="201168" indent="-201168">
              <a:spcAft>
                <a:spcPts val="700"/>
              </a:spcAft>
              <a:buFont typeface="Arial"/>
              <a:buChar char="•"/>
            </a:pPr>
            <a:r>
              <a:rPr sz="1300" b="0" i="0">
                <a:solidFill>
                  <a:srgbClr val="1F2937"/>
                </a:solidFill>
                <a:latin typeface="Arial"/>
              </a:rPr>
              <a:t>After the review: real SMS, e-mail and a wishlist</a:t>
            </a:r>
          </a:p>
        </p:txBody>
      </p:sp>
      <p:sp>
        <p:nvSpPr>
          <p:cNvPr id="7" name="Chevron 6"/>
          <p:cNvSpPr/>
          <p:nvPr/>
        </p:nvSpPr>
        <p:spPr>
          <a:xfrm>
            <a:off x="2416759"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Design</a:t>
            </a:r>
          </a:p>
        </p:txBody>
      </p:sp>
      <p:sp>
        <p:nvSpPr>
          <p:cNvPr id="8" name="Rounded Rectangle 7"/>
          <p:cNvSpPr/>
          <p:nvPr/>
        </p:nvSpPr>
        <p:spPr>
          <a:xfrm>
            <a:off x="2416759"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08199"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One-process architecture</a:t>
            </a:r>
          </a:p>
          <a:p>
            <a:pPr algn="l" marL="201168" indent="-201168">
              <a:spcAft>
                <a:spcPts val="700"/>
              </a:spcAft>
              <a:buFont typeface="Arial"/>
              <a:buChar char="•"/>
            </a:pPr>
            <a:r>
              <a:rPr sz="1300" b="0" i="0">
                <a:solidFill>
                  <a:srgbClr val="1F2937"/>
                </a:solidFill>
                <a:latin typeface="Arial"/>
              </a:rPr>
              <a:t>29-table schema; money in paise</a:t>
            </a:r>
          </a:p>
          <a:p>
            <a:pPr algn="l" marL="201168" indent="-201168">
              <a:spcAft>
                <a:spcPts val="700"/>
              </a:spcAft>
              <a:buFont typeface="Arial"/>
              <a:buChar char="•"/>
            </a:pPr>
            <a:r>
              <a:rPr sz="1300" b="0" i="0">
                <a:solidFill>
                  <a:srgbClr val="1F2937"/>
                </a:solidFill>
                <a:latin typeface="Arial"/>
              </a:rPr>
              <a:t>Docker + PostgreSQL replaced by SQLite and run.py</a:t>
            </a:r>
          </a:p>
        </p:txBody>
      </p:sp>
      <p:sp>
        <p:nvSpPr>
          <p:cNvPr id="10" name="Chevron 9"/>
          <p:cNvSpPr/>
          <p:nvPr/>
        </p:nvSpPr>
        <p:spPr>
          <a:xfrm>
            <a:off x="4284878" y="1783080"/>
            <a:ext cx="1865376" cy="65836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Implementation</a:t>
            </a:r>
          </a:p>
        </p:txBody>
      </p:sp>
      <p:sp>
        <p:nvSpPr>
          <p:cNvPr id="11" name="Rounded Rectangle 10"/>
          <p:cNvSpPr/>
          <p:nvPr/>
        </p:nvSpPr>
        <p:spPr>
          <a:xfrm>
            <a:off x="4284878"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6318"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10 build phases (0–9)</a:t>
            </a:r>
          </a:p>
          <a:p>
            <a:pPr algn="l" marL="201168" indent="-201168">
              <a:spcAft>
                <a:spcPts val="700"/>
              </a:spcAft>
              <a:buFont typeface="Arial"/>
              <a:buChar char="•"/>
            </a:pPr>
            <a:r>
              <a:rPr sz="1300" b="0" i="0">
                <a:solidFill>
                  <a:srgbClr val="1F2937"/>
                </a:solidFill>
                <a:latin typeface="Arial"/>
              </a:rPr>
              <a:t>Each phase a working increment: API, logic, UI</a:t>
            </a:r>
          </a:p>
        </p:txBody>
      </p:sp>
      <p:sp>
        <p:nvSpPr>
          <p:cNvPr id="13" name="Chevron 12"/>
          <p:cNvSpPr/>
          <p:nvPr/>
        </p:nvSpPr>
        <p:spPr>
          <a:xfrm>
            <a:off x="6152997"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Testing</a:t>
            </a:r>
          </a:p>
        </p:txBody>
      </p:sp>
      <p:sp>
        <p:nvSpPr>
          <p:cNvPr id="14" name="Rounded Rectangle 13"/>
          <p:cNvSpPr/>
          <p:nvPr/>
        </p:nvSpPr>
        <p:spPr>
          <a:xfrm>
            <a:off x="6152997"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4437"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pytest + Hypothesis every phase</a:t>
            </a:r>
          </a:p>
          <a:p>
            <a:pPr algn="l" marL="201168" indent="-201168">
              <a:spcAft>
                <a:spcPts val="700"/>
              </a:spcAft>
              <a:buFont typeface="Arial"/>
              <a:buChar char="•"/>
            </a:pPr>
            <a:r>
              <a:rPr sz="1300" b="0" i="0">
                <a:solidFill>
                  <a:srgbClr val="1F2937"/>
                </a:solidFill>
                <a:latin typeface="Arial"/>
              </a:rPr>
              <a:t>Playwright E2E + Android emulator</a:t>
            </a:r>
          </a:p>
          <a:p>
            <a:pPr algn="l" marL="201168" indent="-201168">
              <a:spcAft>
                <a:spcPts val="700"/>
              </a:spcAft>
              <a:buFont typeface="Arial"/>
              <a:buChar char="•"/>
            </a:pPr>
            <a:r>
              <a:rPr sz="1300" b="0" i="0">
                <a:solidFill>
                  <a:srgbClr val="1F2937"/>
                </a:solidFill>
                <a:latin typeface="Arial"/>
              </a:rPr>
              <a:t>Metrics on held-out data</a:t>
            </a:r>
          </a:p>
        </p:txBody>
      </p:sp>
      <p:sp>
        <p:nvSpPr>
          <p:cNvPr id="16" name="Chevron 15"/>
          <p:cNvSpPr/>
          <p:nvPr/>
        </p:nvSpPr>
        <p:spPr>
          <a:xfrm>
            <a:off x="8021116" y="1783080"/>
            <a:ext cx="1865376" cy="65836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Deployment</a:t>
            </a:r>
          </a:p>
        </p:txBody>
      </p:sp>
      <p:sp>
        <p:nvSpPr>
          <p:cNvPr id="17" name="Rounded Rectangle 16"/>
          <p:cNvSpPr/>
          <p:nvPr/>
        </p:nvSpPr>
        <p:spPr>
          <a:xfrm>
            <a:off x="8021116"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2556"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One command: python3 run.py</a:t>
            </a:r>
          </a:p>
          <a:p>
            <a:pPr algn="l" marL="201168" indent="-201168">
              <a:spcAft>
                <a:spcPts val="700"/>
              </a:spcAft>
              <a:buFont typeface="Arial"/>
              <a:buChar char="•"/>
            </a:pPr>
            <a:r>
              <a:rPr sz="1300" b="0" i="0">
                <a:solidFill>
                  <a:srgbClr val="1F2937"/>
                </a:solidFill>
                <a:latin typeface="Arial"/>
              </a:rPr>
              <a:t>Web app + Android APK</a:t>
            </a:r>
          </a:p>
          <a:p>
            <a:pPr algn="l" marL="201168" indent="-201168">
              <a:spcAft>
                <a:spcPts val="700"/>
              </a:spcAft>
              <a:buFont typeface="Arial"/>
              <a:buChar char="•"/>
            </a:pPr>
            <a:r>
              <a:rPr sz="1300" b="0" i="0">
                <a:solidFill>
                  <a:srgbClr val="1F2937"/>
                </a:solidFill>
                <a:latin typeface="Arial"/>
              </a:rPr>
              <a:t>Phone pairs by QR code</a:t>
            </a:r>
          </a:p>
        </p:txBody>
      </p:sp>
      <p:sp>
        <p:nvSpPr>
          <p:cNvPr id="19" name="Chevron 18"/>
          <p:cNvSpPr/>
          <p:nvPr/>
        </p:nvSpPr>
        <p:spPr>
          <a:xfrm>
            <a:off x="9889236" y="1783080"/>
            <a:ext cx="1865376" cy="658368"/>
          </a:xfrm>
          <a:prstGeom prst="chevron">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tIns="0" rIns="109728" bIns="0" wrap="square">
            <a:noAutofit/>
          </a:bodyPr>
          <a:lstStyle/>
          <a:p>
            <a:pPr algn="ctr">
              <a:spcAft>
                <a:spcPts val="0"/>
              </a:spcAft>
              <a:buNone/>
            </a:pPr>
            <a:r>
              <a:rPr sz="1300" b="1" i="0">
                <a:solidFill>
                  <a:srgbClr val="FFFFFF"/>
                </a:solidFill>
                <a:latin typeface="Arial"/>
              </a:rPr>
              <a:t>Maintenance</a:t>
            </a:r>
          </a:p>
        </p:txBody>
      </p:sp>
      <p:sp>
        <p:nvSpPr>
          <p:cNvPr id="20" name="Rounded Rectangle 19"/>
          <p:cNvSpPr/>
          <p:nvPr/>
        </p:nvSpPr>
        <p:spPr>
          <a:xfrm>
            <a:off x="9889236" y="2606040"/>
            <a:ext cx="1755648" cy="239572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80676" y="2715768"/>
            <a:ext cx="1618488" cy="224028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300" b="0" i="0">
                <a:solidFill>
                  <a:srgbClr val="1F2937"/>
                </a:solidFill>
                <a:latin typeface="Arial"/>
              </a:rPr>
              <a:t>Alembic migrations</a:t>
            </a:r>
          </a:p>
          <a:p>
            <a:pPr algn="l" marL="201168" indent="-201168">
              <a:spcAft>
                <a:spcPts val="700"/>
              </a:spcAft>
              <a:buFont typeface="Arial"/>
              <a:buChar char="•"/>
            </a:pPr>
            <a:r>
              <a:rPr sz="1300" b="0" i="0">
                <a:solidFill>
                  <a:srgbClr val="1F2937"/>
                </a:solidFill>
                <a:latin typeface="Arial"/>
              </a:rPr>
              <a:t>Demo data refreshes daily</a:t>
            </a:r>
          </a:p>
          <a:p>
            <a:pPr algn="l" marL="201168" indent="-201168">
              <a:spcAft>
                <a:spcPts val="700"/>
              </a:spcAft>
              <a:buFont typeface="Arial"/>
              <a:buChar char="•"/>
            </a:pPr>
            <a:r>
              <a:rPr sz="1300" b="0" i="0">
                <a:solidFill>
                  <a:srgbClr val="1F2937"/>
                </a:solidFill>
                <a:latin typeface="Arial"/>
              </a:rPr>
              <a:t>Model evaluation in Settings</a:t>
            </a:r>
          </a:p>
        </p:txBody>
      </p:sp>
      <p:sp>
        <p:nvSpPr>
          <p:cNvPr id="22" name="Rounded Rectangle 21"/>
          <p:cNvSpPr/>
          <p:nvPr/>
        </p:nvSpPr>
        <p:spPr>
          <a:xfrm>
            <a:off x="548640"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Jul 2026  </a:t>
            </a:r>
            <a:r>
              <a:rPr sz="1250" b="0" i="0">
                <a:solidFill>
                  <a:srgbClr val="1F2937"/>
                </a:solidFill>
                <a:latin typeface="Arial"/>
              </a:rPr>
              <a:t>Review 0</a:t>
            </a:r>
          </a:p>
        </p:txBody>
      </p:sp>
      <p:cxnSp>
        <p:nvCxnSpPr>
          <p:cNvPr id="23" name="Connector 22"/>
          <p:cNvCxnSpPr/>
          <p:nvPr/>
        </p:nvCxnSpPr>
        <p:spPr>
          <a:xfrm>
            <a:off x="2548067"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831531"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After Review 0  </a:t>
            </a:r>
            <a:r>
              <a:rPr sz="1250" b="0" i="0">
                <a:solidFill>
                  <a:srgbClr val="1F2937"/>
                </a:solidFill>
                <a:latin typeface="Arial"/>
              </a:rPr>
              <a:t>requirements change</a:t>
            </a:r>
          </a:p>
        </p:txBody>
      </p:sp>
      <p:cxnSp>
        <p:nvCxnSpPr>
          <p:cNvPr id="25" name="Connector 24"/>
          <p:cNvCxnSpPr/>
          <p:nvPr/>
        </p:nvCxnSpPr>
        <p:spPr>
          <a:xfrm>
            <a:off x="4830958"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114422"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Phases 0–9  </a:t>
            </a:r>
            <a:r>
              <a:rPr sz="1250" b="0" i="0">
                <a:solidFill>
                  <a:srgbClr val="1F2937"/>
                </a:solidFill>
                <a:latin typeface="Arial"/>
              </a:rPr>
              <a:t>built and gated</a:t>
            </a:r>
          </a:p>
        </p:txBody>
      </p:sp>
      <p:cxnSp>
        <p:nvCxnSpPr>
          <p:cNvPr id="27" name="Connector 26"/>
          <p:cNvCxnSpPr/>
          <p:nvPr/>
        </p:nvCxnSpPr>
        <p:spPr>
          <a:xfrm>
            <a:off x="7113849"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97313"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18 Oct 2026  </a:t>
            </a:r>
            <a:r>
              <a:rPr sz="1250" b="0" i="0">
                <a:solidFill>
                  <a:srgbClr val="1F2937"/>
                </a:solidFill>
                <a:latin typeface="Arial"/>
              </a:rPr>
              <a:t>real data, re-measured</a:t>
            </a:r>
          </a:p>
        </p:txBody>
      </p:sp>
      <p:cxnSp>
        <p:nvCxnSpPr>
          <p:cNvPr id="29" name="Connector 28"/>
          <p:cNvCxnSpPr/>
          <p:nvPr/>
        </p:nvCxnSpPr>
        <p:spPr>
          <a:xfrm>
            <a:off x="9396740" y="5513832"/>
            <a:ext cx="246888" cy="0"/>
          </a:xfrm>
          <a:prstGeom prst="line">
            <a:avLst/>
          </a:prstGeom>
          <a:ln w="22225">
            <a:solidFill>
              <a:srgbClr val="0079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80204" y="5193792"/>
            <a:ext cx="1962851" cy="640080"/>
          </a:xfrm>
          <a:prstGeom prst="roundRect">
            <a:avLst>
              <a:gd name="adj" fmla="val 30000"/>
            </a:avLst>
          </a:prstGeom>
          <a:solidFill>
            <a:srgbClr val="FFFFFF"/>
          </a:solidFill>
          <a:ln w="9525">
            <a:solidFill>
              <a:srgbClr val="0079BC"/>
            </a:solidFill>
          </a:ln>
          <a:effectLst/>
        </p:spPr>
        <p:style>
          <a:lnRef idx="1">
            <a:schemeClr val="accent1"/>
          </a:lnRef>
          <a:fillRef idx="3">
            <a:schemeClr val="accent1"/>
          </a:fillRef>
          <a:effectRef idx="2">
            <a:schemeClr val="accent1"/>
          </a:effectRef>
          <a:fontRef idx="minor">
            <a:schemeClr val="lt1"/>
          </a:fontRef>
        </p:style>
        <p:txBody>
          <a:bodyPr rtlCol="0" anchor="ctr" lIns="54864" tIns="0" rIns="54864" bIns="0" wrap="square">
            <a:noAutofit/>
          </a:bodyPr>
          <a:lstStyle/>
          <a:p>
            <a:pPr algn="ctr">
              <a:spcAft>
                <a:spcPts val="0"/>
              </a:spcAft>
              <a:buNone/>
            </a:pPr>
            <a:r>
              <a:rPr sz="1250" b="1" i="0">
                <a:solidFill>
                  <a:srgbClr val="0079BC"/>
                </a:solidFill>
                <a:latin typeface="Arial"/>
              </a:rPr>
              <a:t>Oct 2026  </a:t>
            </a:r>
            <a:r>
              <a:rPr sz="1250" b="0" i="0">
                <a:solidFill>
                  <a:srgbClr val="1F2937"/>
                </a:solidFill>
                <a:latin typeface="Arial"/>
              </a:rPr>
              <a:t>evaluation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Build phases and their gates</a:t>
            </a:r>
          </a:p>
        </p:txBody>
      </p:sp>
      <p:sp>
        <p:nvSpPr>
          <p:cNvPr id="3" name="Rounded Rectangle 2"/>
          <p:cNvSpPr/>
          <p:nvPr/>
        </p:nvSpPr>
        <p:spPr>
          <a:xfrm>
            <a:off x="548640"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0</a:t>
            </a:r>
          </a:p>
        </p:txBody>
      </p:sp>
      <p:sp>
        <p:nvSpPr>
          <p:cNvPr id="5" name="TextBox 4"/>
          <p:cNvSpPr txBox="1"/>
          <p:nvPr/>
        </p:nvSpPr>
        <p:spPr>
          <a:xfrm>
            <a:off x="1234440"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Foundation</a:t>
            </a:r>
          </a:p>
        </p:txBody>
      </p:sp>
      <p:sp>
        <p:nvSpPr>
          <p:cNvPr id="6" name="TextBox 5"/>
          <p:cNvSpPr txBox="1"/>
          <p:nvPr/>
        </p:nvSpPr>
        <p:spPr>
          <a:xfrm>
            <a:off x="685800"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run.py, server, jobs, SQLite + Alembic</a:t>
            </a:r>
          </a:p>
        </p:txBody>
      </p:sp>
      <p:sp>
        <p:nvSpPr>
          <p:cNvPr id="7" name="Rounded Rectangle 6"/>
          <p:cNvSpPr/>
          <p:nvPr/>
        </p:nvSpPr>
        <p:spPr>
          <a:xfrm>
            <a:off x="658368"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a clean start renders a page</a:t>
            </a:r>
          </a:p>
        </p:txBody>
      </p:sp>
      <p:sp>
        <p:nvSpPr>
          <p:cNvPr id="8" name="Rounded Rectangle 7"/>
          <p:cNvSpPr/>
          <p:nvPr/>
        </p:nvSpPr>
        <p:spPr>
          <a:xfrm>
            <a:off x="2807208"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944368" y="137160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1</a:t>
            </a:r>
          </a:p>
        </p:txBody>
      </p:sp>
      <p:sp>
        <p:nvSpPr>
          <p:cNvPr id="10" name="TextBox 9"/>
          <p:cNvSpPr txBox="1"/>
          <p:nvPr/>
        </p:nvSpPr>
        <p:spPr>
          <a:xfrm>
            <a:off x="3493008"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Data and auth</a:t>
            </a:r>
          </a:p>
        </p:txBody>
      </p:sp>
      <p:sp>
        <p:nvSpPr>
          <p:cNvPr id="11" name="TextBox 10"/>
          <p:cNvSpPr txBox="1"/>
          <p:nvPr/>
        </p:nvSpPr>
        <p:spPr>
          <a:xfrm>
            <a:off x="2944368"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schema, auth, demo persona, model training</a:t>
            </a:r>
          </a:p>
        </p:txBody>
      </p:sp>
      <p:sp>
        <p:nvSpPr>
          <p:cNvPr id="12" name="Rounded Rectangle 11"/>
          <p:cNvSpPr/>
          <p:nvPr/>
        </p:nvSpPr>
        <p:spPr>
          <a:xfrm>
            <a:off x="2916936"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deterministic data; tests green</a:t>
            </a:r>
          </a:p>
        </p:txBody>
      </p:sp>
      <p:sp>
        <p:nvSpPr>
          <p:cNvPr id="13" name="Rounded Rectangle 12"/>
          <p:cNvSpPr/>
          <p:nvPr/>
        </p:nvSpPr>
        <p:spPr>
          <a:xfrm>
            <a:off x="5065776"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02936"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2</a:t>
            </a:r>
          </a:p>
        </p:txBody>
      </p:sp>
      <p:sp>
        <p:nvSpPr>
          <p:cNvPr id="15" name="TextBox 14"/>
          <p:cNvSpPr txBox="1"/>
          <p:nvPr/>
        </p:nvSpPr>
        <p:spPr>
          <a:xfrm>
            <a:off x="5751576"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Capture</a:t>
            </a:r>
          </a:p>
        </p:txBody>
      </p:sp>
      <p:sp>
        <p:nvSpPr>
          <p:cNvPr id="16" name="TextBox 15"/>
          <p:cNvSpPr txBox="1"/>
          <p:nvPr/>
        </p:nvSpPr>
        <p:spPr>
          <a:xfrm>
            <a:off x="5202936"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consent API, pipeline, file imports</a:t>
            </a:r>
          </a:p>
        </p:txBody>
      </p:sp>
      <p:sp>
        <p:nvSpPr>
          <p:cNvPr id="17" name="Rounded Rectangle 16"/>
          <p:cNvSpPr/>
          <p:nvPr/>
        </p:nvSpPr>
        <p:spPr>
          <a:xfrm>
            <a:off x="5175504"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no transactions from OTP/promos</a:t>
            </a:r>
          </a:p>
        </p:txBody>
      </p:sp>
      <p:sp>
        <p:nvSpPr>
          <p:cNvPr id="18" name="Rounded Rectangle 17"/>
          <p:cNvSpPr/>
          <p:nvPr/>
        </p:nvSpPr>
        <p:spPr>
          <a:xfrm>
            <a:off x="7324344"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61504" y="137160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3</a:t>
            </a:r>
          </a:p>
        </p:txBody>
      </p:sp>
      <p:sp>
        <p:nvSpPr>
          <p:cNvPr id="20" name="TextBox 19"/>
          <p:cNvSpPr txBox="1"/>
          <p:nvPr/>
        </p:nvSpPr>
        <p:spPr>
          <a:xfrm>
            <a:off x="8010144"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Core UI</a:t>
            </a:r>
          </a:p>
        </p:txBody>
      </p:sp>
      <p:sp>
        <p:nvSpPr>
          <p:cNvPr id="21" name="TextBox 20"/>
          <p:cNvSpPr txBox="1"/>
          <p:nvPr/>
        </p:nvSpPr>
        <p:spPr>
          <a:xfrm>
            <a:off x="7461504"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shell, onboarding, dashboard, connections</a:t>
            </a:r>
          </a:p>
        </p:txBody>
      </p:sp>
      <p:sp>
        <p:nvSpPr>
          <p:cNvPr id="22" name="Rounded Rectangle 21"/>
          <p:cNvSpPr/>
          <p:nvPr/>
        </p:nvSpPr>
        <p:spPr>
          <a:xfrm>
            <a:off x="7434071"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E2E: SMS becomes a transaction</a:t>
            </a:r>
          </a:p>
        </p:txBody>
      </p:sp>
      <p:sp>
        <p:nvSpPr>
          <p:cNvPr id="23" name="Rounded Rectangle 22"/>
          <p:cNvSpPr/>
          <p:nvPr/>
        </p:nvSpPr>
        <p:spPr>
          <a:xfrm>
            <a:off x="9582912" y="123444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20072" y="137160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4</a:t>
            </a:r>
          </a:p>
        </p:txBody>
      </p:sp>
      <p:sp>
        <p:nvSpPr>
          <p:cNvPr id="25" name="TextBox 24"/>
          <p:cNvSpPr txBox="1"/>
          <p:nvPr/>
        </p:nvSpPr>
        <p:spPr>
          <a:xfrm>
            <a:off x="10268712" y="137160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Receipts</a:t>
            </a:r>
          </a:p>
        </p:txBody>
      </p:sp>
      <p:sp>
        <p:nvSpPr>
          <p:cNvPr id="26" name="TextBox 25"/>
          <p:cNvSpPr txBox="1"/>
          <p:nvPr/>
        </p:nvSpPr>
        <p:spPr>
          <a:xfrm>
            <a:off x="9720072" y="192024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on-device OCR, receipt commit, PDF bills</a:t>
            </a:r>
          </a:p>
        </p:txBody>
      </p:sp>
      <p:sp>
        <p:nvSpPr>
          <p:cNvPr id="27" name="Rounded Rectangle 26"/>
          <p:cNvSpPr/>
          <p:nvPr/>
        </p:nvSpPr>
        <p:spPr>
          <a:xfrm>
            <a:off x="9692640" y="271576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a photo matched to its payment</a:t>
            </a:r>
          </a:p>
        </p:txBody>
      </p:sp>
      <p:sp>
        <p:nvSpPr>
          <p:cNvPr id="28" name="Rounded Rectangle 27"/>
          <p:cNvSpPr/>
          <p:nvPr/>
        </p:nvSpPr>
        <p:spPr>
          <a:xfrm>
            <a:off x="548640"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5800"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5</a:t>
            </a:r>
          </a:p>
        </p:txBody>
      </p:sp>
      <p:sp>
        <p:nvSpPr>
          <p:cNvPr id="30" name="TextBox 29"/>
          <p:cNvSpPr txBox="1"/>
          <p:nvPr/>
        </p:nvSpPr>
        <p:spPr>
          <a:xfrm>
            <a:off x="1234440"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Forecasting</a:t>
            </a:r>
          </a:p>
        </p:txBody>
      </p:sp>
      <p:sp>
        <p:nvSpPr>
          <p:cNvPr id="31" name="TextBox 30"/>
          <p:cNvSpPr txBox="1"/>
          <p:nvPr/>
        </p:nvSpPr>
        <p:spPr>
          <a:xfrm>
            <a:off x="685800"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Prophet + schedule, backtest, what-if</a:t>
            </a:r>
          </a:p>
        </p:txBody>
      </p:sp>
      <p:sp>
        <p:nvSpPr>
          <p:cNvPr id="32" name="Rounded Rectangle 31"/>
          <p:cNvSpPr/>
          <p:nvPr/>
        </p:nvSpPr>
        <p:spPr>
          <a:xfrm>
            <a:off x="658368"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honest backtest; fallback tested</a:t>
            </a:r>
          </a:p>
        </p:txBody>
      </p:sp>
      <p:sp>
        <p:nvSpPr>
          <p:cNvPr id="33" name="Rounded Rectangle 32"/>
          <p:cNvSpPr/>
          <p:nvPr/>
        </p:nvSpPr>
        <p:spPr>
          <a:xfrm>
            <a:off x="2807208"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44368" y="374904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6</a:t>
            </a:r>
          </a:p>
        </p:txBody>
      </p:sp>
      <p:sp>
        <p:nvSpPr>
          <p:cNvPr id="35" name="TextBox 34"/>
          <p:cNvSpPr txBox="1"/>
          <p:nvPr/>
        </p:nvSpPr>
        <p:spPr>
          <a:xfrm>
            <a:off x="3493008"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Subscriptions, tax</a:t>
            </a:r>
          </a:p>
        </p:txBody>
      </p:sp>
      <p:sp>
        <p:nvSpPr>
          <p:cNvPr id="36" name="TextBox 35"/>
          <p:cNvSpPr txBox="1"/>
          <p:nvPr/>
        </p:nvSpPr>
        <p:spPr>
          <a:xfrm>
            <a:off x="2944368"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detection, both regimes, export</a:t>
            </a:r>
          </a:p>
        </p:txBody>
      </p:sp>
      <p:sp>
        <p:nvSpPr>
          <p:cNvPr id="37" name="Rounded Rectangle 36"/>
          <p:cNvSpPr/>
          <p:nvPr/>
        </p:nvSpPr>
        <p:spPr>
          <a:xfrm>
            <a:off x="2916936"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planted findings; tax tests</a:t>
            </a:r>
          </a:p>
        </p:txBody>
      </p:sp>
      <p:sp>
        <p:nvSpPr>
          <p:cNvPr id="38" name="Rounded Rectangle 37"/>
          <p:cNvSpPr/>
          <p:nvPr/>
        </p:nvSpPr>
        <p:spPr>
          <a:xfrm>
            <a:off x="5065776"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202936"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7</a:t>
            </a:r>
          </a:p>
        </p:txBody>
      </p:sp>
      <p:sp>
        <p:nvSpPr>
          <p:cNvPr id="40" name="TextBox 39"/>
          <p:cNvSpPr txBox="1"/>
          <p:nvPr/>
        </p:nvSpPr>
        <p:spPr>
          <a:xfrm>
            <a:off x="5751576"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Insights, coach</a:t>
            </a:r>
          </a:p>
        </p:txBody>
      </p:sp>
      <p:sp>
        <p:nvSpPr>
          <p:cNvPr id="41" name="TextBox 40"/>
          <p:cNvSpPr txBox="1"/>
          <p:nvPr/>
        </p:nvSpPr>
        <p:spPr>
          <a:xfrm>
            <a:off x="5202936"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insights, coach, budgets, goals</a:t>
            </a:r>
          </a:p>
        </p:txBody>
      </p:sp>
      <p:sp>
        <p:nvSpPr>
          <p:cNvPr id="42" name="Rounded Rectangle 41"/>
          <p:cNvSpPr/>
          <p:nvPr/>
        </p:nvSpPr>
        <p:spPr>
          <a:xfrm>
            <a:off x="5175504"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every intent answers from data</a:t>
            </a:r>
          </a:p>
        </p:txBody>
      </p:sp>
      <p:sp>
        <p:nvSpPr>
          <p:cNvPr id="43" name="Rounded Rectangle 42"/>
          <p:cNvSpPr/>
          <p:nvPr/>
        </p:nvSpPr>
        <p:spPr>
          <a:xfrm>
            <a:off x="7324344"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461504" y="3749040"/>
            <a:ext cx="457200" cy="457200"/>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8</a:t>
            </a:r>
          </a:p>
        </p:txBody>
      </p:sp>
      <p:sp>
        <p:nvSpPr>
          <p:cNvPr id="45" name="TextBox 44"/>
          <p:cNvSpPr txBox="1"/>
          <p:nvPr/>
        </p:nvSpPr>
        <p:spPr>
          <a:xfrm>
            <a:off x="8010144"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Affordability</a:t>
            </a:r>
          </a:p>
        </p:txBody>
      </p:sp>
      <p:sp>
        <p:nvSpPr>
          <p:cNvPr id="46" name="TextBox 45"/>
          <p:cNvSpPr txBox="1"/>
          <p:nvPr/>
        </p:nvSpPr>
        <p:spPr>
          <a:xfrm>
            <a:off x="7461504"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safe-to-spend, wishlist, prices</a:t>
            </a:r>
          </a:p>
        </p:txBody>
      </p:sp>
      <p:sp>
        <p:nvSpPr>
          <p:cNvPr id="47" name="Rounded Rectangle 46"/>
          <p:cNvSpPr/>
          <p:nvPr/>
        </p:nvSpPr>
        <p:spPr>
          <a:xfrm>
            <a:off x="7434071"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property test; private links refused</a:t>
            </a:r>
          </a:p>
        </p:txBody>
      </p:sp>
      <p:sp>
        <p:nvSpPr>
          <p:cNvPr id="48" name="Rounded Rectangle 47"/>
          <p:cNvSpPr/>
          <p:nvPr/>
        </p:nvSpPr>
        <p:spPr>
          <a:xfrm>
            <a:off x="9582912" y="3611880"/>
            <a:ext cx="2075688" cy="2212848"/>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20072" y="3749040"/>
            <a:ext cx="457200" cy="457200"/>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500" b="1" i="0">
                <a:solidFill>
                  <a:srgbClr val="FFFFFF"/>
                </a:solidFill>
                <a:latin typeface="Arial"/>
              </a:rPr>
              <a:t>9</a:t>
            </a:r>
          </a:p>
        </p:txBody>
      </p:sp>
      <p:sp>
        <p:nvSpPr>
          <p:cNvPr id="50" name="TextBox 49"/>
          <p:cNvSpPr txBox="1"/>
          <p:nvPr/>
        </p:nvSpPr>
        <p:spPr>
          <a:xfrm>
            <a:off x="10268712" y="3749040"/>
            <a:ext cx="1298448" cy="457200"/>
          </a:xfrm>
          <a:prstGeom prst="rect">
            <a:avLst/>
          </a:prstGeom>
          <a:noFill/>
        </p:spPr>
        <p:txBody>
          <a:bodyPr wrap="square" lIns="36576" tIns="18288" rIns="36576" bIns="18288" anchor="ctr">
            <a:noAutofit/>
          </a:bodyPr>
          <a:lstStyle/>
          <a:p>
            <a:pPr algn="l">
              <a:spcAft>
                <a:spcPts val="400"/>
              </a:spcAft>
              <a:buNone/>
            </a:pPr>
            <a:r>
              <a:rPr sz="1500" b="1" i="0">
                <a:solidFill>
                  <a:srgbClr val="154360"/>
                </a:solidFill>
                <a:latin typeface="Arial"/>
              </a:rPr>
              <a:t>Real data</a:t>
            </a:r>
          </a:p>
        </p:txBody>
      </p:sp>
      <p:sp>
        <p:nvSpPr>
          <p:cNvPr id="51" name="TextBox 50"/>
          <p:cNvSpPr txBox="1"/>
          <p:nvPr/>
        </p:nvSpPr>
        <p:spPr>
          <a:xfrm>
            <a:off x="9720072" y="4297680"/>
            <a:ext cx="1847088" cy="77724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Android app, IMAP, XLSX, hardening</a:t>
            </a:r>
          </a:p>
        </p:txBody>
      </p:sp>
      <p:sp>
        <p:nvSpPr>
          <p:cNvPr id="52" name="Rounded Rectangle 51"/>
          <p:cNvSpPr/>
          <p:nvPr/>
        </p:nvSpPr>
        <p:spPr>
          <a:xfrm>
            <a:off x="9692640" y="5093208"/>
            <a:ext cx="1856232" cy="60350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18288" rIns="54864" bIns="18288" wrap="square">
            <a:noAutofit/>
          </a:bodyPr>
          <a:lstStyle/>
          <a:p>
            <a:pPr algn="l">
              <a:spcAft>
                <a:spcPts val="0"/>
              </a:spcAft>
              <a:buNone/>
            </a:pPr>
            <a:r>
              <a:rPr sz="1200" b="1" i="0">
                <a:solidFill>
                  <a:srgbClr val="1E7B4F"/>
                </a:solidFill>
                <a:latin typeface="Arial"/>
              </a:rPr>
              <a:t>Gate: </a:t>
            </a:r>
            <a:r>
              <a:rPr sz="1200" b="0" i="0">
                <a:solidFill>
                  <a:srgbClr val="1F2937"/>
                </a:solidFill>
                <a:latin typeface="Arial"/>
              </a:rPr>
              <a:t>17/17 on-device + 23 E2E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Major features and modules</a:t>
            </a:r>
          </a:p>
        </p:txBody>
      </p:sp>
      <p:sp>
        <p:nvSpPr>
          <p:cNvPr id="3" name="Rounded Rectangle 2"/>
          <p:cNvSpPr/>
          <p:nvPr/>
        </p:nvSpPr>
        <p:spPr>
          <a:xfrm>
            <a:off x="54864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04088" y="1389888"/>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1</a:t>
            </a:r>
          </a:p>
        </p:txBody>
      </p:sp>
      <p:sp>
        <p:nvSpPr>
          <p:cNvPr id="5" name="TextBox 4"/>
          <p:cNvSpPr txBox="1"/>
          <p:nvPr/>
        </p:nvSpPr>
        <p:spPr>
          <a:xfrm>
            <a:off x="126187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Consent and capture</a:t>
            </a:r>
          </a:p>
        </p:txBody>
      </p:sp>
      <p:sp>
        <p:nvSpPr>
          <p:cNvPr id="6" name="TextBox 5"/>
          <p:cNvSpPr txBox="1"/>
          <p:nvPr/>
        </p:nvSpPr>
        <p:spPr>
          <a:xfrm>
            <a:off x="70408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SMS read on the phone, e-mail over IMAP, file imports; consent per source</a:t>
            </a:r>
          </a:p>
        </p:txBody>
      </p:sp>
      <p:sp>
        <p:nvSpPr>
          <p:cNvPr id="7" name="Rounded Rectangle 6"/>
          <p:cNvSpPr/>
          <p:nvPr/>
        </p:nvSpPr>
        <p:spPr>
          <a:xfrm>
            <a:off x="431231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467758" y="1389888"/>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2</a:t>
            </a:r>
          </a:p>
        </p:txBody>
      </p:sp>
      <p:sp>
        <p:nvSpPr>
          <p:cNvPr id="9" name="TextBox 8"/>
          <p:cNvSpPr txBox="1"/>
          <p:nvPr/>
        </p:nvSpPr>
        <p:spPr>
          <a:xfrm>
            <a:off x="502554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Receipts and bills</a:t>
            </a:r>
          </a:p>
        </p:txBody>
      </p:sp>
      <p:sp>
        <p:nvSpPr>
          <p:cNvPr id="10" name="TextBox 9"/>
          <p:cNvSpPr txBox="1"/>
          <p:nvPr/>
        </p:nvSpPr>
        <p:spPr>
          <a:xfrm>
            <a:off x="446775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Camera OCR with confidence boxes; PDF bills; matched to card payments</a:t>
            </a:r>
          </a:p>
        </p:txBody>
      </p:sp>
      <p:sp>
        <p:nvSpPr>
          <p:cNvPr id="11" name="Rounded Rectangle 10"/>
          <p:cNvSpPr/>
          <p:nvPr/>
        </p:nvSpPr>
        <p:spPr>
          <a:xfrm>
            <a:off x="8075980" y="1234440"/>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31428" y="1389888"/>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3</a:t>
            </a:r>
          </a:p>
        </p:txBody>
      </p:sp>
      <p:sp>
        <p:nvSpPr>
          <p:cNvPr id="13" name="TextBox 12"/>
          <p:cNvSpPr txBox="1"/>
          <p:nvPr/>
        </p:nvSpPr>
        <p:spPr>
          <a:xfrm>
            <a:off x="8789212" y="1371600"/>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Transactions and review</a:t>
            </a:r>
          </a:p>
        </p:txBody>
      </p:sp>
      <p:sp>
        <p:nvSpPr>
          <p:cNvPr id="14" name="TextBox 13"/>
          <p:cNvSpPr txBox="1"/>
          <p:nvPr/>
        </p:nvSpPr>
        <p:spPr>
          <a:xfrm>
            <a:off x="8231428" y="1892808"/>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Rules → merchant list → ML; uncertain items go to Review and become rules</a:t>
            </a:r>
          </a:p>
        </p:txBody>
      </p:sp>
      <p:sp>
        <p:nvSpPr>
          <p:cNvPr id="15" name="Rounded Rectangle 14"/>
          <p:cNvSpPr/>
          <p:nvPr/>
        </p:nvSpPr>
        <p:spPr>
          <a:xfrm>
            <a:off x="54864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04088" y="2962656"/>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4</a:t>
            </a:r>
          </a:p>
        </p:txBody>
      </p:sp>
      <p:sp>
        <p:nvSpPr>
          <p:cNvPr id="17" name="TextBox 16"/>
          <p:cNvSpPr txBox="1"/>
          <p:nvPr/>
        </p:nvSpPr>
        <p:spPr>
          <a:xfrm>
            <a:off x="126187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Anomaly detection</a:t>
            </a:r>
          </a:p>
        </p:txBody>
      </p:sp>
      <p:sp>
        <p:nvSpPr>
          <p:cNvPr id="18" name="TextBox 17"/>
          <p:cNvSpPr txBox="1"/>
          <p:nvPr/>
        </p:nvSpPr>
        <p:spPr>
          <a:xfrm>
            <a:off x="70408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Robust z-score, IsolationForest, duplicate charges and new-merchant spikes</a:t>
            </a:r>
          </a:p>
        </p:txBody>
      </p:sp>
      <p:sp>
        <p:nvSpPr>
          <p:cNvPr id="19" name="Rounded Rectangle 18"/>
          <p:cNvSpPr/>
          <p:nvPr/>
        </p:nvSpPr>
        <p:spPr>
          <a:xfrm>
            <a:off x="431231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67758" y="2962656"/>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5</a:t>
            </a:r>
          </a:p>
        </p:txBody>
      </p:sp>
      <p:sp>
        <p:nvSpPr>
          <p:cNvPr id="21" name="TextBox 20"/>
          <p:cNvSpPr txBox="1"/>
          <p:nvPr/>
        </p:nvSpPr>
        <p:spPr>
          <a:xfrm>
            <a:off x="502554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Cash-flow forecast</a:t>
            </a:r>
          </a:p>
        </p:txBody>
      </p:sp>
      <p:sp>
        <p:nvSpPr>
          <p:cNvPr id="22" name="TextBox 21"/>
          <p:cNvSpPr txBox="1"/>
          <p:nvPr/>
        </p:nvSpPr>
        <p:spPr>
          <a:xfrm>
            <a:off x="446775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Known schedule + Prophet; 80% band, what-if and a backtest against baselines</a:t>
            </a:r>
          </a:p>
        </p:txBody>
      </p:sp>
      <p:sp>
        <p:nvSpPr>
          <p:cNvPr id="23" name="Rounded Rectangle 22"/>
          <p:cNvSpPr/>
          <p:nvPr/>
        </p:nvSpPr>
        <p:spPr>
          <a:xfrm>
            <a:off x="8075980" y="2807208"/>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31428" y="2962656"/>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6</a:t>
            </a:r>
          </a:p>
        </p:txBody>
      </p:sp>
      <p:sp>
        <p:nvSpPr>
          <p:cNvPr id="25" name="TextBox 24"/>
          <p:cNvSpPr txBox="1"/>
          <p:nvPr/>
        </p:nvSpPr>
        <p:spPr>
          <a:xfrm>
            <a:off x="8789212" y="2944368"/>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Subscriptions</a:t>
            </a:r>
          </a:p>
        </p:txBody>
      </p:sp>
      <p:sp>
        <p:nvSpPr>
          <p:cNvPr id="26" name="TextBox 25"/>
          <p:cNvSpPr txBox="1"/>
          <p:nvPr/>
        </p:nvSpPr>
        <p:spPr>
          <a:xfrm>
            <a:off x="8231428" y="3465576"/>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Price rises, unused plans, trials turned paid and overlaps, ranked by ₹ per year</a:t>
            </a:r>
          </a:p>
        </p:txBody>
      </p:sp>
      <p:sp>
        <p:nvSpPr>
          <p:cNvPr id="27" name="Rounded Rectangle 26"/>
          <p:cNvSpPr/>
          <p:nvPr/>
        </p:nvSpPr>
        <p:spPr>
          <a:xfrm>
            <a:off x="54864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04088" y="4535424"/>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7</a:t>
            </a:r>
          </a:p>
        </p:txBody>
      </p:sp>
      <p:sp>
        <p:nvSpPr>
          <p:cNvPr id="29" name="TextBox 28"/>
          <p:cNvSpPr txBox="1"/>
          <p:nvPr/>
        </p:nvSpPr>
        <p:spPr>
          <a:xfrm>
            <a:off x="126187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Tax insights</a:t>
            </a:r>
          </a:p>
        </p:txBody>
      </p:sp>
      <p:sp>
        <p:nvSpPr>
          <p:cNvPr id="30" name="TextBox 29"/>
          <p:cNvSpPr txBox="1"/>
          <p:nvPr/>
        </p:nvSpPr>
        <p:spPr>
          <a:xfrm>
            <a:off x="70408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Two tax years, both regimes, deductions from transactions, CSV/PDF export</a:t>
            </a:r>
          </a:p>
        </p:txBody>
      </p:sp>
      <p:sp>
        <p:nvSpPr>
          <p:cNvPr id="31" name="Rounded Rectangle 30"/>
          <p:cNvSpPr/>
          <p:nvPr/>
        </p:nvSpPr>
        <p:spPr>
          <a:xfrm>
            <a:off x="431231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67758" y="4535424"/>
            <a:ext cx="420624" cy="420624"/>
          </a:xfrm>
          <a:prstGeom prst="ellips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8</a:t>
            </a:r>
          </a:p>
        </p:txBody>
      </p:sp>
      <p:sp>
        <p:nvSpPr>
          <p:cNvPr id="33" name="TextBox 32"/>
          <p:cNvSpPr txBox="1"/>
          <p:nvPr/>
        </p:nvSpPr>
        <p:spPr>
          <a:xfrm>
            <a:off x="502554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Insights, coach, budgets</a:t>
            </a:r>
          </a:p>
        </p:txBody>
      </p:sp>
      <p:sp>
        <p:nvSpPr>
          <p:cNvPr id="34" name="TextBox 33"/>
          <p:cNvSpPr txBox="1"/>
          <p:nvPr/>
        </p:nvSpPr>
        <p:spPr>
          <a:xfrm>
            <a:off x="446775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Ranked insights; a 13-intent coach; budgets and goals feed affordability</a:t>
            </a:r>
          </a:p>
        </p:txBody>
      </p:sp>
      <p:sp>
        <p:nvSpPr>
          <p:cNvPr id="35" name="Rounded Rectangle 34"/>
          <p:cNvSpPr/>
          <p:nvPr/>
        </p:nvSpPr>
        <p:spPr>
          <a:xfrm>
            <a:off x="8075980" y="4379976"/>
            <a:ext cx="3566160" cy="141732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31428" y="4535424"/>
            <a:ext cx="420624" cy="420624"/>
          </a:xfrm>
          <a:prstGeom prst="ellipse">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400" b="1" i="0">
                <a:solidFill>
                  <a:srgbClr val="FFFFFF"/>
                </a:solidFill>
                <a:latin typeface="Arial"/>
              </a:rPr>
              <a:t>9</a:t>
            </a:r>
          </a:p>
        </p:txBody>
      </p:sp>
      <p:sp>
        <p:nvSpPr>
          <p:cNvPr id="37" name="TextBox 36"/>
          <p:cNvSpPr txBox="1"/>
          <p:nvPr/>
        </p:nvSpPr>
        <p:spPr>
          <a:xfrm>
            <a:off x="8789212" y="4517136"/>
            <a:ext cx="2743200" cy="457200"/>
          </a:xfrm>
          <a:prstGeom prst="rect">
            <a:avLst/>
          </a:prstGeom>
          <a:noFill/>
        </p:spPr>
        <p:txBody>
          <a:bodyPr wrap="square" lIns="36576" tIns="18288" rIns="36576" bIns="18288" anchor="ctr">
            <a:noAutofit/>
          </a:bodyPr>
          <a:lstStyle/>
          <a:p>
            <a:pPr algn="l">
              <a:spcAft>
                <a:spcPts val="400"/>
              </a:spcAft>
              <a:buNone/>
            </a:pPr>
            <a:r>
              <a:rPr sz="1600" b="1" i="0">
                <a:solidFill>
                  <a:srgbClr val="154360"/>
                </a:solidFill>
                <a:latin typeface="Arial"/>
              </a:rPr>
              <a:t>Wishlist and affordability</a:t>
            </a:r>
          </a:p>
        </p:txBody>
      </p:sp>
      <p:sp>
        <p:nvSpPr>
          <p:cNvPr id="38" name="TextBox 37"/>
          <p:cNvSpPr txBox="1"/>
          <p:nvPr/>
        </p:nvSpPr>
        <p:spPr>
          <a:xfrm>
            <a:off x="8231428" y="5038344"/>
            <a:ext cx="3291840" cy="731520"/>
          </a:xfrm>
          <a:prstGeom prst="rect">
            <a:avLst/>
          </a:prstGeom>
          <a:noFill/>
        </p:spPr>
        <p:txBody>
          <a:bodyPr wrap="square" lIns="36576" tIns="18288" rIns="36576" bIns="18288" anchor="t">
            <a:noAutofit/>
          </a:bodyPr>
          <a:lstStyle/>
          <a:p>
            <a:pPr algn="l">
              <a:spcAft>
                <a:spcPts val="400"/>
              </a:spcAft>
              <a:buNone/>
            </a:pPr>
            <a:r>
              <a:rPr sz="1300" b="0" i="0">
                <a:solidFill>
                  <a:srgbClr val="1F2937"/>
                </a:solidFill>
                <a:latin typeface="Arial"/>
              </a:rPr>
              <a:t>Prices from product links + affordability: Buy now, For your goals, Save 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The application in action</a:t>
            </a:r>
          </a:p>
        </p:txBody>
      </p:sp>
      <p:pic>
        <p:nvPicPr>
          <p:cNvPr id="3" name="Picture 2" descr="dashboard.png"/>
          <p:cNvPicPr>
            <a:picLocks noChangeAspect="1"/>
          </p:cNvPicPr>
          <p:nvPr/>
        </p:nvPicPr>
        <p:blipFill>
          <a:blip r:embed="rId3"/>
          <a:stretch>
            <a:fillRect/>
          </a:stretch>
        </p:blipFill>
        <p:spPr>
          <a:xfrm>
            <a:off x="1002639" y="1207008"/>
            <a:ext cx="3218688" cy="2011680"/>
          </a:xfrm>
          <a:prstGeom prst="rect">
            <a:avLst/>
          </a:prstGeom>
          <a:ln w="9525">
            <a:solidFill>
              <a:srgbClr val="C9D3E0"/>
            </a:solidFill>
          </a:ln>
        </p:spPr>
      </p:pic>
      <p:sp>
        <p:nvSpPr>
          <p:cNvPr id="4" name="TextBox 3"/>
          <p:cNvSpPr txBox="1"/>
          <p:nvPr/>
        </p:nvSpPr>
        <p:spPr>
          <a:xfrm>
            <a:off x="1002639"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Dashboard</a:t>
            </a:r>
          </a:p>
        </p:txBody>
      </p:sp>
      <p:pic>
        <p:nvPicPr>
          <p:cNvPr id="5" name="Picture 4" descr="connections.png"/>
          <p:cNvPicPr>
            <a:picLocks noChangeAspect="1"/>
          </p:cNvPicPr>
          <p:nvPr/>
        </p:nvPicPr>
        <p:blipFill>
          <a:blip r:embed="rId4"/>
          <a:stretch>
            <a:fillRect/>
          </a:stretch>
        </p:blipFill>
        <p:spPr>
          <a:xfrm>
            <a:off x="4486503" y="1207008"/>
            <a:ext cx="3218688" cy="2011680"/>
          </a:xfrm>
          <a:prstGeom prst="rect">
            <a:avLst/>
          </a:prstGeom>
          <a:ln w="9525">
            <a:solidFill>
              <a:srgbClr val="C9D3E0"/>
            </a:solidFill>
          </a:ln>
        </p:spPr>
      </p:pic>
      <p:sp>
        <p:nvSpPr>
          <p:cNvPr id="6" name="TextBox 5"/>
          <p:cNvSpPr txBox="1"/>
          <p:nvPr/>
        </p:nvSpPr>
        <p:spPr>
          <a:xfrm>
            <a:off x="4486503"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Connections: consent per source</a:t>
            </a:r>
          </a:p>
        </p:txBody>
      </p:sp>
      <p:pic>
        <p:nvPicPr>
          <p:cNvPr id="7" name="Picture 6" descr="forecast.png"/>
          <p:cNvPicPr>
            <a:picLocks noChangeAspect="1"/>
          </p:cNvPicPr>
          <p:nvPr/>
        </p:nvPicPr>
        <p:blipFill>
          <a:blip r:embed="rId5"/>
          <a:stretch>
            <a:fillRect/>
          </a:stretch>
        </p:blipFill>
        <p:spPr>
          <a:xfrm>
            <a:off x="7970367" y="1207008"/>
            <a:ext cx="3218688" cy="2011680"/>
          </a:xfrm>
          <a:prstGeom prst="rect">
            <a:avLst/>
          </a:prstGeom>
          <a:ln w="9525">
            <a:solidFill>
              <a:srgbClr val="C9D3E0"/>
            </a:solidFill>
          </a:ln>
        </p:spPr>
      </p:pic>
      <p:sp>
        <p:nvSpPr>
          <p:cNvPr id="8" name="TextBox 7"/>
          <p:cNvSpPr txBox="1"/>
          <p:nvPr/>
        </p:nvSpPr>
        <p:spPr>
          <a:xfrm>
            <a:off x="7970367" y="3255264"/>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Forecast with a what-if check</a:t>
            </a:r>
          </a:p>
        </p:txBody>
      </p:sp>
      <p:pic>
        <p:nvPicPr>
          <p:cNvPr id="9" name="Picture 8" descr="subscriptions.png"/>
          <p:cNvPicPr>
            <a:picLocks noChangeAspect="1"/>
          </p:cNvPicPr>
          <p:nvPr/>
        </p:nvPicPr>
        <p:blipFill>
          <a:blip r:embed="rId6"/>
          <a:stretch>
            <a:fillRect/>
          </a:stretch>
        </p:blipFill>
        <p:spPr>
          <a:xfrm>
            <a:off x="1002639" y="3602736"/>
            <a:ext cx="3218688" cy="2011680"/>
          </a:xfrm>
          <a:prstGeom prst="rect">
            <a:avLst/>
          </a:prstGeom>
          <a:ln w="9525">
            <a:solidFill>
              <a:srgbClr val="C9D3E0"/>
            </a:solidFill>
          </a:ln>
        </p:spPr>
      </p:pic>
      <p:sp>
        <p:nvSpPr>
          <p:cNvPr id="10" name="TextBox 9"/>
          <p:cNvSpPr txBox="1"/>
          <p:nvPr/>
        </p:nvSpPr>
        <p:spPr>
          <a:xfrm>
            <a:off x="1002639"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Subscriptions: ranked savings</a:t>
            </a:r>
          </a:p>
        </p:txBody>
      </p:sp>
      <p:pic>
        <p:nvPicPr>
          <p:cNvPr id="11" name="Picture 10" descr="tax.png"/>
          <p:cNvPicPr>
            <a:picLocks noChangeAspect="1"/>
          </p:cNvPicPr>
          <p:nvPr/>
        </p:nvPicPr>
        <p:blipFill>
          <a:blip r:embed="rId7"/>
          <a:stretch>
            <a:fillRect/>
          </a:stretch>
        </p:blipFill>
        <p:spPr>
          <a:xfrm>
            <a:off x="4486503" y="3602736"/>
            <a:ext cx="3218688" cy="2011680"/>
          </a:xfrm>
          <a:prstGeom prst="rect">
            <a:avLst/>
          </a:prstGeom>
          <a:ln w="9525">
            <a:solidFill>
              <a:srgbClr val="C9D3E0"/>
            </a:solidFill>
          </a:ln>
        </p:spPr>
      </p:pic>
      <p:sp>
        <p:nvSpPr>
          <p:cNvPr id="12" name="TextBox 11"/>
          <p:cNvSpPr txBox="1"/>
          <p:nvPr/>
        </p:nvSpPr>
        <p:spPr>
          <a:xfrm>
            <a:off x="4486503"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Tax: old vs new regime</a:t>
            </a:r>
          </a:p>
        </p:txBody>
      </p:sp>
      <p:pic>
        <p:nvPicPr>
          <p:cNvPr id="13" name="Picture 12" descr="picks.png"/>
          <p:cNvPicPr>
            <a:picLocks noChangeAspect="1"/>
          </p:cNvPicPr>
          <p:nvPr/>
        </p:nvPicPr>
        <p:blipFill>
          <a:blip r:embed="rId8"/>
          <a:stretch>
            <a:fillRect/>
          </a:stretch>
        </p:blipFill>
        <p:spPr>
          <a:xfrm>
            <a:off x="7970367" y="3602736"/>
            <a:ext cx="3218688" cy="2011680"/>
          </a:xfrm>
          <a:prstGeom prst="rect">
            <a:avLst/>
          </a:prstGeom>
          <a:ln w="9525">
            <a:solidFill>
              <a:srgbClr val="C9D3E0"/>
            </a:solidFill>
          </a:ln>
        </p:spPr>
      </p:pic>
      <p:sp>
        <p:nvSpPr>
          <p:cNvPr id="14" name="TextBox 13"/>
          <p:cNvSpPr txBox="1"/>
          <p:nvPr/>
        </p:nvSpPr>
        <p:spPr>
          <a:xfrm>
            <a:off x="7970367" y="5650992"/>
            <a:ext cx="3218688" cy="292608"/>
          </a:xfrm>
          <a:prstGeom prst="rect">
            <a:avLst/>
          </a:prstGeom>
          <a:noFill/>
        </p:spPr>
        <p:txBody>
          <a:bodyPr wrap="square" lIns="36576" tIns="18288" rIns="36576" bIns="18288" anchor="t">
            <a:noAutofit/>
          </a:bodyPr>
          <a:lstStyle/>
          <a:p>
            <a:pPr algn="ctr">
              <a:spcAft>
                <a:spcPts val="400"/>
              </a:spcAft>
              <a:buNone/>
            </a:pPr>
            <a:r>
              <a:rPr sz="1200" b="1" i="0">
                <a:solidFill>
                  <a:srgbClr val="154360"/>
                </a:solidFill>
                <a:latin typeface="Arial"/>
              </a:rPr>
              <a:t>Wishlist: affordability first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 flow: from a message to a decision</a:t>
            </a:r>
          </a:p>
        </p:txBody>
      </p:sp>
      <p:sp>
        <p:nvSpPr>
          <p:cNvPr id="3" name="TextBox 2"/>
          <p:cNvSpPr txBox="1"/>
          <p:nvPr/>
        </p:nvSpPr>
        <p:spPr>
          <a:xfrm>
            <a:off x="548640" y="1170432"/>
            <a:ext cx="11094415" cy="365760"/>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Capture pipeline — the same for the phone's SMS, the mailbox and file imports</a:t>
            </a:r>
          </a:p>
        </p:txBody>
      </p:sp>
      <p:sp>
        <p:nvSpPr>
          <p:cNvPr id="4" name="Pentagon 3"/>
          <p:cNvSpPr/>
          <p:nvPr/>
        </p:nvSpPr>
        <p:spPr>
          <a:xfrm>
            <a:off x="548640" y="1600200"/>
            <a:ext cx="1938528" cy="566928"/>
          </a:xfrm>
          <a:prstGeom prst="homePlate">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tIns="0" rIns="137160" bIns="0" wrap="square">
            <a:noAutofit/>
          </a:bodyPr>
          <a:lstStyle/>
          <a:p>
            <a:pPr algn="ctr">
              <a:spcAft>
                <a:spcPts val="0"/>
              </a:spcAft>
              <a:buNone/>
            </a:pPr>
            <a:r>
              <a:rPr sz="1400" b="1" i="0">
                <a:solidFill>
                  <a:srgbClr val="FFFFFF"/>
                </a:solidFill>
                <a:latin typeface="Arial"/>
              </a:rPr>
              <a:t>Consent gate</a:t>
            </a:r>
          </a:p>
        </p:txBody>
      </p:sp>
      <p:sp>
        <p:nvSpPr>
          <p:cNvPr id="5" name="Rounded Rectangle 4"/>
          <p:cNvSpPr/>
          <p:nvPr/>
        </p:nvSpPr>
        <p:spPr>
          <a:xfrm>
            <a:off x="594360"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Refused unless the source is active</a:t>
            </a:r>
          </a:p>
        </p:txBody>
      </p:sp>
      <p:sp>
        <p:nvSpPr>
          <p:cNvPr id="6" name="Chevron 5"/>
          <p:cNvSpPr/>
          <p:nvPr/>
        </p:nvSpPr>
        <p:spPr>
          <a:xfrm>
            <a:off x="2395728"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Pre-filter</a:t>
            </a:r>
          </a:p>
        </p:txBody>
      </p:sp>
      <p:sp>
        <p:nvSpPr>
          <p:cNvPr id="7" name="Rounded Rectangle 6"/>
          <p:cNvSpPr/>
          <p:nvPr/>
        </p:nvSpPr>
        <p:spPr>
          <a:xfrm>
            <a:off x="2441448"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Chats, OTPs and -P promos dropped on the phone; non-allowlisted e-mail</a:t>
            </a:r>
          </a:p>
        </p:txBody>
      </p:sp>
      <p:sp>
        <p:nvSpPr>
          <p:cNvPr id="8" name="Chevron 7"/>
          <p:cNvSpPr/>
          <p:nvPr/>
        </p:nvSpPr>
        <p:spPr>
          <a:xfrm>
            <a:off x="4242816"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Classify</a:t>
            </a:r>
          </a:p>
        </p:txBody>
      </p:sp>
      <p:sp>
        <p:nvSpPr>
          <p:cNvPr id="9" name="Rounded Rectangle 8"/>
          <p:cNvSpPr/>
          <p:nvPr/>
        </p:nvSpPr>
        <p:spPr>
          <a:xfrm>
            <a:off x="4288536"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12 message kinds (TF-IDF + LR); OTPs never stored</a:t>
            </a:r>
          </a:p>
        </p:txBody>
      </p:sp>
      <p:sp>
        <p:nvSpPr>
          <p:cNvPr id="10" name="Chevron 9"/>
          <p:cNvSpPr/>
          <p:nvPr/>
        </p:nvSpPr>
        <p:spPr>
          <a:xfrm>
            <a:off x="6089904"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Extract</a:t>
            </a:r>
          </a:p>
        </p:txBody>
      </p:sp>
      <p:sp>
        <p:nvSpPr>
          <p:cNvPr id="11" name="Rounded Rectangle 10"/>
          <p:cNvSpPr/>
          <p:nvPr/>
        </p:nvSpPr>
        <p:spPr>
          <a:xfrm>
            <a:off x="6135624"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Bank templates, then a generic reader; each field has a confidence</a:t>
            </a:r>
          </a:p>
        </p:txBody>
      </p:sp>
      <p:sp>
        <p:nvSpPr>
          <p:cNvPr id="12" name="Chevron 11"/>
          <p:cNvSpPr/>
          <p:nvPr/>
        </p:nvSpPr>
        <p:spPr>
          <a:xfrm>
            <a:off x="7936992"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Reconcile</a:t>
            </a:r>
          </a:p>
        </p:txBody>
      </p:sp>
      <p:sp>
        <p:nvSpPr>
          <p:cNvPr id="13" name="Rounded Rectangle 12"/>
          <p:cNvSpPr/>
          <p:nvPr/>
        </p:nvSpPr>
        <p:spPr>
          <a:xfrm>
            <a:off x="7982712"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One transaction per payment across SMS + e-mail; transfers, refunds</a:t>
            </a:r>
          </a:p>
        </p:txBody>
      </p:sp>
      <p:sp>
        <p:nvSpPr>
          <p:cNvPr id="14" name="Chevron 13"/>
          <p:cNvSpPr/>
          <p:nvPr/>
        </p:nvSpPr>
        <p:spPr>
          <a:xfrm>
            <a:off x="9784080" y="1600200"/>
            <a:ext cx="1938528" cy="566928"/>
          </a:xfrm>
          <a:prstGeom prst="chevron">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tIns="0" rIns="137160" bIns="0" wrap="square">
            <a:noAutofit/>
          </a:bodyPr>
          <a:lstStyle/>
          <a:p>
            <a:pPr algn="ctr">
              <a:spcAft>
                <a:spcPts val="0"/>
              </a:spcAft>
              <a:buNone/>
            </a:pPr>
            <a:r>
              <a:rPr sz="1400" b="1" i="0">
                <a:solidFill>
                  <a:srgbClr val="FFFFFF"/>
                </a:solidFill>
                <a:latin typeface="Arial"/>
              </a:rPr>
              <a:t>Categorise</a:t>
            </a:r>
          </a:p>
        </p:txBody>
      </p:sp>
      <p:sp>
        <p:nvSpPr>
          <p:cNvPr id="15" name="Rounded Rectangle 14"/>
          <p:cNvSpPr/>
          <p:nvPr/>
        </p:nvSpPr>
        <p:spPr>
          <a:xfrm>
            <a:off x="9829800" y="2258568"/>
            <a:ext cx="1737360" cy="132588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t" tIns="73152" rIns="73152" wrap="square">
            <a:noAutofit/>
          </a:bodyPr>
          <a:lstStyle/>
          <a:p>
            <a:pPr algn="l">
              <a:spcAft>
                <a:spcPts val="0"/>
              </a:spcAft>
              <a:buNone/>
            </a:pPr>
            <a:r>
              <a:rPr sz="1250" b="0" i="0">
                <a:solidFill>
                  <a:srgbClr val="1F2937"/>
                </a:solidFill>
                <a:latin typeface="Arial"/>
              </a:rPr>
              <a:t>Rules → merchant list → ML → Review queue</a:t>
            </a:r>
          </a:p>
        </p:txBody>
      </p:sp>
      <p:sp>
        <p:nvSpPr>
          <p:cNvPr id="16" name="TextBox 15"/>
          <p:cNvSpPr txBox="1"/>
          <p:nvPr/>
        </p:nvSpPr>
        <p:spPr>
          <a:xfrm>
            <a:off x="548640" y="3767328"/>
            <a:ext cx="11094415" cy="365760"/>
          </a:xfrm>
          <a:prstGeom prst="rect">
            <a:avLst/>
          </a:prstGeom>
          <a:noFill/>
        </p:spPr>
        <p:txBody>
          <a:bodyPr wrap="square" lIns="36576" tIns="18288" rIns="36576" bIns="18288" anchor="t">
            <a:noAutofit/>
          </a:bodyPr>
          <a:lstStyle/>
          <a:p>
            <a:pPr algn="l">
              <a:spcAft>
                <a:spcPts val="400"/>
              </a:spcAft>
              <a:buNone/>
            </a:pPr>
            <a:r>
              <a:rPr sz="1500" b="1" i="0">
                <a:solidFill>
                  <a:srgbClr val="154360"/>
                </a:solidFill>
                <a:latin typeface="Arial"/>
              </a:rPr>
              <a:t>Analytics after new data — the user_analytics background job (also nightly)</a:t>
            </a:r>
          </a:p>
        </p:txBody>
      </p:sp>
      <p:sp>
        <p:nvSpPr>
          <p:cNvPr id="17" name="Rounded Rectangle 16"/>
          <p:cNvSpPr/>
          <p:nvPr/>
        </p:nvSpPr>
        <p:spPr>
          <a:xfrm>
            <a:off x="54864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Anomalies</a:t>
            </a:r>
          </a:p>
        </p:txBody>
      </p:sp>
      <p:cxnSp>
        <p:nvCxnSpPr>
          <p:cNvPr id="18" name="Connector 17"/>
          <p:cNvCxnSpPr/>
          <p:nvPr/>
        </p:nvCxnSpPr>
        <p:spPr>
          <a:xfrm>
            <a:off x="194767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19456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Subscriptions</a:t>
            </a:r>
          </a:p>
        </p:txBody>
      </p:sp>
      <p:cxnSp>
        <p:nvCxnSpPr>
          <p:cNvPr id="20" name="Connector 19"/>
          <p:cNvCxnSpPr/>
          <p:nvPr/>
        </p:nvCxnSpPr>
        <p:spPr>
          <a:xfrm>
            <a:off x="3593591" y="4489704"/>
            <a:ext cx="219457"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84048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Forecast</a:t>
            </a:r>
          </a:p>
        </p:txBody>
      </p:sp>
      <p:cxnSp>
        <p:nvCxnSpPr>
          <p:cNvPr id="22" name="Connector 21"/>
          <p:cNvCxnSpPr/>
          <p:nvPr/>
        </p:nvCxnSpPr>
        <p:spPr>
          <a:xfrm>
            <a:off x="523951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Wishlist tiers</a:t>
            </a:r>
          </a:p>
        </p:txBody>
      </p:sp>
      <p:cxnSp>
        <p:nvCxnSpPr>
          <p:cNvPr id="24" name="Connector 23"/>
          <p:cNvCxnSpPr/>
          <p:nvPr/>
        </p:nvCxnSpPr>
        <p:spPr>
          <a:xfrm>
            <a:off x="688543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32320" y="4206240"/>
            <a:ext cx="1371600" cy="566928"/>
          </a:xfrm>
          <a:prstGeom prst="roundRect">
            <a:avLst>
              <a:gd name="adj" fmla="val 15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tIns="0" rIns="36576" bIns="0" wrap="square">
            <a:noAutofit/>
          </a:bodyPr>
          <a:lstStyle/>
          <a:p>
            <a:pPr algn="ctr">
              <a:spcAft>
                <a:spcPts val="0"/>
              </a:spcAft>
              <a:buNone/>
            </a:pPr>
            <a:r>
              <a:rPr sz="1350" b="1" i="0">
                <a:solidFill>
                  <a:srgbClr val="FFFFFF"/>
                </a:solidFill>
                <a:latin typeface="Arial"/>
              </a:rPr>
              <a:t>Insights</a:t>
            </a:r>
          </a:p>
        </p:txBody>
      </p:sp>
      <p:cxnSp>
        <p:nvCxnSpPr>
          <p:cNvPr id="26" name="Connector 25"/>
          <p:cNvCxnSpPr/>
          <p:nvPr/>
        </p:nvCxnSpPr>
        <p:spPr>
          <a:xfrm>
            <a:off x="8531352" y="4489704"/>
            <a:ext cx="219456" cy="0"/>
          </a:xfrm>
          <a:prstGeom prst="line">
            <a:avLst/>
          </a:prstGeom>
          <a:ln w="22225">
            <a:solidFill>
              <a:srgbClr val="5B65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778240" y="4050791"/>
            <a:ext cx="2864815" cy="877824"/>
          </a:xfrm>
          <a:prstGeom prst="roundRect">
            <a:avLst>
              <a:gd name="adj" fmla="val 12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tIns="27432" rIns="109728" bIns="27432" wrap="square">
            <a:noAutofit/>
          </a:bodyPr>
          <a:lstStyle/>
          <a:p>
            <a:pPr algn="l">
              <a:spcAft>
                <a:spcPts val="200"/>
              </a:spcAft>
              <a:buNone/>
            </a:pPr>
            <a:r>
              <a:rPr sz="1400" b="1" i="0">
                <a:solidFill>
                  <a:srgbClr val="1E7B4F"/>
                </a:solidFill>
                <a:latin typeface="Arial"/>
              </a:rPr>
              <a:t>Pages read the results</a:t>
            </a:r>
          </a:p>
          <a:p>
            <a:pPr algn="l">
              <a:spcAft>
                <a:spcPts val="0"/>
              </a:spcAft>
              <a:buNone/>
            </a:pPr>
            <a:r>
              <a:rPr sz="1200" b="0" i="0">
                <a:solidFill>
                  <a:srgbClr val="1F2937"/>
                </a:solidFill>
                <a:latin typeface="Arial"/>
              </a:rPr>
              <a:t>Dashboard · Forecast · Subscriptions · Wishlist · Insights</a:t>
            </a:r>
          </a:p>
        </p:txBody>
      </p:sp>
      <p:sp>
        <p:nvSpPr>
          <p:cNvPr id="28" name="TextBox 27"/>
          <p:cNvSpPr txBox="1"/>
          <p:nvPr/>
        </p:nvSpPr>
        <p:spPr>
          <a:xfrm>
            <a:off x="548640" y="5074920"/>
            <a:ext cx="11094415" cy="777240"/>
          </a:xfrm>
          <a:prstGeom prst="rect">
            <a:avLst/>
          </a:prstGeom>
          <a:noFill/>
        </p:spPr>
        <p:txBody>
          <a:bodyPr wrap="square" lIns="36576" tIns="18288" rIns="36576" bIns="18288" anchor="t">
            <a:noAutofit/>
          </a:bodyPr>
          <a:lstStyle/>
          <a:p>
            <a:pPr algn="l">
              <a:spcAft>
                <a:spcPts val="0"/>
              </a:spcAft>
              <a:buNone/>
            </a:pPr>
            <a:r>
              <a:rPr sz="1300" b="0" i="0">
                <a:solidFill>
                  <a:srgbClr val="1F2937"/>
                </a:solidFill>
                <a:latin typeface="Arial"/>
              </a:rPr>
              <a:t>Results are stored in SQLite (forecasts, subscriptions, anomalies, insights). Wishlist tiers and tax are computed on each request. Each stage runs in its own try/except, so one failure never blocks the others.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Database design</a:t>
            </a:r>
          </a:p>
        </p:txBody>
      </p:sp>
      <p:sp>
        <p:nvSpPr>
          <p:cNvPr id="3" name="Rounded Rectangle 2"/>
          <p:cNvSpPr/>
          <p:nvPr/>
        </p:nvSpPr>
        <p:spPr>
          <a:xfrm>
            <a:off x="548640" y="123444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344168"/>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Core</a:t>
            </a:r>
          </a:p>
        </p:txBody>
      </p:sp>
      <p:sp>
        <p:nvSpPr>
          <p:cNvPr id="5" name="Rounded Rectangle 4"/>
          <p:cNvSpPr/>
          <p:nvPr/>
        </p:nvSpPr>
        <p:spPr>
          <a:xfrm>
            <a:off x="2898648" y="137160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4 tables</a:t>
            </a:r>
          </a:p>
        </p:txBody>
      </p:sp>
      <p:sp>
        <p:nvSpPr>
          <p:cNvPr id="6" name="TextBox 5"/>
          <p:cNvSpPr txBox="1"/>
          <p:nvPr/>
        </p:nvSpPr>
        <p:spPr>
          <a:xfrm>
            <a:off x="713232" y="1801368"/>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users, refresh_tokens, jobs, model_artifacts</a:t>
            </a:r>
          </a:p>
        </p:txBody>
      </p:sp>
      <p:sp>
        <p:nvSpPr>
          <p:cNvPr id="7" name="Rounded Rectangle 6"/>
          <p:cNvSpPr/>
          <p:nvPr/>
        </p:nvSpPr>
        <p:spPr>
          <a:xfrm>
            <a:off x="4041648" y="123444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344168"/>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Capture</a:t>
            </a:r>
          </a:p>
        </p:txBody>
      </p:sp>
      <p:sp>
        <p:nvSpPr>
          <p:cNvPr id="9" name="Rounded Rectangle 8"/>
          <p:cNvSpPr/>
          <p:nvPr/>
        </p:nvSpPr>
        <p:spPr>
          <a:xfrm>
            <a:off x="6391655" y="137160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6 tables</a:t>
            </a:r>
          </a:p>
        </p:txBody>
      </p:sp>
      <p:sp>
        <p:nvSpPr>
          <p:cNvPr id="10" name="TextBox 9"/>
          <p:cNvSpPr txBox="1"/>
          <p:nvPr/>
        </p:nvSpPr>
        <p:spPr>
          <a:xfrm>
            <a:off x="4206240" y="1801368"/>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data_sources, consent_events, ingested_messages, upcoming_payments, balance_snapshots, mailbox_connections</a:t>
            </a:r>
          </a:p>
        </p:txBody>
      </p:sp>
      <p:sp>
        <p:nvSpPr>
          <p:cNvPr id="11" name="Rounded Rectangle 10"/>
          <p:cNvSpPr/>
          <p:nvPr/>
        </p:nvSpPr>
        <p:spPr>
          <a:xfrm>
            <a:off x="548640" y="356616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675887"/>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Finance</a:t>
            </a:r>
          </a:p>
        </p:txBody>
      </p:sp>
      <p:sp>
        <p:nvSpPr>
          <p:cNvPr id="13" name="Rounded Rectangle 12"/>
          <p:cNvSpPr/>
          <p:nvPr/>
        </p:nvSpPr>
        <p:spPr>
          <a:xfrm>
            <a:off x="2898648" y="370332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17 tables</a:t>
            </a:r>
          </a:p>
        </p:txBody>
      </p:sp>
      <p:sp>
        <p:nvSpPr>
          <p:cNvPr id="14" name="TextBox 13"/>
          <p:cNvSpPr txBox="1"/>
          <p:nvPr/>
        </p:nvSpPr>
        <p:spPr>
          <a:xfrm>
            <a:off x="713232" y="4133087"/>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accounts, categories, merchants, merchant_aliases, category_rules, transactions, transaction_items, receipts, import_batches, budgets, goals, subscriptions, anomalies, insights, forecasts, forecast_metrics, chat_messages</a:t>
            </a:r>
          </a:p>
        </p:txBody>
      </p:sp>
      <p:sp>
        <p:nvSpPr>
          <p:cNvPr id="15" name="Rounded Rectangle 14"/>
          <p:cNvSpPr/>
          <p:nvPr/>
        </p:nvSpPr>
        <p:spPr>
          <a:xfrm>
            <a:off x="4041648" y="3566160"/>
            <a:ext cx="3310128" cy="2194560"/>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3675887"/>
            <a:ext cx="2395728" cy="411480"/>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Wishlist</a:t>
            </a:r>
          </a:p>
        </p:txBody>
      </p:sp>
      <p:sp>
        <p:nvSpPr>
          <p:cNvPr id="17" name="Rounded Rectangle 16"/>
          <p:cNvSpPr/>
          <p:nvPr/>
        </p:nvSpPr>
        <p:spPr>
          <a:xfrm>
            <a:off x="6391655" y="3703320"/>
            <a:ext cx="804672" cy="347472"/>
          </a:xfrm>
          <a:prstGeom prst="roundRect">
            <a:avLst>
              <a:gd name="adj" fmla="val 40000"/>
            </a:avLst>
          </a:prstGeom>
          <a:solidFill>
            <a:srgbClr val="0079B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spcAft>
                <a:spcPts val="0"/>
              </a:spcAft>
              <a:buNone/>
            </a:pPr>
            <a:r>
              <a:rPr sz="1100" b="1" i="0">
                <a:solidFill>
                  <a:srgbClr val="FFFFFF"/>
                </a:solidFill>
                <a:latin typeface="Arial"/>
              </a:rPr>
              <a:t>2 tables</a:t>
            </a:r>
          </a:p>
        </p:txBody>
      </p:sp>
      <p:sp>
        <p:nvSpPr>
          <p:cNvPr id="18" name="TextBox 17"/>
          <p:cNvSpPr txBox="1"/>
          <p:nvPr/>
        </p:nvSpPr>
        <p:spPr>
          <a:xfrm>
            <a:off x="4206240" y="4133087"/>
            <a:ext cx="3035808" cy="1600200"/>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Courier New"/>
              </a:rPr>
              <a:t>wishlist_items, wishlist_price_points</a:t>
            </a:r>
          </a:p>
        </p:txBody>
      </p:sp>
      <p:sp>
        <p:nvSpPr>
          <p:cNvPr id="19" name="TextBox 18"/>
          <p:cNvSpPr txBox="1"/>
          <p:nvPr/>
        </p:nvSpPr>
        <p:spPr>
          <a:xfrm>
            <a:off x="7671816" y="1188720"/>
            <a:ext cx="3971239"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Key design decisions</a:t>
            </a:r>
          </a:p>
        </p:txBody>
      </p:sp>
      <p:sp>
        <p:nvSpPr>
          <p:cNvPr id="20" name="TextBox 19"/>
          <p:cNvSpPr txBox="1"/>
          <p:nvPr/>
        </p:nvSpPr>
        <p:spPr>
          <a:xfrm>
            <a:off x="7671816" y="1664208"/>
            <a:ext cx="3971239" cy="4206240"/>
          </a:xfrm>
          <a:prstGeom prst="rect">
            <a:avLst/>
          </a:prstGeom>
          <a:noFill/>
        </p:spPr>
        <p:txBody>
          <a:bodyPr wrap="square" lIns="36576" tIns="18288" rIns="36576" bIns="18288" anchor="t">
            <a:noAutofit/>
          </a:bodyPr>
          <a:lstStyle/>
          <a:p>
            <a:pPr algn="l" marL="201168" indent="-201168">
              <a:spcAft>
                <a:spcPts val="900"/>
              </a:spcAft>
              <a:buFont typeface="Arial"/>
              <a:buChar char="•"/>
            </a:pPr>
            <a:r>
              <a:rPr sz="1400" b="0" i="0">
                <a:solidFill>
                  <a:srgbClr val="1F2937"/>
                </a:solidFill>
                <a:latin typeface="Arial"/>
              </a:rPr>
              <a:t>29 tables from two Alembic migrations; SQLite in WAL mode</a:t>
            </a:r>
          </a:p>
          <a:p>
            <a:pPr algn="l" marL="201168" indent="-201168">
              <a:spcAft>
                <a:spcPts val="900"/>
              </a:spcAft>
              <a:buFont typeface="Arial"/>
              <a:buChar char="•"/>
            </a:pPr>
            <a:r>
              <a:rPr sz="1400" b="0" i="0">
                <a:solidFill>
                  <a:srgbClr val="1F2937"/>
                </a:solidFill>
                <a:latin typeface="Arial"/>
              </a:rPr>
              <a:t>Money stored as integer paise and used as Decimal, never as floats</a:t>
            </a:r>
          </a:p>
          <a:p>
            <a:pPr algn="l" marL="201168" indent="-201168">
              <a:spcAft>
                <a:spcPts val="900"/>
              </a:spcAft>
              <a:buFont typeface="Arial"/>
              <a:buChar char="•"/>
            </a:pPr>
            <a:r>
              <a:rPr sz="1400" b="0" i="0">
                <a:solidFill>
                  <a:srgbClr val="1F2937"/>
                </a:solidFill>
                <a:latin typeface="Arial"/>
              </a:rPr>
              <a:t>Every user table has user_id … ON DELETE CASCADE</a:t>
            </a:r>
          </a:p>
          <a:p>
            <a:pPr algn="l" marL="201168" indent="-201168">
              <a:spcAft>
                <a:spcPts val="900"/>
              </a:spcAft>
              <a:buFont typeface="Arial"/>
              <a:buChar char="•"/>
            </a:pPr>
            <a:r>
              <a:rPr sz="1400" b="0" i="0">
                <a:solidFill>
                  <a:srgbClr val="1F2937"/>
                </a:solidFill>
                <a:latin typeface="Arial"/>
              </a:rPr>
              <a:t>transactions record origin, is_transfer and category_source with a confidence</a:t>
            </a:r>
          </a:p>
          <a:p>
            <a:pPr algn="l" marL="201168" indent="-201168">
              <a:spcAft>
                <a:spcPts val="900"/>
              </a:spcAft>
              <a:buFont typeface="Arial"/>
              <a:buChar char="•"/>
            </a:pPr>
            <a:r>
              <a:rPr sz="1400" b="0" i="0">
                <a:solidFill>
                  <a:srgbClr val="1F2937"/>
                </a:solidFill>
                <a:latin typeface="Arial"/>
              </a:rPr>
              <a:t>Message text Fernet-encrypted and purged after the retention period</a:t>
            </a:r>
          </a:p>
          <a:p>
            <a:pPr algn="l" marL="201168" indent="-201168">
              <a:spcAft>
                <a:spcPts val="900"/>
              </a:spcAft>
              <a:buFont typeface="Arial"/>
              <a:buChar char="•"/>
            </a:pPr>
            <a:r>
              <a:rPr sz="1400" b="0" i="0">
                <a:solidFill>
                  <a:srgbClr val="1F2937"/>
                </a:solidFill>
                <a:latin typeface="Arial"/>
              </a:rPr>
              <a:t>consent_events is append-only; mailbox passwords are encrypted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Measured results</a:t>
            </a:r>
          </a:p>
        </p:txBody>
      </p:sp>
      <p:graphicFrame>
        <p:nvGraphicFramePr>
          <p:cNvPr id="3" name="Chart 2"/>
          <p:cNvGraphicFramePr>
            <a:graphicFrameLocks noGrp="1"/>
          </p:cNvGraphicFramePr>
          <p:nvPr/>
        </p:nvGraphicFramePr>
        <p:xfrm>
          <a:off x="548640" y="1234440"/>
          <a:ext cx="5760720" cy="3886200"/>
        </p:xfrm>
        <a:graphic>
          <a:graphicData uri="http://schemas.openxmlformats.org/drawingml/2006/chart">
            <c:chart xmlns:c="http://schemas.openxmlformats.org/drawingml/2006/chart" r:id="rId3"/>
          </a:graphicData>
        </a:graphic>
      </p:graphicFrame>
      <p:sp>
        <p:nvSpPr>
          <p:cNvPr id="4" name="TextBox 3"/>
          <p:cNvSpPr txBox="1"/>
          <p:nvPr/>
        </p:nvSpPr>
        <p:spPr>
          <a:xfrm>
            <a:off x="548640" y="5193792"/>
            <a:ext cx="5760720" cy="685800"/>
          </a:xfrm>
          <a:prstGeom prst="rect">
            <a:avLst/>
          </a:prstGeom>
          <a:noFill/>
        </p:spPr>
        <p:txBody>
          <a:bodyPr wrap="square" lIns="36576" tIns="18288" rIns="36576" bIns="18288" anchor="t">
            <a:noAutofit/>
          </a:bodyPr>
          <a:lstStyle/>
          <a:p>
            <a:pPr algn="l">
              <a:spcAft>
                <a:spcPts val="0"/>
              </a:spcAft>
              <a:buNone/>
            </a:pPr>
            <a:r>
              <a:rPr sz="1200" b="0" i="0">
                <a:solidFill>
                  <a:srgbClr val="5B6573"/>
                </a:solidFill>
                <a:latin typeface="Arial"/>
              </a:rPr>
              <a:t>The known schedule cuts the error by ≈41%; Prophet adds a little on top. WAPE is reported instead of MAPE because daily net flow often crosses zero.</a:t>
            </a:r>
          </a:p>
        </p:txBody>
      </p:sp>
      <p:sp>
        <p:nvSpPr>
          <p:cNvPr id="5" name="Rounded Rectangle 4"/>
          <p:cNvSpPr/>
          <p:nvPr/>
        </p:nvSpPr>
        <p:spPr>
          <a:xfrm>
            <a:off x="6629400" y="1234440"/>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39128" y="1325880"/>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100%</a:t>
            </a:r>
          </a:p>
        </p:txBody>
      </p:sp>
      <p:sp>
        <p:nvSpPr>
          <p:cNvPr id="7" name="TextBox 6"/>
          <p:cNvSpPr txBox="1"/>
          <p:nvPr/>
        </p:nvSpPr>
        <p:spPr>
          <a:xfrm>
            <a:off x="6739128" y="1892808"/>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message-type macro F1 on the held-out test split</a:t>
            </a:r>
          </a:p>
        </p:txBody>
      </p:sp>
      <p:sp>
        <p:nvSpPr>
          <p:cNvPr id="8" name="Rounded Rectangle 7"/>
          <p:cNvSpPr/>
          <p:nvPr/>
        </p:nvSpPr>
        <p:spPr>
          <a:xfrm>
            <a:off x="9180576" y="1234440"/>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90303" y="1325880"/>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98.3%</a:t>
            </a:r>
          </a:p>
        </p:txBody>
      </p:sp>
      <p:sp>
        <p:nvSpPr>
          <p:cNvPr id="10" name="TextBox 9"/>
          <p:cNvSpPr txBox="1"/>
          <p:nvPr/>
        </p:nvSpPr>
        <p:spPr>
          <a:xfrm>
            <a:off x="9290303" y="1892808"/>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type accuracy on a hand-written challenge set; amounts 100%</a:t>
            </a:r>
          </a:p>
        </p:txBody>
      </p:sp>
      <p:sp>
        <p:nvSpPr>
          <p:cNvPr id="11" name="Rounded Rectangle 10"/>
          <p:cNvSpPr/>
          <p:nvPr/>
        </p:nvSpPr>
        <p:spPr>
          <a:xfrm>
            <a:off x="6629400" y="2715768"/>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9128" y="2807208"/>
            <a:ext cx="2240280" cy="548640"/>
          </a:xfrm>
          <a:prstGeom prst="rect">
            <a:avLst/>
          </a:prstGeom>
          <a:noFill/>
        </p:spPr>
        <p:txBody>
          <a:bodyPr wrap="square" lIns="36576" tIns="18288" rIns="36576" bIns="18288" anchor="ctr">
            <a:noAutofit/>
          </a:bodyPr>
          <a:lstStyle/>
          <a:p>
            <a:pPr algn="l">
              <a:spcAft>
                <a:spcPts val="400"/>
              </a:spcAft>
              <a:buNone/>
            </a:pPr>
            <a:r>
              <a:rPr sz="2200" b="1" i="0">
                <a:solidFill>
                  <a:srgbClr val="0079BC"/>
                </a:solidFill>
                <a:latin typeface="Arial"/>
              </a:rPr>
              <a:t>100% / 100%</a:t>
            </a:r>
          </a:p>
        </p:txBody>
      </p:sp>
      <p:sp>
        <p:nvSpPr>
          <p:cNvPr id="13" name="TextBox 12"/>
          <p:cNvSpPr txBox="1"/>
          <p:nvPr/>
        </p:nvSpPr>
        <p:spPr>
          <a:xfrm>
            <a:off x="6739128" y="3374136"/>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de-duplication precision / recall across SMS and e-mail</a:t>
            </a:r>
          </a:p>
        </p:txBody>
      </p:sp>
      <p:sp>
        <p:nvSpPr>
          <p:cNvPr id="14" name="Rounded Rectangle 13"/>
          <p:cNvSpPr/>
          <p:nvPr/>
        </p:nvSpPr>
        <p:spPr>
          <a:xfrm>
            <a:off x="9180576" y="2715768"/>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0303" y="2807208"/>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99.8%</a:t>
            </a:r>
          </a:p>
        </p:txBody>
      </p:sp>
      <p:sp>
        <p:nvSpPr>
          <p:cNvPr id="16" name="TextBox 15"/>
          <p:cNvSpPr txBox="1"/>
          <p:nvPr/>
        </p:nvSpPr>
        <p:spPr>
          <a:xfrm>
            <a:off x="9290303" y="3374136"/>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category accuracy on captured payments</a:t>
            </a:r>
          </a:p>
        </p:txBody>
      </p:sp>
      <p:sp>
        <p:nvSpPr>
          <p:cNvPr id="17" name="Rounded Rectangle 16"/>
          <p:cNvSpPr/>
          <p:nvPr/>
        </p:nvSpPr>
        <p:spPr>
          <a:xfrm>
            <a:off x="6629400" y="4197096"/>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9128" y="4288536"/>
            <a:ext cx="2240280" cy="548640"/>
          </a:xfrm>
          <a:prstGeom prst="rect">
            <a:avLst/>
          </a:prstGeom>
          <a:noFill/>
        </p:spPr>
        <p:txBody>
          <a:bodyPr wrap="square" lIns="36576" tIns="18288" rIns="36576" bIns="18288" anchor="ctr">
            <a:noAutofit/>
          </a:bodyPr>
          <a:lstStyle/>
          <a:p>
            <a:pPr algn="l">
              <a:spcAft>
                <a:spcPts val="400"/>
              </a:spcAft>
              <a:buNone/>
            </a:pPr>
            <a:r>
              <a:rPr sz="2600" b="1" i="0">
                <a:solidFill>
                  <a:srgbClr val="0079BC"/>
                </a:solidFill>
                <a:latin typeface="Arial"/>
              </a:rPr>
              <a:t>84.6%</a:t>
            </a:r>
          </a:p>
        </p:txBody>
      </p:sp>
      <p:sp>
        <p:nvSpPr>
          <p:cNvPr id="19" name="TextBox 18"/>
          <p:cNvSpPr txBox="1"/>
          <p:nvPr/>
        </p:nvSpPr>
        <p:spPr>
          <a:xfrm>
            <a:off x="6739128" y="4855464"/>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coach intent accuracy on held-out paraphrases</a:t>
            </a:r>
          </a:p>
        </p:txBody>
      </p:sp>
      <p:sp>
        <p:nvSpPr>
          <p:cNvPr id="20" name="Rounded Rectangle 19"/>
          <p:cNvSpPr/>
          <p:nvPr/>
        </p:nvSpPr>
        <p:spPr>
          <a:xfrm>
            <a:off x="9180576" y="4197096"/>
            <a:ext cx="2432304" cy="1353312"/>
          </a:xfrm>
          <a:prstGeom prst="roundRect">
            <a:avLst>
              <a:gd name="adj" fmla="val 6000"/>
            </a:avLst>
          </a:prstGeom>
          <a:solidFill>
            <a:srgbClr val="EEF3F8"/>
          </a:solidFill>
          <a:ln w="9525">
            <a:solidFill>
              <a:srgbClr val="C9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0303" y="4288536"/>
            <a:ext cx="2240280" cy="548640"/>
          </a:xfrm>
          <a:prstGeom prst="rect">
            <a:avLst/>
          </a:prstGeom>
          <a:noFill/>
        </p:spPr>
        <p:txBody>
          <a:bodyPr wrap="square" lIns="36576" tIns="18288" rIns="36576" bIns="18288" anchor="ctr">
            <a:noAutofit/>
          </a:bodyPr>
          <a:lstStyle/>
          <a:p>
            <a:pPr algn="l">
              <a:spcAft>
                <a:spcPts val="400"/>
              </a:spcAft>
              <a:buNone/>
            </a:pPr>
            <a:r>
              <a:rPr sz="2200" b="1" i="0">
                <a:solidFill>
                  <a:srgbClr val="0079BC"/>
                </a:solidFill>
                <a:latin typeface="Arial"/>
              </a:rPr>
              <a:t>100%</a:t>
            </a:r>
          </a:p>
        </p:txBody>
      </p:sp>
      <p:sp>
        <p:nvSpPr>
          <p:cNvPr id="22" name="TextBox 21"/>
          <p:cNvSpPr txBox="1"/>
          <p:nvPr/>
        </p:nvSpPr>
        <p:spPr>
          <a:xfrm>
            <a:off x="9290303" y="4855464"/>
            <a:ext cx="2240280" cy="658368"/>
          </a:xfrm>
          <a:prstGeom prst="rect">
            <a:avLst/>
          </a:prstGeom>
          <a:noFill/>
        </p:spPr>
        <p:txBody>
          <a:bodyPr wrap="square" lIns="36576" tIns="18288" rIns="36576" bIns="18288" anchor="t">
            <a:noAutofit/>
          </a:bodyPr>
          <a:lstStyle/>
          <a:p>
            <a:pPr algn="l">
              <a:spcAft>
                <a:spcPts val="400"/>
              </a:spcAft>
              <a:buNone/>
            </a:pPr>
            <a:r>
              <a:rPr sz="1200" b="0" i="0">
                <a:solidFill>
                  <a:srgbClr val="1F2937"/>
                </a:solidFill>
                <a:latin typeface="Arial"/>
              </a:rPr>
              <a:t>on a real-format SMS regression set (90 messages, 25+ institutions)</a:t>
            </a:r>
          </a:p>
        </p:txBody>
      </p:sp>
      <p:sp>
        <p:nvSpPr>
          <p:cNvPr id="23" name="TextBox 22"/>
          <p:cNvSpPr txBox="1"/>
          <p:nvPr/>
        </p:nvSpPr>
        <p:spPr>
          <a:xfrm>
            <a:off x="6629400" y="5715000"/>
            <a:ext cx="4983480" cy="274320"/>
          </a:xfrm>
          <a:prstGeom prst="rect">
            <a:avLst/>
          </a:prstGeom>
          <a:noFill/>
        </p:spPr>
        <p:txBody>
          <a:bodyPr wrap="square" lIns="36576" tIns="18288" rIns="36576" bIns="18288" anchor="t">
            <a:noAutofit/>
          </a:bodyPr>
          <a:lstStyle/>
          <a:p>
            <a:pPr algn="l">
              <a:spcAft>
                <a:spcPts val="400"/>
              </a:spcAft>
              <a:buNone/>
            </a:pPr>
            <a:r>
              <a:rPr sz="1050" b="0" i="0">
                <a:solidFill>
                  <a:srgbClr val="5B6573"/>
                </a:solidFill>
                <a:latin typeface="Arial"/>
              </a:rPr>
              <a:t>Measured 18 Oct 2026 (README). The demo regenerates daily, so figures shift slightly.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Testing and validation</a:t>
            </a:r>
          </a:p>
        </p:txBody>
      </p:sp>
      <p:sp>
        <p:nvSpPr>
          <p:cNvPr id="3" name="Rounded Rectangle 2"/>
          <p:cNvSpPr/>
          <p:nvPr/>
        </p:nvSpPr>
        <p:spPr>
          <a:xfrm>
            <a:off x="54864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82 / 82</a:t>
            </a:r>
          </a:p>
        </p:txBody>
      </p:sp>
      <p:sp>
        <p:nvSpPr>
          <p:cNvPr id="5" name="TextBox 4"/>
          <p:cNvSpPr txBox="1"/>
          <p:nvPr/>
        </p:nvSpPr>
        <p:spPr>
          <a:xfrm>
            <a:off x="68580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backend tests pass (pytest + Hypothesis), re-run 18 Oct 2026 in 29.3 s</a:t>
            </a:r>
          </a:p>
        </p:txBody>
      </p:sp>
      <p:sp>
        <p:nvSpPr>
          <p:cNvPr id="6" name="Rounded Rectangle 5"/>
          <p:cNvSpPr/>
          <p:nvPr/>
        </p:nvSpPr>
        <p:spPr>
          <a:xfrm>
            <a:off x="337505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1221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23</a:t>
            </a:r>
          </a:p>
        </p:txBody>
      </p:sp>
      <p:sp>
        <p:nvSpPr>
          <p:cNvPr id="8" name="TextBox 7"/>
          <p:cNvSpPr txBox="1"/>
          <p:nvPr/>
        </p:nvSpPr>
        <p:spPr>
          <a:xfrm>
            <a:off x="351221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browser tests (Playwright): a new user, the phone layout, the demo</a:t>
            </a:r>
          </a:p>
        </p:txBody>
      </p:sp>
      <p:sp>
        <p:nvSpPr>
          <p:cNvPr id="9" name="Rounded Rectangle 8"/>
          <p:cNvSpPr/>
          <p:nvPr/>
        </p:nvSpPr>
        <p:spPr>
          <a:xfrm>
            <a:off x="6201460"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8620"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300</a:t>
            </a:r>
          </a:p>
        </p:txBody>
      </p:sp>
      <p:sp>
        <p:nvSpPr>
          <p:cNvPr id="11" name="TextBox 10"/>
          <p:cNvSpPr txBox="1"/>
          <p:nvPr/>
        </p:nvSpPr>
        <p:spPr>
          <a:xfrm>
            <a:off x="6338620"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random cases prove Buy now never breaks the safety buffer</a:t>
            </a:r>
          </a:p>
        </p:txBody>
      </p:sp>
      <p:sp>
        <p:nvSpPr>
          <p:cNvPr id="12" name="Rounded Rectangle 11"/>
          <p:cNvSpPr/>
          <p:nvPr/>
        </p:nvSpPr>
        <p:spPr>
          <a:xfrm>
            <a:off x="9027871" y="1234440"/>
            <a:ext cx="2615184" cy="1417320"/>
          </a:xfrm>
          <a:prstGeom prst="roundRect">
            <a:avLst>
              <a:gd name="adj" fmla="val 6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65031" y="1298448"/>
            <a:ext cx="2377440" cy="566928"/>
          </a:xfrm>
          <a:prstGeom prst="rect">
            <a:avLst/>
          </a:prstGeom>
          <a:noFill/>
        </p:spPr>
        <p:txBody>
          <a:bodyPr wrap="square" lIns="36576" tIns="18288" rIns="36576" bIns="18288" anchor="ctr">
            <a:noAutofit/>
          </a:bodyPr>
          <a:lstStyle/>
          <a:p>
            <a:pPr algn="l">
              <a:spcAft>
                <a:spcPts val="400"/>
              </a:spcAft>
              <a:buNone/>
            </a:pPr>
            <a:r>
              <a:rPr sz="2800" b="1" i="0">
                <a:solidFill>
                  <a:srgbClr val="FFFFFF"/>
                </a:solidFill>
                <a:latin typeface="Arial"/>
              </a:rPr>
              <a:t>17 / 17</a:t>
            </a:r>
          </a:p>
        </p:txBody>
      </p:sp>
      <p:sp>
        <p:nvSpPr>
          <p:cNvPr id="14" name="TextBox 13"/>
          <p:cNvSpPr txBox="1"/>
          <p:nvPr/>
        </p:nvSpPr>
        <p:spPr>
          <a:xfrm>
            <a:off x="9165031" y="1865376"/>
            <a:ext cx="2377440" cy="731520"/>
          </a:xfrm>
          <a:prstGeom prst="rect">
            <a:avLst/>
          </a:prstGeom>
          <a:noFill/>
        </p:spPr>
        <p:txBody>
          <a:bodyPr wrap="square" lIns="36576" tIns="18288" rIns="36576" bIns="18288" anchor="t">
            <a:noAutofit/>
          </a:bodyPr>
          <a:lstStyle/>
          <a:p>
            <a:pPr algn="l">
              <a:spcAft>
                <a:spcPts val="400"/>
              </a:spcAft>
              <a:buNone/>
            </a:pPr>
            <a:r>
              <a:rPr sz="1200" b="0" i="0">
                <a:solidFill>
                  <a:srgbClr val="FFFFFF"/>
                </a:solidFill>
                <a:latin typeface="Arial"/>
              </a:rPr>
              <a:t>on-device checks on an Android 15 emulator</a:t>
            </a:r>
          </a:p>
        </p:txBody>
      </p:sp>
      <p:sp>
        <p:nvSpPr>
          <p:cNvPr id="15" name="TextBox 14"/>
          <p:cNvSpPr txBox="1"/>
          <p:nvPr/>
        </p:nvSpPr>
        <p:spPr>
          <a:xfrm>
            <a:off x="548640" y="2852928"/>
            <a:ext cx="5440680" cy="384048"/>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What the backend tests cover</a:t>
            </a:r>
          </a:p>
        </p:txBody>
      </p:sp>
      <p:sp>
        <p:nvSpPr>
          <p:cNvPr id="16" name="TextBox 15"/>
          <p:cNvSpPr txBox="1"/>
          <p:nvPr/>
        </p:nvSpPr>
        <p:spPr>
          <a:xfrm>
            <a:off x="548640" y="3273552"/>
            <a:ext cx="5440680" cy="265176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400" b="0" i="0">
                <a:solidFill>
                  <a:srgbClr val="1F2937"/>
                </a:solidFill>
                <a:latin typeface="Arial"/>
              </a:rPr>
              <a:t>Money handling and message parsing (known, unseen and challenge formats)</a:t>
            </a:r>
          </a:p>
          <a:p>
            <a:pPr algn="l" marL="201168" indent="-201168">
              <a:spcAft>
                <a:spcPts val="700"/>
              </a:spcAft>
              <a:buFont typeface="Arial"/>
              <a:buChar char="•"/>
            </a:pPr>
            <a:r>
              <a:rPr sz="1400" b="0" i="0">
                <a:solidFill>
                  <a:srgbClr val="1F2937"/>
                </a:solidFill>
                <a:latin typeface="Arial"/>
              </a:rPr>
              <a:t>Pipeline accuracy against ground truth: dedup, transfers, categories</a:t>
            </a:r>
          </a:p>
          <a:p>
            <a:pPr algn="l" marL="201168" indent="-201168">
              <a:spcAft>
                <a:spcPts val="700"/>
              </a:spcAft>
              <a:buFont typeface="Arial"/>
              <a:buChar char="•"/>
            </a:pPr>
            <a:r>
              <a:rPr sz="1400" b="0" i="0">
                <a:solidFill>
                  <a:srgbClr val="1F2937"/>
                </a:solidFill>
                <a:latin typeface="Arial"/>
              </a:rPr>
              <a:t>Consent: nothing read without it; pause, revoke, delete data</a:t>
            </a:r>
          </a:p>
          <a:p>
            <a:pPr algn="l" marL="201168" indent="-201168">
              <a:spcAft>
                <a:spcPts val="700"/>
              </a:spcAft>
              <a:buFont typeface="Arial"/>
              <a:buChar char="•"/>
            </a:pPr>
            <a:r>
              <a:rPr sz="1400" b="0" i="0">
                <a:solidFill>
                  <a:srgbClr val="1F2937"/>
                </a:solidFill>
                <a:latin typeface="Arial"/>
              </a:rPr>
              <a:t>API flows: cookies and Bearer tokens, CORS, rate limit, deletion</a:t>
            </a:r>
          </a:p>
          <a:p>
            <a:pPr algn="l" marL="201168" indent="-201168">
              <a:spcAft>
                <a:spcPts val="700"/>
              </a:spcAft>
              <a:buFont typeface="Arial"/>
              <a:buChar char="•"/>
            </a:pPr>
            <a:r>
              <a:rPr sz="1400" b="0" i="0">
                <a:solidFill>
                  <a:srgbClr val="1F2937"/>
                </a:solidFill>
                <a:latin typeface="Arial"/>
              </a:rPr>
              <a:t>Tax for both years; forecast backtest and fallback; wishlist</a:t>
            </a:r>
          </a:p>
        </p:txBody>
      </p:sp>
      <p:sp>
        <p:nvSpPr>
          <p:cNvPr id="17" name="TextBox 16"/>
          <p:cNvSpPr txBox="1"/>
          <p:nvPr/>
        </p:nvSpPr>
        <p:spPr>
          <a:xfrm>
            <a:off x="6190488" y="2852928"/>
            <a:ext cx="5440680" cy="384048"/>
          </a:xfrm>
          <a:prstGeom prst="rect">
            <a:avLst/>
          </a:prstGeom>
          <a:noFill/>
        </p:spPr>
        <p:txBody>
          <a:bodyPr wrap="square" lIns="36576" tIns="18288" rIns="36576" bIns="18288" anchor="t">
            <a:noAutofit/>
          </a:bodyPr>
          <a:lstStyle/>
          <a:p>
            <a:pPr algn="l">
              <a:spcAft>
                <a:spcPts val="400"/>
              </a:spcAft>
              <a:buNone/>
            </a:pPr>
            <a:r>
              <a:rPr sz="1700" b="1" i="0">
                <a:solidFill>
                  <a:srgbClr val="154360"/>
                </a:solidFill>
                <a:latin typeface="Arial"/>
              </a:rPr>
              <a:t>End-to-end and model validation</a:t>
            </a:r>
          </a:p>
        </p:txBody>
      </p:sp>
      <p:sp>
        <p:nvSpPr>
          <p:cNvPr id="18" name="TextBox 17"/>
          <p:cNvSpPr txBox="1"/>
          <p:nvPr/>
        </p:nvSpPr>
        <p:spPr>
          <a:xfrm>
            <a:off x="6190488" y="3273552"/>
            <a:ext cx="5440680" cy="2651760"/>
          </a:xfrm>
          <a:prstGeom prst="rect">
            <a:avLst/>
          </a:prstGeom>
          <a:noFill/>
        </p:spPr>
        <p:txBody>
          <a:bodyPr wrap="square" lIns="36576" tIns="18288" rIns="36576" bIns="18288" anchor="t">
            <a:noAutofit/>
          </a:bodyPr>
          <a:lstStyle/>
          <a:p>
            <a:pPr algn="l" marL="201168" indent="-201168">
              <a:spcAft>
                <a:spcPts val="700"/>
              </a:spcAft>
              <a:buFont typeface="Arial"/>
              <a:buChar char="•"/>
            </a:pPr>
            <a:r>
              <a:rPr sz="1400" b="0" i="0">
                <a:solidFill>
                  <a:srgbClr val="1F2937"/>
                </a:solidFill>
                <a:latin typeface="Arial"/>
              </a:rPr>
              <a:t>New user: register, consent, SMS backup import, onboarding</a:t>
            </a:r>
          </a:p>
          <a:p>
            <a:pPr algn="l" marL="201168" indent="-201168">
              <a:spcAft>
                <a:spcPts val="700"/>
              </a:spcAft>
              <a:buFont typeface="Arial"/>
              <a:buChar char="•"/>
            </a:pPr>
            <a:r>
              <a:rPr sz="1400" b="0" i="0">
                <a:solidFill>
                  <a:srgbClr val="1F2937"/>
                </a:solidFill>
                <a:latin typeface="Arial"/>
              </a:rPr>
              <a:t>Emulator: bank SMS, OTP, promo and a chat; only alerts uploaded</a:t>
            </a:r>
          </a:p>
          <a:p>
            <a:pPr algn="l" marL="201168" indent="-201168">
              <a:spcAft>
                <a:spcPts val="700"/>
              </a:spcAft>
              <a:buFont typeface="Arial"/>
              <a:buChar char="•"/>
            </a:pPr>
            <a:r>
              <a:rPr sz="1400" b="0" i="0">
                <a:solidFill>
                  <a:srgbClr val="1F2937"/>
                </a:solidFill>
                <a:latin typeface="Arial"/>
              </a:rPr>
              <a:t>Receipt photo matched; wishlist, tax PDF, coach; phone layout</a:t>
            </a:r>
          </a:p>
          <a:p>
            <a:pPr algn="l" marL="201168" indent="-201168">
              <a:spcAft>
                <a:spcPts val="700"/>
              </a:spcAft>
              <a:buFont typeface="Arial"/>
              <a:buChar char="•"/>
            </a:pPr>
            <a:r>
              <a:rPr sz="1400" b="0" i="0">
                <a:solidFill>
                  <a:srgbClr val="1F2937"/>
                </a:solidFill>
                <a:latin typeface="Arial"/>
              </a:rPr>
              <a:t>Revoke and delete data; reset the demo</a:t>
            </a:r>
          </a:p>
          <a:p>
            <a:pPr algn="l" marL="201168" indent="-201168">
              <a:spcAft>
                <a:spcPts val="700"/>
              </a:spcAft>
              <a:buFont typeface="Arial"/>
              <a:buChar char="•"/>
            </a:pPr>
            <a:r>
              <a:rPr sz="1400" b="0" i="0">
                <a:solidFill>
                  <a:srgbClr val="1F2937"/>
                </a:solidFill>
                <a:latin typeface="Arial"/>
              </a:rPr>
              <a:t>Held-out splits, unseen banks, challenge set, real formats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Challenges and possible improvements</a:t>
            </a:r>
          </a:p>
        </p:txBody>
      </p:sp>
      <p:sp>
        <p:nvSpPr>
          <p:cNvPr id="3" name="TextBox 2"/>
          <p:cNvSpPr txBox="1"/>
          <p:nvPr/>
        </p:nvSpPr>
        <p:spPr>
          <a:xfrm>
            <a:off x="548640" y="1170432"/>
            <a:ext cx="6035040"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Challenges and how we solved them</a:t>
            </a:r>
          </a:p>
        </p:txBody>
      </p:sp>
      <p:sp>
        <p:nvSpPr>
          <p:cNvPr id="4" name="Rounded Rectangle 3"/>
          <p:cNvSpPr/>
          <p:nvPr/>
        </p:nvSpPr>
        <p:spPr>
          <a:xfrm>
            <a:off x="548640" y="1645920"/>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73352"/>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Requirements changed after Review 0</a:t>
            </a:r>
          </a:p>
          <a:p>
            <a:pPr algn="l">
              <a:spcAft>
                <a:spcPts val="0"/>
              </a:spcAft>
              <a:buNone/>
            </a:pPr>
            <a:r>
              <a:rPr sz="1250" b="0" i="0">
                <a:solidFill>
                  <a:srgbClr val="1F2937"/>
                </a:solidFill>
                <a:latin typeface="Arial"/>
              </a:rPr>
              <a:t>Re-planned around consented capture; one process instead of Docker + PostgreSQL.</a:t>
            </a:r>
          </a:p>
        </p:txBody>
      </p:sp>
      <p:sp>
        <p:nvSpPr>
          <p:cNvPr id="6" name="Rounded Rectangle 5"/>
          <p:cNvSpPr/>
          <p:nvPr/>
        </p:nvSpPr>
        <p:spPr>
          <a:xfrm>
            <a:off x="548640" y="2487168"/>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514600"/>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One payment, two messages</a:t>
            </a:r>
          </a:p>
          <a:p>
            <a:pPr algn="l">
              <a:spcAft>
                <a:spcPts val="0"/>
              </a:spcAft>
              <a:buNone/>
            </a:pPr>
            <a:r>
              <a:rPr sz="1250" b="0" i="0">
                <a:solidFill>
                  <a:srgbClr val="1F2937"/>
                </a:solidFill>
                <a:latin typeface="Arial"/>
              </a:rPr>
              <a:t>Reference matching and scoring; e-mail receipts enrich the SMS transaction instead of duplicating it.</a:t>
            </a:r>
          </a:p>
        </p:txBody>
      </p:sp>
      <p:sp>
        <p:nvSpPr>
          <p:cNvPr id="8" name="Rounded Rectangle 7"/>
          <p:cNvSpPr/>
          <p:nvPr/>
        </p:nvSpPr>
        <p:spPr>
          <a:xfrm>
            <a:off x="548640" y="3328416"/>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355848"/>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SQLite allows one writer</a:t>
            </a:r>
          </a:p>
          <a:p>
            <a:pPr algn="l">
              <a:spcAft>
                <a:spcPts val="0"/>
              </a:spcAft>
              <a:buNone/>
            </a:pPr>
            <a:r>
              <a:rPr sz="1250" b="0" i="0">
                <a:solidFill>
                  <a:srgbClr val="1F2937"/>
                </a:solidFill>
                <a:latin typeface="Arial"/>
              </a:rPr>
              <a:t>Background jobs join the request's transaction and start after it commits (regression test).</a:t>
            </a:r>
          </a:p>
        </p:txBody>
      </p:sp>
      <p:sp>
        <p:nvSpPr>
          <p:cNvPr id="10" name="Rounded Rectangle 9"/>
          <p:cNvSpPr/>
          <p:nvPr/>
        </p:nvSpPr>
        <p:spPr>
          <a:xfrm>
            <a:off x="548640" y="4169664"/>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197096"/>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Judging forecast quality</a:t>
            </a:r>
          </a:p>
          <a:p>
            <a:pPr algn="l">
              <a:spcAft>
                <a:spcPts val="0"/>
              </a:spcAft>
              <a:buNone/>
            </a:pPr>
            <a:r>
              <a:rPr sz="1250" b="0" i="0">
                <a:solidFill>
                  <a:srgbClr val="1F2937"/>
                </a:solidFill>
                <a:latin typeface="Arial"/>
              </a:rPr>
              <a:t>Rolling backtest against two baselines; WAPE instead of MAPE; automatic fallback.</a:t>
            </a:r>
          </a:p>
        </p:txBody>
      </p:sp>
      <p:sp>
        <p:nvSpPr>
          <p:cNvPr id="12" name="Rounded Rectangle 11"/>
          <p:cNvSpPr/>
          <p:nvPr/>
        </p:nvSpPr>
        <p:spPr>
          <a:xfrm>
            <a:off x="548640" y="5010912"/>
            <a:ext cx="5989320" cy="758952"/>
          </a:xfrm>
          <a:prstGeom prst="roundRect">
            <a:avLst>
              <a:gd name="adj" fmla="val 8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038344"/>
            <a:ext cx="5577840" cy="704088"/>
          </a:xfrm>
          <a:prstGeom prst="rect">
            <a:avLst/>
          </a:prstGeom>
          <a:noFill/>
        </p:spPr>
        <p:txBody>
          <a:bodyPr wrap="square" lIns="36576" tIns="18288" rIns="36576" bIns="18288" anchor="ctr">
            <a:noAutofit/>
          </a:bodyPr>
          <a:lstStyle/>
          <a:p>
            <a:pPr algn="l">
              <a:spcAft>
                <a:spcPts val="100"/>
              </a:spcAft>
              <a:buNone/>
            </a:pPr>
            <a:r>
              <a:rPr sz="1400" b="1" i="0">
                <a:solidFill>
                  <a:srgbClr val="154360"/>
                </a:solidFill>
                <a:latin typeface="Arial"/>
              </a:rPr>
              <a:t>Proving it on real data</a:t>
            </a:r>
          </a:p>
          <a:p>
            <a:pPr algn="l">
              <a:spcAft>
                <a:spcPts val="0"/>
              </a:spcAft>
              <a:buNone/>
            </a:pPr>
            <a:r>
              <a:rPr sz="1250" b="0" i="0">
                <a:solidFill>
                  <a:srgbClr val="1F2937"/>
                </a:solidFill>
                <a:latin typeface="Arial"/>
              </a:rPr>
              <a:t>Android app reads and filters SMS on the phone; verified on an Android 15 emulator.</a:t>
            </a:r>
          </a:p>
        </p:txBody>
      </p:sp>
      <p:sp>
        <p:nvSpPr>
          <p:cNvPr id="14" name="TextBox 13"/>
          <p:cNvSpPr txBox="1"/>
          <p:nvPr/>
        </p:nvSpPr>
        <p:spPr>
          <a:xfrm>
            <a:off x="6812279" y="1170432"/>
            <a:ext cx="4830775" cy="411480"/>
          </a:xfrm>
          <a:prstGeom prst="rect">
            <a:avLst/>
          </a:prstGeom>
          <a:noFill/>
        </p:spPr>
        <p:txBody>
          <a:bodyPr wrap="square" lIns="36576" tIns="18288" rIns="36576" bIns="18288" anchor="t">
            <a:noAutofit/>
          </a:bodyPr>
          <a:lstStyle/>
          <a:p>
            <a:pPr algn="l">
              <a:spcAft>
                <a:spcPts val="400"/>
              </a:spcAft>
              <a:buNone/>
            </a:pPr>
            <a:r>
              <a:rPr sz="1800" b="1" i="0">
                <a:solidFill>
                  <a:srgbClr val="154360"/>
                </a:solidFill>
                <a:latin typeface="Arial"/>
              </a:rPr>
              <a:t>Possible improvements</a:t>
            </a:r>
          </a:p>
        </p:txBody>
      </p:sp>
      <p:sp>
        <p:nvSpPr>
          <p:cNvPr id="15" name="TextBox 14"/>
          <p:cNvSpPr txBox="1"/>
          <p:nvPr/>
        </p:nvSpPr>
        <p:spPr>
          <a:xfrm>
            <a:off x="6812279" y="1645920"/>
            <a:ext cx="4830775" cy="4297680"/>
          </a:xfrm>
          <a:prstGeom prst="rect">
            <a:avLst/>
          </a:prstGeom>
          <a:noFill/>
        </p:spPr>
        <p:txBody>
          <a:bodyPr wrap="square" lIns="36576" tIns="18288" rIns="36576" bIns="18288" anchor="t">
            <a:noAutofit/>
          </a:bodyPr>
          <a:lstStyle/>
          <a:p>
            <a:pPr algn="l" marL="201168" indent="-201168">
              <a:spcAft>
                <a:spcPts val="800"/>
              </a:spcAft>
              <a:buClr>
                <a:srgbClr val="0079BC"/>
              </a:buClr>
              <a:buFont typeface="Arial"/>
              <a:buChar char="•"/>
            </a:pPr>
            <a:r>
              <a:rPr sz="1400" b="0" i="0">
                <a:solidFill>
                  <a:srgbClr val="1F2937"/>
                </a:solidFill>
                <a:latin typeface="Arial"/>
              </a:rPr>
              <a:t>A rotating log file and request IDs (logs go to the terminal today)</a:t>
            </a:r>
          </a:p>
          <a:p>
            <a:pPr algn="l" marL="201168" indent="-201168">
              <a:spcAft>
                <a:spcPts val="800"/>
              </a:spcAft>
              <a:buClr>
                <a:srgbClr val="0079BC"/>
              </a:buClr>
              <a:buFont typeface="Arial"/>
              <a:buChar char="•"/>
            </a:pPr>
            <a:r>
              <a:rPr sz="1400" b="0" i="0">
                <a:solidFill>
                  <a:srgbClr val="1F2937"/>
                </a:solidFill>
                <a:latin typeface="Arial"/>
              </a:rPr>
              <a:t>Persistent, per-account login limits; password reset; Secure cookies over HTTPS</a:t>
            </a:r>
          </a:p>
          <a:p>
            <a:pPr algn="l" marL="201168" indent="-201168">
              <a:spcAft>
                <a:spcPts val="800"/>
              </a:spcAft>
              <a:buClr>
                <a:srgbClr val="0079BC"/>
              </a:buClr>
              <a:buFont typeface="Arial"/>
              <a:buChar char="•"/>
            </a:pPr>
            <a:r>
              <a:rPr sz="1400" b="0" i="0">
                <a:solidFill>
                  <a:srgbClr val="1F2937"/>
                </a:solidFill>
                <a:latin typeface="Arial"/>
              </a:rPr>
              <a:t>Ask users to consent again when the notice text changes</a:t>
            </a:r>
          </a:p>
          <a:p>
            <a:pPr algn="l" marL="201168" indent="-201168">
              <a:spcAft>
                <a:spcPts val="800"/>
              </a:spcAft>
              <a:buClr>
                <a:srgbClr val="0079BC"/>
              </a:buClr>
              <a:buFont typeface="Arial"/>
              <a:buChar char="•"/>
            </a:pPr>
            <a:r>
              <a:rPr sz="1400" b="0" i="0">
                <a:solidFill>
                  <a:srgbClr val="1F2937"/>
                </a:solidFill>
                <a:latin typeface="Arial"/>
              </a:rPr>
              <a:t>Tax: marginal relief on surcharge above ₹50 lakh</a:t>
            </a:r>
          </a:p>
          <a:p>
            <a:pPr algn="l" marL="201168" indent="-201168">
              <a:spcAft>
                <a:spcPts val="800"/>
              </a:spcAft>
              <a:buClr>
                <a:srgbClr val="0079BC"/>
              </a:buClr>
              <a:buFont typeface="Arial"/>
              <a:buChar char="•"/>
            </a:pPr>
            <a:r>
              <a:rPr sz="1400" b="0" i="0">
                <a:solidFill>
                  <a:srgbClr val="1F2937"/>
                </a:solidFill>
                <a:latin typeface="Arial"/>
              </a:rPr>
              <a:t>Read new SMS in the background while the app is closed</a:t>
            </a:r>
          </a:p>
          <a:p>
            <a:pPr algn="l" marL="201168" indent="-201168">
              <a:spcAft>
                <a:spcPts val="800"/>
              </a:spcAft>
              <a:buClr>
                <a:srgbClr val="0079BC"/>
              </a:buClr>
              <a:buFont typeface="Arial"/>
              <a:buChar char="•"/>
            </a:pPr>
            <a:r>
              <a:rPr sz="1400" b="0" i="0">
                <a:solidFill>
                  <a:srgbClr val="1F2937"/>
                </a:solidFill>
                <a:latin typeface="Arial"/>
              </a:rPr>
              <a:t>Account Aggregator data; Gmail and Outlook through OAuth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anchor="ctr" wrap="square">
            <a:noAutofit/>
          </a:bodyPr>
          <a:lstStyle/>
          <a:p>
            <a:pPr algn="ctr">
              <a:spcAft>
                <a:spcPts val="0"/>
              </a:spcAft>
              <a:buNone/>
            </a:pPr>
            <a:r>
              <a:rPr sz="3000" b="1" i="0">
                <a:solidFill>
                  <a:srgbClr val="FFFFFF"/>
                </a:solidFill>
                <a:latin typeface="Times New Roman"/>
              </a:rPr>
              <a:t>Conclusion and future scope</a:t>
            </a:r>
          </a:p>
        </p:txBody>
      </p:sp>
      <p:sp>
        <p:nvSpPr>
          <p:cNvPr id="3" name="TextBox 2"/>
          <p:cNvSpPr txBox="1"/>
          <p:nvPr/>
        </p:nvSpPr>
        <p:spPr>
          <a:xfrm>
            <a:off x="548640" y="1188720"/>
            <a:ext cx="5394960" cy="411480"/>
          </a:xfrm>
          <a:prstGeom prst="rect">
            <a:avLst/>
          </a:prstGeom>
          <a:noFill/>
        </p:spPr>
        <p:txBody>
          <a:bodyPr wrap="square" lIns="36576" tIns="18288" rIns="36576" bIns="18288" anchor="t">
            <a:noAutofit/>
          </a:bodyPr>
          <a:lstStyle/>
          <a:p>
            <a:pPr algn="l">
              <a:spcAft>
                <a:spcPts val="400"/>
              </a:spcAft>
              <a:buNone/>
            </a:pPr>
            <a:r>
              <a:rPr sz="1900" b="1" i="0">
                <a:solidFill>
                  <a:srgbClr val="154360"/>
                </a:solidFill>
                <a:latin typeface="Arial"/>
              </a:rPr>
              <a:t>Conclusion</a:t>
            </a:r>
          </a:p>
        </p:txBody>
      </p:sp>
      <p:sp>
        <p:nvSpPr>
          <p:cNvPr id="4" name="TextBox 3"/>
          <p:cNvSpPr txBox="1"/>
          <p:nvPr/>
        </p:nvSpPr>
        <p:spPr>
          <a:xfrm>
            <a:off x="548640" y="1664208"/>
            <a:ext cx="5394960" cy="3108960"/>
          </a:xfrm>
          <a:prstGeom prst="rect">
            <a:avLst/>
          </a:prstGeom>
          <a:noFill/>
        </p:spPr>
        <p:txBody>
          <a:bodyPr wrap="square" lIns="36576" tIns="18288" rIns="36576" bIns="18288" anchor="t">
            <a:noAutofit/>
          </a:bodyPr>
          <a:lstStyle/>
          <a:p>
            <a:pPr algn="l" marL="201168" indent="-201168">
              <a:spcAft>
                <a:spcPts val="900"/>
              </a:spcAft>
              <a:buFont typeface="Arial"/>
              <a:buChar char="•"/>
            </a:pPr>
            <a:r>
              <a:rPr sz="1500" b="0" i="0">
                <a:solidFill>
                  <a:srgbClr val="1F2937"/>
                </a:solidFill>
                <a:latin typeface="Arial"/>
              </a:rPr>
              <a:t>Turns messages people already receive into a private, forward-looking view of their money</a:t>
            </a:r>
          </a:p>
          <a:p>
            <a:pPr algn="l" marL="201168" indent="-201168">
              <a:spcAft>
                <a:spcPts val="900"/>
              </a:spcAft>
              <a:buFont typeface="Arial"/>
              <a:buChar char="•"/>
            </a:pPr>
            <a:r>
              <a:rPr sz="1500" b="0" i="0">
                <a:solidFill>
                  <a:srgbClr val="1F2937"/>
                </a:solidFill>
                <a:latin typeface="Arial"/>
              </a:rPr>
              <a:t>Every module works end to end on the user's own SMS and e-mail</a:t>
            </a:r>
          </a:p>
          <a:p>
            <a:pPr algn="l" marL="201168" indent="-201168">
              <a:spcAft>
                <a:spcPts val="900"/>
              </a:spcAft>
              <a:buFont typeface="Arial"/>
              <a:buChar char="•"/>
            </a:pPr>
            <a:r>
              <a:rPr sz="1500" b="0" i="0">
                <a:solidFill>
                  <a:srgbClr val="1F2937"/>
                </a:solidFill>
                <a:latin typeface="Arial"/>
              </a:rPr>
              <a:t>Consent, purpose limitation, encryption and deletion are built in</a:t>
            </a:r>
          </a:p>
          <a:p>
            <a:pPr algn="l" marL="201168" indent="-201168">
              <a:spcAft>
                <a:spcPts val="900"/>
              </a:spcAft>
              <a:buFont typeface="Arial"/>
              <a:buChar char="•"/>
            </a:pPr>
            <a:r>
              <a:rPr sz="1500" b="0" i="0">
                <a:solidFill>
                  <a:srgbClr val="1F2937"/>
                </a:solidFill>
                <a:latin typeface="Arial"/>
              </a:rPr>
              <a:t>Measured honestly; 82 backend, 23 browser and 17 on-device checks pass</a:t>
            </a:r>
          </a:p>
        </p:txBody>
      </p:sp>
      <p:sp>
        <p:nvSpPr>
          <p:cNvPr id="5" name="TextBox 4"/>
          <p:cNvSpPr txBox="1"/>
          <p:nvPr/>
        </p:nvSpPr>
        <p:spPr>
          <a:xfrm>
            <a:off x="6263640" y="1188720"/>
            <a:ext cx="5376672" cy="411480"/>
          </a:xfrm>
          <a:prstGeom prst="rect">
            <a:avLst/>
          </a:prstGeom>
          <a:noFill/>
        </p:spPr>
        <p:txBody>
          <a:bodyPr wrap="square" lIns="36576" tIns="18288" rIns="36576" bIns="18288" anchor="t">
            <a:noAutofit/>
          </a:bodyPr>
          <a:lstStyle/>
          <a:p>
            <a:pPr algn="l">
              <a:spcAft>
                <a:spcPts val="400"/>
              </a:spcAft>
              <a:buNone/>
            </a:pPr>
            <a:r>
              <a:rPr sz="1900" b="1" i="0">
                <a:solidFill>
                  <a:srgbClr val="154360"/>
                </a:solidFill>
                <a:latin typeface="Arial"/>
              </a:rPr>
              <a:t>Future scope</a:t>
            </a:r>
          </a:p>
        </p:txBody>
      </p:sp>
      <p:sp>
        <p:nvSpPr>
          <p:cNvPr id="6" name="TextBox 5"/>
          <p:cNvSpPr txBox="1"/>
          <p:nvPr/>
        </p:nvSpPr>
        <p:spPr>
          <a:xfrm>
            <a:off x="6263640" y="1664208"/>
            <a:ext cx="5376672" cy="3108960"/>
          </a:xfrm>
          <a:prstGeom prst="rect">
            <a:avLst/>
          </a:prstGeom>
          <a:noFill/>
        </p:spPr>
        <p:txBody>
          <a:bodyPr wrap="square" lIns="36576" tIns="18288" rIns="36576" bIns="18288" anchor="t">
            <a:noAutofit/>
          </a:bodyPr>
          <a:lstStyle/>
          <a:p>
            <a:pPr algn="l" marL="201168" indent="-201168">
              <a:spcAft>
                <a:spcPts val="900"/>
              </a:spcAft>
              <a:buClr>
                <a:srgbClr val="0079BC"/>
              </a:buClr>
              <a:buFont typeface="Arial"/>
              <a:buChar char="•"/>
            </a:pPr>
            <a:r>
              <a:rPr sz="1500" b="0" i="0">
                <a:solidFill>
                  <a:srgbClr val="1F2937"/>
                </a:solidFill>
                <a:latin typeface="Arial"/>
              </a:rPr>
              <a:t>Real bank data through India's Account Aggregator framework</a:t>
            </a:r>
          </a:p>
          <a:p>
            <a:pPr algn="l" marL="201168" indent="-201168">
              <a:spcAft>
                <a:spcPts val="900"/>
              </a:spcAft>
              <a:buClr>
                <a:srgbClr val="0079BC"/>
              </a:buClr>
              <a:buFont typeface="Arial"/>
              <a:buChar char="•"/>
            </a:pPr>
            <a:r>
              <a:rPr sz="1500" b="0" i="0">
                <a:solidFill>
                  <a:srgbClr val="1F2937"/>
                </a:solidFill>
                <a:latin typeface="Arial"/>
              </a:rPr>
              <a:t>SMS capture in the background, and a Play Store release</a:t>
            </a:r>
          </a:p>
          <a:p>
            <a:pPr algn="l" marL="201168" indent="-201168">
              <a:spcAft>
                <a:spcPts val="900"/>
              </a:spcAft>
              <a:buClr>
                <a:srgbClr val="0079BC"/>
              </a:buClr>
              <a:buFont typeface="Arial"/>
              <a:buChar char="•"/>
            </a:pPr>
            <a:r>
              <a:rPr sz="1500" b="0" i="0">
                <a:solidFill>
                  <a:srgbClr val="1F2937"/>
                </a:solidFill>
                <a:latin typeface="Arial"/>
              </a:rPr>
              <a:t>A local LLM behind the coach's ResponseProvider interface</a:t>
            </a:r>
          </a:p>
          <a:p>
            <a:pPr algn="l" marL="201168" indent="-201168">
              <a:spcAft>
                <a:spcPts val="900"/>
              </a:spcAft>
              <a:buClr>
                <a:srgbClr val="0079BC"/>
              </a:buClr>
              <a:buFont typeface="Arial"/>
              <a:buChar char="•"/>
            </a:pPr>
            <a:r>
              <a:rPr sz="1500" b="0" i="0">
                <a:solidFill>
                  <a:srgbClr val="1F2937"/>
                </a:solidFill>
                <a:latin typeface="Arial"/>
              </a:rPr>
              <a:t>Hosted multi-user deployment with HTTPS, PostgreSQL and log files</a:t>
            </a:r>
          </a:p>
          <a:p>
            <a:pPr algn="l" marL="201168" indent="-201168">
              <a:spcAft>
                <a:spcPts val="900"/>
              </a:spcAft>
              <a:buClr>
                <a:srgbClr val="0079BC"/>
              </a:buClr>
              <a:buFont typeface="Arial"/>
              <a:buChar char="•"/>
            </a:pPr>
            <a:r>
              <a:rPr sz="1500" b="0" i="0">
                <a:solidFill>
                  <a:srgbClr val="1F2937"/>
                </a:solidFill>
                <a:latin typeface="Arial"/>
              </a:rPr>
              <a:t>More bank formats from users' Review queues; more languages</a:t>
            </a:r>
          </a:p>
        </p:txBody>
      </p:sp>
      <p:sp>
        <p:nvSpPr>
          <p:cNvPr id="7" name="Rounded Rectangle 6"/>
          <p:cNvSpPr/>
          <p:nvPr/>
        </p:nvSpPr>
        <p:spPr>
          <a:xfrm>
            <a:off x="2898648" y="4892040"/>
            <a:ext cx="6400800" cy="914400"/>
          </a:xfrm>
          <a:prstGeom prst="roundRect">
            <a:avLst>
              <a:gd name="adj" fmla="val 30000"/>
            </a:avLst>
          </a:prstGeom>
          <a:solidFill>
            <a:srgbClr val="154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spcAft>
                <a:spcPts val="0"/>
              </a:spcAft>
              <a:buNone/>
            </a:pPr>
            <a:r>
              <a:rPr sz="2800" b="1" i="0">
                <a:solidFill>
                  <a:srgbClr val="FFFFFF"/>
                </a:solidFill>
                <a:latin typeface="Times New Roman"/>
              </a:rPr>
              <a:t>Thank you  ·  Questions?</a:t>
            </a:r>
          </a:p>
        </p:txBody>
      </p:sp>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4994</Words>
  <Application>WPS Presentation</Application>
  <PresentationFormat>Widescreen</PresentationFormat>
  <Paragraphs>148</Paragraphs>
  <Slides>6</Slides>
  <Notes>27</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0</vt:i4>
      </vt:variant>
      <vt:variant>
        <vt:lpstr>幻灯片标题</vt:lpstr>
      </vt:variant>
      <vt:variant>
        <vt:i4>6</vt:i4>
      </vt:variant>
    </vt:vector>
  </HeadingPairs>
  <TitlesOfParts>
    <vt:vector size="27" baseType="lpstr">
      <vt:lpstr>Arial</vt:lpstr>
      <vt:lpstr>SimSun</vt:lpstr>
      <vt:lpstr>Wingdings</vt:lpstr>
      <vt:lpstr>Verdana</vt:lpstr>
      <vt:lpstr>Aptos Display</vt:lpstr>
      <vt:lpstr>Helvetica Neue</vt:lpstr>
      <vt:lpstr>Times New Roman</vt:lpstr>
      <vt:lpstr>Aptos</vt:lpstr>
      <vt:lpstr>Verdana</vt:lpstr>
      <vt:lpstr>Calibri</vt:lpstr>
      <vt:lpstr>Calibri</vt:lpstr>
      <vt:lpstr>Calibri</vt:lpstr>
      <vt:lpstr>Microsoft YaHei</vt:lpstr>
      <vt:lpstr>汉仪旗黑</vt:lpstr>
      <vt:lpstr>Arial Unicode MS</vt:lpstr>
      <vt:lpstr>Consolas</vt:lpstr>
      <vt:lpstr>Consolas</vt:lpstr>
      <vt:lpstr>Consolas</vt:lpstr>
      <vt:lpstr>苹方-简</vt:lpstr>
      <vt:lpstr>宋体-简</vt:lpstr>
      <vt:lpstr>1_Default Design</vt:lpstr>
      <vt:lpstr>SSN College of Engineering, Kalavakkam - 603110 Department of Information Technology</vt:lpstr>
      <vt:lpstr>Problem Statement</vt:lpstr>
      <vt:lpstr>Proposed Solution</vt:lpstr>
      <vt:lpstr>Block Diagram</vt:lpstr>
      <vt:lpstr>Technology Stack</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FinPilot AI — Project Presentation</dc:title>
  <dc:creator>Jeya Sangavi R, Rahul Akshath Rajendran, Rakshitha S</dc:creator>
  <cp:lastModifiedBy>rahulakshath</cp:lastModifiedBy>
  <cp:revision>110</cp:revision>
  <cp:lastPrinted>2026-07-31T08:58:42Z</cp:lastPrinted>
  <dcterms:created xsi:type="dcterms:W3CDTF">2026-07-31T08:58:42Z</dcterms:created>
  <dcterms:modified xsi:type="dcterms:W3CDTF">2026-07-31T08:58:42Z</dcterms:modified>
  <dc:subject>UIT2739 Full Stack Development Project, SSN College of Engineering</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C74005CF77AE1C8DECF8566A79DFFBB0_42</vt:lpwstr>
  </property>
</Properties>
</file>