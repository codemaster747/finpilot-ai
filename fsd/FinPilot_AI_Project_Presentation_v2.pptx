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drawings/vmlDrawing1.vml" ContentType="application/vnd.openxmlformats-officedocument.vmlDrawing"/>
  <Override PartName="/ppt/embeddings/oleObject1.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10"/>
  </p:handoutMasterIdLst>
  <p:sldIdLst>
    <p:sldId id="256" r:id="rId8"/>
    <p:sldId id="257" r:id="rId9"/>
    <p:sldId id="258" r:id="rId7"/>
    <p:sldId id="259" r:id="rId6"/>
    <p:sldId id="260" r:id="rId5"/>
    <p:sldId id="261" r:id="rId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7010400" cy="9296400"/>
  <p:defaultTextStyle>
    <a:defPPr>
      <a:defRPr lang="en-US"/>
    </a:defPPr>
    <a:lvl1pPr algn="l" rtl="0" fontAlgn="base">
      <a:spcBef>
        <a:spcPct val="0"/>
      </a:spcBef>
      <a:spcAft>
        <a:spcPct val="0"/>
      </a:spcAft>
      <a:defRPr sz="2000" kern="1200">
        <a:solidFill>
          <a:schemeClr val="tx1"/>
        </a:solidFill>
        <a:latin typeface="Arial" panose="020B0604020202090204" pitchFamily="34" charset="0"/>
        <a:ea typeface="+mn-ea"/>
        <a:cs typeface="+mn-cs"/>
      </a:defRPr>
    </a:lvl1pPr>
    <a:lvl2pPr marL="457200" algn="l" rtl="0" fontAlgn="base">
      <a:spcBef>
        <a:spcPct val="0"/>
      </a:spcBef>
      <a:spcAft>
        <a:spcPct val="0"/>
      </a:spcAft>
      <a:defRPr sz="2000" kern="1200">
        <a:solidFill>
          <a:schemeClr val="tx1"/>
        </a:solidFill>
        <a:latin typeface="Arial" panose="020B0604020202090204" pitchFamily="34" charset="0"/>
        <a:ea typeface="+mn-ea"/>
        <a:cs typeface="+mn-cs"/>
      </a:defRPr>
    </a:lvl2pPr>
    <a:lvl3pPr marL="914400" algn="l" rtl="0" fontAlgn="base">
      <a:spcBef>
        <a:spcPct val="0"/>
      </a:spcBef>
      <a:spcAft>
        <a:spcPct val="0"/>
      </a:spcAft>
      <a:defRPr sz="2000" kern="1200">
        <a:solidFill>
          <a:schemeClr val="tx1"/>
        </a:solidFill>
        <a:latin typeface="Arial" panose="020B0604020202090204" pitchFamily="34" charset="0"/>
        <a:ea typeface="+mn-ea"/>
        <a:cs typeface="+mn-cs"/>
      </a:defRPr>
    </a:lvl3pPr>
    <a:lvl4pPr marL="1371600" algn="l" rtl="0" fontAlgn="base">
      <a:spcBef>
        <a:spcPct val="0"/>
      </a:spcBef>
      <a:spcAft>
        <a:spcPct val="0"/>
      </a:spcAft>
      <a:defRPr sz="2000" kern="1200">
        <a:solidFill>
          <a:schemeClr val="tx1"/>
        </a:solidFill>
        <a:latin typeface="Arial" panose="020B0604020202090204" pitchFamily="34" charset="0"/>
        <a:ea typeface="+mn-ea"/>
        <a:cs typeface="+mn-cs"/>
      </a:defRPr>
    </a:lvl4pPr>
    <a:lvl5pPr marL="1828800" algn="l" rtl="0" fontAlgn="base">
      <a:spcBef>
        <a:spcPct val="0"/>
      </a:spcBef>
      <a:spcAft>
        <a:spcPct val="0"/>
      </a:spcAft>
      <a:defRPr sz="2000" kern="1200">
        <a:solidFill>
          <a:schemeClr val="tx1"/>
        </a:solidFill>
        <a:latin typeface="Arial" panose="020B0604020202090204" pitchFamily="34" charset="0"/>
        <a:ea typeface="+mn-ea"/>
        <a:cs typeface="+mn-cs"/>
      </a:defRPr>
    </a:lvl5pPr>
    <a:lvl6pPr marL="2286000" algn="l" defTabSz="914400" rtl="0" eaLnBrk="1" latinLnBrk="0" hangingPunct="1">
      <a:defRPr sz="2000" kern="1200">
        <a:solidFill>
          <a:schemeClr val="tx1"/>
        </a:solidFill>
        <a:latin typeface="Arial" panose="020B0604020202090204" pitchFamily="34" charset="0"/>
        <a:ea typeface="+mn-ea"/>
        <a:cs typeface="+mn-cs"/>
      </a:defRPr>
    </a:lvl6pPr>
    <a:lvl7pPr marL="2743200" algn="l" defTabSz="914400" rtl="0" eaLnBrk="1" latinLnBrk="0" hangingPunct="1">
      <a:defRPr sz="2000" kern="1200">
        <a:solidFill>
          <a:schemeClr val="tx1"/>
        </a:solidFill>
        <a:latin typeface="Arial" panose="020B0604020202090204" pitchFamily="34" charset="0"/>
        <a:ea typeface="+mn-ea"/>
        <a:cs typeface="+mn-cs"/>
      </a:defRPr>
    </a:lvl7pPr>
    <a:lvl8pPr marL="3200400" algn="l" defTabSz="914400" rtl="0" eaLnBrk="1" latinLnBrk="0" hangingPunct="1">
      <a:defRPr sz="2000" kern="1200">
        <a:solidFill>
          <a:schemeClr val="tx1"/>
        </a:solidFill>
        <a:latin typeface="Arial" panose="020B0604020202090204" pitchFamily="34" charset="0"/>
        <a:ea typeface="+mn-ea"/>
        <a:cs typeface="+mn-cs"/>
      </a:defRPr>
    </a:lvl8pPr>
    <a:lvl9pPr marL="3657600" algn="l" defTabSz="914400" rtl="0" eaLnBrk="1" latinLnBrk="0" hangingPunct="1">
      <a:defRPr sz="2000" kern="1200">
        <a:solidFill>
          <a:schemeClr val="tx1"/>
        </a:solidFill>
        <a:latin typeface="Arial" panose="020B0604020202090204" pitchFamily="34" charset="0"/>
        <a:ea typeface="+mn-ea"/>
        <a:cs typeface="+mn-cs"/>
      </a:defRPr>
    </a:lvl9pPr>
  </p:defaultTextStyle>
  <p:extLst>
    <p:ext uri="{EFAFB233-063F-42B5-8137-9DF3F51BA10A}">
      <p15:sldGuideLst xmlns:p15="http://schemas.microsoft.com/office/powerpoint/2012/main">
        <p15:guide id="1" orient="horz" pos="220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CCFF"/>
    <a:srgbClr val="90B0D4"/>
    <a:srgbClr val="B4593C"/>
    <a:srgbClr val="0066CC"/>
    <a:srgbClr val="547B9C"/>
    <a:srgbClr val="C0309A"/>
    <a:srgbClr val="0079BC"/>
    <a:srgbClr val="3E708E"/>
    <a:srgbClr val="3399FF"/>
    <a:srgbClr val="A54B7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1" d="2"/>
          <a:sy n="1" d="2"/>
        </p:scale>
        <p:origin x="0" y="0"/>
      </p:cViewPr>
      <p:guideLst>
        <p:guide orient="horz" pos="2200"/>
        <p:guide pos="3840"/>
      </p:guideLst>
    </p:cSldViewPr>
  </p:slideViewPr>
  <p:notesViewPr>
    <p:cSldViewPr snapToGrid="0">
      <p:cViewPr>
        <p:scale>
          <a:sx n="1" d="2"/>
          <a:sy n="1" d="2"/>
        </p:scale>
        <p:origin x="0" y="0"/>
      </p:cViewPr>
      <p:guideLst>
        <p:guide orient="horz" pos="2982"/>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6.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handoutMaster" Target="handoutMasters/handout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00000"/>
                </a:solidFill>
                <a:latin typeface="Arial"/>
              </a:rPr>
              <a:t>Forecast error (mean absolute daily error, ₹)</a:t>
            </a:r>
          </a:p>
        </c:rich>
      </c:tx>
      <c:layout/>
      <c:overlay val="0"/>
    </c:title>
    <c:autoTitleDeleted val="0"/>
    <c:plotArea>
      <c:barChart>
        <c:barDir val="bar"/>
        <c:grouping val="clustered"/>
        <c:ser>
          <c:idx val="0"/>
          <c:order val="0"/>
          <c:tx>
            <c:strRef>
              <c:f>Sheet1!$B$1</c:f>
              <c:strCache>
                <c:ptCount val="1"/>
                <c:pt idx="0">
                  <c:v>Mean absolute daily error (₹)</c:v>
                </c:pt>
              </c:strCache>
            </c:strRef>
          </c:tx>
          <c:spPr>
            <a:solidFill>
              <a:srgbClr val="4472C4"/>
            </a:solidFill>
          </c:spPr>
          <c:cat>
            <c:strRef>
              <c:f>Sheet1!$A$2:$A$4</c:f>
              <c:strCache>
                <c:ptCount val="3"/>
                <c:pt idx="0">
                  <c:v>Seasonal naive</c:v>
                </c:pt>
                <c:pt idx="1">
                  <c:v>Naive + known schedule</c:v>
                </c:pt>
                <c:pt idx="2">
                  <c:v>Prophet + known schedule</c:v>
                </c:pt>
              </c:strCache>
            </c:strRef>
          </c:cat>
          <c:val>
            <c:numRef>
              <c:f>Sheet1!$B$2:$B$4</c:f>
              <c:numCache>
                <c:formatCode>General</c:formatCode>
                <c:ptCount val="3"/>
                <c:pt idx="0">
                  <c:v>9784</c:v>
                </c:pt>
                <c:pt idx="1">
                  <c:v>5771</c:v>
                </c:pt>
                <c:pt idx="2">
                  <c:v>5746</c:v>
                </c:pt>
              </c:numCache>
            </c:numRef>
          </c:val>
        </c:ser>
        <c:dLbls>
          <c:numFmt formatCode="&quot;₹&quot;#,##0" sourceLinked="0"/>
          <c:txPr>
            <a:bodyPr/>
            <a:lstStyle/>
            <a:p>
              <a:pPr>
                <a:defRPr sz="1200" b="0">
                  <a:solidFill>
                    <a:srgbClr val="000000"/>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axMin"/>
        </c:scaling>
        <c:delete val="0"/>
        <c:axPos val="l"/>
        <c:majorTickMark val="out"/>
        <c:minorTickMark val="none"/>
        <c:tickLblPos val="nextTo"/>
        <c:spPr>
          <a:ln>
            <a:solidFill>
              <a:srgbClr val="7F7F7F"/>
            </a:solidFill>
          </a:ln>
        </c:spPr>
        <c:txPr>
          <a:bodyPr/>
          <a:lstStyle/>
          <a:p>
            <a:pPr>
              <a:defRPr sz="1200">
                <a:solidFill>
                  <a:srgbClr val="000000"/>
                </a:solidFill>
              </a:defRPr>
            </a:pPr>
          </a:p>
        </c:txPr>
        <c:crossAx val="-2113994440"/>
        <c:crosses val="autoZero"/>
        <c:auto val="1"/>
        <c:lblAlgn val="ctr"/>
        <c:lblOffset val="100"/>
        <c:noMultiLvlLbl val="0"/>
      </c:catAx>
      <c:valAx>
        <c:axId val="-2113994440"/>
        <c:scaling>
          <c:max val="12000.0"/>
          <c:min val="0.0"/>
        </c:scaling>
        <c:delete val="0"/>
        <c:axPos val="b"/>
        <c:majorGridlines>
          <c:spPr>
            <a:ln w="6350">
              <a:solidFill>
                <a:srgbClr val="D9D9D9"/>
              </a:solidFill>
            </a:ln>
          </c:spPr>
        </c:majorGridlines>
        <c:numFmt formatCode="#,##0" sourceLinked="0"/>
        <c:majorTickMark val="out"/>
        <c:minorTickMark val="none"/>
        <c:tickLblPos val="nextTo"/>
        <c:crossAx val="-2068027336"/>
        <c:crosses val="max"/>
      </c:valAx>
    </c:plotArea>
    <c:dispBlanksAs val="gap"/>
  </c:chart>
  <c:txPr>
    <a:bodyPr/>
    <a:lstStyle/>
    <a:p>
      <a:pPr>
        <a:defRPr sz="1200">
          <a:latin typeface="Arial"/>
        </a:defRPr>
      </a:pPr>
      <a:endParaRPr lang="en-US"/>
    </a:p>
  </c:txPr>
  <c:externalData r:id="rId1">
    <c:autoUpdate val="0"/>
  </c:externalData>
</c:chartSpace>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628" cy="464981"/>
          </a:xfrm>
          <a:prstGeom prst="rect">
            <a:avLst/>
          </a:prstGeom>
        </p:spPr>
        <p:txBody>
          <a:bodyPr vert="horz" lIns="92153" tIns="46077" rIns="92153" bIns="46077" rtlCol="0"/>
          <a:lstStyle>
            <a:lvl1pPr algn="l">
              <a:defRPr sz="1200"/>
            </a:lvl1pPr>
          </a:lstStyle>
          <a:p>
            <a:endParaRPr lang="en-US"/>
          </a:p>
        </p:txBody>
      </p:sp>
      <p:sp>
        <p:nvSpPr>
          <p:cNvPr id="3" name="Date Placeholder 2"/>
          <p:cNvSpPr>
            <a:spLocks noGrp="1"/>
          </p:cNvSpPr>
          <p:nvPr>
            <p:ph type="dt" sz="quarter" idx="1"/>
          </p:nvPr>
        </p:nvSpPr>
        <p:spPr>
          <a:xfrm>
            <a:off x="3971173" y="1"/>
            <a:ext cx="3037628" cy="464981"/>
          </a:xfrm>
          <a:prstGeom prst="rect">
            <a:avLst/>
          </a:prstGeom>
        </p:spPr>
        <p:txBody>
          <a:bodyPr vert="horz" lIns="92153" tIns="46077" rIns="92153" bIns="46077" rtlCol="0"/>
          <a:lstStyle>
            <a:lvl1pPr algn="r">
              <a:defRPr sz="1200"/>
            </a:lvl1pPr>
          </a:lstStyle>
          <a:p>
            <a:fld id="{006C233A-9D74-4117-ACA8-060D36B7D83A}" type="datetimeFigureOut">
              <a:rPr lang="en-US" smtClean="0"/>
            </a:fld>
            <a:endParaRPr lang="en-US"/>
          </a:p>
        </p:txBody>
      </p:sp>
      <p:sp>
        <p:nvSpPr>
          <p:cNvPr id="4" name="Footer Placeholder 3"/>
          <p:cNvSpPr>
            <a:spLocks noGrp="1"/>
          </p:cNvSpPr>
          <p:nvPr>
            <p:ph type="ftr" sz="quarter" idx="2"/>
          </p:nvPr>
        </p:nvSpPr>
        <p:spPr>
          <a:xfrm>
            <a:off x="0" y="8829824"/>
            <a:ext cx="3037628" cy="464981"/>
          </a:xfrm>
          <a:prstGeom prst="rect">
            <a:avLst/>
          </a:prstGeom>
        </p:spPr>
        <p:txBody>
          <a:bodyPr vert="horz" lIns="92153" tIns="46077" rIns="92153" bIns="46077" rtlCol="0" anchor="b"/>
          <a:lstStyle>
            <a:lvl1pPr algn="l">
              <a:defRPr sz="1200"/>
            </a:lvl1pPr>
          </a:lstStyle>
          <a:p>
            <a:endParaRPr lang="en-US"/>
          </a:p>
        </p:txBody>
      </p:sp>
      <p:sp>
        <p:nvSpPr>
          <p:cNvPr id="5" name="Slide Number Placeholder 4"/>
          <p:cNvSpPr>
            <a:spLocks noGrp="1"/>
          </p:cNvSpPr>
          <p:nvPr>
            <p:ph type="sldNum" sz="quarter" idx="3"/>
          </p:nvPr>
        </p:nvSpPr>
        <p:spPr>
          <a:xfrm>
            <a:off x="3971173" y="8829824"/>
            <a:ext cx="3037628" cy="464981"/>
          </a:xfrm>
          <a:prstGeom prst="rect">
            <a:avLst/>
          </a:prstGeom>
        </p:spPr>
        <p:txBody>
          <a:bodyPr vert="horz" lIns="92153" tIns="46077" rIns="92153" bIns="46077" rtlCol="0" anchor="b"/>
          <a:lstStyle>
            <a:lvl1pPr algn="r">
              <a:defRPr sz="1200"/>
            </a:lvl1pPr>
          </a:lstStyle>
          <a:p>
            <a:fld id="{A28E399E-F7B0-4ADD-938A-755F22AEF967}"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1" y="0"/>
            <a:ext cx="3037840" cy="464821"/>
          </a:xfrm>
          <a:prstGeom prst="rect">
            <a:avLst/>
          </a:prstGeom>
          <a:noFill/>
          <a:ln w="9525">
            <a:noFill/>
            <a:miter lim="800000"/>
          </a:ln>
          <a:effectLst/>
        </p:spPr>
        <p:txBody>
          <a:bodyPr vert="horz" wrap="square" lIns="93205" tIns="46603" rIns="93205" bIns="46603" numCol="1" anchor="t" anchorCtr="0" compatLnSpc="1"/>
          <a:lstStyle>
            <a:lvl1pPr>
              <a:defRPr sz="1200"/>
            </a:lvl1pPr>
          </a:lstStyle>
          <a:p>
            <a:endParaRPr lang="en-US"/>
          </a:p>
        </p:txBody>
      </p:sp>
      <p:sp>
        <p:nvSpPr>
          <p:cNvPr id="4099" name="Rectangle 3"/>
          <p:cNvSpPr>
            <a:spLocks noGrp="1" noChangeArrowheads="1"/>
          </p:cNvSpPr>
          <p:nvPr>
            <p:ph type="dt" idx="1"/>
          </p:nvPr>
        </p:nvSpPr>
        <p:spPr bwMode="auto">
          <a:xfrm>
            <a:off x="3972563" y="0"/>
            <a:ext cx="3037840" cy="464821"/>
          </a:xfrm>
          <a:prstGeom prst="rect">
            <a:avLst/>
          </a:prstGeom>
          <a:noFill/>
          <a:ln w="9525">
            <a:noFill/>
            <a:miter lim="800000"/>
          </a:ln>
          <a:effectLst/>
        </p:spPr>
        <p:txBody>
          <a:bodyPr vert="horz" wrap="square" lIns="93205" tIns="46603" rIns="93205" bIns="46603" numCol="1" anchor="t" anchorCtr="0" compatLnSpc="1"/>
          <a:lstStyle>
            <a:lvl1pPr algn="r">
              <a:defRPr sz="1200"/>
            </a:lvl1pPr>
          </a:lstStyle>
          <a:p>
            <a:endParaRPr lang="en-US"/>
          </a:p>
        </p:txBody>
      </p:sp>
      <p:sp>
        <p:nvSpPr>
          <p:cNvPr id="4100" name="Rectangle 4"/>
          <p:cNvSpPr>
            <a:spLocks noGrp="1" noRot="1" noChangeAspect="1" noChangeArrowheads="1" noTextEdit="1"/>
          </p:cNvSpPr>
          <p:nvPr>
            <p:ph type="sldImg" idx="2"/>
          </p:nvPr>
        </p:nvSpPr>
        <p:spPr bwMode="auto">
          <a:xfrm>
            <a:off x="406400" y="698500"/>
            <a:ext cx="6197600" cy="3486150"/>
          </a:xfrm>
          <a:prstGeom prst="rect">
            <a:avLst/>
          </a:prstGeom>
          <a:noFill/>
          <a:ln w="9525">
            <a:solidFill>
              <a:srgbClr val="000000"/>
            </a:solidFill>
            <a:miter lim="800000"/>
          </a:ln>
          <a:effectLst/>
        </p:spPr>
      </p:sp>
      <p:sp>
        <p:nvSpPr>
          <p:cNvPr id="4101" name="Rectangle 5"/>
          <p:cNvSpPr>
            <a:spLocks noGrp="1" noChangeArrowheads="1"/>
          </p:cNvSpPr>
          <p:nvPr>
            <p:ph type="body" sz="quarter" idx="3"/>
          </p:nvPr>
        </p:nvSpPr>
        <p:spPr bwMode="auto">
          <a:xfrm>
            <a:off x="934721" y="4415792"/>
            <a:ext cx="5140960" cy="4183380"/>
          </a:xfrm>
          <a:prstGeom prst="rect">
            <a:avLst/>
          </a:prstGeom>
          <a:noFill/>
          <a:ln w="9525">
            <a:noFill/>
            <a:miter lim="800000"/>
          </a:ln>
          <a:effectLst/>
        </p:spPr>
        <p:txBody>
          <a:bodyPr vert="horz" wrap="square" lIns="93205" tIns="46603" rIns="93205" bIns="46603" numCol="1" anchor="t" anchorCtr="0" compatLnSpc="1"/>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102" name="Rectangle 6"/>
          <p:cNvSpPr>
            <a:spLocks noGrp="1" noChangeArrowheads="1"/>
          </p:cNvSpPr>
          <p:nvPr>
            <p:ph type="ftr" sz="quarter" idx="4"/>
          </p:nvPr>
        </p:nvSpPr>
        <p:spPr bwMode="auto">
          <a:xfrm>
            <a:off x="1" y="8831581"/>
            <a:ext cx="3037840" cy="464821"/>
          </a:xfrm>
          <a:prstGeom prst="rect">
            <a:avLst/>
          </a:prstGeom>
          <a:noFill/>
          <a:ln w="9525">
            <a:noFill/>
            <a:miter lim="800000"/>
          </a:ln>
          <a:effectLst/>
        </p:spPr>
        <p:txBody>
          <a:bodyPr vert="horz" wrap="square" lIns="93205" tIns="46603" rIns="93205" bIns="46603" numCol="1" anchor="b" anchorCtr="0" compatLnSpc="1"/>
          <a:lstStyle>
            <a:lvl1pPr>
              <a:defRPr sz="1200"/>
            </a:lvl1pPr>
          </a:lstStyle>
          <a:p>
            <a:endParaRPr lang="en-US"/>
          </a:p>
        </p:txBody>
      </p:sp>
      <p:sp>
        <p:nvSpPr>
          <p:cNvPr id="4103" name="Rectangle 7"/>
          <p:cNvSpPr>
            <a:spLocks noGrp="1" noChangeArrowheads="1"/>
          </p:cNvSpPr>
          <p:nvPr>
            <p:ph type="sldNum" sz="quarter" idx="5"/>
          </p:nvPr>
        </p:nvSpPr>
        <p:spPr bwMode="auto">
          <a:xfrm>
            <a:off x="3972563" y="8831581"/>
            <a:ext cx="3037840" cy="464821"/>
          </a:xfrm>
          <a:prstGeom prst="rect">
            <a:avLst/>
          </a:prstGeom>
          <a:noFill/>
          <a:ln w="9525">
            <a:noFill/>
            <a:miter lim="800000"/>
          </a:ln>
          <a:effectLst/>
        </p:spPr>
        <p:txBody>
          <a:bodyPr vert="horz" wrap="square" lIns="93205" tIns="46603" rIns="93205" bIns="46603" numCol="1" anchor="b" anchorCtr="0" compatLnSpc="1"/>
          <a:lstStyle>
            <a:lvl1pPr algn="r">
              <a:defRPr sz="1200"/>
            </a:lvl1pPr>
          </a:lstStyle>
          <a:p>
            <a:fld id="{848BB432-97C3-4B7D-8D6F-1BA494990EB4}" type="slidenum">
              <a:rPr lang="en-US"/>
            </a:fld>
            <a:endParaRPr 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anose="020B0604020202090204" pitchFamily="34" charset="0"/>
        <a:ea typeface="+mn-ea"/>
        <a:cs typeface="+mn-cs"/>
      </a:defRPr>
    </a:lvl1pPr>
    <a:lvl2pPr marL="457200" algn="l" rtl="0" fontAlgn="base">
      <a:spcBef>
        <a:spcPct val="30000"/>
      </a:spcBef>
      <a:spcAft>
        <a:spcPct val="0"/>
      </a:spcAft>
      <a:defRPr sz="1200" kern="1200">
        <a:solidFill>
          <a:schemeClr val="tx1"/>
        </a:solidFill>
        <a:latin typeface="Arial" panose="020B0604020202090204" pitchFamily="34" charset="0"/>
        <a:ea typeface="+mn-ea"/>
        <a:cs typeface="+mn-cs"/>
      </a:defRPr>
    </a:lvl2pPr>
    <a:lvl3pPr marL="914400" algn="l" rtl="0" fontAlgn="base">
      <a:spcBef>
        <a:spcPct val="30000"/>
      </a:spcBef>
      <a:spcAft>
        <a:spcPct val="0"/>
      </a:spcAft>
      <a:defRPr sz="1200" kern="1200">
        <a:solidFill>
          <a:schemeClr val="tx1"/>
        </a:solidFill>
        <a:latin typeface="Arial" panose="020B0604020202090204" pitchFamily="34" charset="0"/>
        <a:ea typeface="+mn-ea"/>
        <a:cs typeface="+mn-cs"/>
      </a:defRPr>
    </a:lvl3pPr>
    <a:lvl4pPr marL="1371600" algn="l" rtl="0" fontAlgn="base">
      <a:spcBef>
        <a:spcPct val="30000"/>
      </a:spcBef>
      <a:spcAft>
        <a:spcPct val="0"/>
      </a:spcAft>
      <a:defRPr sz="1200" kern="1200">
        <a:solidFill>
          <a:schemeClr val="tx1"/>
        </a:solidFill>
        <a:latin typeface="Arial" panose="020B0604020202090204" pitchFamily="34" charset="0"/>
        <a:ea typeface="+mn-ea"/>
        <a:cs typeface="+mn-cs"/>
      </a:defRPr>
    </a:lvl4pPr>
    <a:lvl5pPr marL="1828800" algn="l" rtl="0" fontAlgn="base">
      <a:spcBef>
        <a:spcPct val="30000"/>
      </a:spcBef>
      <a:spcAft>
        <a:spcPct val="0"/>
      </a:spcAft>
      <a:defRPr sz="1200" kern="1200">
        <a:solidFill>
          <a:schemeClr val="tx1"/>
        </a:solidFill>
        <a:latin typeface="Arial" panose="020B060402020209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FinPilot AI, our UIT2739 full-stack project. It is a personal-finance assistant that builds a user's financial picture from the bank SMS and e-mails they already receive, but only after the user allows each source. This common part covers the problem, requirements, architecture, SDLC, modules, database, testing and lessons learnt; each of us then demonstrates our own features.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FinPilot AI is a full-stack app: a server on the user's laptop, used from a browser or from our Android app. Capture: bank SMS read on the phone and e-mail read from the user's mailbox, each behind its own consent, plus optional uploads. Understand: every message is classified, its fields extracted, duplicates reconciled and the payment categorised. Predict: a 90-day cash-flow forecast, subscription analysis and tax estimates. Act: insights, a coach, budgets, goals and a wishlist checked against what is safe to spend.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already exists: every UPI payment, card swipe and bill produces an SMS or e-mail. The problem is that it stays scattered and existing tools fall short in four ways shown on the right. Our statement: build a reliable, forward-looking picture of a person's money from the messages they already receive, only with their consent, running on their own computer at zero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objectives, each mapped to modules we built. On the right is the scope we committed to. Out of scope, as stated in our README: no live bank or Account Aggregator connections, no payments, no product recommendations or crawling, no iOS app because iOS gives apps no SMS access, and tax figures are estimates, not advice.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requirement is implemented end to end: an API endpoint, business logic in a service, database tables and a page. FR1 to FR7 cover accounts, consent, capture, uploads, transactions, the dashboard and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requirement is implemented end to end: an API endpoint, business logic in a service, database tables and a page. FR8 to FR14 cover subscriptions, tax, insights and coach, budgets and goals, the wishlist, settings and data rights, and the model evaluation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qualities are visible in the code. Security: bcrypt, JWT in httpOnly cookies for the browser and Bearer tokens for the app, rotating refresh tokens, CSRF and CORS checks and a login rate limit. Privacy: personal chats, OTPs and promotions are dropped on the phone; consent per source, Fernet encryption and a 90-day retention purge. Reliability: transactions roll back, analytics stages are isolated, Prophet falls back to a baseline, and syncing the same SMS twice stores it once. Portability: one command for the server, one for the phone app.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is one Python process started by run.py on the laptop. FastAPI on port 8000 serves the JSON API under /api/v1 and the pre-built Next.js site. The same site is bundled into our Android app with Capacitor; the app calls the server over Wi-Fi, the phone's hotspot or a Cloudflare tunnel, with Bearer tokens, and its SMS plugin reads and filters the inbox on the phone. Services hold the business logic and ML; a job runner and scheduler read mailboxes every 30 minutes, re-check wishlist prices daily and run the nightly analytics. Data lives in SQLite in WAL mode.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is layered. Routers handle HTTP and validation; dependencies give each request the signed-in user and a database session; services hold the rules; models map to SQLite. On the right is one real request: a what-if purchase on the Forecast page. It only reads the stored forecast, so it answers instantly.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tools are free and run locally. The frontend is a Next.js static export served by FastAPI, so Node.js is only needed to rebuild the UI. The backend uses FastAPI with SQLAlchemy and SQLite. ML uses scikit-learn and Prophet. The versions shown are the ones installed in our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followed an iterative and incremental model. Requirements were set at Review 0 in July; afterwards we added consent-based capture and revised the design to one process, SQLite and a one-command launcher instead of Docker and PostgreSQL. At the review, the features still ran on sample data, so we built the real-data release: an Android app that reads SMS, IMAP e-mail, file imports and a real wishlist, and removed the simulators. Each phase ended with a working app and a measurable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phases as executed. Each one ended with a check we could demonstrate, for example: no transactions created from OTP or promotional messages, a receipt photo attached to its card payment, the property test showing Buy now never breaks the buffer, and the final phase: the Android app passing all 17 checks on an emulator with real-format SMS.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modules, all working end to end on the user's own data. Capture and receipts bring data in; transactions, review and anomaly detection make it trustworthy; forecasting, subscriptions and tax look ahead; insights, the coach, budgets and the wishlist turn it into decisions. Each team member will demonstrate their own modules.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app: the dashboard, the Connections page of a new user after importing their SMS, the forecast with a what-if check, subscriptions, the tax comparison and the wishlist. The live demonstration follows after this common part, including the Android app.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whatever its source, goes through the same pipeline: SMS from the phone, e-mail from the mailbox, or an imported file. First the source must be active and the message inside the consent window; on the phone, chats, OTPs and promotions are dropped before anything is sent. A classifier recognises 12 kinds of message, the extractor reads the fields, and reconciliation makes sure one payment becomes one transaction even when it arrives by SMS and by e-mail. After new data, a background job refreshes the analytics that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SQLite with 29 tables, created by two Alembic migrations and grouped into four domains. The second migration removed the Smart Picks tables and added the mailbox connection, the wishlist's price history and the phone's sync state. Key decisions: money as integer paise, every user table cascades on delete, transactions record where they came from and how they were categorised, message text and mailbox passwords are encrypted, and the consent log is append-only.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everything on data with known answers. The chart is the forecast backtest: knowing the user's schedule cuts the error by about 41 percent against the seasonal-naive baseline, and Prophet improves it only a little more; an earlier version claimed 85 percent because its backtest saw future payments, which we fixed. The tiles show message understanding, de-duplication, categorisation, the coach and our real-format SMS corpus, which we used while improving the parser, so it is a regression set rather than an unseen test.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ran at four levels. 82 backend tests with pytest and Hypothesis, all passing on 18 October. 23 Playwright tests in a real browser: a new user's whole journey on real files, the phone layout on 12 pages, and the demo. The Android app on an Android 15 emulator: we planted real-format bank SMS, an OTP, a promotion and a personal chat, and checked that only the bank alerts reached the server, each as one transaction. Models are validated on held-out data, unseen bank formats and backtests.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main challenges and how we solved them, including making every feature work on real data. Right: improvements we identified while reviewing our own code, for example there is no log file yet because logs go to the terminal, the login rate limit lives in memory, the UI does not yet ask for consent again when the notice changes, and new SMS are read only while the app is open.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FinPilot AI turns messages people already receive into a private, forward-looking view of their money; every module works end to end on the user's own SMS and e-mail; privacy is built in; and our results are measured and tested, including on an Android device. In future it could read SMS in the background, connect to bank data through the Account Aggregator framework, and use a local language model behind the coach's provider interface.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pic>
        <p:nvPicPr>
          <p:cNvPr id="11266" name="Picture 2" descr="band"/>
          <p:cNvPicPr>
            <a:picLocks noChangeAspect="1" noChangeArrowheads="1"/>
          </p:cNvPicPr>
          <p:nvPr userDrawn="1"/>
        </p:nvPicPr>
        <p:blipFill>
          <a:blip r:embed="rId2" cstate="print"/>
          <a:srcRect/>
          <a:stretch>
            <a:fillRect/>
          </a:stretch>
        </p:blipFill>
        <p:spPr bwMode="auto">
          <a:xfrm>
            <a:off x="0" y="5589588"/>
            <a:ext cx="11988800" cy="1268412"/>
          </a:xfrm>
          <a:prstGeom prst="rect">
            <a:avLst/>
          </a:prstGeom>
          <a:noFill/>
        </p:spPr>
      </p:pic>
      <p:sp>
        <p:nvSpPr>
          <p:cNvPr id="11267" name="Rectangle 3"/>
          <p:cNvSpPr>
            <a:spLocks noGrp="1" noChangeArrowheads="1"/>
          </p:cNvSpPr>
          <p:nvPr>
            <p:ph type="ctrTitle"/>
          </p:nvPr>
        </p:nvSpPr>
        <p:spPr>
          <a:xfrm>
            <a:off x="914400" y="2286000"/>
            <a:ext cx="10363200" cy="1143000"/>
          </a:xfrm>
        </p:spPr>
        <p:txBody>
          <a:bodyPr/>
          <a:lstStyle>
            <a:lvl1pPr>
              <a:defRPr>
                <a:solidFill>
                  <a:srgbClr val="1B57B5"/>
                </a:solidFill>
              </a:defRPr>
            </a:lvl1pPr>
          </a:lstStyle>
          <a:p>
            <a:r>
              <a:rPr lang="en-US"/>
              <a:t>Click to edit Master title style</a:t>
            </a:r>
            <a:endParaRPr lang="en-US"/>
          </a:p>
        </p:txBody>
      </p:sp>
      <p:sp>
        <p:nvSpPr>
          <p:cNvPr id="11268" name="Rectangle 4"/>
          <p:cNvSpPr>
            <a:spLocks noGrp="1" noChangeArrowheads="1"/>
          </p:cNvSpPr>
          <p:nvPr>
            <p:ph type="subTitle" idx="1"/>
          </p:nvPr>
        </p:nvSpPr>
        <p:spPr>
          <a:xfrm>
            <a:off x="1828800" y="3810000"/>
            <a:ext cx="8534400" cy="1752600"/>
          </a:xfrm>
        </p:spPr>
        <p:txBody>
          <a:bodyPr/>
          <a:lstStyle>
            <a:lvl1pPr marL="0" indent="0" algn="ctr">
              <a:buFontTx/>
              <a:buNone/>
              <a:defRPr>
                <a:solidFill>
                  <a:schemeClr val="bg2"/>
                </a:solidFill>
              </a:defRPr>
            </a:lvl1pPr>
          </a:lstStyle>
          <a:p>
            <a:r>
              <a:rPr lang="en-US"/>
              <a:t>Click to edit Master subtitle style</a:t>
            </a:r>
            <a:endParaRPr lang="en-US"/>
          </a:p>
        </p:txBody>
      </p:sp>
    </p:spTree>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Slide Number Placeholder 3"/>
          <p:cNvSpPr>
            <a:spLocks noGrp="1"/>
          </p:cNvSpPr>
          <p:nvPr>
            <p:ph type="sldNum" sz="quarter" idx="10"/>
          </p:nvPr>
        </p:nvSpPr>
        <p:spPr/>
        <p:txBody>
          <a:bodyPr/>
          <a:lstStyle>
            <a:lvl1pPr>
              <a:defRPr/>
            </a:lvl1pPr>
          </a:lstStyle>
          <a:p>
            <a:fld id="{921F4039-2622-4E0D-BA5F-DF613486EC3F}" type="slidenum">
              <a:rPr lang="en-US"/>
            </a:fld>
            <a:endParaRPr lang="en-US"/>
          </a:p>
        </p:txBody>
      </p:sp>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endParaRPr lang="en-US"/>
          </a:p>
        </p:txBody>
      </p:sp>
      <p:sp>
        <p:nvSpPr>
          <p:cNvPr id="4" name="Slide Number Placeholder 3"/>
          <p:cNvSpPr>
            <a:spLocks noGrp="1"/>
          </p:cNvSpPr>
          <p:nvPr>
            <p:ph type="sldNum" sz="quarter" idx="10"/>
          </p:nvPr>
        </p:nvSpPr>
        <p:spPr/>
        <p:txBody>
          <a:bodyPr/>
          <a:lstStyle>
            <a:lvl1pPr>
              <a:defRPr/>
            </a:lvl1pPr>
          </a:lstStyle>
          <a:p>
            <a:fld id="{9A93D3DE-0D14-436D-A6F8-99F9FCD4509C}" type="slidenum">
              <a:rPr lang="en-US"/>
            </a:fld>
            <a:endParaRPr lang="en-US"/>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Slide Number Placeholder 4"/>
          <p:cNvSpPr>
            <a:spLocks noGrp="1"/>
          </p:cNvSpPr>
          <p:nvPr>
            <p:ph type="sldNum" sz="quarter" idx="10"/>
          </p:nvPr>
        </p:nvSpPr>
        <p:spPr/>
        <p:txBody>
          <a:bodyPr/>
          <a:lstStyle>
            <a:lvl1pPr>
              <a:defRPr/>
            </a:lvl1pPr>
          </a:lstStyle>
          <a:p>
            <a:fld id="{DEF9CD4C-826D-4353-97CC-FD6B600239AB}" type="slidenum">
              <a:rPr lang="en-US"/>
            </a:fld>
            <a:endParaRPr lang="en-US"/>
          </a:p>
        </p:txBody>
      </p:sp>
    </p:spTree>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Slide Number Placeholder 6"/>
          <p:cNvSpPr>
            <a:spLocks noGrp="1"/>
          </p:cNvSpPr>
          <p:nvPr>
            <p:ph type="sldNum" sz="quarter" idx="10"/>
          </p:nvPr>
        </p:nvSpPr>
        <p:spPr/>
        <p:txBody>
          <a:bodyPr/>
          <a:lstStyle>
            <a:lvl1pPr>
              <a:defRPr/>
            </a:lvl1pPr>
          </a:lstStyle>
          <a:p>
            <a:fld id="{E7A862DA-0300-4660-A6BD-320860488EFE}" type="slidenum">
              <a:rPr lang="en-US"/>
            </a:fld>
            <a:endParaRPr lang="en-US"/>
          </a:p>
        </p:txBody>
      </p:sp>
    </p:spTree>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Slide Number Placeholder 2"/>
          <p:cNvSpPr>
            <a:spLocks noGrp="1"/>
          </p:cNvSpPr>
          <p:nvPr>
            <p:ph type="sldNum" sz="quarter" idx="10"/>
          </p:nvPr>
        </p:nvSpPr>
        <p:spPr/>
        <p:txBody>
          <a:bodyPr/>
          <a:lstStyle>
            <a:lvl1pPr>
              <a:defRPr/>
            </a:lvl1pPr>
          </a:lstStyle>
          <a:p>
            <a:fld id="{A715D3E4-362F-49DE-85B9-977E4CF2496F}" type="slidenum">
              <a:rPr lang="en-US"/>
            </a:fld>
            <a:endParaRPr lang="en-US"/>
          </a:p>
        </p:txBody>
      </p:sp>
    </p:spTree>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A4670509-8842-45C7-8721-9FA549B616AB}" type="slidenum">
              <a:rPr lang="en-US"/>
            </a:fld>
            <a:endParaRPr lang="en-US"/>
          </a:p>
        </p:txBody>
      </p:sp>
    </p:spTree>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Slide Number Placeholder 4"/>
          <p:cNvSpPr>
            <a:spLocks noGrp="1"/>
          </p:cNvSpPr>
          <p:nvPr>
            <p:ph type="sldNum" sz="quarter" idx="10"/>
          </p:nvPr>
        </p:nvSpPr>
        <p:spPr/>
        <p:txBody>
          <a:bodyPr/>
          <a:lstStyle>
            <a:lvl1pPr>
              <a:defRPr/>
            </a:lvl1pPr>
          </a:lstStyle>
          <a:p>
            <a:fld id="{15FF190B-BFCC-43ED-94C1-8545E3613419}" type="slidenum">
              <a:rPr lang="en-US"/>
            </a:fld>
            <a:endParaRPr lang="en-US"/>
          </a:p>
        </p:txBody>
      </p:sp>
    </p:spTree>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Slide Number Placeholder 4"/>
          <p:cNvSpPr>
            <a:spLocks noGrp="1"/>
          </p:cNvSpPr>
          <p:nvPr>
            <p:ph type="sldNum" sz="quarter" idx="10"/>
          </p:nvPr>
        </p:nvSpPr>
        <p:spPr/>
        <p:txBody>
          <a:bodyPr/>
          <a:lstStyle>
            <a:lvl1pPr>
              <a:defRPr/>
            </a:lvl1pPr>
          </a:lstStyle>
          <a:p>
            <a:fld id="{A31E2E50-6244-4F8C-BC21-0143E7B1D612}" type="slidenum">
              <a:rPr lang="en-US"/>
            </a:fld>
            <a:endParaRPr lang="en-US"/>
          </a:p>
        </p:txBody>
      </p:sp>
    </p:spTree>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Slide Number Placeholder 3"/>
          <p:cNvSpPr>
            <a:spLocks noGrp="1"/>
          </p:cNvSpPr>
          <p:nvPr>
            <p:ph type="sldNum" sz="quarter" idx="10"/>
          </p:nvPr>
        </p:nvSpPr>
        <p:spPr/>
        <p:txBody>
          <a:bodyPr/>
          <a:lstStyle>
            <a:lvl1pPr>
              <a:defRPr/>
            </a:lvl1pPr>
          </a:lstStyle>
          <a:p>
            <a:fld id="{04B17A84-1EF1-46E0-86F0-87EE23199E92}" type="slidenum">
              <a:rPr lang="en-US"/>
            </a:fld>
            <a:endParaRPr lang="en-US"/>
          </a:p>
        </p:txBody>
      </p:sp>
    </p:spTree>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Slide Number Placeholder 3"/>
          <p:cNvSpPr>
            <a:spLocks noGrp="1"/>
          </p:cNvSpPr>
          <p:nvPr>
            <p:ph type="sldNum" sz="quarter" idx="10"/>
          </p:nvPr>
        </p:nvSpPr>
        <p:spPr/>
        <p:txBody>
          <a:bodyPr/>
          <a:lstStyle>
            <a:lvl1pPr>
              <a:defRPr/>
            </a:lvl1pPr>
          </a:lstStyle>
          <a:p>
            <a:fld id="{5EA6033A-ADCD-4E5D-B795-05F53A6B4939}" type="slidenum">
              <a:rPr lang="en-US"/>
            </a:fld>
            <a:endParaRPr lang="en-US"/>
          </a:p>
        </p:txBody>
      </p:sp>
    </p:spTree>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endParaRPr lang="en-US"/>
          </a:p>
        </p:txBody>
      </p:sp>
      <p:sp>
        <p:nvSpPr>
          <p:cNvPr id="3" name="Table Placeholder 2"/>
          <p:cNvSpPr>
            <a:spLocks noGrp="1"/>
          </p:cNvSpPr>
          <p:nvPr>
            <p:ph type="tbl" idx="1"/>
          </p:nvPr>
        </p:nvSpPr>
        <p:spPr>
          <a:xfrm>
            <a:off x="609600" y="1600201"/>
            <a:ext cx="10972800" cy="4525963"/>
          </a:xfrm>
        </p:spPr>
        <p:txBody>
          <a:bodyPr/>
          <a:lstStyle/>
          <a:p>
            <a:endParaRPr lang="en-US"/>
          </a:p>
        </p:txBody>
      </p:sp>
      <p:sp>
        <p:nvSpPr>
          <p:cNvPr id="4" name="Slide Number Placeholder 3"/>
          <p:cNvSpPr>
            <a:spLocks noGrp="1"/>
          </p:cNvSpPr>
          <p:nvPr>
            <p:ph type="sldNum" sz="quarter" idx="10"/>
          </p:nvPr>
        </p:nvSpPr>
        <p:spPr>
          <a:xfrm>
            <a:off x="0" y="6321425"/>
            <a:ext cx="12192000" cy="476250"/>
          </a:xfrm>
        </p:spPr>
        <p:txBody>
          <a:bodyPr/>
          <a:lstStyle>
            <a:lvl1pPr>
              <a:defRPr/>
            </a:lvl1pPr>
          </a:lstStyle>
          <a:p>
            <a:fld id="{E765331A-FB16-4349-BB1E-9292E7905A34}" type="slidenum">
              <a:rPr lang="en-US"/>
            </a:fld>
            <a:endParaRPr lang="en-US"/>
          </a:p>
        </p:txBody>
      </p:sp>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609600" y="274639"/>
            <a:ext cx="10972800" cy="585152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3" name="Slide Number Placeholder 2"/>
          <p:cNvSpPr>
            <a:spLocks noGrp="1"/>
          </p:cNvSpPr>
          <p:nvPr>
            <p:ph type="sldNum" sz="quarter" idx="10"/>
          </p:nvPr>
        </p:nvSpPr>
        <p:spPr>
          <a:xfrm>
            <a:off x="0" y="6321425"/>
            <a:ext cx="12192000" cy="476250"/>
          </a:xfrm>
        </p:spPr>
        <p:txBody>
          <a:bodyPr/>
          <a:lstStyle>
            <a:lvl1pPr>
              <a:defRPr/>
            </a:lvl1pPr>
          </a:lstStyle>
          <a:p>
            <a:fld id="{CA127EDD-5AE7-4F7E-A3D2-120782799796}" type="slidenum">
              <a:rPr lang="en-US"/>
            </a:fld>
            <a:endParaRPr lang="en-US"/>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endParaRPr lang="en-US"/>
          </a:p>
        </p:txBody>
      </p:sp>
      <p:sp>
        <p:nvSpPr>
          <p:cNvPr id="3" name="Chart Placeholder 2"/>
          <p:cNvSpPr>
            <a:spLocks noGrp="1"/>
          </p:cNvSpPr>
          <p:nvPr>
            <p:ph type="chart" idx="1"/>
          </p:nvPr>
        </p:nvSpPr>
        <p:spPr>
          <a:xfrm>
            <a:off x="609600" y="1600201"/>
            <a:ext cx="10972800" cy="4525963"/>
          </a:xfrm>
        </p:spPr>
        <p:txBody>
          <a:bodyPr/>
          <a:lstStyle/>
          <a:p>
            <a:endParaRPr lang="en-US"/>
          </a:p>
        </p:txBody>
      </p:sp>
      <p:sp>
        <p:nvSpPr>
          <p:cNvPr id="4" name="Slide Number Placeholder 3"/>
          <p:cNvSpPr>
            <a:spLocks noGrp="1"/>
          </p:cNvSpPr>
          <p:nvPr>
            <p:ph type="sldNum" sz="quarter" idx="10"/>
          </p:nvPr>
        </p:nvSpPr>
        <p:spPr>
          <a:xfrm>
            <a:off x="0" y="6321425"/>
            <a:ext cx="12192000" cy="476250"/>
          </a:xfrm>
        </p:spPr>
        <p:txBody>
          <a:bodyPr/>
          <a:lstStyle>
            <a:lvl1pPr>
              <a:defRPr/>
            </a:lvl1pPr>
          </a:lstStyle>
          <a:p>
            <a:fld id="{50D1D595-6F66-4A04-B04D-68C711B5071F}" type="slidenum">
              <a:rPr lang="en-US"/>
            </a:fld>
            <a:endParaRPr lang="en-US"/>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oleObject" Target="../embeddings/oleObject1.bin"/><Relationship Id="rId16" Type="http://schemas.openxmlformats.org/officeDocument/2006/relationships/image" Target="../media/image2.emf"/><Relationship Id="rId17" Type="http://schemas.openxmlformats.org/officeDocument/2006/relationships/vmlDrawing" Target="../drawings/vmlDrawing1.v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bwMode="auto">
          <a:xfrm>
            <a:off x="609600" y="274638"/>
            <a:ext cx="10972800" cy="1143000"/>
          </a:xfrm>
          <a:prstGeom prst="rect">
            <a:avLst/>
          </a:prstGeom>
          <a:noFill/>
          <a:ln w="9525">
            <a:noFill/>
            <a:miter lim="800000"/>
          </a:ln>
          <a:effectLst/>
        </p:spPr>
        <p:txBody>
          <a:bodyPr vert="horz" wrap="square" lIns="91440" tIns="45720" rIns="91440" bIns="45720" numCol="1" anchor="ctr" anchorCtr="0" compatLnSpc="1"/>
          <a:lstStyle/>
          <a:p>
            <a:pPr lvl="0"/>
            <a:r>
              <a:rPr lang="en-US"/>
              <a:t>Click to edit Master title style</a:t>
            </a:r>
            <a:endParaRPr lang="en-US"/>
          </a:p>
        </p:txBody>
      </p:sp>
      <p:sp>
        <p:nvSpPr>
          <p:cNvPr id="10243" name="Rectangle 3"/>
          <p:cNvSpPr>
            <a:spLocks noGrp="1" noChangeArrowheads="1"/>
          </p:cNvSpPr>
          <p:nvPr>
            <p:ph type="body" idx="1"/>
          </p:nvPr>
        </p:nvSpPr>
        <p:spPr bwMode="auto">
          <a:xfrm>
            <a:off x="609600" y="1600201"/>
            <a:ext cx="10972800" cy="4525963"/>
          </a:xfrm>
          <a:prstGeom prst="rect">
            <a:avLst/>
          </a:prstGeom>
          <a:noFill/>
          <a:ln w="9525">
            <a:noFill/>
            <a:miter lim="800000"/>
          </a:ln>
          <a:effectLst/>
        </p:spPr>
        <p:txBody>
          <a:bodyPr vert="horz" wrap="square" lIns="91440" tIns="45720" rIns="91440" bIns="45720" numCol="1" anchor="t" anchorCtr="0" compatLnSpc="1"/>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graphicFrame>
        <p:nvGraphicFramePr>
          <p:cNvPr id="10244" name="Object 4"/>
          <p:cNvGraphicFramePr>
            <a:graphicFrameLocks noChangeAspect="1"/>
          </p:cNvGraphicFramePr>
          <p:nvPr/>
        </p:nvGraphicFramePr>
        <p:xfrm>
          <a:off x="0" y="6117455"/>
          <a:ext cx="12191999" cy="788671"/>
        </p:xfrm>
        <a:graphic>
          <a:graphicData uri="http://schemas.openxmlformats.org/presentationml/2006/ole">
            <mc:AlternateContent xmlns:mc="http://schemas.openxmlformats.org/markup-compatibility/2006">
              <mc:Choice xmlns:v="urn:schemas-microsoft-com:vml" Requires="v">
                <p:oleObj spid="_x0000_s2" name="CorelDRAW" r:id="rId15" imgW="9529445" imgH="654685" progId="">
                  <p:embed/>
                </p:oleObj>
              </mc:Choice>
              <mc:Fallback>
                <p:oleObj name="CorelDRAW" r:id="rId15" imgW="9529445" imgH="654685" progId="">
                  <p:embed/>
                  <p:pic>
                    <p:nvPicPr>
                      <p:cNvPr id="0" name="Object 4"/>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0" y="6117455"/>
                        <a:ext cx="12191999" cy="788671"/>
                      </a:xfrm>
                      <a:prstGeom prst="rect">
                        <a:avLst/>
                      </a:prstGeom>
                      <a:noFill/>
                      <a:ln>
                        <a:noFill/>
                      </a:ln>
                    </p:spPr>
                  </p:pic>
                </p:oleObj>
              </mc:Fallback>
            </mc:AlternateContent>
          </a:graphicData>
        </a:graphic>
      </p:graphicFrame>
      <p:sp>
        <p:nvSpPr>
          <p:cNvPr id="10245" name="Rectangle 5"/>
          <p:cNvSpPr>
            <a:spLocks noGrp="1" noChangeArrowheads="1"/>
          </p:cNvSpPr>
          <p:nvPr>
            <p:ph type="sldNum" sz="quarter" idx="4"/>
          </p:nvPr>
        </p:nvSpPr>
        <p:spPr bwMode="auto">
          <a:xfrm>
            <a:off x="0" y="6126164"/>
            <a:ext cx="12192000" cy="476250"/>
          </a:xfrm>
          <a:prstGeom prst="rect">
            <a:avLst/>
          </a:prstGeom>
          <a:noFill/>
          <a:ln w="9525">
            <a:noFill/>
            <a:miter lim="800000"/>
          </a:ln>
          <a:effectLst/>
        </p:spPr>
        <p:txBody>
          <a:bodyPr vert="horz" wrap="square" lIns="91440" tIns="45720" rIns="91440" bIns="45720" numCol="1" anchor="t" anchorCtr="0" compatLnSpc="1"/>
          <a:lstStyle>
            <a:lvl1pPr algn="ctr">
              <a:defRPr sz="1400"/>
            </a:lvl1pPr>
          </a:lstStyle>
          <a:p>
            <a:fld id="{8AFEF79D-0508-431A-9382-43A6F8BABA35}" type="slidenum">
              <a:rPr lang="en-US"/>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p:fade/>
  </p:transition>
  <p:hf hdr="0" ftr="0" dt="0"/>
  <p:txStyles>
    <p:titleStyle>
      <a:lvl1pPr algn="ctr" rtl="0" fontAlgn="base">
        <a:spcBef>
          <a:spcPct val="0"/>
        </a:spcBef>
        <a:spcAft>
          <a:spcPct val="0"/>
        </a:spcAft>
        <a:defRPr sz="4000">
          <a:solidFill>
            <a:schemeClr val="tx2"/>
          </a:solidFill>
          <a:latin typeface="+mj-lt"/>
          <a:ea typeface="+mj-ea"/>
          <a:cs typeface="+mj-cs"/>
        </a:defRPr>
      </a:lvl1pPr>
      <a:lvl2pPr algn="ctr" rtl="0" fontAlgn="base">
        <a:spcBef>
          <a:spcPct val="0"/>
        </a:spcBef>
        <a:spcAft>
          <a:spcPct val="0"/>
        </a:spcAft>
        <a:defRPr sz="4000">
          <a:solidFill>
            <a:schemeClr val="tx2"/>
          </a:solidFill>
          <a:latin typeface="Verdana" panose="020B0804030504040204" pitchFamily="34" charset="0"/>
        </a:defRPr>
      </a:lvl2pPr>
      <a:lvl3pPr algn="ctr" rtl="0" fontAlgn="base">
        <a:spcBef>
          <a:spcPct val="0"/>
        </a:spcBef>
        <a:spcAft>
          <a:spcPct val="0"/>
        </a:spcAft>
        <a:defRPr sz="4000">
          <a:solidFill>
            <a:schemeClr val="tx2"/>
          </a:solidFill>
          <a:latin typeface="Verdana" panose="020B0804030504040204" pitchFamily="34" charset="0"/>
        </a:defRPr>
      </a:lvl3pPr>
      <a:lvl4pPr algn="ctr" rtl="0" fontAlgn="base">
        <a:spcBef>
          <a:spcPct val="0"/>
        </a:spcBef>
        <a:spcAft>
          <a:spcPct val="0"/>
        </a:spcAft>
        <a:defRPr sz="4000">
          <a:solidFill>
            <a:schemeClr val="tx2"/>
          </a:solidFill>
          <a:latin typeface="Verdana" panose="020B0804030504040204" pitchFamily="34" charset="0"/>
        </a:defRPr>
      </a:lvl4pPr>
      <a:lvl5pPr algn="ctr" rtl="0" fontAlgn="base">
        <a:spcBef>
          <a:spcPct val="0"/>
        </a:spcBef>
        <a:spcAft>
          <a:spcPct val="0"/>
        </a:spcAft>
        <a:defRPr sz="4000">
          <a:solidFill>
            <a:schemeClr val="tx2"/>
          </a:solidFill>
          <a:latin typeface="Verdana" panose="020B0804030504040204" pitchFamily="34" charset="0"/>
        </a:defRPr>
      </a:lvl5pPr>
      <a:lvl6pPr marL="457200" algn="ctr" rtl="0" fontAlgn="base">
        <a:spcBef>
          <a:spcPct val="0"/>
        </a:spcBef>
        <a:spcAft>
          <a:spcPct val="0"/>
        </a:spcAft>
        <a:defRPr sz="4000">
          <a:solidFill>
            <a:schemeClr val="tx2"/>
          </a:solidFill>
          <a:latin typeface="Verdana" panose="020B0804030504040204" pitchFamily="34" charset="0"/>
        </a:defRPr>
      </a:lvl6pPr>
      <a:lvl7pPr marL="914400" algn="ctr" rtl="0" fontAlgn="base">
        <a:spcBef>
          <a:spcPct val="0"/>
        </a:spcBef>
        <a:spcAft>
          <a:spcPct val="0"/>
        </a:spcAft>
        <a:defRPr sz="4000">
          <a:solidFill>
            <a:schemeClr val="tx2"/>
          </a:solidFill>
          <a:latin typeface="Verdana" panose="020B0804030504040204" pitchFamily="34" charset="0"/>
        </a:defRPr>
      </a:lvl7pPr>
      <a:lvl8pPr marL="1371600" algn="ctr" rtl="0" fontAlgn="base">
        <a:spcBef>
          <a:spcPct val="0"/>
        </a:spcBef>
        <a:spcAft>
          <a:spcPct val="0"/>
        </a:spcAft>
        <a:defRPr sz="4000">
          <a:solidFill>
            <a:schemeClr val="tx2"/>
          </a:solidFill>
          <a:latin typeface="Verdana" panose="020B0804030504040204" pitchFamily="34" charset="0"/>
        </a:defRPr>
      </a:lvl8pPr>
      <a:lvl9pPr marL="1828800" algn="ctr" rtl="0" fontAlgn="base">
        <a:spcBef>
          <a:spcPct val="0"/>
        </a:spcBef>
        <a:spcAft>
          <a:spcPct val="0"/>
        </a:spcAft>
        <a:defRPr sz="4000">
          <a:solidFill>
            <a:schemeClr val="tx2"/>
          </a:solidFill>
          <a:latin typeface="Verdana" panose="020B0804030504040204" pitchFamily="34" charset="0"/>
        </a:defRPr>
      </a:lvl9pPr>
    </p:titleStyle>
    <p:bodyStyle>
      <a:lvl1pPr marL="342900" indent="-342900" algn="l" rtl="0" fontAlgn="base">
        <a:spcBef>
          <a:spcPct val="20000"/>
        </a:spcBef>
        <a:spcAft>
          <a:spcPct val="0"/>
        </a:spcAft>
        <a:buChar char="•"/>
        <a:defRPr sz="3200">
          <a:solidFill>
            <a:schemeClr val="tx1"/>
          </a:solidFill>
          <a:latin typeface="+mn-lt"/>
          <a:ea typeface="+mn-ea"/>
          <a:cs typeface="+mn-cs"/>
        </a:defRPr>
      </a:lvl1pPr>
      <a:lvl2pPr marL="742950" indent="-285750" algn="l" rtl="0" fontAlgn="base">
        <a:spcBef>
          <a:spcPct val="20000"/>
        </a:spcBef>
        <a:spcAft>
          <a:spcPct val="0"/>
        </a:spcAft>
        <a:buChar char="–"/>
        <a:defRPr sz="2800">
          <a:solidFill>
            <a:schemeClr val="tx1"/>
          </a:solidFill>
          <a:latin typeface="+mn-lt"/>
        </a:defRPr>
      </a:lvl2pPr>
      <a:lvl3pPr marL="1143000" indent="-228600" algn="l" rtl="0" fontAlgn="base">
        <a:spcBef>
          <a:spcPct val="20000"/>
        </a:spcBef>
        <a:spcAft>
          <a:spcPct val="0"/>
        </a:spcAft>
        <a:buChar char="•"/>
        <a:defRPr sz="2400">
          <a:solidFill>
            <a:schemeClr val="tx1"/>
          </a:solidFill>
          <a:latin typeface="+mn-lt"/>
        </a:defRPr>
      </a:lvl3pPr>
      <a:lvl4pPr marL="1600200" indent="-228600" algn="l" rtl="0" fontAlgn="base">
        <a:spcBef>
          <a:spcPct val="20000"/>
        </a:spcBef>
        <a:spcAft>
          <a:spcPct val="0"/>
        </a:spcAft>
        <a:buChar char="–"/>
        <a:defRPr sz="2000">
          <a:solidFill>
            <a:schemeClr val="tx1"/>
          </a:solidFill>
          <a:latin typeface="+mn-lt"/>
        </a:defRPr>
      </a:lvl4pPr>
      <a:lvl5pPr marL="2057400" indent="-228600" algn="l" rtl="0" fontAlgn="base">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1984248"/>
          </a:xfrm>
          <a:solidFill>
            <a:srgbClr val="0079BC"/>
          </a:solidFill>
          <a:ln>
            <a:noFill/>
          </a:ln>
        </p:spPr>
        <p:txBody>
          <a:bodyPr anchor="ctr" wrap="square">
            <a:noAutofit/>
          </a:bodyPr>
          <a:lstStyle/>
          <a:p>
            <a:pPr algn="ctr">
              <a:spcAft>
                <a:spcPts val="200"/>
              </a:spcAft>
              <a:buNone/>
            </a:pPr>
            <a:r>
              <a:rPr sz="3600" b="1" i="0">
                <a:solidFill>
                  <a:srgbClr val="FFFFFF"/>
                </a:solidFill>
                <a:latin typeface="Times New Roman"/>
              </a:rPr>
              <a:t>SSN College of Engineering, Kalavakkam - 603110</a:t>
            </a:r>
          </a:p>
          <a:p>
            <a:pPr algn="ctr">
              <a:spcAft>
                <a:spcPts val="0"/>
              </a:spcAft>
              <a:buNone/>
            </a:pPr>
            <a:r>
              <a:rPr sz="2800" b="1" i="0">
                <a:solidFill>
                  <a:srgbClr val="FFFFFF"/>
                </a:solidFill>
                <a:latin typeface="Times New Roman"/>
              </a:rPr>
              <a:t>Department of Information Technology</a:t>
            </a:r>
          </a:p>
        </p:txBody>
      </p:sp>
      <p:sp>
        <p:nvSpPr>
          <p:cNvPr id="3" name="TextBox 2"/>
          <p:cNvSpPr txBox="1"/>
          <p:nvPr/>
        </p:nvSpPr>
        <p:spPr>
          <a:xfrm>
            <a:off x="731520" y="2240280"/>
            <a:ext cx="10725912" cy="502920"/>
          </a:xfrm>
          <a:prstGeom prst="rect">
            <a:avLst/>
          </a:prstGeom>
          <a:noFill/>
        </p:spPr>
        <p:txBody>
          <a:bodyPr wrap="square" lIns="36576" tIns="18288" rIns="36576" bIns="18288" anchor="t">
            <a:noAutofit/>
          </a:bodyPr>
          <a:lstStyle/>
          <a:p>
            <a:pPr algn="ctr">
              <a:spcAft>
                <a:spcPts val="400"/>
              </a:spcAft>
              <a:buNone/>
            </a:pPr>
            <a:r>
              <a:rPr sz="2600" b="1" i="0">
                <a:solidFill>
                  <a:srgbClr val="0066CC"/>
                </a:solidFill>
                <a:latin typeface="Times New Roman"/>
              </a:rPr>
              <a:t>UIT2739 - Full Stack Development Project</a:t>
            </a:r>
          </a:p>
        </p:txBody>
      </p:sp>
      <p:sp>
        <p:nvSpPr>
          <p:cNvPr id="4" name="TextBox 3"/>
          <p:cNvSpPr txBox="1"/>
          <p:nvPr/>
        </p:nvSpPr>
        <p:spPr>
          <a:xfrm>
            <a:off x="731520" y="2852928"/>
            <a:ext cx="10725912" cy="731520"/>
          </a:xfrm>
          <a:prstGeom prst="rect">
            <a:avLst/>
          </a:prstGeom>
          <a:noFill/>
        </p:spPr>
        <p:txBody>
          <a:bodyPr wrap="square" lIns="36576" tIns="18288" rIns="36576" bIns="18288" anchor="t">
            <a:noAutofit/>
          </a:bodyPr>
          <a:lstStyle/>
          <a:p>
            <a:pPr algn="ctr">
              <a:spcAft>
                <a:spcPts val="400"/>
              </a:spcAft>
              <a:buNone/>
            </a:pPr>
            <a:r>
              <a:rPr sz="4400" b="1" i="0">
                <a:solidFill>
                  <a:srgbClr val="154360"/>
                </a:solidFill>
                <a:latin typeface="Times New Roman"/>
              </a:rPr>
              <a:t>FinPilot AI</a:t>
            </a:r>
          </a:p>
        </p:txBody>
      </p:sp>
      <p:sp>
        <p:nvSpPr>
          <p:cNvPr id="5" name="TextBox 4"/>
          <p:cNvSpPr txBox="1"/>
          <p:nvPr/>
        </p:nvSpPr>
        <p:spPr>
          <a:xfrm>
            <a:off x="731520" y="3584448"/>
            <a:ext cx="10725912" cy="502920"/>
          </a:xfrm>
          <a:prstGeom prst="rect">
            <a:avLst/>
          </a:prstGeom>
          <a:noFill/>
        </p:spPr>
        <p:txBody>
          <a:bodyPr wrap="square" lIns="36576" tIns="18288" rIns="36576" bIns="18288" anchor="t">
            <a:noAutofit/>
          </a:bodyPr>
          <a:lstStyle/>
          <a:p>
            <a:pPr algn="ctr">
              <a:spcAft>
                <a:spcPts val="400"/>
              </a:spcAft>
              <a:buNone/>
            </a:pPr>
            <a:r>
              <a:rPr sz="2400" b="0" i="0">
                <a:solidFill>
                  <a:srgbClr val="154360"/>
                </a:solidFill>
                <a:latin typeface="Times New Roman"/>
              </a:rPr>
              <a:t>A Privacy-Focused Personal Finance Assistant</a:t>
            </a:r>
          </a:p>
        </p:txBody>
      </p:sp>
      <p:sp>
        <p:nvSpPr>
          <p:cNvPr id="6" name="TextBox 5"/>
          <p:cNvSpPr txBox="1"/>
          <p:nvPr/>
        </p:nvSpPr>
        <p:spPr>
          <a:xfrm>
            <a:off x="1828800" y="4343400"/>
            <a:ext cx="8531352" cy="1143000"/>
          </a:xfrm>
          <a:prstGeom prst="rect">
            <a:avLst/>
          </a:prstGeom>
          <a:noFill/>
        </p:spPr>
        <p:txBody>
          <a:bodyPr wrap="square" lIns="36576" tIns="18288" rIns="36576" bIns="18288" anchor="t">
            <a:noAutofit/>
          </a:bodyPr>
          <a:lstStyle/>
          <a:p>
            <a:pPr algn="ctr">
              <a:spcAft>
                <a:spcPts val="200"/>
              </a:spcAft>
              <a:buNone/>
            </a:pPr>
            <a:r>
              <a:rPr sz="1800" b="1" i="0">
                <a:solidFill>
                  <a:srgbClr val="0066CC"/>
                </a:solidFill>
                <a:latin typeface="Times New Roman"/>
              </a:rPr>
              <a:t>Jeya Sangavi R - 3122235002054</a:t>
            </a:r>
          </a:p>
          <a:p>
            <a:pPr algn="ctr">
              <a:spcAft>
                <a:spcPts val="200"/>
              </a:spcAft>
              <a:buNone/>
            </a:pPr>
            <a:r>
              <a:rPr sz="1800" b="1" i="0">
                <a:solidFill>
                  <a:srgbClr val="0066CC"/>
                </a:solidFill>
                <a:latin typeface="Times New Roman"/>
              </a:rPr>
              <a:t>Rahul Akshath Rajendran - 3122235002095</a:t>
            </a:r>
          </a:p>
          <a:p>
            <a:pPr algn="ctr">
              <a:spcAft>
                <a:spcPts val="200"/>
              </a:spcAft>
              <a:buNone/>
            </a:pPr>
            <a:r>
              <a:rPr sz="1800" b="1" i="0">
                <a:solidFill>
                  <a:srgbClr val="0066CC"/>
                </a:solidFill>
                <a:latin typeface="Times New Roman"/>
              </a:rPr>
              <a:t>Rakshitha S - 3122235002098</a:t>
            </a:r>
          </a:p>
        </p:txBody>
      </p:sp>
      <p:sp>
        <p:nvSpPr>
          <p:cNvPr id="7" name="TextBox 6"/>
          <p:cNvSpPr txBox="1"/>
          <p:nvPr/>
        </p:nvSpPr>
        <p:spPr>
          <a:xfrm>
            <a:off x="1828800" y="5559552"/>
            <a:ext cx="8531352" cy="320040"/>
          </a:xfrm>
          <a:prstGeom prst="rect">
            <a:avLst/>
          </a:prstGeom>
          <a:noFill/>
        </p:spPr>
        <p:txBody>
          <a:bodyPr wrap="square" lIns="36576" tIns="18288" rIns="36576" bIns="18288" anchor="t">
            <a:noAutofit/>
          </a:bodyPr>
          <a:lstStyle/>
          <a:p>
            <a:pPr algn="ctr">
              <a:spcAft>
                <a:spcPts val="400"/>
              </a:spcAft>
              <a:buNone/>
            </a:pPr>
            <a:r>
              <a:rPr sz="1300" b="0" i="0">
                <a:solidFill>
                  <a:srgbClr val="5B6573"/>
                </a:solidFill>
                <a:latin typeface="Arial"/>
              </a:rPr>
              <a:t>Project Evaluation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Project Overview</a:t>
            </a:r>
          </a:p>
        </p:txBody>
      </p:sp>
      <p:sp>
        <p:nvSpPr>
          <p:cNvPr id="3" name="TextBox 2"/>
          <p:cNvSpPr txBox="1"/>
          <p:nvPr/>
        </p:nvSpPr>
        <p:spPr>
          <a:xfrm>
            <a:off x="548640" y="1188720"/>
            <a:ext cx="11091672" cy="868680"/>
          </a:xfrm>
          <a:prstGeom prst="rect">
            <a:avLst/>
          </a:prstGeom>
          <a:noFill/>
        </p:spPr>
        <p:txBody>
          <a:bodyPr wrap="square" anchor="t" lIns="45720" rIns="45720" tIns="27432" bIns="27432">
            <a:noAutofit/>
          </a:bodyPr>
          <a:lstStyle/>
          <a:p>
            <a:pPr algn="l">
              <a:spcBef>
                <a:spcPts val="0"/>
              </a:spcBef>
              <a:buNone/>
            </a:pPr>
            <a:r>
              <a:rPr sz="1700" b="0" i="0">
                <a:solidFill>
                  <a:srgbClr val="000000"/>
                </a:solidFill>
                <a:latin typeface="Arial"/>
              </a:rPr>
              <a:t>FinPilot AI is a personal finance app for India: an Android app and a server on the user's laptop. It reads the bank SMS and e-mails a user already receives (only from sources they allow) to track spending, predict the balance and check what they can afford.</a:t>
            </a:r>
          </a:p>
        </p:txBody>
      </p:sp>
      <p:graphicFrame>
        <p:nvGraphicFramePr>
          <p:cNvPr id="4" name="Table 3"/>
          <p:cNvGraphicFramePr>
            <a:graphicFrameLocks noGrp="1"/>
          </p:cNvGraphicFramePr>
          <p:nvPr/>
        </p:nvGraphicFramePr>
        <p:xfrm>
          <a:off x="548640" y="2240280"/>
          <a:ext cx="11091672" cy="749808"/>
        </p:xfrm>
        <a:graphic>
          <a:graphicData uri="http://schemas.openxmlformats.org/drawingml/2006/table">
            <a:tbl>
              <a:tblPr firstRow="1" bandRow="0">
                <a:tableStyleId>{5940675A-B579-460E-94D1-54222C63F5DA}</a:tableStyleId>
              </a:tblPr>
              <a:tblGrid>
                <a:gridCol w="2772918"/>
                <a:gridCol w="2772918"/>
                <a:gridCol w="2772918"/>
                <a:gridCol w="2772918"/>
              </a:tblGrid>
              <a:tr h="384048">
                <a:tc>
                  <a:txBody>
                    <a:bodyPr wrap="square"/>
                    <a:lstStyle/>
                    <a:p>
                      <a:pPr algn="l">
                        <a:spcBef>
                          <a:spcPts val="0"/>
                        </a:spcBef>
                        <a:buNone/>
                      </a:pPr>
                      <a:r>
                        <a:rPr sz="1500" b="1" i="0">
                          <a:solidFill>
                            <a:srgbClr val="000000"/>
                          </a:solidFill>
                          <a:latin typeface="Arial"/>
                        </a:rPr>
                        <a:t>Capture</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500" b="1" i="0">
                          <a:solidFill>
                            <a:srgbClr val="000000"/>
                          </a:solidFill>
                          <a:latin typeface="Arial"/>
                        </a:rPr>
                        <a:t>Understand</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500" b="1" i="0">
                          <a:solidFill>
                            <a:srgbClr val="000000"/>
                          </a:solidFill>
                          <a:latin typeface="Arial"/>
                        </a:rPr>
                        <a:t>Predict</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500" b="1" i="0">
                          <a:solidFill>
                            <a:srgbClr val="000000"/>
                          </a:solidFill>
                          <a:latin typeface="Arial"/>
                        </a:rPr>
                        <a:t>Act</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365760">
                <a:tc>
                  <a:txBody>
                    <a:bodyPr wrap="square"/>
                    <a:lstStyle/>
                    <a:p>
                      <a:pPr algn="l" marL="274320" indent="-274320">
                        <a:spcBef>
                          <a:spcPts val="200"/>
                        </a:spcBef>
                        <a:buFont typeface="Arial"/>
                        <a:buChar char="•"/>
                      </a:pPr>
                      <a:r>
                        <a:rPr sz="1500" b="0" i="0">
                          <a:solidFill>
                            <a:srgbClr val="000000"/>
                          </a:solidFill>
                          <a:latin typeface="Arial"/>
                        </a:rPr>
                        <a:t>Bank SMS (on the phone) and e-mail, separate consent for each</a:t>
                      </a:r>
                    </a:p>
                    <a:p>
                      <a:pPr algn="l" marL="274320" indent="-274320">
                        <a:spcBef>
                          <a:spcPts val="200"/>
                        </a:spcBef>
                        <a:buFont typeface="Arial"/>
                        <a:buChar char="•"/>
                      </a:pPr>
                      <a:r>
                        <a:rPr sz="1500" b="0" i="0">
                          <a:solidFill>
                            <a:srgbClr val="000000"/>
                          </a:solidFill>
                          <a:latin typeface="Arial"/>
                        </a:rPr>
                        <a:t>Optional: receipt photos, PDF bills, CSV/XLSX statements, manual entry</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marL="274320" indent="-274320">
                        <a:spcBef>
                          <a:spcPts val="200"/>
                        </a:spcBef>
                        <a:buFont typeface="Arial"/>
                        <a:buChar char="•"/>
                      </a:pPr>
                      <a:r>
                        <a:rPr sz="1500" b="0" i="0">
                          <a:solidFill>
                            <a:srgbClr val="000000"/>
                          </a:solidFill>
                          <a:latin typeface="Arial"/>
                        </a:rPr>
                        <a:t>Classify, extract and de-duplicate messages</a:t>
                      </a:r>
                    </a:p>
                    <a:p>
                      <a:pPr algn="l" marL="274320" indent="-274320">
                        <a:spcBef>
                          <a:spcPts val="200"/>
                        </a:spcBef>
                        <a:buFont typeface="Arial"/>
                        <a:buChar char="•"/>
                      </a:pPr>
                      <a:r>
                        <a:rPr sz="1500" b="0" i="0">
                          <a:solidFill>
                            <a:srgbClr val="000000"/>
                          </a:solidFill>
                          <a:latin typeface="Arial"/>
                        </a:rPr>
                        <a:t>Categorise payments and flag unusual ones</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marL="274320" indent="-274320">
                        <a:spcBef>
                          <a:spcPts val="200"/>
                        </a:spcBef>
                        <a:buFont typeface="Arial"/>
                        <a:buChar char="•"/>
                      </a:pPr>
                      <a:r>
                        <a:rPr sz="1500" b="0" i="0">
                          <a:solidFill>
                            <a:srgbClr val="000000"/>
                          </a:solidFill>
                          <a:latin typeface="Arial"/>
                        </a:rPr>
                        <a:t>90-day cash-flow forecast with an 80% range</a:t>
                      </a:r>
                    </a:p>
                    <a:p>
                      <a:pPr algn="l" marL="274320" indent="-274320">
                        <a:spcBef>
                          <a:spcPts val="200"/>
                        </a:spcBef>
                        <a:buFont typeface="Arial"/>
                        <a:buChar char="•"/>
                      </a:pPr>
                      <a:r>
                        <a:rPr sz="1500" b="0" i="0">
                          <a:solidFill>
                            <a:srgbClr val="000000"/>
                          </a:solidFill>
                          <a:latin typeface="Arial"/>
                        </a:rPr>
                        <a:t>Subscription analysis and income tax for two years</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marL="274320" indent="-274320">
                        <a:spcBef>
                          <a:spcPts val="200"/>
                        </a:spcBef>
                        <a:buFont typeface="Arial"/>
                        <a:buChar char="•"/>
                      </a:pPr>
                      <a:r>
                        <a:rPr sz="1500" b="0" i="0">
                          <a:solidFill>
                            <a:srgbClr val="000000"/>
                          </a:solidFill>
                          <a:latin typeface="Arial"/>
                        </a:rPr>
                        <a:t>Ranked insights and a finance coach</a:t>
                      </a:r>
                    </a:p>
                    <a:p>
                      <a:pPr algn="l" marL="274320" indent="-274320">
                        <a:spcBef>
                          <a:spcPts val="200"/>
                        </a:spcBef>
                        <a:buFont typeface="Arial"/>
                        <a:buChar char="•"/>
                      </a:pPr>
                      <a:r>
                        <a:rPr sz="1500" b="0" i="0">
                          <a:solidFill>
                            <a:srgbClr val="000000"/>
                          </a:solidFill>
                          <a:latin typeface="Arial"/>
                        </a:rPr>
                        <a:t>Budgets, goals and a wishlist within budget</a:t>
                      </a:r>
                    </a:p>
                  </a:txBody>
                  <a:tcPr marL="73152" marR="73152" marT="36576" marB="36576" anchor="t">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
        <p:nvSpPr>
          <p:cNvPr id="5" name="TextBox 4"/>
          <p:cNvSpPr txBox="1"/>
          <p:nvPr/>
        </p:nvSpPr>
        <p:spPr>
          <a:xfrm>
            <a:off x="548640" y="4069080"/>
            <a:ext cx="548640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Key points</a:t>
            </a:r>
          </a:p>
        </p:txBody>
      </p:sp>
      <p:sp>
        <p:nvSpPr>
          <p:cNvPr id="6" name="TextBox 5"/>
          <p:cNvSpPr txBox="1"/>
          <p:nvPr/>
        </p:nvSpPr>
        <p:spPr>
          <a:xfrm>
            <a:off x="548640" y="4434840"/>
            <a:ext cx="11091672" cy="1188720"/>
          </a:xfrm>
          <a:prstGeom prst="rect">
            <a:avLst/>
          </a:prstGeom>
          <a:noFill/>
        </p:spPr>
        <p:txBody>
          <a:bodyPr wrap="square" anchor="t" lIns="45720" rIns="45720" tIns="27432" bIns="27432">
            <a:noAutofit/>
          </a:bodyPr>
          <a:lstStyle/>
          <a:p>
            <a:pPr algn="l" marL="274320" indent="-274320">
              <a:spcBef>
                <a:spcPts val="300"/>
              </a:spcBef>
              <a:buFont typeface="Arial"/>
              <a:buChar char="•"/>
            </a:pPr>
            <a:r>
              <a:rPr sz="1600" b="0" i="0">
                <a:solidFill>
                  <a:srgbClr val="000000"/>
                </a:solidFill>
                <a:latin typeface="Arial"/>
              </a:rPr>
              <a:t>The server runs with one command (python3 run.py); the phone pairs by QR code</a:t>
            </a:r>
          </a:p>
          <a:p>
            <a:pPr algn="l" marL="274320" indent="-274320">
              <a:spcBef>
                <a:spcPts val="300"/>
              </a:spcBef>
              <a:buFont typeface="Arial"/>
              <a:buChar char="•"/>
            </a:pPr>
            <a:r>
              <a:rPr sz="1600" b="0" i="0">
                <a:solidFill>
                  <a:srgbClr val="000000"/>
                </a:solidFill>
                <a:latin typeface="Arial"/>
              </a:rPr>
              <a:t>Data stays on the user's laptop; no cloud service</a:t>
            </a:r>
          </a:p>
          <a:p>
            <a:pPr algn="l" marL="274320" indent="-274320">
              <a:spcBef>
                <a:spcPts val="300"/>
              </a:spcBef>
              <a:buFont typeface="Arial"/>
              <a:buChar char="•"/>
            </a:pPr>
            <a:r>
              <a:rPr sz="1600" b="0" i="0">
                <a:solidFill>
                  <a:srgbClr val="000000"/>
                </a:solidFill>
                <a:latin typeface="Arial"/>
              </a:rPr>
              <a:t>No running cost: no paid AI services and no bank login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Problem Statement and Motivation</a:t>
            </a:r>
          </a:p>
        </p:txBody>
      </p:sp>
      <p:sp>
        <p:nvSpPr>
          <p:cNvPr id="3" name="TextBox 2"/>
          <p:cNvSpPr txBox="1"/>
          <p:nvPr/>
        </p:nvSpPr>
        <p:spPr>
          <a:xfrm>
            <a:off x="54864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Problem Statement</a:t>
            </a:r>
          </a:p>
        </p:txBody>
      </p:sp>
      <p:sp>
        <p:nvSpPr>
          <p:cNvPr id="4" name="TextBox 3"/>
          <p:cNvSpPr txBox="1"/>
          <p:nvPr/>
        </p:nvSpPr>
        <p:spPr>
          <a:xfrm>
            <a:off x="548640" y="1572768"/>
            <a:ext cx="5257800" cy="3566160"/>
          </a:xfrm>
          <a:prstGeom prst="rect">
            <a:avLst/>
          </a:prstGeom>
          <a:noFill/>
        </p:spPr>
        <p:txBody>
          <a:bodyPr wrap="square" anchor="t" lIns="45720" rIns="45720" tIns="27432" bIns="27432">
            <a:noAutofit/>
          </a:bodyPr>
          <a:lstStyle/>
          <a:p>
            <a:pPr algn="l">
              <a:spcBef>
                <a:spcPts val="600"/>
              </a:spcBef>
              <a:buNone/>
            </a:pPr>
            <a:r>
              <a:rPr sz="1600" b="0" i="0">
                <a:solidFill>
                  <a:srgbClr val="000000"/>
                </a:solidFill>
                <a:latin typeface="Arial"/>
              </a:rPr>
              <a:t>Every UPI payment, card swipe, bill and salary credit already reaches the user as a bank SMS or e-mail, but this information stays scattered.</a:t>
            </a:r>
          </a:p>
          <a:p>
            <a:pPr algn="l">
              <a:spcBef>
                <a:spcPts val="1000"/>
              </a:spcBef>
              <a:buNone/>
            </a:pPr>
            <a:r>
              <a:rPr sz="1600" b="0" i="0">
                <a:solidFill>
                  <a:srgbClr val="000000"/>
                </a:solidFill>
                <a:latin typeface="Arial"/>
              </a:rPr>
              <a:t>Existing apps make people type in transactions, ask for bank login details, or send personal data to paid cloud AI services. They also only show past spending.</a:t>
            </a:r>
          </a:p>
          <a:p>
            <a:pPr algn="l">
              <a:spcBef>
                <a:spcPts val="1000"/>
              </a:spcBef>
              <a:buNone/>
            </a:pPr>
            <a:r>
              <a:rPr sz="1600" b="0" i="0">
                <a:solidFill>
                  <a:srgbClr val="000000"/>
                </a:solidFill>
                <a:latin typeface="Arial"/>
              </a:rPr>
              <a:t>We want to build a reliable, forward-looking view of a person's money from the messages they already receive, using only the sources they allow, running on their own computer at no cost.</a:t>
            </a:r>
          </a:p>
        </p:txBody>
      </p:sp>
      <p:sp>
        <p:nvSpPr>
          <p:cNvPr id="5" name="TextBox 4"/>
          <p:cNvSpPr txBox="1"/>
          <p:nvPr/>
        </p:nvSpPr>
        <p:spPr>
          <a:xfrm>
            <a:off x="617220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Issues with Current Apps</a:t>
            </a:r>
          </a:p>
        </p:txBody>
      </p:sp>
      <p:sp>
        <p:nvSpPr>
          <p:cNvPr id="6" name="TextBox 5"/>
          <p:cNvSpPr txBox="1"/>
          <p:nvPr/>
        </p:nvSpPr>
        <p:spPr>
          <a:xfrm>
            <a:off x="6172200" y="1572768"/>
            <a:ext cx="5468112" cy="3566160"/>
          </a:xfrm>
          <a:prstGeom prst="rect">
            <a:avLst/>
          </a:prstGeom>
          <a:noFill/>
        </p:spPr>
        <p:txBody>
          <a:bodyPr wrap="square" anchor="t" lIns="45720" rIns="45720" tIns="27432" bIns="27432">
            <a:noAutofit/>
          </a:bodyPr>
          <a:lstStyle/>
          <a:p>
            <a:pPr algn="l" marL="274320" indent="-274320">
              <a:spcBef>
                <a:spcPts val="600"/>
              </a:spcBef>
              <a:buFont typeface="Arial"/>
              <a:buChar char="•"/>
            </a:pPr>
            <a:r>
              <a:rPr sz="1600" b="1" i="0">
                <a:solidFill>
                  <a:srgbClr val="000000"/>
                </a:solidFill>
                <a:latin typeface="Arial"/>
              </a:rPr>
              <a:t>Manual entry: </a:t>
            </a:r>
            <a:r>
              <a:rPr sz="1600" b="0" i="0">
                <a:solidFill>
                  <a:srgbClr val="000000"/>
                </a:solidFill>
                <a:latin typeface="Arial"/>
              </a:rPr>
              <a:t>typing every payment is tedious, so people give up; cash and paper receipts get lost</a:t>
            </a:r>
          </a:p>
          <a:p>
            <a:pPr algn="l" marL="274320" indent="-274320">
              <a:spcBef>
                <a:spcPts val="1000"/>
              </a:spcBef>
              <a:buFont typeface="Arial"/>
              <a:buChar char="•"/>
            </a:pPr>
            <a:r>
              <a:rPr sz="1600" b="1" i="0">
                <a:solidFill>
                  <a:srgbClr val="000000"/>
                </a:solidFill>
                <a:latin typeface="Arial"/>
              </a:rPr>
              <a:t>Only past data: </a:t>
            </a:r>
            <a:r>
              <a:rPr sz="1600" b="0" i="0">
                <a:solidFill>
                  <a:srgbClr val="000000"/>
                </a:solidFill>
                <a:latin typeface="Arial"/>
              </a:rPr>
              <a:t>apps show what was spent, not what the balance will be at the end of the month</a:t>
            </a:r>
          </a:p>
          <a:p>
            <a:pPr algn="l" marL="274320" indent="-274320">
              <a:spcBef>
                <a:spcPts val="1000"/>
              </a:spcBef>
              <a:buFont typeface="Arial"/>
              <a:buChar char="•"/>
            </a:pPr>
            <a:r>
              <a:rPr sz="1600" b="1" i="0">
                <a:solidFill>
                  <a:srgbClr val="000000"/>
                </a:solidFill>
                <a:latin typeface="Arial"/>
              </a:rPr>
              <a:t>Hidden leakage: </a:t>
            </a:r>
            <a:r>
              <a:rPr sz="1600" b="0" i="0">
                <a:solidFill>
                  <a:srgbClr val="000000"/>
                </a:solidFill>
                <a:latin typeface="Arial"/>
              </a:rPr>
              <a:t>price rises, unused subscriptions and duplicate charges get lost in normal spending</a:t>
            </a:r>
          </a:p>
          <a:p>
            <a:pPr algn="l" marL="274320" indent="-274320">
              <a:spcBef>
                <a:spcPts val="1000"/>
              </a:spcBef>
              <a:buFont typeface="Arial"/>
              <a:buChar char="•"/>
            </a:pPr>
            <a:r>
              <a:rPr sz="1600" b="1" i="0">
                <a:solidFill>
                  <a:srgbClr val="000000"/>
                </a:solidFill>
                <a:latin typeface="Arial"/>
              </a:rPr>
              <a:t>Privacy and cost: </a:t>
            </a:r>
            <a:r>
              <a:rPr sz="1600" b="0" i="0">
                <a:solidFill>
                  <a:srgbClr val="000000"/>
                </a:solidFill>
                <a:latin typeface="Arial"/>
              </a:rPr>
              <a:t>aggregator apps need bank credentials and AI features need paid cloud services</a:t>
            </a:r>
          </a:p>
        </p:txBody>
      </p:sp>
      <p:sp>
        <p:nvSpPr>
          <p:cNvPr id="7" name="TextBox 6"/>
          <p:cNvSpPr txBox="1"/>
          <p:nvPr/>
        </p:nvSpPr>
        <p:spPr>
          <a:xfrm>
            <a:off x="548640" y="5029200"/>
            <a:ext cx="11091672" cy="548640"/>
          </a:xfrm>
          <a:prstGeom prst="rect">
            <a:avLst/>
          </a:prstGeom>
          <a:noFill/>
        </p:spPr>
        <p:txBody>
          <a:bodyPr wrap="square" anchor="t" lIns="45720" rIns="45720" tIns="27432" bIns="27432">
            <a:noAutofit/>
          </a:bodyPr>
          <a:lstStyle/>
          <a:p>
            <a:pPr algn="l">
              <a:spcBef>
                <a:spcPts val="600"/>
              </a:spcBef>
              <a:buNone/>
            </a:pPr>
            <a:r>
              <a:rPr sz="1600" b="1" i="0">
                <a:solidFill>
                  <a:srgbClr val="000000"/>
                </a:solidFill>
                <a:latin typeface="Arial"/>
              </a:rPr>
              <a:t>Motivation: </a:t>
            </a:r>
            <a:r>
              <a:rPr sz="1600" b="0" i="0">
                <a:solidFill>
                  <a:srgbClr val="000000"/>
                </a:solidFill>
                <a:latin typeface="Arial"/>
              </a:rPr>
              <a:t>make money management automatic, private and forward-looking, without extra data entry or new privacy risks.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Objectives and Scope</a:t>
            </a:r>
          </a:p>
        </p:txBody>
      </p:sp>
      <p:sp>
        <p:nvSpPr>
          <p:cNvPr id="3" name="TextBox 2"/>
          <p:cNvSpPr txBox="1"/>
          <p:nvPr/>
        </p:nvSpPr>
        <p:spPr>
          <a:xfrm>
            <a:off x="54864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Objectives</a:t>
            </a:r>
          </a:p>
        </p:txBody>
      </p:sp>
      <p:sp>
        <p:nvSpPr>
          <p:cNvPr id="4" name="TextBox 3"/>
          <p:cNvSpPr txBox="1"/>
          <p:nvPr/>
        </p:nvSpPr>
        <p:spPr>
          <a:xfrm>
            <a:off x="548640" y="1572768"/>
            <a:ext cx="5394960" cy="4389120"/>
          </a:xfrm>
          <a:prstGeom prst="rect">
            <a:avLst/>
          </a:prstGeom>
          <a:noFill/>
        </p:spPr>
        <p:txBody>
          <a:bodyPr wrap="square" anchor="t" lIns="45720" rIns="45720" tIns="27432" bIns="27432">
            <a:noAutofit/>
          </a:bodyPr>
          <a:lstStyle/>
          <a:p>
            <a:pPr algn="l" marL="274320" indent="-274320">
              <a:spcBef>
                <a:spcPts val="700"/>
              </a:spcBef>
              <a:buFont typeface="Arial"/>
              <a:buAutoNum type="arabicPeriod"/>
            </a:pPr>
            <a:r>
              <a:rPr sz="1500" b="0" i="0">
                <a:solidFill>
                  <a:srgbClr val="000000"/>
                </a:solidFill>
                <a:latin typeface="Arial"/>
              </a:rPr>
              <a:t>Capture transactions from bank SMS (read on the phone) and e-mail with the user's consent (no bank login), plus uploads</a:t>
            </a:r>
          </a:p>
          <a:p>
            <a:pPr algn="l" marL="274320" indent="-274320">
              <a:spcBef>
                <a:spcPts val="700"/>
              </a:spcBef>
              <a:buFont typeface="Arial"/>
              <a:buAutoNum type="arabicPeriod"/>
            </a:pPr>
            <a:r>
              <a:rPr sz="1500" b="0" i="0">
                <a:solidFill>
                  <a:srgbClr val="000000"/>
                </a:solidFill>
                <a:latin typeface="Arial"/>
              </a:rPr>
              <a:t>Understand spending reliably: classify, extract, de-duplicate, categorise and flag anomalies</a:t>
            </a:r>
          </a:p>
          <a:p>
            <a:pPr algn="l" marL="274320" indent="-274320">
              <a:spcBef>
                <a:spcPts val="700"/>
              </a:spcBef>
              <a:buFont typeface="Arial"/>
              <a:buAutoNum type="arabicPeriod"/>
            </a:pPr>
            <a:r>
              <a:rPr sz="1500" b="0" i="0">
                <a:solidFill>
                  <a:srgbClr val="000000"/>
                </a:solidFill>
                <a:latin typeface="Arial"/>
              </a:rPr>
              <a:t>Forecast the balance 90 days ahead and measure its accuracy against simple baselines</a:t>
            </a:r>
          </a:p>
          <a:p>
            <a:pPr algn="l" marL="274320" indent="-274320">
              <a:spcBef>
                <a:spcPts val="700"/>
              </a:spcBef>
              <a:buFont typeface="Arial"/>
              <a:buAutoNum type="arabicPeriod"/>
            </a:pPr>
            <a:r>
              <a:rPr sz="1500" b="0" i="0">
                <a:solidFill>
                  <a:srgbClr val="000000"/>
                </a:solidFill>
                <a:latin typeface="Arial"/>
              </a:rPr>
              <a:t>Find subscription leakage and estimate income tax under both regimes</a:t>
            </a:r>
          </a:p>
          <a:p>
            <a:pPr algn="l" marL="274320" indent="-274320">
              <a:spcBef>
                <a:spcPts val="700"/>
              </a:spcBef>
              <a:buFont typeface="Arial"/>
              <a:buAutoNum type="arabicPeriod"/>
            </a:pPr>
            <a:r>
              <a:rPr sz="1500" b="0" i="0">
                <a:solidFill>
                  <a:srgbClr val="000000"/>
                </a:solidFill>
                <a:latin typeface="Arial"/>
              </a:rPr>
              <a:t>Turn the data into decisions: insights, a coach, budgets, goals and an affordable wishlist</a:t>
            </a:r>
          </a:p>
          <a:p>
            <a:pPr algn="l" marL="274320" indent="-274320">
              <a:spcBef>
                <a:spcPts val="700"/>
              </a:spcBef>
              <a:buFont typeface="Arial"/>
              <a:buAutoNum type="arabicPeriod"/>
            </a:pPr>
            <a:r>
              <a:rPr sz="1500" b="0" i="0">
                <a:solidFill>
                  <a:srgbClr val="000000"/>
                </a:solidFill>
                <a:latin typeface="Arial"/>
              </a:rPr>
              <a:t>Keep users in control: consent per source and purpose, encryption, retention and deletion</a:t>
            </a:r>
          </a:p>
        </p:txBody>
      </p:sp>
      <p:sp>
        <p:nvSpPr>
          <p:cNvPr id="5" name="TextBox 4"/>
          <p:cNvSpPr txBox="1"/>
          <p:nvPr/>
        </p:nvSpPr>
        <p:spPr>
          <a:xfrm>
            <a:off x="621792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Scope</a:t>
            </a:r>
          </a:p>
        </p:txBody>
      </p:sp>
      <p:graphicFrame>
        <p:nvGraphicFramePr>
          <p:cNvPr id="6" name="Table 5"/>
          <p:cNvGraphicFramePr>
            <a:graphicFrameLocks noGrp="1"/>
          </p:cNvGraphicFramePr>
          <p:nvPr/>
        </p:nvGraphicFramePr>
        <p:xfrm>
          <a:off x="6217920" y="1600200"/>
          <a:ext cx="5422392" cy="2212848"/>
        </p:xfrm>
        <a:graphic>
          <a:graphicData uri="http://schemas.openxmlformats.org/drawingml/2006/table">
            <a:tbl>
              <a:tblPr firstRow="1" bandRow="0">
                <a:tableStyleId>{5940675A-B579-460E-94D1-54222C63F5DA}</a:tableStyleId>
              </a:tblPr>
              <a:tblGrid>
                <a:gridCol w="2715768"/>
                <a:gridCol w="2706624"/>
              </a:tblGrid>
              <a:tr h="384048">
                <a:tc>
                  <a:txBody>
                    <a:bodyPr wrap="square"/>
                    <a:lstStyle/>
                    <a:p>
                      <a:pPr algn="l">
                        <a:spcBef>
                          <a:spcPts val="0"/>
                        </a:spcBef>
                        <a:buNone/>
                      </a:pPr>
                      <a:r>
                        <a:rPr sz="1400" b="1" i="0">
                          <a:solidFill>
                            <a:srgbClr val="000000"/>
                          </a:solidFill>
                          <a:latin typeface="Arial"/>
                        </a:rPr>
                        <a:t>In scope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Out of scope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365760">
                <a:tc>
                  <a:txBody>
                    <a:bodyPr wrap="square"/>
                    <a:lstStyle/>
                    <a:p>
                      <a:pPr algn="l">
                        <a:spcBef>
                          <a:spcPts val="0"/>
                        </a:spcBef>
                        <a:buNone/>
                      </a:pPr>
                      <a:r>
                        <a:rPr sz="1400" b="0" i="0">
                          <a:solidFill>
                            <a:srgbClr val="000000"/>
                          </a:solidFill>
                          <a:latin typeface="Arial"/>
                        </a:rPr>
                        <a:t>SMS from an Android app, e-mail over IMAP, consent per source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Live bank or Account Aggregator connections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400" b="0" i="0">
                          <a:solidFill>
                            <a:srgbClr val="000000"/>
                          </a:solidFill>
                          <a:latin typeface="Arial"/>
                        </a:rPr>
                        <a:t>Receipt photos (on-device OCR), PDF bills, CSV/XLSX, manual entry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Real payments or money transfers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400" b="0" i="0">
                          <a:solidFill>
                            <a:srgbClr val="000000"/>
                          </a:solidFill>
                          <a:latin typeface="Arial"/>
                        </a:rPr>
                        <a:t>Forecast, subscriptions, tax, anomalies, insights, coach</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Product recommendations or web crawling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400" b="0" i="0">
                          <a:solidFill>
                            <a:srgbClr val="000000"/>
                          </a:solidFill>
                          <a:latin typeface="Arial"/>
                        </a:rPr>
                        <a:t>A wishlist checked against the budget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Tax filing or financial advice (estimates only)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400" b="0" i="0">
                          <a:solidFill>
                            <a:srgbClr val="000000"/>
                          </a:solidFill>
                          <a:latin typeface="Arial"/>
                        </a:rPr>
                        <a:t>Laptop server; the phone pairs by QR code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iOS (Apple gives apps no SMS access)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Functional Requirements (1/2)</a:t>
            </a:r>
          </a:p>
        </p:txBody>
      </p:sp>
      <p:graphicFrame>
        <p:nvGraphicFramePr>
          <p:cNvPr id="3" name="Table 2"/>
          <p:cNvGraphicFramePr>
            <a:graphicFrameLocks noGrp="1"/>
          </p:cNvGraphicFramePr>
          <p:nvPr/>
        </p:nvGraphicFramePr>
        <p:xfrm>
          <a:off x="548640" y="1234440"/>
          <a:ext cx="11091672" cy="4352544"/>
        </p:xfrm>
        <a:graphic>
          <a:graphicData uri="http://schemas.openxmlformats.org/drawingml/2006/table">
            <a:tbl>
              <a:tblPr firstRow="1" bandRow="0">
                <a:tableStyleId>{5940675A-B579-460E-94D1-54222C63F5DA}</a:tableStyleId>
              </a:tblPr>
              <a:tblGrid>
                <a:gridCol w="822960"/>
                <a:gridCol w="2651760"/>
                <a:gridCol w="7616952"/>
              </a:tblGrid>
              <a:tr h="384048">
                <a:tc>
                  <a:txBody>
                    <a:bodyPr wrap="square"/>
                    <a:lstStyle/>
                    <a:p>
                      <a:pPr algn="ctr">
                        <a:spcBef>
                          <a:spcPts val="0"/>
                        </a:spcBef>
                        <a:buNone/>
                      </a:pPr>
                      <a:r>
                        <a:rPr sz="1400" b="1" i="0">
                          <a:solidFill>
                            <a:srgbClr val="000000"/>
                          </a:solidFill>
                          <a:latin typeface="Arial"/>
                        </a:rPr>
                        <a:t>ID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Requirement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Description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566928">
                <a:tc>
                  <a:txBody>
                    <a:bodyPr wrap="square"/>
                    <a:lstStyle/>
                    <a:p>
                      <a:pPr algn="ctr">
                        <a:spcBef>
                          <a:spcPts val="0"/>
                        </a:spcBef>
                        <a:buNone/>
                      </a:pPr>
                      <a:r>
                        <a:rPr sz="1400" b="0" i="0">
                          <a:solidFill>
                            <a:srgbClr val="000000"/>
                          </a:solidFill>
                          <a:latin typeface="Arial"/>
                        </a:rPr>
                        <a:t>FR1</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Accounts and sessions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Register, sign in, labelled demo login and sign out; cookies on the web, tokens in the Android app</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FR2</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Consent per source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Allow SMS and e-mail separately with a purpose and a backfill window; pause, resume or revoke; delete data; consent history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FR3</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Message capture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Read SMS on the phone and e-mail over IMAP; classify 12 types, extract fields; handle duplicates, transfers and refunds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FR4</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Optional uploads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Camera receipt OCR on the device, PDF bills, CSV/XLSX statement wizard and manual entry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FR5</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Transactions and review</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Search and filter, evidence drawer, recategorise with "apply to all" rules, review queue that learns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FR6</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Dashboard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Balance, safe-to-spend amount, spending, 90-day forecast band, alerts, upcoming bills and anomalies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FR7</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Cash-flow forecast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90-day projection with an 80% band, what-if purchases, upcoming payments and a backtest against baselines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Functional Requirements (2/2)</a:t>
            </a:r>
          </a:p>
        </p:txBody>
      </p:sp>
      <p:graphicFrame>
        <p:nvGraphicFramePr>
          <p:cNvPr id="3" name="Table 2"/>
          <p:cNvGraphicFramePr>
            <a:graphicFrameLocks noGrp="1"/>
          </p:cNvGraphicFramePr>
          <p:nvPr/>
        </p:nvGraphicFramePr>
        <p:xfrm>
          <a:off x="548640" y="1234440"/>
          <a:ext cx="11091672" cy="4352544"/>
        </p:xfrm>
        <a:graphic>
          <a:graphicData uri="http://schemas.openxmlformats.org/drawingml/2006/table">
            <a:tbl>
              <a:tblPr firstRow="1" bandRow="0">
                <a:tableStyleId>{5940675A-B579-460E-94D1-54222C63F5DA}</a:tableStyleId>
              </a:tblPr>
              <a:tblGrid>
                <a:gridCol w="822960"/>
                <a:gridCol w="2651760"/>
                <a:gridCol w="7616952"/>
              </a:tblGrid>
              <a:tr h="384048">
                <a:tc>
                  <a:txBody>
                    <a:bodyPr wrap="square"/>
                    <a:lstStyle/>
                    <a:p>
                      <a:pPr algn="ctr">
                        <a:spcBef>
                          <a:spcPts val="0"/>
                        </a:spcBef>
                        <a:buNone/>
                      </a:pPr>
                      <a:r>
                        <a:rPr sz="1400" b="1" i="0">
                          <a:solidFill>
                            <a:srgbClr val="000000"/>
                          </a:solidFill>
                          <a:latin typeface="Arial"/>
                        </a:rPr>
                        <a:t>ID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Requirement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Description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566928">
                <a:tc>
                  <a:txBody>
                    <a:bodyPr wrap="square"/>
                    <a:lstStyle/>
                    <a:p>
                      <a:pPr algn="ctr">
                        <a:spcBef>
                          <a:spcPts val="0"/>
                        </a:spcBef>
                        <a:buNone/>
                      </a:pPr>
                      <a:r>
                        <a:rPr sz="1400" b="0" i="0">
                          <a:solidFill>
                            <a:srgbClr val="000000"/>
                          </a:solidFill>
                          <a:latin typeface="Arial"/>
                        </a:rPr>
                        <a:t>FR8</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Subscriptions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Detect recurring charges; flag price rises, unused plans, trials that became paid and overlaps; keep or cancel</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FR9</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Tax insights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FY 2025-26 and Tax Year 2026-27 under both regimes; deductions found in transactions, headroom, advance tax; CSV/PDF export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FR10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Insights and coach</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Ranked insights that can be dismissed; a coach that answers 13 types of questions from the user's own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FR11</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Budgets and goals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Monthly category limits with pace markers; goals with monthly targets and an "add money" option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FR12</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Wishlist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Items with a price or product link (prices read where allowed); Buy now / For your goals / Save up tiers; Can I afford…?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FR13</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Settings and data rights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Safety buffer, take-home pay, accounts and retention; phone pairing; export all data; delete account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66928">
                <a:tc>
                  <a:txBody>
                    <a:bodyPr wrap="square"/>
                    <a:lstStyle/>
                    <a:p>
                      <a:pPr algn="ctr">
                        <a:spcBef>
                          <a:spcPts val="0"/>
                        </a:spcBef>
                        <a:buNone/>
                      </a:pPr>
                      <a:r>
                        <a:rPr sz="1400" b="0" i="0">
                          <a:solidFill>
                            <a:srgbClr val="000000"/>
                          </a:solidFill>
                          <a:latin typeface="Arial"/>
                        </a:rPr>
                        <a:t>FR14</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Model evaluation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Capability checks and measured model metrics, including a real-format SMS corpus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Non-Functional Requirements</a:t>
            </a:r>
          </a:p>
        </p:txBody>
      </p:sp>
      <p:graphicFrame>
        <p:nvGraphicFramePr>
          <p:cNvPr id="3" name="Table 2"/>
          <p:cNvGraphicFramePr>
            <a:graphicFrameLocks noGrp="1"/>
          </p:cNvGraphicFramePr>
          <p:nvPr/>
        </p:nvGraphicFramePr>
        <p:xfrm>
          <a:off x="548640" y="1188720"/>
          <a:ext cx="11091672" cy="4553704"/>
        </p:xfrm>
        <a:graphic>
          <a:graphicData uri="http://schemas.openxmlformats.org/drawingml/2006/table">
            <a:tbl>
              <a:tblPr firstRow="1" bandRow="0">
                <a:tableStyleId>{5940675A-B579-460E-94D1-54222C63F5DA}</a:tableStyleId>
              </a:tblPr>
              <a:tblGrid>
                <a:gridCol w="2103120"/>
                <a:gridCol w="8988552"/>
              </a:tblGrid>
              <a:tr h="384048">
                <a:tc>
                  <a:txBody>
                    <a:bodyPr wrap="square"/>
                    <a:lstStyle/>
                    <a:p>
                      <a:pPr algn="l">
                        <a:spcBef>
                          <a:spcPts val="0"/>
                        </a:spcBef>
                        <a:buNone/>
                      </a:pPr>
                      <a:r>
                        <a:rPr sz="1400" b="1" i="0">
                          <a:solidFill>
                            <a:srgbClr val="000000"/>
                          </a:solidFill>
                          <a:latin typeface="Arial"/>
                        </a:rPr>
                        <a:t>Requirement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How it is met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521207">
                <a:tc>
                  <a:txBody>
                    <a:bodyPr wrap="square"/>
                    <a:lstStyle/>
                    <a:p>
                      <a:pPr algn="l">
                        <a:spcBef>
                          <a:spcPts val="0"/>
                        </a:spcBef>
                        <a:buNone/>
                      </a:pPr>
                      <a:r>
                        <a:rPr sz="1400" b="1" i="0">
                          <a:solidFill>
                            <a:srgbClr val="000000"/>
                          </a:solidFill>
                          <a:latin typeface="Arial"/>
                        </a:rPr>
                        <a:t>Security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Passwords hashed with bcrypt (12 rounds); JWT in httpOnly cookies (web) or Bearer tokens (app), rotated; CSRF and CORS checks; login limit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Privacy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SMS filtered on the phone; consent per source; message text encrypted, deleted after 90 days; append-only consent log; export, deletion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Reliability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Every request commits or rolls back; analytics stages and jobs are isolated; Prophet falls back to a baseline; repeat syncs are idempotent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Performance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Demo ready about 51 s after a clean start; models train in about 3 s; OCR about 0.5 s per receipt; what-if reuses the stored forecast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Usability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Android app with bottom tabs; responsive web layout; every chart also has a table view; plain-language errors and progress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Portability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One command (python3 run.py); Python 3.11+; no Docker or database server; the APK installs over USB and pairs by QR code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Maintainability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Routers -&gt; services -&gt; models structure; Alembic migrations; shared metrics; 82 backend, 23 browser and 17 on-device checks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521207">
                <a:tc>
                  <a:txBody>
                    <a:bodyPr wrap="square"/>
                    <a:lstStyle/>
                    <a:p>
                      <a:pPr algn="l">
                        <a:spcBef>
                          <a:spcPts val="0"/>
                        </a:spcBef>
                        <a:buNone/>
                      </a:pPr>
                      <a:r>
                        <a:rPr sz="1400" b="1" i="0">
                          <a:solidFill>
                            <a:srgbClr val="000000"/>
                          </a:solidFill>
                          <a:latin typeface="Arial"/>
                        </a:rPr>
                        <a:t>Accuracy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Money stored as integer paise and handled as Decimal; held-out tests, backtests and WAPE; "estimates, not advice" disclaimers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System Architecture</a:t>
            </a:r>
          </a:p>
        </p:txBody>
      </p:sp>
      <p:sp>
        <p:nvSpPr>
          <p:cNvPr id="3" name="Rectangle 2"/>
          <p:cNvSpPr/>
          <p:nvPr/>
        </p:nvSpPr>
        <p:spPr>
          <a:xfrm>
            <a:off x="548640" y="1234440"/>
            <a:ext cx="2514600" cy="4343400"/>
          </a:xfrm>
          <a:prstGeom prst="rect">
            <a:avLst/>
          </a:prstGeom>
          <a:solidFill>
            <a:srgbClr val="FFFFFF"/>
          </a:solidFill>
          <a:ln w="12700">
            <a:solidFill>
              <a:srgbClr val="000000"/>
            </a:solidFill>
            <a:prstDash val="dash"/>
          </a:ln>
        </p:spPr>
        <p:txBody>
          <a:bodyPr rtlCol="0" anchor="ctr" wrap="square" lIns="73152" rIns="73152" tIns="36576" bIns="36576">
            <a:noAutofit/>
          </a:bodyPr>
          <a:lstStyle/>
          <a:p>
            <a:pPr algn="ctr"/>
          </a:p>
        </p:txBody>
      </p:sp>
      <p:sp>
        <p:nvSpPr>
          <p:cNvPr id="4" name="TextBox 3"/>
          <p:cNvSpPr txBox="1"/>
          <p:nvPr/>
        </p:nvSpPr>
        <p:spPr>
          <a:xfrm>
            <a:off x="640080" y="1280160"/>
            <a:ext cx="2377440" cy="320040"/>
          </a:xfrm>
          <a:prstGeom prst="rect">
            <a:avLst/>
          </a:prstGeom>
          <a:noFill/>
        </p:spPr>
        <p:txBody>
          <a:bodyPr wrap="square" anchor="t" lIns="45720" rIns="45720" tIns="27432" bIns="27432">
            <a:noAutofit/>
          </a:bodyPr>
          <a:lstStyle/>
          <a:p>
            <a:pPr algn="l">
              <a:spcBef>
                <a:spcPts val="600"/>
              </a:spcBef>
              <a:buNone/>
            </a:pPr>
            <a:r>
              <a:rPr sz="1500" b="1" i="0">
                <a:solidFill>
                  <a:srgbClr val="000000"/>
                </a:solidFill>
                <a:latin typeface="Arial"/>
              </a:rPr>
              <a:t>Browser / phone</a:t>
            </a:r>
          </a:p>
        </p:txBody>
      </p:sp>
      <p:sp>
        <p:nvSpPr>
          <p:cNvPr id="5" name="Rectangle 4"/>
          <p:cNvSpPr/>
          <p:nvPr/>
        </p:nvSpPr>
        <p:spPr>
          <a:xfrm>
            <a:off x="658368" y="1691640"/>
            <a:ext cx="2286000" cy="109728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Next.js 16 UI (web and Android)</a:t>
            </a:r>
          </a:p>
          <a:p>
            <a:pPr algn="ctr">
              <a:spcBef>
                <a:spcPts val="0"/>
              </a:spcBef>
              <a:buNone/>
            </a:pPr>
            <a:r>
              <a:rPr sz="1200" b="0" i="0">
                <a:solidFill>
                  <a:srgbClr val="000000"/>
                </a:solidFill>
                <a:latin typeface="Arial"/>
              </a:rPr>
              <a:t>Same static UI in the browser and in a Capacitor 8 Android app</a:t>
            </a:r>
          </a:p>
        </p:txBody>
      </p:sp>
      <p:sp>
        <p:nvSpPr>
          <p:cNvPr id="6" name="Rectangle 5"/>
          <p:cNvSpPr/>
          <p:nvPr/>
        </p:nvSpPr>
        <p:spPr>
          <a:xfrm>
            <a:off x="658368" y="2971800"/>
            <a:ext cx="2286000" cy="109728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TanStack Query + api.ts</a:t>
            </a:r>
          </a:p>
          <a:p>
            <a:pPr algn="ctr">
              <a:spcBef>
                <a:spcPts val="0"/>
              </a:spcBef>
              <a:buNone/>
            </a:pPr>
            <a:r>
              <a:rPr sz="1200" b="0" i="0">
                <a:solidFill>
                  <a:srgbClr val="000000"/>
                </a:solidFill>
                <a:latin typeface="Arial"/>
              </a:rPr>
              <a:t>cookies + X-Requested-With (web); Bearer tokens (app)</a:t>
            </a:r>
          </a:p>
        </p:txBody>
      </p:sp>
      <p:sp>
        <p:nvSpPr>
          <p:cNvPr id="7" name="Rectangle 6"/>
          <p:cNvSpPr/>
          <p:nvPr/>
        </p:nvSpPr>
        <p:spPr>
          <a:xfrm>
            <a:off x="658368" y="4251960"/>
            <a:ext cx="2286000" cy="11430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tesseract.js · SMS plugin</a:t>
            </a:r>
          </a:p>
          <a:p>
            <a:pPr algn="ctr">
              <a:spcBef>
                <a:spcPts val="0"/>
              </a:spcBef>
              <a:buNone/>
            </a:pPr>
            <a:r>
              <a:rPr sz="1200" b="0" i="0">
                <a:solidFill>
                  <a:srgbClr val="000000"/>
                </a:solidFill>
                <a:latin typeface="Arial"/>
              </a:rPr>
              <a:t>OCR on the device; the app reads and filters SMS on the phone</a:t>
            </a:r>
          </a:p>
        </p:txBody>
      </p:sp>
      <p:sp>
        <p:nvSpPr>
          <p:cNvPr id="8" name="Rectangle 7"/>
          <p:cNvSpPr/>
          <p:nvPr/>
        </p:nvSpPr>
        <p:spPr>
          <a:xfrm>
            <a:off x="4069080" y="1234440"/>
            <a:ext cx="5120640" cy="4343400"/>
          </a:xfrm>
          <a:prstGeom prst="rect">
            <a:avLst/>
          </a:prstGeom>
          <a:solidFill>
            <a:srgbClr val="FFFFFF"/>
          </a:solidFill>
          <a:ln w="12700">
            <a:solidFill>
              <a:srgbClr val="000000"/>
            </a:solidFill>
            <a:prstDash val="dash"/>
          </a:ln>
        </p:spPr>
        <p:txBody>
          <a:bodyPr rtlCol="0" anchor="ctr" wrap="square" lIns="73152" rIns="73152" tIns="36576" bIns="36576">
            <a:noAutofit/>
          </a:bodyPr>
          <a:lstStyle/>
          <a:p>
            <a:pPr algn="ctr"/>
          </a:p>
        </p:txBody>
      </p:sp>
      <p:sp>
        <p:nvSpPr>
          <p:cNvPr id="9" name="TextBox 8"/>
          <p:cNvSpPr txBox="1"/>
          <p:nvPr/>
        </p:nvSpPr>
        <p:spPr>
          <a:xfrm>
            <a:off x="4160520" y="1280160"/>
            <a:ext cx="4937759" cy="320040"/>
          </a:xfrm>
          <a:prstGeom prst="rect">
            <a:avLst/>
          </a:prstGeom>
          <a:noFill/>
        </p:spPr>
        <p:txBody>
          <a:bodyPr wrap="square" anchor="t" lIns="45720" rIns="45720" tIns="27432" bIns="27432">
            <a:noAutofit/>
          </a:bodyPr>
          <a:lstStyle/>
          <a:p>
            <a:pPr algn="l">
              <a:spcBef>
                <a:spcPts val="600"/>
              </a:spcBef>
              <a:buNone/>
            </a:pPr>
            <a:r>
              <a:rPr sz="1500" b="1" i="0">
                <a:solidFill>
                  <a:srgbClr val="000000"/>
                </a:solidFill>
                <a:latin typeface="Arial"/>
              </a:rPr>
              <a:t>Single Python process (started by python3 run.py)</a:t>
            </a:r>
          </a:p>
        </p:txBody>
      </p:sp>
      <p:sp>
        <p:nvSpPr>
          <p:cNvPr id="10" name="Rectangle 9"/>
          <p:cNvSpPr/>
          <p:nvPr/>
        </p:nvSpPr>
        <p:spPr>
          <a:xfrm>
            <a:off x="4178808" y="1691640"/>
            <a:ext cx="4901183" cy="77724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FastAPI app (port 8000)</a:t>
            </a:r>
          </a:p>
          <a:p>
            <a:pPr algn="ctr">
              <a:spcBef>
                <a:spcPts val="0"/>
              </a:spcBef>
              <a:buNone/>
            </a:pPr>
            <a:r>
              <a:rPr sz="1200" b="0" i="0">
                <a:solidFill>
                  <a:srgbClr val="000000"/>
                </a:solidFill>
                <a:latin typeface="Arial"/>
              </a:rPr>
              <a:t>15 routers under /api/v1, CSRF guard, error handler, serves the web app</a:t>
            </a:r>
          </a:p>
        </p:txBody>
      </p:sp>
      <p:sp>
        <p:nvSpPr>
          <p:cNvPr id="11" name="Rectangle 10"/>
          <p:cNvSpPr/>
          <p:nvPr/>
        </p:nvSpPr>
        <p:spPr>
          <a:xfrm>
            <a:off x="4178808" y="2651760"/>
            <a:ext cx="4901183" cy="141732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Services (business logic and ML)</a:t>
            </a:r>
          </a:p>
          <a:p>
            <a:pPr algn="ctr">
              <a:spcBef>
                <a:spcPts val="0"/>
              </a:spcBef>
              <a:buNone/>
            </a:pPr>
            <a:r>
              <a:rPr sz="1200" b="0" i="0">
                <a:solidFill>
                  <a:srgbClr val="000000"/>
                </a:solidFill>
                <a:latin typeface="Arial"/>
              </a:rPr>
              <a:t>Consent and capture, receipts, categories and anomalies, forecasting, subscriptions, tax, insights and coach, wishlist and price reading</a:t>
            </a:r>
          </a:p>
          <a:p>
            <a:pPr algn="ctr">
              <a:spcBef>
                <a:spcPts val="400"/>
              </a:spcBef>
              <a:buNone/>
            </a:pPr>
            <a:r>
              <a:rPr sz="1200" b="0" i="0">
                <a:solidFill>
                  <a:srgbClr val="000000"/>
                </a:solidFill>
                <a:latin typeface="Arial"/>
              </a:rPr>
              <a:t>ML runs in-process: scikit-learn (TF-IDF + logistic regression, IsolationForest) and Prophet</a:t>
            </a:r>
          </a:p>
        </p:txBody>
      </p:sp>
      <p:sp>
        <p:nvSpPr>
          <p:cNvPr id="12" name="Rectangle 11"/>
          <p:cNvSpPr/>
          <p:nvPr/>
        </p:nvSpPr>
        <p:spPr>
          <a:xfrm>
            <a:off x="4178808" y="4251960"/>
            <a:ext cx="2377439" cy="11430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Job runner + scheduler</a:t>
            </a:r>
          </a:p>
          <a:p>
            <a:pPr algn="ctr">
              <a:spcBef>
                <a:spcPts val="0"/>
              </a:spcBef>
              <a:buNone/>
            </a:pPr>
            <a:r>
              <a:rPr sz="1200" b="0" i="0">
                <a:solidFill>
                  <a:srgbClr val="000000"/>
                </a:solidFill>
                <a:latin typeface="Arial"/>
              </a:rPr>
              <a:t>Thread pool; mail every 30 min, prices daily, nightly analytics</a:t>
            </a:r>
          </a:p>
        </p:txBody>
      </p:sp>
      <p:sp>
        <p:nvSpPr>
          <p:cNvPr id="13" name="Rectangle 12"/>
          <p:cNvSpPr/>
          <p:nvPr/>
        </p:nvSpPr>
        <p:spPr>
          <a:xfrm>
            <a:off x="6702552" y="4251960"/>
            <a:ext cx="2377439" cy="11430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IMAP mailboxes · product pages</a:t>
            </a:r>
          </a:p>
          <a:p>
            <a:pPr algn="ctr">
              <a:spcBef>
                <a:spcPts val="0"/>
              </a:spcBef>
              <a:buNone/>
            </a:pPr>
            <a:r>
              <a:rPr sz="1200" b="0" i="0">
                <a:solidFill>
                  <a:srgbClr val="000000"/>
                </a:solidFill>
                <a:latin typeface="Arial"/>
              </a:rPr>
              <a:t>Mail every 30 min; one product page a day (robots.txt)</a:t>
            </a:r>
          </a:p>
        </p:txBody>
      </p:sp>
      <p:cxnSp>
        <p:nvCxnSpPr>
          <p:cNvPr id="14" name="Connector 13"/>
          <p:cNvCxnSpPr/>
          <p:nvPr/>
        </p:nvCxnSpPr>
        <p:spPr>
          <a:xfrm>
            <a:off x="6629400" y="2468880"/>
            <a:ext cx="0" cy="182880"/>
          </a:xfrm>
          <a:prstGeom prst="line">
            <a:avLst/>
          </a:prstGeom>
          <a:ln w="15875">
            <a:solidFill>
              <a:srgbClr val="000000"/>
            </a:solidFill>
            <a:tailEnd type="triangle" w="med" len="med"/>
          </a:ln>
        </p:spPr>
      </p:cxnSp>
      <p:cxnSp>
        <p:nvCxnSpPr>
          <p:cNvPr id="15" name="Connector 14"/>
          <p:cNvCxnSpPr/>
          <p:nvPr/>
        </p:nvCxnSpPr>
        <p:spPr>
          <a:xfrm>
            <a:off x="5367528" y="4069080"/>
            <a:ext cx="0" cy="182880"/>
          </a:xfrm>
          <a:prstGeom prst="line">
            <a:avLst/>
          </a:prstGeom>
          <a:ln w="15875">
            <a:solidFill>
              <a:srgbClr val="000000"/>
            </a:solidFill>
            <a:tailEnd type="triangle" w="med" len="med"/>
          </a:ln>
        </p:spPr>
      </p:cxnSp>
      <p:sp>
        <p:nvSpPr>
          <p:cNvPr id="16" name="Can 15"/>
          <p:cNvSpPr/>
          <p:nvPr/>
        </p:nvSpPr>
        <p:spPr>
          <a:xfrm>
            <a:off x="9646920" y="1463040"/>
            <a:ext cx="1993392" cy="2103120"/>
          </a:xfrm>
          <a:prstGeom prst="can">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SQLite (WAL)</a:t>
            </a:r>
          </a:p>
          <a:p>
            <a:pPr algn="ctr">
              <a:spcBef>
                <a:spcPts val="0"/>
              </a:spcBef>
              <a:buNone/>
            </a:pPr>
            <a:r>
              <a:rPr sz="1200" b="0" i="0">
                <a:solidFill>
                  <a:srgbClr val="000000"/>
                </a:solidFill>
                <a:latin typeface="Arial"/>
              </a:rPr>
              <a:t>data/finpilot.db</a:t>
            </a:r>
          </a:p>
          <a:p>
            <a:pPr algn="ctr">
              <a:spcBef>
                <a:spcPts val="0"/>
              </a:spcBef>
              <a:buNone/>
            </a:pPr>
            <a:r>
              <a:rPr sz="1200" b="0" i="0">
                <a:solidFill>
                  <a:srgbClr val="000000"/>
                </a:solidFill>
                <a:latin typeface="Arial"/>
              </a:rPr>
              <a:t>29 tables</a:t>
            </a:r>
          </a:p>
          <a:p>
            <a:pPr algn="ctr">
              <a:spcBef>
                <a:spcPts val="0"/>
              </a:spcBef>
              <a:buNone/>
            </a:pPr>
            <a:r>
              <a:rPr sz="1200" b="0" i="0">
                <a:solidFill>
                  <a:srgbClr val="000000"/>
                </a:solidFill>
                <a:latin typeface="Arial"/>
              </a:rPr>
              <a:t>SQLAlchemy + Alembic</a:t>
            </a:r>
          </a:p>
        </p:txBody>
      </p:sp>
      <p:sp>
        <p:nvSpPr>
          <p:cNvPr id="17" name="Rectangle 16"/>
          <p:cNvSpPr/>
          <p:nvPr/>
        </p:nvSpPr>
        <p:spPr>
          <a:xfrm>
            <a:off x="9646920" y="4251960"/>
            <a:ext cx="1993392" cy="11430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data/ folder</a:t>
            </a:r>
          </a:p>
          <a:p>
            <a:pPr algn="ctr">
              <a:spcBef>
                <a:spcPts val="0"/>
              </a:spcBef>
              <a:buNone/>
            </a:pPr>
            <a:r>
              <a:rPr sz="1200" b="0" i="0">
                <a:solidFill>
                  <a:srgbClr val="000000"/>
                </a:solidFill>
                <a:latin typeface="Arial"/>
              </a:rPr>
              <a:t>Uploads, trained models and the generated secret key</a:t>
            </a:r>
          </a:p>
        </p:txBody>
      </p:sp>
      <p:cxnSp>
        <p:nvCxnSpPr>
          <p:cNvPr id="18" name="Connector 17"/>
          <p:cNvCxnSpPr/>
          <p:nvPr/>
        </p:nvCxnSpPr>
        <p:spPr>
          <a:xfrm>
            <a:off x="2944368" y="2103120"/>
            <a:ext cx="1234440" cy="0"/>
          </a:xfrm>
          <a:prstGeom prst="line">
            <a:avLst/>
          </a:prstGeom>
          <a:ln w="15875">
            <a:solidFill>
              <a:srgbClr val="000000"/>
            </a:solidFill>
            <a:headEnd type="triangle"/>
            <a:tailEnd type="triangle" w="med" len="med"/>
          </a:ln>
        </p:spPr>
      </p:cxnSp>
      <p:sp>
        <p:nvSpPr>
          <p:cNvPr id="19" name="TextBox 18"/>
          <p:cNvSpPr txBox="1"/>
          <p:nvPr/>
        </p:nvSpPr>
        <p:spPr>
          <a:xfrm>
            <a:off x="3063240" y="1810512"/>
            <a:ext cx="1005840" cy="274320"/>
          </a:xfrm>
          <a:prstGeom prst="rect">
            <a:avLst/>
          </a:prstGeom>
          <a:noFill/>
        </p:spPr>
        <p:txBody>
          <a:bodyPr wrap="square" anchor="t" lIns="0" rIns="0" tIns="27432" bIns="27432">
            <a:noAutofit/>
          </a:bodyPr>
          <a:lstStyle/>
          <a:p>
            <a:pPr algn="ctr">
              <a:spcBef>
                <a:spcPts val="0"/>
              </a:spcBef>
              <a:buNone/>
            </a:pPr>
            <a:r>
              <a:rPr sz="1000" b="0" i="0">
                <a:solidFill>
                  <a:srgbClr val="000000"/>
                </a:solidFill>
                <a:latin typeface="Arial"/>
              </a:rPr>
              <a:t>HTTP / JSON</a:t>
            </a:r>
          </a:p>
        </p:txBody>
      </p:sp>
      <p:cxnSp>
        <p:nvCxnSpPr>
          <p:cNvPr id="20" name="Connector 19"/>
          <p:cNvCxnSpPr/>
          <p:nvPr/>
        </p:nvCxnSpPr>
        <p:spPr>
          <a:xfrm>
            <a:off x="9079992" y="3017520"/>
            <a:ext cx="566928" cy="0"/>
          </a:xfrm>
          <a:prstGeom prst="line">
            <a:avLst/>
          </a:prstGeom>
          <a:ln w="15875">
            <a:solidFill>
              <a:srgbClr val="000000"/>
            </a:solidFill>
            <a:headEnd type="triangle"/>
            <a:tailEnd type="triangle" w="med" len="med"/>
          </a:ln>
        </p:spPr>
      </p:cxnSp>
      <p:sp>
        <p:nvSpPr>
          <p:cNvPr id="21" name="TextBox 20"/>
          <p:cNvSpPr txBox="1"/>
          <p:nvPr/>
        </p:nvSpPr>
        <p:spPr>
          <a:xfrm>
            <a:off x="9189720" y="2724912"/>
            <a:ext cx="457200" cy="274320"/>
          </a:xfrm>
          <a:prstGeom prst="rect">
            <a:avLst/>
          </a:prstGeom>
          <a:noFill/>
        </p:spPr>
        <p:txBody>
          <a:bodyPr wrap="square" anchor="t" lIns="0" rIns="0" tIns="27432" bIns="27432">
            <a:noAutofit/>
          </a:bodyPr>
          <a:lstStyle/>
          <a:p>
            <a:pPr algn="ctr">
              <a:spcBef>
                <a:spcPts val="0"/>
              </a:spcBef>
              <a:buNone/>
            </a:pPr>
            <a:r>
              <a:rPr sz="1000" b="0" i="0">
                <a:solidFill>
                  <a:srgbClr val="000000"/>
                </a:solidFill>
                <a:latin typeface="Arial"/>
              </a:rPr>
              <a:t>SQL</a:t>
            </a:r>
          </a:p>
        </p:txBody>
      </p:sp>
      <p:sp>
        <p:nvSpPr>
          <p:cNvPr id="22" name="TextBox 21"/>
          <p:cNvSpPr txBox="1"/>
          <p:nvPr/>
        </p:nvSpPr>
        <p:spPr>
          <a:xfrm>
            <a:off x="548640" y="5623560"/>
            <a:ext cx="11091672" cy="320040"/>
          </a:xfrm>
          <a:prstGeom prst="rect">
            <a:avLst/>
          </a:prstGeom>
          <a:noFill/>
        </p:spPr>
        <p:txBody>
          <a:bodyPr wrap="square" anchor="t" lIns="45720" rIns="45720" tIns="27432" bIns="27432">
            <a:noAutofit/>
          </a:bodyPr>
          <a:lstStyle/>
          <a:p>
            <a:pPr algn="l">
              <a:spcBef>
                <a:spcPts val="600"/>
              </a:spcBef>
              <a:buNone/>
            </a:pPr>
            <a:r>
              <a:rPr sz="1300" b="0" i="0">
                <a:solidFill>
                  <a:srgbClr val="000000"/>
                </a:solidFill>
                <a:latin typeface="Arial"/>
              </a:rPr>
              <a:t>The browser calls /api/v1 on the same server; the Android app calls it over Wi-Fi or a tunnel (CORS).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Backend Layers and Request Flow</a:t>
            </a:r>
          </a:p>
        </p:txBody>
      </p:sp>
      <p:sp>
        <p:nvSpPr>
          <p:cNvPr id="3" name="TextBox 2"/>
          <p:cNvSpPr txBox="1"/>
          <p:nvPr/>
        </p:nvSpPr>
        <p:spPr>
          <a:xfrm>
            <a:off x="548640" y="1143000"/>
            <a:ext cx="475488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Backend layers</a:t>
            </a:r>
          </a:p>
        </p:txBody>
      </p:sp>
      <p:sp>
        <p:nvSpPr>
          <p:cNvPr id="4" name="Rectangle 3"/>
          <p:cNvSpPr/>
          <p:nvPr/>
        </p:nvSpPr>
        <p:spPr>
          <a:xfrm>
            <a:off x="548640" y="1554480"/>
            <a:ext cx="4663440" cy="621792"/>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Routers (api/v1/*.py)</a:t>
            </a:r>
          </a:p>
          <a:p>
            <a:pPr algn="ctr">
              <a:spcBef>
                <a:spcPts val="0"/>
              </a:spcBef>
              <a:buNone/>
            </a:pPr>
            <a:r>
              <a:rPr sz="1300" b="0" i="0">
                <a:solidFill>
                  <a:srgbClr val="000000"/>
                </a:solidFill>
                <a:latin typeface="Arial"/>
              </a:rPr>
              <a:t>HTTP, Pydantic validation, ownership checks</a:t>
            </a:r>
          </a:p>
        </p:txBody>
      </p:sp>
      <p:cxnSp>
        <p:nvCxnSpPr>
          <p:cNvPr id="5" name="Connector 4"/>
          <p:cNvCxnSpPr/>
          <p:nvPr/>
        </p:nvCxnSpPr>
        <p:spPr>
          <a:xfrm>
            <a:off x="2880360" y="2176272"/>
            <a:ext cx="0" cy="182880"/>
          </a:xfrm>
          <a:prstGeom prst="line">
            <a:avLst/>
          </a:prstGeom>
          <a:ln w="15875">
            <a:solidFill>
              <a:srgbClr val="000000"/>
            </a:solidFill>
            <a:tailEnd type="triangle" w="med" len="med"/>
          </a:ln>
        </p:spPr>
      </p:cxnSp>
      <p:sp>
        <p:nvSpPr>
          <p:cNvPr id="6" name="Rectangle 5"/>
          <p:cNvSpPr/>
          <p:nvPr/>
        </p:nvSpPr>
        <p:spPr>
          <a:xfrm>
            <a:off x="548640" y="2359152"/>
            <a:ext cx="4663440" cy="621792"/>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Dependencies (core/deps.py)</a:t>
            </a:r>
          </a:p>
          <a:p>
            <a:pPr algn="ctr">
              <a:spcBef>
                <a:spcPts val="0"/>
              </a:spcBef>
              <a:buNone/>
            </a:pPr>
            <a:r>
              <a:rPr sz="1300" b="0" i="0">
                <a:solidFill>
                  <a:srgbClr val="000000"/>
                </a:solidFill>
                <a:latin typeface="Arial"/>
              </a:rPr>
              <a:t>User from the cookie or Bearer token; one DB session</a:t>
            </a:r>
          </a:p>
        </p:txBody>
      </p:sp>
      <p:cxnSp>
        <p:nvCxnSpPr>
          <p:cNvPr id="7" name="Connector 6"/>
          <p:cNvCxnSpPr/>
          <p:nvPr/>
        </p:nvCxnSpPr>
        <p:spPr>
          <a:xfrm>
            <a:off x="2880360" y="2980944"/>
            <a:ext cx="0" cy="182880"/>
          </a:xfrm>
          <a:prstGeom prst="line">
            <a:avLst/>
          </a:prstGeom>
          <a:ln w="15875">
            <a:solidFill>
              <a:srgbClr val="000000"/>
            </a:solidFill>
            <a:tailEnd type="triangle" w="med" len="med"/>
          </a:ln>
        </p:spPr>
      </p:cxnSp>
      <p:sp>
        <p:nvSpPr>
          <p:cNvPr id="8" name="Rectangle 7"/>
          <p:cNvSpPr/>
          <p:nvPr/>
        </p:nvSpPr>
        <p:spPr>
          <a:xfrm>
            <a:off x="548640" y="3163824"/>
            <a:ext cx="4663440" cy="621792"/>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Services (services/*.py)</a:t>
            </a:r>
          </a:p>
          <a:p>
            <a:pPr algn="ctr">
              <a:spcBef>
                <a:spcPts val="0"/>
              </a:spcBef>
              <a:buNone/>
            </a:pPr>
            <a:r>
              <a:rPr sz="1300" b="0" i="0">
                <a:solidFill>
                  <a:srgbClr val="000000"/>
                </a:solidFill>
                <a:latin typeface="Arial"/>
              </a:rPr>
              <a:t>Business rules: forecasting, tax, wishlist, consent</a:t>
            </a:r>
          </a:p>
        </p:txBody>
      </p:sp>
      <p:cxnSp>
        <p:nvCxnSpPr>
          <p:cNvPr id="9" name="Connector 8"/>
          <p:cNvCxnSpPr/>
          <p:nvPr/>
        </p:nvCxnSpPr>
        <p:spPr>
          <a:xfrm>
            <a:off x="2880360" y="3785615"/>
            <a:ext cx="0" cy="182881"/>
          </a:xfrm>
          <a:prstGeom prst="line">
            <a:avLst/>
          </a:prstGeom>
          <a:ln w="15875">
            <a:solidFill>
              <a:srgbClr val="000000"/>
            </a:solidFill>
            <a:tailEnd type="triangle" w="med" len="med"/>
          </a:ln>
        </p:spPr>
      </p:cxnSp>
      <p:sp>
        <p:nvSpPr>
          <p:cNvPr id="10" name="Rectangle 9"/>
          <p:cNvSpPr/>
          <p:nvPr/>
        </p:nvSpPr>
        <p:spPr>
          <a:xfrm>
            <a:off x="548640" y="3968496"/>
            <a:ext cx="4663440" cy="621792"/>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Models (models/*.py)</a:t>
            </a:r>
          </a:p>
          <a:p>
            <a:pPr algn="ctr">
              <a:spcBef>
                <a:spcPts val="0"/>
              </a:spcBef>
              <a:buNone/>
            </a:pPr>
            <a:r>
              <a:rPr sz="1300" b="0" i="0">
                <a:solidFill>
                  <a:srgbClr val="000000"/>
                </a:solidFill>
                <a:latin typeface="Arial"/>
              </a:rPr>
              <a:t>SQLAlchemy 2 ORM; money as integer paise</a:t>
            </a:r>
          </a:p>
        </p:txBody>
      </p:sp>
      <p:cxnSp>
        <p:nvCxnSpPr>
          <p:cNvPr id="11" name="Connector 10"/>
          <p:cNvCxnSpPr/>
          <p:nvPr/>
        </p:nvCxnSpPr>
        <p:spPr>
          <a:xfrm>
            <a:off x="2880360" y="4590288"/>
            <a:ext cx="0" cy="182880"/>
          </a:xfrm>
          <a:prstGeom prst="line">
            <a:avLst/>
          </a:prstGeom>
          <a:ln w="15875">
            <a:solidFill>
              <a:srgbClr val="000000"/>
            </a:solidFill>
            <a:tailEnd type="triangle" w="med" len="med"/>
          </a:ln>
        </p:spPr>
      </p:cxnSp>
      <p:sp>
        <p:nvSpPr>
          <p:cNvPr id="12" name="Rectangle 11"/>
          <p:cNvSpPr/>
          <p:nvPr/>
        </p:nvSpPr>
        <p:spPr>
          <a:xfrm>
            <a:off x="548640" y="4773168"/>
            <a:ext cx="4663440" cy="621792"/>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Database (data/finpilot.db)</a:t>
            </a:r>
          </a:p>
          <a:p>
            <a:pPr algn="ctr">
              <a:spcBef>
                <a:spcPts val="0"/>
              </a:spcBef>
              <a:buNone/>
            </a:pPr>
            <a:r>
              <a:rPr sz="1300" b="0" i="0">
                <a:solidFill>
                  <a:srgbClr val="000000"/>
                </a:solidFill>
                <a:latin typeface="Arial"/>
              </a:rPr>
              <a:t>SQLite in WAL mode; Alembic migrations</a:t>
            </a:r>
          </a:p>
        </p:txBody>
      </p:sp>
      <p:sp>
        <p:nvSpPr>
          <p:cNvPr id="13" name="TextBox 12"/>
          <p:cNvSpPr txBox="1"/>
          <p:nvPr/>
        </p:nvSpPr>
        <p:spPr>
          <a:xfrm>
            <a:off x="548640" y="5559552"/>
            <a:ext cx="4663440" cy="411480"/>
          </a:xfrm>
          <a:prstGeom prst="rect">
            <a:avLst/>
          </a:prstGeom>
          <a:noFill/>
        </p:spPr>
        <p:txBody>
          <a:bodyPr wrap="square" anchor="t" lIns="45720" rIns="45720" tIns="27432" bIns="27432">
            <a:noAutofit/>
          </a:bodyPr>
          <a:lstStyle/>
          <a:p>
            <a:pPr algn="l">
              <a:spcBef>
                <a:spcPts val="600"/>
              </a:spcBef>
              <a:buNone/>
            </a:pPr>
            <a:r>
              <a:rPr sz="1200" b="0" i="0">
                <a:solidFill>
                  <a:srgbClr val="000000"/>
                </a:solidFill>
                <a:latin typeface="Arial"/>
              </a:rPr>
              <a:t>Shared code: core/ (config, security, crypto, money) and jobs/ (runner, scheduler)</a:t>
            </a:r>
          </a:p>
        </p:txBody>
      </p:sp>
      <p:sp>
        <p:nvSpPr>
          <p:cNvPr id="14" name="TextBox 13"/>
          <p:cNvSpPr txBox="1"/>
          <p:nvPr/>
        </p:nvSpPr>
        <p:spPr>
          <a:xfrm>
            <a:off x="5669280" y="1143000"/>
            <a:ext cx="594360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Example: a what-if purchase</a:t>
            </a:r>
          </a:p>
        </p:txBody>
      </p:sp>
      <p:sp>
        <p:nvSpPr>
          <p:cNvPr id="15" name="TextBox 14"/>
          <p:cNvSpPr txBox="1"/>
          <p:nvPr/>
        </p:nvSpPr>
        <p:spPr>
          <a:xfrm>
            <a:off x="5669280" y="1554480"/>
            <a:ext cx="5971032" cy="4389120"/>
          </a:xfrm>
          <a:prstGeom prst="rect">
            <a:avLst/>
          </a:prstGeom>
          <a:noFill/>
        </p:spPr>
        <p:txBody>
          <a:bodyPr wrap="square" anchor="t" lIns="45720" rIns="45720" tIns="27432" bIns="27432">
            <a:noAutofit/>
          </a:bodyPr>
          <a:lstStyle/>
          <a:p>
            <a:pPr algn="l" marL="274320" indent="-274320">
              <a:spcBef>
                <a:spcPts val="1400"/>
              </a:spcBef>
              <a:buFont typeface="Arial"/>
              <a:buAutoNum type="arabicPeriod"/>
            </a:pPr>
            <a:r>
              <a:rPr sz="1600" b="0" i="0">
                <a:solidFill>
                  <a:srgbClr val="000000"/>
                </a:solidFill>
                <a:latin typeface="Arial"/>
              </a:rPr>
              <a:t>User enters ₹45,000 under "What if I spend..." on the Forecast page and clicks Check</a:t>
            </a:r>
          </a:p>
          <a:p>
            <a:pPr algn="l" marL="274320" indent="-274320">
              <a:spcBef>
                <a:spcPts val="1400"/>
              </a:spcBef>
              <a:buFont typeface="Arial"/>
              <a:buAutoNum type="arabicPeriod"/>
            </a:pPr>
            <a:r>
              <a:rPr sz="1600" b="0" i="0">
                <a:solidFill>
                  <a:srgbClr val="000000"/>
                </a:solidFill>
                <a:latin typeface="Arial"/>
              </a:rPr>
              <a:t>api.ts sends GET /api/v1/forecast/whatif?amount=45000 with the cookie or token</a:t>
            </a:r>
          </a:p>
          <a:p>
            <a:pPr algn="l" marL="274320" indent="-274320">
              <a:spcBef>
                <a:spcPts val="1400"/>
              </a:spcBef>
              <a:buFont typeface="Arial"/>
              <a:buAutoNum type="arabicPeriod"/>
            </a:pPr>
            <a:r>
              <a:rPr sz="1600" b="0" i="0">
                <a:solidFill>
                  <a:srgbClr val="000000"/>
                </a:solidFill>
                <a:latin typeface="Arial"/>
              </a:rPr>
              <a:t>FastAPI checks 0 &lt; amount &lt; ₹1e9 and loads the user from the JWT (otherwise 422 or 401)</a:t>
            </a:r>
          </a:p>
          <a:p>
            <a:pPr algn="l" marL="274320" indent="-274320">
              <a:spcBef>
                <a:spcPts val="1400"/>
              </a:spcBef>
              <a:buFont typeface="Arial"/>
              <a:buAutoNum type="arabicPeriod"/>
            </a:pPr>
            <a:r>
              <a:rPr sz="1600" b="0" i="0">
                <a:solidFill>
                  <a:srgbClr val="000000"/>
                </a:solidFill>
                <a:latin typeface="Arial"/>
              </a:rPr>
              <a:t>The service reads the stored 90-day forecast and lowers p10, p50 and p90 from the purchase date</a:t>
            </a:r>
          </a:p>
          <a:p>
            <a:pPr algn="l" marL="274320" indent="-274320">
              <a:spcBef>
                <a:spcPts val="1400"/>
              </a:spcBef>
              <a:buFont typeface="Arial"/>
              <a:buAutoNum type="arabicPeriod"/>
            </a:pPr>
            <a:r>
              <a:rPr sz="1600" b="0" i="0">
                <a:solidFill>
                  <a:srgbClr val="000000"/>
                </a:solidFill>
                <a:latin typeface="Arial"/>
              </a:rPr>
              <a:t>It compares the new lowest balance in the next 60 days with the safety buffer</a:t>
            </a:r>
          </a:p>
          <a:p>
            <a:pPr algn="l" marL="274320" indent="-274320">
              <a:spcBef>
                <a:spcPts val="1400"/>
              </a:spcBef>
              <a:buFont typeface="Arial"/>
              <a:buAutoNum type="arabicPeriod"/>
            </a:pPr>
            <a:r>
              <a:rPr sz="1600" b="0" i="0">
                <a:solidFill>
                  <a:srgbClr val="000000"/>
                </a:solidFill>
                <a:latin typeface="Arial"/>
              </a:rPr>
              <a:t>TanStack Query redraws the chart and shows a green or red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Technologies Used</a:t>
            </a:r>
          </a:p>
        </p:txBody>
      </p:sp>
      <p:graphicFrame>
        <p:nvGraphicFramePr>
          <p:cNvPr id="3" name="Table 2"/>
          <p:cNvGraphicFramePr>
            <a:graphicFrameLocks noGrp="1"/>
          </p:cNvGraphicFramePr>
          <p:nvPr/>
        </p:nvGraphicFramePr>
        <p:xfrm>
          <a:off x="548640" y="1280160"/>
          <a:ext cx="11091672" cy="4041648"/>
        </p:xfrm>
        <a:graphic>
          <a:graphicData uri="http://schemas.openxmlformats.org/drawingml/2006/table">
            <a:tbl>
              <a:tblPr firstRow="1" bandRow="0">
                <a:tableStyleId>{5940675A-B579-460E-94D1-54222C63F5DA}</a:tableStyleId>
              </a:tblPr>
              <a:tblGrid>
                <a:gridCol w="2651760"/>
                <a:gridCol w="8439912"/>
              </a:tblGrid>
              <a:tr h="384048">
                <a:tc>
                  <a:txBody>
                    <a:bodyPr wrap="square"/>
                    <a:lstStyle/>
                    <a:p>
                      <a:pPr algn="l">
                        <a:spcBef>
                          <a:spcPts val="0"/>
                        </a:spcBef>
                        <a:buNone/>
                      </a:pPr>
                      <a:r>
                        <a:rPr sz="1500" b="1" i="0">
                          <a:solidFill>
                            <a:srgbClr val="000000"/>
                          </a:solidFill>
                          <a:latin typeface="Arial"/>
                        </a:rPr>
                        <a:t>Category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500" b="1" i="0">
                          <a:solidFill>
                            <a:srgbClr val="000000"/>
                          </a:solidFill>
                          <a:latin typeface="Arial"/>
                        </a:rPr>
                        <a:t>Tools and versions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731520">
                <a:tc>
                  <a:txBody>
                    <a:bodyPr wrap="square"/>
                    <a:lstStyle/>
                    <a:p>
                      <a:pPr algn="l">
                        <a:spcBef>
                          <a:spcPts val="0"/>
                        </a:spcBef>
                        <a:buNone/>
                      </a:pPr>
                      <a:r>
                        <a:rPr sz="1500" b="1" i="0">
                          <a:solidFill>
                            <a:srgbClr val="000000"/>
                          </a:solidFill>
                          <a:latin typeface="Arial"/>
                        </a:rPr>
                        <a:t>Frontend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500" b="0" i="0">
                          <a:solidFill>
                            <a:srgbClr val="000000"/>
                          </a:solidFill>
                          <a:latin typeface="Arial"/>
                        </a:rPr>
                        <a:t>Next.js 16.4 (static export), React 19.3, TypeScript 5.9, Tailwind CSS 4.3, shadcn/ui on Base UI, TanStack Query 5, Recharts 3, tesseract.js 7, Capacitor 8 (Android)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731520">
                <a:tc>
                  <a:txBody>
                    <a:bodyPr wrap="square"/>
                    <a:lstStyle/>
                    <a:p>
                      <a:pPr algn="l">
                        <a:spcBef>
                          <a:spcPts val="0"/>
                        </a:spcBef>
                        <a:buNone/>
                      </a:pPr>
                      <a:r>
                        <a:rPr sz="1500" b="1" i="0">
                          <a:solidFill>
                            <a:srgbClr val="000000"/>
                          </a:solidFill>
                          <a:latin typeface="Arial"/>
                        </a:rPr>
                        <a:t>Backend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500" b="0" i="0">
                          <a:solidFill>
                            <a:srgbClr val="000000"/>
                          </a:solidFill>
                          <a:latin typeface="Arial"/>
                        </a:rPr>
                        <a:t>Python 3.11+ (tested on 3.14), FastAPI 0.143, Uvicorn 0.54, Pydantic 2.14, SQLAlchemy 2.1, Alembic 1.20, PyJWT 2.15, pwdlib (bcrypt), cryptography (Fernet)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731520">
                <a:tc>
                  <a:txBody>
                    <a:bodyPr wrap="square"/>
                    <a:lstStyle/>
                    <a:p>
                      <a:pPr algn="l">
                        <a:spcBef>
                          <a:spcPts val="0"/>
                        </a:spcBef>
                        <a:buNone/>
                      </a:pPr>
                      <a:r>
                        <a:rPr sz="1500" b="1" i="0">
                          <a:solidFill>
                            <a:srgbClr val="000000"/>
                          </a:solidFill>
                          <a:latin typeface="Arial"/>
                        </a:rPr>
                        <a:t>Data and ML</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500" b="0" i="0">
                          <a:solidFill>
                            <a:srgbClr val="000000"/>
                          </a:solidFill>
                          <a:latin typeface="Arial"/>
                        </a:rPr>
                        <a:t>SQLite (WAL), scikit-learn 1.9, Prophet 1.5, pandas 3.0, NumPy 2.5, RapidFuzz 3.14, dateparser 1.4</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731520">
                <a:tc>
                  <a:txBody>
                    <a:bodyPr wrap="square"/>
                    <a:lstStyle/>
                    <a:p>
                      <a:pPr algn="l">
                        <a:spcBef>
                          <a:spcPts val="0"/>
                        </a:spcBef>
                        <a:buNone/>
                      </a:pPr>
                      <a:r>
                        <a:rPr sz="1500" b="1" i="0">
                          <a:solidFill>
                            <a:srgbClr val="000000"/>
                          </a:solidFill>
                          <a:latin typeface="Arial"/>
                        </a:rPr>
                        <a:t>Documents and web</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500" b="0" i="0">
                          <a:solidFill>
                            <a:srgbClr val="000000"/>
                          </a:solidFill>
                          <a:latin typeface="Arial"/>
                        </a:rPr>
                        <a:t>pdfplumber 0.11, ReportLab 5.0, openpyxl, xlrd, httpx 0.28, Protego 0.7 (robots.txt), BeautifulSoup + lxml, segno (QR)</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731520">
                <a:tc>
                  <a:txBody>
                    <a:bodyPr wrap="square"/>
                    <a:lstStyle/>
                    <a:p>
                      <a:pPr algn="l">
                        <a:spcBef>
                          <a:spcPts val="0"/>
                        </a:spcBef>
                        <a:buNone/>
                      </a:pPr>
                      <a:r>
                        <a:rPr sz="1500" b="1" i="0">
                          <a:solidFill>
                            <a:srgbClr val="000000"/>
                          </a:solidFill>
                          <a:latin typeface="Arial"/>
                        </a:rPr>
                        <a:t>Testing and tools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500" b="0" i="0">
                          <a:solidFill>
                            <a:srgbClr val="000000"/>
                          </a:solidFill>
                          <a:latin typeface="Arial"/>
                        </a:rPr>
                        <a:t>pytest 9.1, Hypothesis 6, Playwright 1.64 (browser and Android), Android SDK and emulator, Git and GitHub, Node.js / npm</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
        <p:nvSpPr>
          <p:cNvPr id="4" name="TextBox 3"/>
          <p:cNvSpPr txBox="1"/>
          <p:nvPr/>
        </p:nvSpPr>
        <p:spPr>
          <a:xfrm>
            <a:off x="548640" y="5486400"/>
            <a:ext cx="11091672" cy="365760"/>
          </a:xfrm>
          <a:prstGeom prst="rect">
            <a:avLst/>
          </a:prstGeom>
          <a:noFill/>
        </p:spPr>
        <p:txBody>
          <a:bodyPr wrap="square" anchor="t" lIns="45720" rIns="45720" tIns="27432" bIns="27432">
            <a:noAutofit/>
          </a:bodyPr>
          <a:lstStyle/>
          <a:p>
            <a:pPr algn="l">
              <a:spcBef>
                <a:spcPts val="600"/>
              </a:spcBef>
              <a:buNone/>
            </a:pPr>
            <a:r>
              <a:rPr sz="1400" b="0" i="0">
                <a:solidFill>
                  <a:srgbClr val="000000"/>
                </a:solidFill>
                <a:latin typeface="Arial"/>
              </a:rPr>
              <a:t>All tools are free and run locally.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Software Development Life Cycle</a:t>
            </a:r>
          </a:p>
        </p:txBody>
      </p:sp>
      <p:sp>
        <p:nvSpPr>
          <p:cNvPr id="3" name="TextBox 2"/>
          <p:cNvSpPr txBox="1"/>
          <p:nvPr/>
        </p:nvSpPr>
        <p:spPr>
          <a:xfrm>
            <a:off x="548640" y="1143000"/>
            <a:ext cx="11091672" cy="411480"/>
          </a:xfrm>
          <a:prstGeom prst="rect">
            <a:avLst/>
          </a:prstGeom>
          <a:noFill/>
        </p:spPr>
        <p:txBody>
          <a:bodyPr wrap="square" anchor="t" lIns="45720" rIns="45720" tIns="27432" bIns="27432">
            <a:noAutofit/>
          </a:bodyPr>
          <a:lstStyle/>
          <a:p>
            <a:pPr algn="l">
              <a:spcBef>
                <a:spcPts val="0"/>
              </a:spcBef>
              <a:buNone/>
            </a:pPr>
            <a:r>
              <a:rPr sz="1600" b="1" i="0">
                <a:solidFill>
                  <a:srgbClr val="000000"/>
                </a:solidFill>
                <a:latin typeface="Arial"/>
              </a:rPr>
              <a:t>Model used: </a:t>
            </a:r>
            <a:r>
              <a:rPr sz="1600" b="0" i="0">
                <a:solidFill>
                  <a:srgbClr val="000000"/>
                </a:solidFill>
                <a:latin typeface="Arial"/>
              </a:rPr>
              <a:t>Iterative and incremental. Every phase ended with a working app and a check we could measure.</a:t>
            </a:r>
          </a:p>
        </p:txBody>
      </p:sp>
      <p:sp>
        <p:nvSpPr>
          <p:cNvPr id="4" name="Rectangle 3"/>
          <p:cNvSpPr/>
          <p:nvPr/>
        </p:nvSpPr>
        <p:spPr>
          <a:xfrm>
            <a:off x="548640"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Requirements</a:t>
            </a:r>
          </a:p>
        </p:txBody>
      </p:sp>
      <p:cxnSp>
        <p:nvCxnSpPr>
          <p:cNvPr id="5" name="Connector 4"/>
          <p:cNvCxnSpPr/>
          <p:nvPr/>
        </p:nvCxnSpPr>
        <p:spPr>
          <a:xfrm>
            <a:off x="2103120" y="1920240"/>
            <a:ext cx="351129" cy="0"/>
          </a:xfrm>
          <a:prstGeom prst="line">
            <a:avLst/>
          </a:prstGeom>
          <a:ln w="15875">
            <a:solidFill>
              <a:srgbClr val="000000"/>
            </a:solidFill>
            <a:tailEnd type="triangle" w="med" len="med"/>
          </a:ln>
        </p:spPr>
      </p:cxnSp>
      <p:sp>
        <p:nvSpPr>
          <p:cNvPr id="6" name="Rectangle 5"/>
          <p:cNvSpPr/>
          <p:nvPr/>
        </p:nvSpPr>
        <p:spPr>
          <a:xfrm>
            <a:off x="2454249"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Design</a:t>
            </a:r>
          </a:p>
        </p:txBody>
      </p:sp>
      <p:cxnSp>
        <p:nvCxnSpPr>
          <p:cNvPr id="7" name="Connector 6"/>
          <p:cNvCxnSpPr/>
          <p:nvPr/>
        </p:nvCxnSpPr>
        <p:spPr>
          <a:xfrm>
            <a:off x="4008729" y="1920240"/>
            <a:ext cx="351130" cy="0"/>
          </a:xfrm>
          <a:prstGeom prst="line">
            <a:avLst/>
          </a:prstGeom>
          <a:ln w="15875">
            <a:solidFill>
              <a:srgbClr val="000000"/>
            </a:solidFill>
            <a:tailEnd type="triangle" w="med" len="med"/>
          </a:ln>
        </p:spPr>
      </p:cxnSp>
      <p:sp>
        <p:nvSpPr>
          <p:cNvPr id="8" name="Rectangle 7"/>
          <p:cNvSpPr/>
          <p:nvPr/>
        </p:nvSpPr>
        <p:spPr>
          <a:xfrm>
            <a:off x="4359859"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Implementation</a:t>
            </a:r>
          </a:p>
        </p:txBody>
      </p:sp>
      <p:cxnSp>
        <p:nvCxnSpPr>
          <p:cNvPr id="9" name="Connector 8"/>
          <p:cNvCxnSpPr/>
          <p:nvPr/>
        </p:nvCxnSpPr>
        <p:spPr>
          <a:xfrm>
            <a:off x="5914339" y="1920240"/>
            <a:ext cx="351129" cy="0"/>
          </a:xfrm>
          <a:prstGeom prst="line">
            <a:avLst/>
          </a:prstGeom>
          <a:ln w="15875">
            <a:solidFill>
              <a:srgbClr val="000000"/>
            </a:solidFill>
            <a:tailEnd type="triangle" w="med" len="med"/>
          </a:ln>
        </p:spPr>
      </p:cxnSp>
      <p:sp>
        <p:nvSpPr>
          <p:cNvPr id="10" name="Rectangle 9"/>
          <p:cNvSpPr/>
          <p:nvPr/>
        </p:nvSpPr>
        <p:spPr>
          <a:xfrm>
            <a:off x="6265468"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Testing</a:t>
            </a:r>
          </a:p>
        </p:txBody>
      </p:sp>
      <p:cxnSp>
        <p:nvCxnSpPr>
          <p:cNvPr id="11" name="Connector 10"/>
          <p:cNvCxnSpPr/>
          <p:nvPr/>
        </p:nvCxnSpPr>
        <p:spPr>
          <a:xfrm>
            <a:off x="7819948" y="1920240"/>
            <a:ext cx="351130" cy="0"/>
          </a:xfrm>
          <a:prstGeom prst="line">
            <a:avLst/>
          </a:prstGeom>
          <a:ln w="15875">
            <a:solidFill>
              <a:srgbClr val="000000"/>
            </a:solidFill>
            <a:tailEnd type="triangle" w="med" len="med"/>
          </a:ln>
        </p:spPr>
      </p:cxnSp>
      <p:sp>
        <p:nvSpPr>
          <p:cNvPr id="12" name="Rectangle 11"/>
          <p:cNvSpPr/>
          <p:nvPr/>
        </p:nvSpPr>
        <p:spPr>
          <a:xfrm>
            <a:off x="8171078"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Deployment</a:t>
            </a:r>
          </a:p>
        </p:txBody>
      </p:sp>
      <p:cxnSp>
        <p:nvCxnSpPr>
          <p:cNvPr id="13" name="Connector 12"/>
          <p:cNvCxnSpPr/>
          <p:nvPr/>
        </p:nvCxnSpPr>
        <p:spPr>
          <a:xfrm>
            <a:off x="9725558" y="1920240"/>
            <a:ext cx="351130" cy="0"/>
          </a:xfrm>
          <a:prstGeom prst="line">
            <a:avLst/>
          </a:prstGeom>
          <a:ln w="15875">
            <a:solidFill>
              <a:srgbClr val="000000"/>
            </a:solidFill>
            <a:tailEnd type="triangle" w="med" len="med"/>
          </a:ln>
        </p:spPr>
      </p:cxnSp>
      <p:sp>
        <p:nvSpPr>
          <p:cNvPr id="14" name="Rectangle 13"/>
          <p:cNvSpPr/>
          <p:nvPr/>
        </p:nvSpPr>
        <p:spPr>
          <a:xfrm>
            <a:off x="10076688" y="169164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Maintenance</a:t>
            </a:r>
          </a:p>
        </p:txBody>
      </p:sp>
      <p:graphicFrame>
        <p:nvGraphicFramePr>
          <p:cNvPr id="15" name="Table 14"/>
          <p:cNvGraphicFramePr>
            <a:graphicFrameLocks noGrp="1"/>
          </p:cNvGraphicFramePr>
          <p:nvPr/>
        </p:nvGraphicFramePr>
        <p:xfrm>
          <a:off x="548640" y="2377440"/>
          <a:ext cx="11091672" cy="3127248"/>
        </p:xfrm>
        <a:graphic>
          <a:graphicData uri="http://schemas.openxmlformats.org/drawingml/2006/table">
            <a:tbl>
              <a:tblPr firstRow="1" bandRow="0">
                <a:tableStyleId>{5940675A-B579-460E-94D1-54222C63F5DA}</a:tableStyleId>
              </a:tblPr>
              <a:tblGrid>
                <a:gridCol w="2103120"/>
                <a:gridCol w="8988552"/>
              </a:tblGrid>
              <a:tr h="384048">
                <a:tc>
                  <a:txBody>
                    <a:bodyPr wrap="square"/>
                    <a:lstStyle/>
                    <a:p>
                      <a:pPr algn="l">
                        <a:spcBef>
                          <a:spcPts val="0"/>
                        </a:spcBef>
                        <a:buNone/>
                      </a:pPr>
                      <a:r>
                        <a:rPr sz="1400" b="1" i="0">
                          <a:solidFill>
                            <a:srgbClr val="000000"/>
                          </a:solidFill>
                          <a:latin typeface="Arial"/>
                        </a:rPr>
                        <a:t>Phase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What we did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457200">
                <a:tc>
                  <a:txBody>
                    <a:bodyPr wrap="square"/>
                    <a:lstStyle/>
                    <a:p>
                      <a:pPr algn="l">
                        <a:spcBef>
                          <a:spcPts val="0"/>
                        </a:spcBef>
                        <a:buNone/>
                      </a:pPr>
                      <a:r>
                        <a:rPr sz="1400" b="1" i="0">
                          <a:solidFill>
                            <a:srgbClr val="000000"/>
                          </a:solidFill>
                          <a:latin typeface="Arial"/>
                        </a:rPr>
                        <a:t>Requirements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Review 0 (July 2026): problem, objectives and modules. After the review, real SMS (Android app), IMAP e-mail and a wishlist replaced sample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400" b="1" i="0">
                          <a:solidFill>
                            <a:srgbClr val="000000"/>
                          </a:solidFill>
                          <a:latin typeface="Arial"/>
                        </a:rPr>
                        <a:t>Design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Laptop server + Android app; 29-table schema with money in paise; Docker + PostgreSQL replaced by SQLite and run.py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400" b="1" i="0">
                          <a:solidFill>
                            <a:srgbClr val="000000"/>
                          </a:solidFill>
                          <a:latin typeface="Arial"/>
                        </a:rPr>
                        <a:t>Implementation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10 build phases (0 to 9), each one a working increment with API, logic and UI</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400" b="1" i="0">
                          <a:solidFill>
                            <a:srgbClr val="000000"/>
                          </a:solidFill>
                          <a:latin typeface="Arial"/>
                        </a:rPr>
                        <a:t>Testing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pytest + Hypothesis in every phase; Playwright in the browser and on an Android emulator; metrics on held-out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400" b="1" i="0">
                          <a:solidFill>
                            <a:srgbClr val="000000"/>
                          </a:solidFill>
                          <a:latin typeface="Arial"/>
                        </a:rPr>
                        <a:t>Deployment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One command (python3 run.py); pre-built web app; Android APK installed over USB</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400" b="1" i="0">
                          <a:solidFill>
                            <a:srgbClr val="000000"/>
                          </a:solidFill>
                          <a:latin typeface="Arial"/>
                        </a:rPr>
                        <a:t>Maintenance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Alembic migrations; demo data refreshes daily; model evaluation in Settings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Build Phases</a:t>
            </a:r>
          </a:p>
        </p:txBody>
      </p:sp>
      <p:graphicFrame>
        <p:nvGraphicFramePr>
          <p:cNvPr id="3" name="Table 2"/>
          <p:cNvGraphicFramePr>
            <a:graphicFrameLocks noGrp="1"/>
          </p:cNvGraphicFramePr>
          <p:nvPr/>
        </p:nvGraphicFramePr>
        <p:xfrm>
          <a:off x="548640" y="1188720"/>
          <a:ext cx="11091672" cy="4590288"/>
        </p:xfrm>
        <a:graphic>
          <a:graphicData uri="http://schemas.openxmlformats.org/drawingml/2006/table">
            <a:tbl>
              <a:tblPr firstRow="1" bandRow="0">
                <a:tableStyleId>{5940675A-B579-460E-94D1-54222C63F5DA}</a:tableStyleId>
              </a:tblPr>
              <a:tblGrid>
                <a:gridCol w="822960"/>
                <a:gridCol w="2148840"/>
                <a:gridCol w="4206240"/>
                <a:gridCol w="3913632"/>
              </a:tblGrid>
              <a:tr h="384048">
                <a:tc>
                  <a:txBody>
                    <a:bodyPr wrap="square"/>
                    <a:lstStyle/>
                    <a:p>
                      <a:pPr algn="ctr">
                        <a:spcBef>
                          <a:spcPts val="0"/>
                        </a:spcBef>
                        <a:buNone/>
                      </a:pPr>
                      <a:r>
                        <a:rPr sz="1400" b="1" i="0">
                          <a:solidFill>
                            <a:srgbClr val="000000"/>
                          </a:solidFill>
                          <a:latin typeface="Arial"/>
                        </a:rPr>
                        <a:t>Phase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Focus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Work done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Exit check</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420624">
                <a:tc>
                  <a:txBody>
                    <a:bodyPr wrap="square"/>
                    <a:lstStyle/>
                    <a:p>
                      <a:pPr algn="ctr">
                        <a:spcBef>
                          <a:spcPts val="0"/>
                        </a:spcBef>
                        <a:buNone/>
                      </a:pPr>
                      <a:r>
                        <a:rPr sz="1400" b="0" i="0">
                          <a:solidFill>
                            <a:srgbClr val="000000"/>
                          </a:solidFill>
                          <a:latin typeface="Arial"/>
                        </a:rPr>
                        <a:t>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Foundation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run.py, server, jobs, SQLite + Alembic</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 clean start renders a page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1</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Data and auth</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Schema, auth, demo persona, model training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Deterministic data; tests pass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2</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Capture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Consent API, pipeline, file imports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No transactions from OTP or promo messages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3</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Core UI</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App shell, onboarding, dashboard, connections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E2E test: an SMS becomes a transaction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4</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Receipts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On-device OCR, receipt commit, PDF bills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 receipt photo attached to its payment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5</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Forecasting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Prophet + known schedule, backtest, what-if</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Backtest against baselines; fallback tested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6</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Subscriptions, tax</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Detection, both tax regimes, export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Planted findings detected; tax tests pass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7</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Insights, coach</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Insights, coach, budgets, goals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Every coach intent answers from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8</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Affordability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Safe-to-spend, wishlist, price reading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Property test passes; private links refused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20624">
                <a:tc>
                  <a:txBody>
                    <a:bodyPr wrap="square"/>
                    <a:lstStyle/>
                    <a:p>
                      <a:pPr algn="ctr">
                        <a:spcBef>
                          <a:spcPts val="0"/>
                        </a:spcBef>
                        <a:buNone/>
                      </a:pPr>
                      <a:r>
                        <a:rPr sz="1400" b="0" i="0">
                          <a:solidFill>
                            <a:srgbClr val="000000"/>
                          </a:solidFill>
                          <a:latin typeface="Arial"/>
                        </a:rPr>
                        <a:t>9</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Real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Android app, IMAP, XLSX import, hardening</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17/17 on-device and 23 E2E checks pass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Major Features and Modules</a:t>
            </a:r>
          </a:p>
        </p:txBody>
      </p:sp>
      <p:sp>
        <p:nvSpPr>
          <p:cNvPr id="3" name="TextBox 2"/>
          <p:cNvSpPr txBox="1"/>
          <p:nvPr/>
        </p:nvSpPr>
        <p:spPr>
          <a:xfrm>
            <a:off x="548640" y="1188720"/>
            <a:ext cx="11091672" cy="4754880"/>
          </a:xfrm>
          <a:prstGeom prst="rect">
            <a:avLst/>
          </a:prstGeom>
          <a:noFill/>
        </p:spPr>
        <p:txBody>
          <a:bodyPr wrap="square" anchor="t" lIns="45720" rIns="45720" tIns="27432" bIns="27432">
            <a:noAutofit/>
          </a:bodyPr>
          <a:lstStyle/>
          <a:p>
            <a:pPr algn="l" marL="274320" indent="-274320">
              <a:spcBef>
                <a:spcPts val="1200"/>
              </a:spcBef>
              <a:buFont typeface="Arial"/>
              <a:buAutoNum type="arabicPeriod"/>
            </a:pPr>
            <a:r>
              <a:rPr sz="1700" b="1" i="0">
                <a:solidFill>
                  <a:srgbClr val="000000"/>
                </a:solidFill>
                <a:latin typeface="Arial"/>
              </a:rPr>
              <a:t>Consent and capture: </a:t>
            </a:r>
            <a:r>
              <a:rPr sz="1700" b="0" i="0">
                <a:solidFill>
                  <a:srgbClr val="000000"/>
                </a:solidFill>
                <a:latin typeface="Arial"/>
              </a:rPr>
              <a:t>SMS read on the phone, e-mail over IMAP and file imports, with consent per source</a:t>
            </a:r>
          </a:p>
          <a:p>
            <a:pPr algn="l" marL="274320" indent="-274320">
              <a:spcBef>
                <a:spcPts val="1200"/>
              </a:spcBef>
              <a:buFont typeface="Arial"/>
              <a:buAutoNum type="arabicPeriod"/>
            </a:pPr>
            <a:r>
              <a:rPr sz="1700" b="1" i="0">
                <a:solidFill>
                  <a:srgbClr val="000000"/>
                </a:solidFill>
                <a:latin typeface="Arial"/>
              </a:rPr>
              <a:t>Receipts and bills: </a:t>
            </a:r>
            <a:r>
              <a:rPr sz="1700" b="0" i="0">
                <a:solidFill>
                  <a:srgbClr val="000000"/>
                </a:solidFill>
                <a:latin typeface="Arial"/>
              </a:rPr>
              <a:t>camera OCR on the device with confidence boxes; PDF bills; matched to card payments</a:t>
            </a:r>
          </a:p>
          <a:p>
            <a:pPr algn="l" marL="274320" indent="-274320">
              <a:spcBef>
                <a:spcPts val="1200"/>
              </a:spcBef>
              <a:buFont typeface="Arial"/>
              <a:buAutoNum type="arabicPeriod"/>
            </a:pPr>
            <a:r>
              <a:rPr sz="1700" b="1" i="0">
                <a:solidFill>
                  <a:srgbClr val="000000"/>
                </a:solidFill>
                <a:latin typeface="Arial"/>
              </a:rPr>
              <a:t>Transactions and review: </a:t>
            </a:r>
            <a:r>
              <a:rPr sz="1700" b="0" i="0">
                <a:solidFill>
                  <a:srgbClr val="000000"/>
                </a:solidFill>
                <a:latin typeface="Arial"/>
              </a:rPr>
              <a:t>rules, then merchant list, then ML; uncertain items go to Review and become rules</a:t>
            </a:r>
          </a:p>
          <a:p>
            <a:pPr algn="l" marL="274320" indent="-274320">
              <a:spcBef>
                <a:spcPts val="1200"/>
              </a:spcBef>
              <a:buFont typeface="Arial"/>
              <a:buAutoNum type="arabicPeriod"/>
            </a:pPr>
            <a:r>
              <a:rPr sz="1700" b="1" i="0">
                <a:solidFill>
                  <a:srgbClr val="000000"/>
                </a:solidFill>
                <a:latin typeface="Arial"/>
              </a:rPr>
              <a:t>Anomaly detection: </a:t>
            </a:r>
            <a:r>
              <a:rPr sz="1700" b="0" i="0">
                <a:solidFill>
                  <a:srgbClr val="000000"/>
                </a:solidFill>
                <a:latin typeface="Arial"/>
              </a:rPr>
              <a:t>robust z-score, IsolationForest, duplicate charges and new-merchant spikes</a:t>
            </a:r>
          </a:p>
          <a:p>
            <a:pPr algn="l" marL="274320" indent="-274320">
              <a:spcBef>
                <a:spcPts val="1200"/>
              </a:spcBef>
              <a:buFont typeface="Arial"/>
              <a:buAutoNum type="arabicPeriod"/>
            </a:pPr>
            <a:r>
              <a:rPr sz="1700" b="1" i="0">
                <a:solidFill>
                  <a:srgbClr val="000000"/>
                </a:solidFill>
                <a:latin typeface="Arial"/>
              </a:rPr>
              <a:t>Cash-flow forecast: </a:t>
            </a:r>
            <a:r>
              <a:rPr sz="1700" b="0" i="0">
                <a:solidFill>
                  <a:srgbClr val="000000"/>
                </a:solidFill>
                <a:latin typeface="Arial"/>
              </a:rPr>
              <a:t>known schedule + Prophet; 80% band, what-if check and a backtest against baselines</a:t>
            </a:r>
          </a:p>
          <a:p>
            <a:pPr algn="l" marL="274320" indent="-274320">
              <a:spcBef>
                <a:spcPts val="1200"/>
              </a:spcBef>
              <a:buFont typeface="Arial"/>
              <a:buAutoNum type="arabicPeriod"/>
            </a:pPr>
            <a:r>
              <a:rPr sz="1700" b="1" i="0">
                <a:solidFill>
                  <a:srgbClr val="000000"/>
                </a:solidFill>
                <a:latin typeface="Arial"/>
              </a:rPr>
              <a:t>Subscriptions: </a:t>
            </a:r>
            <a:r>
              <a:rPr sz="1700" b="0" i="0">
                <a:solidFill>
                  <a:srgbClr val="000000"/>
                </a:solidFill>
                <a:latin typeface="Arial"/>
              </a:rPr>
              <a:t>price rises, unused plans, trials turned paid and overlaps, ranked by ₹ per year</a:t>
            </a:r>
          </a:p>
          <a:p>
            <a:pPr algn="l" marL="274320" indent="-274320">
              <a:spcBef>
                <a:spcPts val="1200"/>
              </a:spcBef>
              <a:buFont typeface="Arial"/>
              <a:buAutoNum type="arabicPeriod"/>
            </a:pPr>
            <a:r>
              <a:rPr sz="1700" b="1" i="0">
                <a:solidFill>
                  <a:srgbClr val="000000"/>
                </a:solidFill>
                <a:latin typeface="Arial"/>
              </a:rPr>
              <a:t>Tax insights: </a:t>
            </a:r>
            <a:r>
              <a:rPr sz="1700" b="0" i="0">
                <a:solidFill>
                  <a:srgbClr val="000000"/>
                </a:solidFill>
                <a:latin typeface="Arial"/>
              </a:rPr>
              <a:t>two tax years, both regimes, deductions from transactions, CSV/PDF export</a:t>
            </a:r>
          </a:p>
          <a:p>
            <a:pPr algn="l" marL="274320" indent="-274320">
              <a:spcBef>
                <a:spcPts val="1200"/>
              </a:spcBef>
              <a:buFont typeface="Arial"/>
              <a:buAutoNum type="arabicPeriod"/>
            </a:pPr>
            <a:r>
              <a:rPr sz="1700" b="1" i="0">
                <a:solidFill>
                  <a:srgbClr val="000000"/>
                </a:solidFill>
                <a:latin typeface="Arial"/>
              </a:rPr>
              <a:t>Insights, coach and budgets: </a:t>
            </a:r>
            <a:r>
              <a:rPr sz="1700" b="0" i="0">
                <a:solidFill>
                  <a:srgbClr val="000000"/>
                </a:solidFill>
                <a:latin typeface="Arial"/>
              </a:rPr>
              <a:t>ranked insights; a coach with 13 intents; budgets and goals feed affordability</a:t>
            </a:r>
          </a:p>
          <a:p>
            <a:pPr algn="l" marL="274320" indent="-274320">
              <a:spcBef>
                <a:spcPts val="1200"/>
              </a:spcBef>
              <a:buFont typeface="Arial"/>
              <a:buAutoNum type="arabicPeriod"/>
            </a:pPr>
            <a:r>
              <a:rPr sz="1700" b="1" i="0">
                <a:solidFill>
                  <a:srgbClr val="000000"/>
                </a:solidFill>
                <a:latin typeface="Arial"/>
              </a:rPr>
              <a:t>Wishlist: </a:t>
            </a:r>
            <a:r>
              <a:rPr sz="1700" b="0" i="0">
                <a:solidFill>
                  <a:srgbClr val="000000"/>
                </a:solidFill>
                <a:latin typeface="Arial"/>
              </a:rPr>
              <a:t>prices from product links + affordability check with Buy now, For your goals and Save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Application Screenshots</a:t>
            </a:r>
          </a:p>
        </p:txBody>
      </p:sp>
      <p:pic>
        <p:nvPicPr>
          <p:cNvPr id="3" name="Picture 2" descr="dashboard.png"/>
          <p:cNvPicPr>
            <a:picLocks noChangeAspect="1"/>
          </p:cNvPicPr>
          <p:nvPr/>
        </p:nvPicPr>
        <p:blipFill>
          <a:blip r:embed="rId3"/>
          <a:stretch>
            <a:fillRect/>
          </a:stretch>
        </p:blipFill>
        <p:spPr>
          <a:xfrm>
            <a:off x="868680" y="1188720"/>
            <a:ext cx="3291840" cy="2057400"/>
          </a:xfrm>
          <a:prstGeom prst="rect">
            <a:avLst/>
          </a:prstGeom>
          <a:ln w="9525">
            <a:solidFill>
              <a:srgbClr val="7F7F7F"/>
            </a:solidFill>
          </a:ln>
        </p:spPr>
      </p:pic>
      <p:pic>
        <p:nvPicPr>
          <p:cNvPr id="5" name="Picture 4" descr="connections.png"/>
          <p:cNvPicPr>
            <a:picLocks noChangeAspect="1"/>
          </p:cNvPicPr>
          <p:nvPr/>
        </p:nvPicPr>
        <p:blipFill>
          <a:blip r:embed="rId4"/>
          <a:stretch>
            <a:fillRect/>
          </a:stretch>
        </p:blipFill>
        <p:spPr>
          <a:xfrm>
            <a:off x="4453128" y="1188720"/>
            <a:ext cx="3291840" cy="2057400"/>
          </a:xfrm>
          <a:prstGeom prst="rect">
            <a:avLst/>
          </a:prstGeom>
          <a:ln w="9525">
            <a:solidFill>
              <a:srgbClr val="7F7F7F"/>
            </a:solidFill>
          </a:ln>
        </p:spPr>
      </p:pic>
      <p:pic>
        <p:nvPicPr>
          <p:cNvPr id="7" name="Picture 6" descr="forecast.png"/>
          <p:cNvPicPr>
            <a:picLocks noChangeAspect="1"/>
          </p:cNvPicPr>
          <p:nvPr/>
        </p:nvPicPr>
        <p:blipFill>
          <a:blip r:embed="rId5"/>
          <a:stretch>
            <a:fillRect/>
          </a:stretch>
        </p:blipFill>
        <p:spPr>
          <a:xfrm>
            <a:off x="8037575" y="1188720"/>
            <a:ext cx="3291840" cy="2057400"/>
          </a:xfrm>
          <a:prstGeom prst="rect">
            <a:avLst/>
          </a:prstGeom>
          <a:ln w="9525">
            <a:solidFill>
              <a:srgbClr val="7F7F7F"/>
            </a:solidFill>
          </a:ln>
        </p:spPr>
      </p:pic>
      <p:pic>
        <p:nvPicPr>
          <p:cNvPr id="9" name="Picture 8" descr="subscriptions.png"/>
          <p:cNvPicPr>
            <a:picLocks noChangeAspect="1"/>
          </p:cNvPicPr>
          <p:nvPr/>
        </p:nvPicPr>
        <p:blipFill>
          <a:blip r:embed="rId6"/>
          <a:stretch>
            <a:fillRect/>
          </a:stretch>
        </p:blipFill>
        <p:spPr>
          <a:xfrm>
            <a:off x="868680" y="3611880"/>
            <a:ext cx="3291840" cy="2057400"/>
          </a:xfrm>
          <a:prstGeom prst="rect">
            <a:avLst/>
          </a:prstGeom>
          <a:ln w="9525">
            <a:solidFill>
              <a:srgbClr val="7F7F7F"/>
            </a:solidFill>
          </a:ln>
        </p:spPr>
      </p:pic>
      <p:pic>
        <p:nvPicPr>
          <p:cNvPr id="11" name="Picture 10" descr="tax.png"/>
          <p:cNvPicPr>
            <a:picLocks noChangeAspect="1"/>
          </p:cNvPicPr>
          <p:nvPr/>
        </p:nvPicPr>
        <p:blipFill>
          <a:blip r:embed="rId7"/>
          <a:stretch>
            <a:fillRect/>
          </a:stretch>
        </p:blipFill>
        <p:spPr>
          <a:xfrm>
            <a:off x="4453128" y="3611880"/>
            <a:ext cx="3291840" cy="2057400"/>
          </a:xfrm>
          <a:prstGeom prst="rect">
            <a:avLst/>
          </a:prstGeom>
          <a:ln w="9525">
            <a:solidFill>
              <a:srgbClr val="7F7F7F"/>
            </a:solidFill>
          </a:ln>
        </p:spPr>
      </p:pic>
      <p:pic>
        <p:nvPicPr>
          <p:cNvPr id="13" name="Picture 12" descr="picks.png"/>
          <p:cNvPicPr>
            <a:picLocks noChangeAspect="1"/>
          </p:cNvPicPr>
          <p:nvPr/>
        </p:nvPicPr>
        <p:blipFill>
          <a:blip r:embed="rId8"/>
          <a:stretch>
            <a:fillRect/>
          </a:stretch>
        </p:blipFill>
        <p:spPr>
          <a:xfrm>
            <a:off x="8037575" y="3611880"/>
            <a:ext cx="3291840" cy="2057400"/>
          </a:xfrm>
          <a:prstGeom prst="rect">
            <a:avLst/>
          </a:prstGeom>
          <a:ln w="9525">
            <a:solidFill>
              <a:srgbClr val="7F7F7F"/>
            </a:solidFill>
          </a:ln>
        </p:spPr>
      </p:pic>
      <p:sp>
        <p:nvSpPr>
          <p:cNvPr id="14" name="TextBox 13"/>
          <p:cNvSpPr txBox="1"/>
          <p:nvPr/>
        </p:nvSpPr>
        <p:spPr>
          <a:xfrm>
            <a:off x="868680" y="328269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1: Dashboard</a:t>
            </a:r>
          </a:p>
        </p:txBody>
      </p:sp>
      <p:sp>
        <p:nvSpPr>
          <p:cNvPr id="15" name="TextBox 14"/>
          <p:cNvSpPr txBox="1"/>
          <p:nvPr/>
        </p:nvSpPr>
        <p:spPr>
          <a:xfrm>
            <a:off x="4453128" y="328269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2: Connections (consent per source)</a:t>
            </a:r>
          </a:p>
        </p:txBody>
      </p:sp>
      <p:sp>
        <p:nvSpPr>
          <p:cNvPr id="16" name="TextBox 15"/>
          <p:cNvSpPr txBox="1"/>
          <p:nvPr/>
        </p:nvSpPr>
        <p:spPr>
          <a:xfrm>
            <a:off x="8037575" y="328269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3: Forecast with what-if check</a:t>
            </a:r>
          </a:p>
        </p:txBody>
      </p:sp>
      <p:sp>
        <p:nvSpPr>
          <p:cNvPr id="17" name="TextBox 16"/>
          <p:cNvSpPr txBox="1"/>
          <p:nvPr/>
        </p:nvSpPr>
        <p:spPr>
          <a:xfrm>
            <a:off x="868680" y="570585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4: Subscriptions (ranked savings)</a:t>
            </a:r>
          </a:p>
        </p:txBody>
      </p:sp>
      <p:sp>
        <p:nvSpPr>
          <p:cNvPr id="18" name="TextBox 17"/>
          <p:cNvSpPr txBox="1"/>
          <p:nvPr/>
        </p:nvSpPr>
        <p:spPr>
          <a:xfrm>
            <a:off x="4453128" y="570585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5: Tax: old vs new regime</a:t>
            </a:r>
          </a:p>
        </p:txBody>
      </p:sp>
      <p:sp>
        <p:nvSpPr>
          <p:cNvPr id="19" name="TextBox 18"/>
          <p:cNvSpPr txBox="1"/>
          <p:nvPr/>
        </p:nvSpPr>
        <p:spPr>
          <a:xfrm>
            <a:off x="8037575" y="5705856"/>
            <a:ext cx="3291840" cy="292608"/>
          </a:xfrm>
          <a:prstGeom prst="rect">
            <a:avLst/>
          </a:prstGeom>
          <a:noFill/>
        </p:spPr>
        <p:txBody>
          <a:bodyPr wrap="square" anchor="t" lIns="45720" rIns="45720" tIns="27432" bIns="27432">
            <a:noAutofit/>
          </a:bodyPr>
          <a:lstStyle/>
          <a:p>
            <a:pPr algn="ctr">
              <a:spcBef>
                <a:spcPts val="0"/>
              </a:spcBef>
              <a:buNone/>
            </a:pPr>
            <a:r>
              <a:rPr sz="1200" b="0" i="0">
                <a:solidFill>
                  <a:srgbClr val="000000"/>
                </a:solidFill>
                <a:latin typeface="Arial"/>
              </a:rPr>
              <a:t>Fig. 6: Wishlist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Data Flow</a:t>
            </a:r>
          </a:p>
        </p:txBody>
      </p:sp>
      <p:sp>
        <p:nvSpPr>
          <p:cNvPr id="3" name="TextBox 2"/>
          <p:cNvSpPr txBox="1"/>
          <p:nvPr/>
        </p:nvSpPr>
        <p:spPr>
          <a:xfrm>
            <a:off x="548640" y="1143000"/>
            <a:ext cx="11091672" cy="365760"/>
          </a:xfrm>
          <a:prstGeom prst="rect">
            <a:avLst/>
          </a:prstGeom>
          <a:noFill/>
        </p:spPr>
        <p:txBody>
          <a:bodyPr wrap="square" anchor="t" lIns="45720" rIns="45720" tIns="27432" bIns="27432">
            <a:noAutofit/>
          </a:bodyPr>
          <a:lstStyle/>
          <a:p>
            <a:pPr algn="l">
              <a:spcBef>
                <a:spcPts val="0"/>
              </a:spcBef>
              <a:buNone/>
            </a:pPr>
            <a:r>
              <a:rPr sz="1500" b="1" i="0">
                <a:solidFill>
                  <a:srgbClr val="000000"/>
                </a:solidFill>
                <a:latin typeface="Arial"/>
              </a:rPr>
              <a:t>Capture pipeline </a:t>
            </a:r>
            <a:r>
              <a:rPr sz="1500" b="0" i="0">
                <a:solidFill>
                  <a:srgbClr val="000000"/>
                </a:solidFill>
                <a:latin typeface="Arial"/>
              </a:rPr>
              <a:t>(same for the phone's SMS, the mailbox and file imports)</a:t>
            </a:r>
          </a:p>
        </p:txBody>
      </p:sp>
      <p:sp>
        <p:nvSpPr>
          <p:cNvPr id="4" name="Rectangle 3"/>
          <p:cNvSpPr/>
          <p:nvPr/>
        </p:nvSpPr>
        <p:spPr>
          <a:xfrm>
            <a:off x="548640"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Consent gate</a:t>
            </a:r>
          </a:p>
        </p:txBody>
      </p:sp>
      <p:sp>
        <p:nvSpPr>
          <p:cNvPr id="5" name="TextBox 4"/>
          <p:cNvSpPr txBox="1"/>
          <p:nvPr/>
        </p:nvSpPr>
        <p:spPr>
          <a:xfrm>
            <a:off x="502919"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Rejected unless the source is active</a:t>
            </a:r>
          </a:p>
        </p:txBody>
      </p:sp>
      <p:cxnSp>
        <p:nvCxnSpPr>
          <p:cNvPr id="6" name="Connector 5"/>
          <p:cNvCxnSpPr/>
          <p:nvPr/>
        </p:nvCxnSpPr>
        <p:spPr>
          <a:xfrm>
            <a:off x="2103120" y="1828800"/>
            <a:ext cx="351129" cy="0"/>
          </a:xfrm>
          <a:prstGeom prst="line">
            <a:avLst/>
          </a:prstGeom>
          <a:ln w="15875">
            <a:solidFill>
              <a:srgbClr val="000000"/>
            </a:solidFill>
            <a:tailEnd type="triangle" w="med" len="med"/>
          </a:ln>
        </p:spPr>
      </p:cxnSp>
      <p:sp>
        <p:nvSpPr>
          <p:cNvPr id="7" name="Rectangle 6"/>
          <p:cNvSpPr/>
          <p:nvPr/>
        </p:nvSpPr>
        <p:spPr>
          <a:xfrm>
            <a:off x="2454249"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Pre-filter</a:t>
            </a:r>
          </a:p>
        </p:txBody>
      </p:sp>
      <p:sp>
        <p:nvSpPr>
          <p:cNvPr id="8" name="TextBox 7"/>
          <p:cNvSpPr txBox="1"/>
          <p:nvPr/>
        </p:nvSpPr>
        <p:spPr>
          <a:xfrm>
            <a:off x="2408529"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Chats, OTPs and -P promos dropped on the phone; non-allowlisted e-mail</a:t>
            </a:r>
          </a:p>
        </p:txBody>
      </p:sp>
      <p:cxnSp>
        <p:nvCxnSpPr>
          <p:cNvPr id="9" name="Connector 8"/>
          <p:cNvCxnSpPr/>
          <p:nvPr/>
        </p:nvCxnSpPr>
        <p:spPr>
          <a:xfrm>
            <a:off x="4008729" y="1828800"/>
            <a:ext cx="351130" cy="0"/>
          </a:xfrm>
          <a:prstGeom prst="line">
            <a:avLst/>
          </a:prstGeom>
          <a:ln w="15875">
            <a:solidFill>
              <a:srgbClr val="000000"/>
            </a:solidFill>
            <a:tailEnd type="triangle" w="med" len="med"/>
          </a:ln>
        </p:spPr>
      </p:cxnSp>
      <p:sp>
        <p:nvSpPr>
          <p:cNvPr id="10" name="Rectangle 9"/>
          <p:cNvSpPr/>
          <p:nvPr/>
        </p:nvSpPr>
        <p:spPr>
          <a:xfrm>
            <a:off x="4359859"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Classify</a:t>
            </a:r>
          </a:p>
        </p:txBody>
      </p:sp>
      <p:sp>
        <p:nvSpPr>
          <p:cNvPr id="11" name="TextBox 10"/>
          <p:cNvSpPr txBox="1"/>
          <p:nvPr/>
        </p:nvSpPr>
        <p:spPr>
          <a:xfrm>
            <a:off x="4314139"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12 message types (TF-IDF + LR); OTPs are never stored</a:t>
            </a:r>
          </a:p>
        </p:txBody>
      </p:sp>
      <p:cxnSp>
        <p:nvCxnSpPr>
          <p:cNvPr id="12" name="Connector 11"/>
          <p:cNvCxnSpPr/>
          <p:nvPr/>
        </p:nvCxnSpPr>
        <p:spPr>
          <a:xfrm>
            <a:off x="5914339" y="1828800"/>
            <a:ext cx="351129" cy="0"/>
          </a:xfrm>
          <a:prstGeom prst="line">
            <a:avLst/>
          </a:prstGeom>
          <a:ln w="15875">
            <a:solidFill>
              <a:srgbClr val="000000"/>
            </a:solidFill>
            <a:tailEnd type="triangle" w="med" len="med"/>
          </a:ln>
        </p:spPr>
      </p:cxnSp>
      <p:sp>
        <p:nvSpPr>
          <p:cNvPr id="13" name="Rectangle 12"/>
          <p:cNvSpPr/>
          <p:nvPr/>
        </p:nvSpPr>
        <p:spPr>
          <a:xfrm>
            <a:off x="6265468"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Extract</a:t>
            </a:r>
          </a:p>
        </p:txBody>
      </p:sp>
      <p:sp>
        <p:nvSpPr>
          <p:cNvPr id="14" name="TextBox 13"/>
          <p:cNvSpPr txBox="1"/>
          <p:nvPr/>
        </p:nvSpPr>
        <p:spPr>
          <a:xfrm>
            <a:off x="6219748"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Bank templates first, then a generic reader; each field gets a confidence</a:t>
            </a:r>
          </a:p>
        </p:txBody>
      </p:sp>
      <p:cxnSp>
        <p:nvCxnSpPr>
          <p:cNvPr id="15" name="Connector 14"/>
          <p:cNvCxnSpPr/>
          <p:nvPr/>
        </p:nvCxnSpPr>
        <p:spPr>
          <a:xfrm>
            <a:off x="7819948" y="1828800"/>
            <a:ext cx="351130" cy="0"/>
          </a:xfrm>
          <a:prstGeom prst="line">
            <a:avLst/>
          </a:prstGeom>
          <a:ln w="15875">
            <a:solidFill>
              <a:srgbClr val="000000"/>
            </a:solidFill>
            <a:tailEnd type="triangle" w="med" len="med"/>
          </a:ln>
        </p:spPr>
      </p:cxnSp>
      <p:sp>
        <p:nvSpPr>
          <p:cNvPr id="16" name="Rectangle 15"/>
          <p:cNvSpPr/>
          <p:nvPr/>
        </p:nvSpPr>
        <p:spPr>
          <a:xfrm>
            <a:off x="8171078"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Reconcile</a:t>
            </a:r>
          </a:p>
        </p:txBody>
      </p:sp>
      <p:sp>
        <p:nvSpPr>
          <p:cNvPr id="17" name="TextBox 16"/>
          <p:cNvSpPr txBox="1"/>
          <p:nvPr/>
        </p:nvSpPr>
        <p:spPr>
          <a:xfrm>
            <a:off x="8125358"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One transaction per payment across SMS and e-mail; transfers, refunds</a:t>
            </a:r>
          </a:p>
        </p:txBody>
      </p:sp>
      <p:cxnSp>
        <p:nvCxnSpPr>
          <p:cNvPr id="18" name="Connector 17"/>
          <p:cNvCxnSpPr/>
          <p:nvPr/>
        </p:nvCxnSpPr>
        <p:spPr>
          <a:xfrm>
            <a:off x="9725558" y="1828800"/>
            <a:ext cx="351130" cy="0"/>
          </a:xfrm>
          <a:prstGeom prst="line">
            <a:avLst/>
          </a:prstGeom>
          <a:ln w="15875">
            <a:solidFill>
              <a:srgbClr val="000000"/>
            </a:solidFill>
            <a:tailEnd type="triangle" w="med" len="med"/>
          </a:ln>
        </p:spPr>
      </p:cxnSp>
      <p:sp>
        <p:nvSpPr>
          <p:cNvPr id="19" name="Rectangle 18"/>
          <p:cNvSpPr/>
          <p:nvPr/>
        </p:nvSpPr>
        <p:spPr>
          <a:xfrm>
            <a:off x="10076688" y="1600200"/>
            <a:ext cx="15544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Categorise</a:t>
            </a:r>
          </a:p>
        </p:txBody>
      </p:sp>
      <p:sp>
        <p:nvSpPr>
          <p:cNvPr id="20" name="TextBox 19"/>
          <p:cNvSpPr txBox="1"/>
          <p:nvPr/>
        </p:nvSpPr>
        <p:spPr>
          <a:xfrm>
            <a:off x="10030967" y="2121408"/>
            <a:ext cx="1645920" cy="1188720"/>
          </a:xfrm>
          <a:prstGeom prst="rect">
            <a:avLst/>
          </a:prstGeom>
          <a:noFill/>
        </p:spPr>
        <p:txBody>
          <a:bodyPr wrap="square" anchor="t" lIns="45720" rIns="45720" tIns="27432" bIns="27432">
            <a:noAutofit/>
          </a:bodyPr>
          <a:lstStyle/>
          <a:p>
            <a:pPr algn="l">
              <a:spcBef>
                <a:spcPts val="0"/>
              </a:spcBef>
              <a:buNone/>
            </a:pPr>
            <a:r>
              <a:rPr sz="1200" b="0" i="0">
                <a:solidFill>
                  <a:srgbClr val="000000"/>
                </a:solidFill>
                <a:latin typeface="Arial"/>
              </a:rPr>
              <a:t>Rules, merchant list, ML, then the Review queue</a:t>
            </a:r>
          </a:p>
        </p:txBody>
      </p:sp>
      <p:sp>
        <p:nvSpPr>
          <p:cNvPr id="21" name="TextBox 20"/>
          <p:cNvSpPr txBox="1"/>
          <p:nvPr/>
        </p:nvSpPr>
        <p:spPr>
          <a:xfrm>
            <a:off x="548640" y="3429000"/>
            <a:ext cx="11091672" cy="365760"/>
          </a:xfrm>
          <a:prstGeom prst="rect">
            <a:avLst/>
          </a:prstGeom>
          <a:noFill/>
        </p:spPr>
        <p:txBody>
          <a:bodyPr wrap="square" anchor="t" lIns="45720" rIns="45720" tIns="27432" bIns="27432">
            <a:noAutofit/>
          </a:bodyPr>
          <a:lstStyle/>
          <a:p>
            <a:pPr algn="l">
              <a:spcBef>
                <a:spcPts val="0"/>
              </a:spcBef>
              <a:buNone/>
            </a:pPr>
            <a:r>
              <a:rPr sz="1500" b="1" i="0">
                <a:solidFill>
                  <a:srgbClr val="000000"/>
                </a:solidFill>
                <a:latin typeface="Arial"/>
              </a:rPr>
              <a:t>Analytics after new data </a:t>
            </a:r>
            <a:r>
              <a:rPr sz="1500" b="0" i="0">
                <a:solidFill>
                  <a:srgbClr val="000000"/>
                </a:solidFill>
                <a:latin typeface="Arial"/>
              </a:rPr>
              <a:t>(user_analytics background job, also runs nightly)</a:t>
            </a:r>
          </a:p>
        </p:txBody>
      </p:sp>
      <p:sp>
        <p:nvSpPr>
          <p:cNvPr id="22" name="Rectangle 21"/>
          <p:cNvSpPr/>
          <p:nvPr/>
        </p:nvSpPr>
        <p:spPr>
          <a:xfrm>
            <a:off x="548640" y="3886200"/>
            <a:ext cx="13258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Anomalies</a:t>
            </a:r>
          </a:p>
        </p:txBody>
      </p:sp>
      <p:cxnSp>
        <p:nvCxnSpPr>
          <p:cNvPr id="23" name="Connector 22"/>
          <p:cNvCxnSpPr/>
          <p:nvPr/>
        </p:nvCxnSpPr>
        <p:spPr>
          <a:xfrm>
            <a:off x="1874519" y="4114800"/>
            <a:ext cx="274320" cy="0"/>
          </a:xfrm>
          <a:prstGeom prst="line">
            <a:avLst/>
          </a:prstGeom>
          <a:ln w="15875">
            <a:solidFill>
              <a:srgbClr val="000000"/>
            </a:solidFill>
            <a:tailEnd type="triangle" w="med" len="med"/>
          </a:ln>
        </p:spPr>
      </p:cxnSp>
      <p:sp>
        <p:nvSpPr>
          <p:cNvPr id="24" name="Rectangle 23"/>
          <p:cNvSpPr/>
          <p:nvPr/>
        </p:nvSpPr>
        <p:spPr>
          <a:xfrm>
            <a:off x="2148840" y="3886200"/>
            <a:ext cx="13258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Subscriptions</a:t>
            </a:r>
          </a:p>
        </p:txBody>
      </p:sp>
      <p:cxnSp>
        <p:nvCxnSpPr>
          <p:cNvPr id="25" name="Connector 24"/>
          <p:cNvCxnSpPr/>
          <p:nvPr/>
        </p:nvCxnSpPr>
        <p:spPr>
          <a:xfrm>
            <a:off x="3474720" y="4114800"/>
            <a:ext cx="274319" cy="0"/>
          </a:xfrm>
          <a:prstGeom prst="line">
            <a:avLst/>
          </a:prstGeom>
          <a:ln w="15875">
            <a:solidFill>
              <a:srgbClr val="000000"/>
            </a:solidFill>
            <a:tailEnd type="triangle" w="med" len="med"/>
          </a:ln>
        </p:spPr>
      </p:cxnSp>
      <p:sp>
        <p:nvSpPr>
          <p:cNvPr id="26" name="Rectangle 25"/>
          <p:cNvSpPr/>
          <p:nvPr/>
        </p:nvSpPr>
        <p:spPr>
          <a:xfrm>
            <a:off x="3749039" y="3886200"/>
            <a:ext cx="13258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Forecast</a:t>
            </a:r>
          </a:p>
        </p:txBody>
      </p:sp>
      <p:cxnSp>
        <p:nvCxnSpPr>
          <p:cNvPr id="27" name="Connector 26"/>
          <p:cNvCxnSpPr/>
          <p:nvPr/>
        </p:nvCxnSpPr>
        <p:spPr>
          <a:xfrm>
            <a:off x="5074920" y="4114800"/>
            <a:ext cx="274320" cy="0"/>
          </a:xfrm>
          <a:prstGeom prst="line">
            <a:avLst/>
          </a:prstGeom>
          <a:ln w="15875">
            <a:solidFill>
              <a:srgbClr val="000000"/>
            </a:solidFill>
            <a:tailEnd type="triangle" w="med" len="med"/>
          </a:ln>
        </p:spPr>
      </p:cxnSp>
      <p:sp>
        <p:nvSpPr>
          <p:cNvPr id="28" name="Rectangle 27"/>
          <p:cNvSpPr/>
          <p:nvPr/>
        </p:nvSpPr>
        <p:spPr>
          <a:xfrm>
            <a:off x="5349240" y="3886200"/>
            <a:ext cx="13258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Wishlist tiers</a:t>
            </a:r>
          </a:p>
        </p:txBody>
      </p:sp>
      <p:cxnSp>
        <p:nvCxnSpPr>
          <p:cNvPr id="29" name="Connector 28"/>
          <p:cNvCxnSpPr/>
          <p:nvPr/>
        </p:nvCxnSpPr>
        <p:spPr>
          <a:xfrm>
            <a:off x="6675120" y="4114800"/>
            <a:ext cx="274320" cy="0"/>
          </a:xfrm>
          <a:prstGeom prst="line">
            <a:avLst/>
          </a:prstGeom>
          <a:ln w="15875">
            <a:solidFill>
              <a:srgbClr val="000000"/>
            </a:solidFill>
            <a:tailEnd type="triangle" w="med" len="med"/>
          </a:ln>
        </p:spPr>
      </p:cxnSp>
      <p:sp>
        <p:nvSpPr>
          <p:cNvPr id="30" name="Rectangle 29"/>
          <p:cNvSpPr/>
          <p:nvPr/>
        </p:nvSpPr>
        <p:spPr>
          <a:xfrm>
            <a:off x="6949440" y="3886200"/>
            <a:ext cx="1325880" cy="45720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300" b="1" i="0">
                <a:solidFill>
                  <a:srgbClr val="000000"/>
                </a:solidFill>
                <a:latin typeface="Arial"/>
              </a:rPr>
              <a:t>Insights</a:t>
            </a:r>
          </a:p>
        </p:txBody>
      </p:sp>
      <p:cxnSp>
        <p:nvCxnSpPr>
          <p:cNvPr id="31" name="Connector 30"/>
          <p:cNvCxnSpPr/>
          <p:nvPr/>
        </p:nvCxnSpPr>
        <p:spPr>
          <a:xfrm>
            <a:off x="8275319" y="4114800"/>
            <a:ext cx="274321" cy="0"/>
          </a:xfrm>
          <a:prstGeom prst="line">
            <a:avLst/>
          </a:prstGeom>
          <a:ln w="15875">
            <a:solidFill>
              <a:srgbClr val="000000"/>
            </a:solidFill>
            <a:tailEnd type="triangle" w="med" len="med"/>
          </a:ln>
        </p:spPr>
      </p:cxnSp>
      <p:sp>
        <p:nvSpPr>
          <p:cNvPr id="32" name="Rectangle 31"/>
          <p:cNvSpPr/>
          <p:nvPr/>
        </p:nvSpPr>
        <p:spPr>
          <a:xfrm>
            <a:off x="8549640" y="3749039"/>
            <a:ext cx="3090672" cy="731520"/>
          </a:xfrm>
          <a:prstGeom prst="rect">
            <a:avLst/>
          </a:prstGeom>
          <a:solidFill>
            <a:srgbClr val="FFFFFF"/>
          </a:solidFill>
          <a:ln w="12700">
            <a:solidFill>
              <a:srgbClr val="000000"/>
            </a:solidFill>
          </a:ln>
        </p:spPr>
        <p:txBody>
          <a:bodyPr rtlCol="0" anchor="ctr" wrap="square" lIns="73152" rIns="73152" tIns="36576" bIns="36576">
            <a:noAutofit/>
          </a:bodyPr>
          <a:lstStyle/>
          <a:p>
            <a:pPr algn="ctr">
              <a:spcBef>
                <a:spcPts val="0"/>
              </a:spcBef>
              <a:buNone/>
            </a:pPr>
            <a:r>
              <a:rPr sz="1200" b="1" i="0">
                <a:solidFill>
                  <a:srgbClr val="000000"/>
                </a:solidFill>
                <a:latin typeface="Arial"/>
              </a:rPr>
              <a:t>Pages read the results</a:t>
            </a:r>
          </a:p>
          <a:p>
            <a:pPr algn="ctr">
              <a:spcBef>
                <a:spcPts val="0"/>
              </a:spcBef>
              <a:buNone/>
            </a:pPr>
            <a:r>
              <a:rPr sz="1200" b="0" i="0">
                <a:solidFill>
                  <a:srgbClr val="000000"/>
                </a:solidFill>
                <a:latin typeface="Arial"/>
              </a:rPr>
              <a:t>Dashboard, Forecast, Subscriptions, Wishlist, Insights</a:t>
            </a:r>
          </a:p>
        </p:txBody>
      </p:sp>
      <p:sp>
        <p:nvSpPr>
          <p:cNvPr id="33" name="TextBox 32"/>
          <p:cNvSpPr txBox="1"/>
          <p:nvPr/>
        </p:nvSpPr>
        <p:spPr>
          <a:xfrm>
            <a:off x="548640" y="4754880"/>
            <a:ext cx="11091672" cy="914400"/>
          </a:xfrm>
          <a:prstGeom prst="rect">
            <a:avLst/>
          </a:prstGeom>
          <a:noFill/>
        </p:spPr>
        <p:txBody>
          <a:bodyPr wrap="square" anchor="t" lIns="45720" rIns="45720" tIns="27432" bIns="27432">
            <a:noAutofit/>
          </a:bodyPr>
          <a:lstStyle/>
          <a:p>
            <a:pPr algn="l">
              <a:spcBef>
                <a:spcPts val="0"/>
              </a:spcBef>
              <a:buNone/>
            </a:pPr>
            <a:r>
              <a:rPr sz="1400" b="0" i="0">
                <a:solidFill>
                  <a:srgbClr val="000000"/>
                </a:solidFill>
                <a:latin typeface="Arial"/>
              </a:rPr>
              <a:t>Results are stored in SQLite (forecasts, subscriptions, anomalies, insights). Wishlist tiers and tax are calculated on each request. Each stage runs in its own try/except block, so one failure does not stop the others.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Database Design</a:t>
            </a:r>
          </a:p>
        </p:txBody>
      </p:sp>
      <p:sp>
        <p:nvSpPr>
          <p:cNvPr id="3" name="TextBox 2"/>
          <p:cNvSpPr txBox="1"/>
          <p:nvPr/>
        </p:nvSpPr>
        <p:spPr>
          <a:xfrm>
            <a:off x="548640" y="1143000"/>
            <a:ext cx="548640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Key design decisions</a:t>
            </a:r>
          </a:p>
        </p:txBody>
      </p:sp>
      <p:sp>
        <p:nvSpPr>
          <p:cNvPr id="4" name="TextBox 3"/>
          <p:cNvSpPr txBox="1"/>
          <p:nvPr/>
        </p:nvSpPr>
        <p:spPr>
          <a:xfrm>
            <a:off x="548640" y="1508760"/>
            <a:ext cx="5486400" cy="1828800"/>
          </a:xfrm>
          <a:prstGeom prst="rect">
            <a:avLst/>
          </a:prstGeom>
          <a:noFill/>
        </p:spPr>
        <p:txBody>
          <a:bodyPr wrap="square" anchor="t" lIns="45720" rIns="45720" tIns="27432" bIns="27432">
            <a:noAutofit/>
          </a:bodyPr>
          <a:lstStyle/>
          <a:p>
            <a:pPr algn="l" marL="274320" indent="-274320">
              <a:spcBef>
                <a:spcPts val="400"/>
              </a:spcBef>
              <a:buFont typeface="Arial"/>
              <a:buChar char="•"/>
            </a:pPr>
            <a:r>
              <a:rPr sz="1400" b="0" i="0">
                <a:solidFill>
                  <a:srgbClr val="000000"/>
                </a:solidFill>
                <a:latin typeface="Arial"/>
              </a:rPr>
              <a:t>29 tables created from two Alembic migrations; SQLite in WAL mode</a:t>
            </a:r>
          </a:p>
          <a:p>
            <a:pPr algn="l" marL="274320" indent="-274320">
              <a:spcBef>
                <a:spcPts val="400"/>
              </a:spcBef>
              <a:buFont typeface="Arial"/>
              <a:buChar char="•"/>
            </a:pPr>
            <a:r>
              <a:rPr sz="1400" b="0" i="0">
                <a:solidFill>
                  <a:srgbClr val="000000"/>
                </a:solidFill>
                <a:latin typeface="Arial"/>
              </a:rPr>
              <a:t>Money stored as integer paise and used as Decimal, never as float</a:t>
            </a:r>
          </a:p>
          <a:p>
            <a:pPr algn="l" marL="274320" indent="-274320">
              <a:spcBef>
                <a:spcPts val="400"/>
              </a:spcBef>
              <a:buFont typeface="Arial"/>
              <a:buChar char="•"/>
            </a:pPr>
            <a:r>
              <a:rPr sz="1400" b="0" i="0">
                <a:solidFill>
                  <a:srgbClr val="000000"/>
                </a:solidFill>
                <a:latin typeface="Arial"/>
              </a:rPr>
              <a:t>Every user table has user_id with ON DELETE CASCADE</a:t>
            </a:r>
          </a:p>
        </p:txBody>
      </p:sp>
      <p:sp>
        <p:nvSpPr>
          <p:cNvPr id="5" name="TextBox 4"/>
          <p:cNvSpPr txBox="1"/>
          <p:nvPr/>
        </p:nvSpPr>
        <p:spPr>
          <a:xfrm>
            <a:off x="6172200" y="1508760"/>
            <a:ext cx="5468112" cy="1828800"/>
          </a:xfrm>
          <a:prstGeom prst="rect">
            <a:avLst/>
          </a:prstGeom>
          <a:noFill/>
        </p:spPr>
        <p:txBody>
          <a:bodyPr wrap="square" anchor="t" lIns="45720" rIns="45720" tIns="27432" bIns="27432">
            <a:noAutofit/>
          </a:bodyPr>
          <a:lstStyle/>
          <a:p>
            <a:pPr algn="l" marL="274320" indent="-274320">
              <a:spcBef>
                <a:spcPts val="400"/>
              </a:spcBef>
              <a:buFont typeface="Arial"/>
              <a:buChar char="•"/>
            </a:pPr>
            <a:r>
              <a:rPr sz="1400" b="0" i="0">
                <a:solidFill>
                  <a:srgbClr val="000000"/>
                </a:solidFill>
                <a:latin typeface="Arial"/>
              </a:rPr>
              <a:t>Transactions store origin, is_transfer and category_source with a confidence</a:t>
            </a:r>
          </a:p>
          <a:p>
            <a:pPr algn="l" marL="274320" indent="-274320">
              <a:spcBef>
                <a:spcPts val="400"/>
              </a:spcBef>
              <a:buFont typeface="Arial"/>
              <a:buChar char="•"/>
            </a:pPr>
            <a:r>
              <a:rPr sz="1400" b="0" i="0">
                <a:solidFill>
                  <a:srgbClr val="000000"/>
                </a:solidFill>
                <a:latin typeface="Arial"/>
              </a:rPr>
              <a:t>Message text is Fernet-encrypted and purged after the retention period</a:t>
            </a:r>
          </a:p>
          <a:p>
            <a:pPr algn="l" marL="274320" indent="-274320">
              <a:spcBef>
                <a:spcPts val="400"/>
              </a:spcBef>
              <a:buFont typeface="Arial"/>
              <a:buChar char="•"/>
            </a:pPr>
            <a:r>
              <a:rPr sz="1400" b="0" i="0">
                <a:solidFill>
                  <a:srgbClr val="000000"/>
                </a:solidFill>
                <a:latin typeface="Arial"/>
              </a:rPr>
              <a:t>consent_events is append-only; mailbox passwords are encrypted</a:t>
            </a:r>
          </a:p>
        </p:txBody>
      </p:sp>
      <p:graphicFrame>
        <p:nvGraphicFramePr>
          <p:cNvPr id="6" name="Table 5"/>
          <p:cNvGraphicFramePr>
            <a:graphicFrameLocks noGrp="1"/>
          </p:cNvGraphicFramePr>
          <p:nvPr/>
        </p:nvGraphicFramePr>
        <p:xfrm>
          <a:off x="548640" y="3246120"/>
          <a:ext cx="11091672" cy="1847088"/>
        </p:xfrm>
        <a:graphic>
          <a:graphicData uri="http://schemas.openxmlformats.org/drawingml/2006/table">
            <a:tbl>
              <a:tblPr firstRow="1" bandRow="0">
                <a:tableStyleId>{5940675A-B579-460E-94D1-54222C63F5DA}</a:tableStyleId>
              </a:tblPr>
              <a:tblGrid>
                <a:gridCol w="1554480"/>
                <a:gridCol w="1005840"/>
                <a:gridCol w="8531352"/>
              </a:tblGrid>
              <a:tr h="384048">
                <a:tc>
                  <a:txBody>
                    <a:bodyPr wrap="square"/>
                    <a:lstStyle/>
                    <a:p>
                      <a:pPr algn="l">
                        <a:spcBef>
                          <a:spcPts val="0"/>
                        </a:spcBef>
                        <a:buNone/>
                      </a:pPr>
                      <a:r>
                        <a:rPr sz="1300" b="1" i="0">
                          <a:solidFill>
                            <a:srgbClr val="000000"/>
                          </a:solidFill>
                          <a:latin typeface="Arial"/>
                        </a:rPr>
                        <a:t>Domain</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ctr">
                        <a:spcBef>
                          <a:spcPts val="0"/>
                        </a:spcBef>
                        <a:buNone/>
                      </a:pPr>
                      <a:r>
                        <a:rPr sz="1300" b="1" i="0">
                          <a:solidFill>
                            <a:srgbClr val="000000"/>
                          </a:solidFill>
                          <a:latin typeface="Arial"/>
                        </a:rPr>
                        <a:t>Tables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300" b="1" i="0">
                          <a:solidFill>
                            <a:srgbClr val="000000"/>
                          </a:solidFill>
                          <a:latin typeface="Arial"/>
                        </a:rPr>
                        <a:t>Table names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365760">
                <a:tc>
                  <a:txBody>
                    <a:bodyPr wrap="square"/>
                    <a:lstStyle/>
                    <a:p>
                      <a:pPr algn="l">
                        <a:spcBef>
                          <a:spcPts val="0"/>
                        </a:spcBef>
                        <a:buNone/>
                      </a:pPr>
                      <a:r>
                        <a:rPr sz="1300" b="1" i="0">
                          <a:solidFill>
                            <a:srgbClr val="000000"/>
                          </a:solidFill>
                          <a:latin typeface="Arial"/>
                        </a:rPr>
                        <a:t>Core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4</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users, refresh_tokens, jobs, model_artifacts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300" b="1" i="0">
                          <a:solidFill>
                            <a:srgbClr val="000000"/>
                          </a:solidFill>
                          <a:latin typeface="Arial"/>
                        </a:rPr>
                        <a:t>Capture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6</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data_sources, consent_events, ingested_messages, upcoming_payments, balance_snapshots, mailbox_connections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300" b="1" i="0">
                          <a:solidFill>
                            <a:srgbClr val="000000"/>
                          </a:solidFill>
                          <a:latin typeface="Arial"/>
                        </a:rPr>
                        <a:t>Finance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17</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accounts, categories, merchants, merchant_aliases, category_rules, transactions, transaction_items, receipts, import_batches, budgets, goals, subscriptions, anomalies, insights, forecasts, forecast_metrics, chat_messages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65760">
                <a:tc>
                  <a:txBody>
                    <a:bodyPr wrap="square"/>
                    <a:lstStyle/>
                    <a:p>
                      <a:pPr algn="l">
                        <a:spcBef>
                          <a:spcPts val="0"/>
                        </a:spcBef>
                        <a:buNone/>
                      </a:pPr>
                      <a:r>
                        <a:rPr sz="1300" b="1" i="0">
                          <a:solidFill>
                            <a:srgbClr val="000000"/>
                          </a:solidFill>
                          <a:latin typeface="Arial"/>
                        </a:rPr>
                        <a:t>Wishlist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2</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wishlist_items, wishlist_price_points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Results</a:t>
            </a:r>
          </a:p>
        </p:txBody>
      </p:sp>
      <p:graphicFrame>
        <p:nvGraphicFramePr>
          <p:cNvPr id="3" name="Chart 2"/>
          <p:cNvGraphicFramePr>
            <a:graphicFrameLocks noGrp="1"/>
          </p:cNvGraphicFramePr>
          <p:nvPr/>
        </p:nvGraphicFramePr>
        <p:xfrm>
          <a:off x="548640" y="1188720"/>
          <a:ext cx="5394960" cy="3566160"/>
        </p:xfrm>
        <a:graphic>
          <a:graphicData uri="http://schemas.openxmlformats.org/drawingml/2006/chart">
            <c:chart xmlns:c="http://schemas.openxmlformats.org/drawingml/2006/chart" r:id="rId3"/>
          </a:graphicData>
        </a:graphic>
      </p:graphicFrame>
      <p:graphicFrame>
        <p:nvGraphicFramePr>
          <p:cNvPr id="4" name="Table 3"/>
          <p:cNvGraphicFramePr>
            <a:graphicFrameLocks noGrp="1"/>
          </p:cNvGraphicFramePr>
          <p:nvPr/>
        </p:nvGraphicFramePr>
        <p:xfrm>
          <a:off x="6263640" y="1188720"/>
          <a:ext cx="5376672" cy="3127248"/>
        </p:xfrm>
        <a:graphic>
          <a:graphicData uri="http://schemas.openxmlformats.org/drawingml/2006/table">
            <a:tbl>
              <a:tblPr firstRow="1" bandRow="0">
                <a:tableStyleId>{5940675A-B579-460E-94D1-54222C63F5DA}</a:tableStyleId>
              </a:tblPr>
              <a:tblGrid>
                <a:gridCol w="3730752"/>
                <a:gridCol w="1645920"/>
              </a:tblGrid>
              <a:tr h="384048">
                <a:tc>
                  <a:txBody>
                    <a:bodyPr wrap="square"/>
                    <a:lstStyle/>
                    <a:p>
                      <a:pPr algn="l">
                        <a:spcBef>
                          <a:spcPts val="0"/>
                        </a:spcBef>
                        <a:buNone/>
                      </a:pPr>
                      <a:r>
                        <a:rPr sz="1300" b="1" i="0">
                          <a:solidFill>
                            <a:srgbClr val="000000"/>
                          </a:solidFill>
                          <a:latin typeface="Arial"/>
                        </a:rPr>
                        <a:t>Metric</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ctr">
                        <a:spcBef>
                          <a:spcPts val="0"/>
                        </a:spcBef>
                        <a:buNone/>
                      </a:pPr>
                      <a:r>
                        <a:rPr sz="1300" b="1" i="0">
                          <a:solidFill>
                            <a:srgbClr val="000000"/>
                          </a:solidFill>
                          <a:latin typeface="Arial"/>
                        </a:rPr>
                        <a:t>Result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457200">
                <a:tc>
                  <a:txBody>
                    <a:bodyPr wrap="square"/>
                    <a:lstStyle/>
                    <a:p>
                      <a:pPr algn="l">
                        <a:spcBef>
                          <a:spcPts val="0"/>
                        </a:spcBef>
                        <a:buNone/>
                      </a:pPr>
                      <a:r>
                        <a:rPr sz="1300" b="0" i="0">
                          <a:solidFill>
                            <a:srgbClr val="000000"/>
                          </a:solidFill>
                          <a:latin typeface="Arial"/>
                        </a:rPr>
                        <a:t>Message-type macro F1 (held-out test split)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100%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300" b="0" i="0">
                          <a:solidFill>
                            <a:srgbClr val="000000"/>
                          </a:solidFill>
                          <a:latin typeface="Arial"/>
                        </a:rPr>
                        <a:t>Type accuracy on hand-written challenge set (amounts: 100%)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98.3%</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300" b="0" i="0">
                          <a:solidFill>
                            <a:srgbClr val="000000"/>
                          </a:solidFill>
                          <a:latin typeface="Arial"/>
                        </a:rPr>
                        <a:t>De-duplication precision / recall (SMS + e-mail)</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100% / 100%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300" b="0" i="0">
                          <a:solidFill>
                            <a:srgbClr val="000000"/>
                          </a:solidFill>
                          <a:latin typeface="Arial"/>
                        </a:rPr>
                        <a:t>Category accuracy on captured payments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99.8%</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300" b="0" i="0">
                          <a:solidFill>
                            <a:srgbClr val="000000"/>
                          </a:solidFill>
                          <a:latin typeface="Arial"/>
                        </a:rPr>
                        <a:t>Coach intent accuracy (held-out paraphrases)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84.6%</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457200">
                <a:tc>
                  <a:txBody>
                    <a:bodyPr wrap="square"/>
                    <a:lstStyle/>
                    <a:p>
                      <a:pPr algn="l">
                        <a:spcBef>
                          <a:spcPts val="0"/>
                        </a:spcBef>
                        <a:buNone/>
                      </a:pPr>
                      <a:r>
                        <a:rPr sz="1300" b="0" i="0">
                          <a:solidFill>
                            <a:srgbClr val="000000"/>
                          </a:solidFill>
                          <a:latin typeface="Arial"/>
                        </a:rPr>
                        <a:t>Real-format SMS regression set: 90 messages, 25+ institutions (all fields)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300" b="0" i="0">
                          <a:solidFill>
                            <a:srgbClr val="000000"/>
                          </a:solidFill>
                          <a:latin typeface="Arial"/>
                        </a:rPr>
                        <a:t>100%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
        <p:nvSpPr>
          <p:cNvPr id="5" name="TextBox 4"/>
          <p:cNvSpPr txBox="1"/>
          <p:nvPr/>
        </p:nvSpPr>
        <p:spPr>
          <a:xfrm>
            <a:off x="548640" y="4892040"/>
            <a:ext cx="11091672" cy="1051560"/>
          </a:xfrm>
          <a:prstGeom prst="rect">
            <a:avLst/>
          </a:prstGeom>
          <a:noFill/>
        </p:spPr>
        <p:txBody>
          <a:bodyPr wrap="square" anchor="t" lIns="45720" rIns="45720" tIns="27432" bIns="27432">
            <a:noAutofit/>
          </a:bodyPr>
          <a:lstStyle/>
          <a:p>
            <a:pPr algn="l" marL="274320" indent="-274320">
              <a:spcBef>
                <a:spcPts val="200"/>
              </a:spcBef>
              <a:buFont typeface="Arial"/>
              <a:buChar char="•"/>
            </a:pPr>
            <a:r>
              <a:rPr sz="1300" b="0" i="0">
                <a:solidFill>
                  <a:srgbClr val="000000"/>
                </a:solidFill>
                <a:latin typeface="Arial"/>
              </a:rPr>
              <a:t>Using the known payment schedule cuts forecast error by about 41%; Prophet improves it a little more.</a:t>
            </a:r>
          </a:p>
          <a:p>
            <a:pPr algn="l" marL="274320" indent="-274320">
              <a:spcBef>
                <a:spcPts val="200"/>
              </a:spcBef>
              <a:buFont typeface="Arial"/>
              <a:buChar char="•"/>
            </a:pPr>
            <a:r>
              <a:rPr sz="1300" b="0" i="0">
                <a:solidFill>
                  <a:srgbClr val="000000"/>
                </a:solidFill>
                <a:latin typeface="Arial"/>
              </a:rPr>
              <a:t>WAPE is used instead of MAPE because the daily net flow often crosses zero.</a:t>
            </a:r>
          </a:p>
          <a:p>
            <a:pPr algn="l" marL="274320" indent="-274320">
              <a:spcBef>
                <a:spcPts val="200"/>
              </a:spcBef>
              <a:buFont typeface="Arial"/>
              <a:buChar char="•"/>
            </a:pPr>
            <a:r>
              <a:rPr sz="1300" b="0" i="0">
                <a:solidFill>
                  <a:srgbClr val="000000"/>
                </a:solidFill>
                <a:latin typeface="Arial"/>
              </a:rPr>
              <a:t>Measured on 18 Oct 2026 (see README). Demo data is regenerated daily, so the numbers can shift slightly.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Testing and Validation</a:t>
            </a:r>
          </a:p>
        </p:txBody>
      </p:sp>
      <p:graphicFrame>
        <p:nvGraphicFramePr>
          <p:cNvPr id="3" name="Table 2"/>
          <p:cNvGraphicFramePr>
            <a:graphicFrameLocks noGrp="1"/>
          </p:cNvGraphicFramePr>
          <p:nvPr/>
        </p:nvGraphicFramePr>
        <p:xfrm>
          <a:off x="548640" y="1188720"/>
          <a:ext cx="11091672" cy="1920240"/>
        </p:xfrm>
        <a:graphic>
          <a:graphicData uri="http://schemas.openxmlformats.org/drawingml/2006/table">
            <a:tbl>
              <a:tblPr firstRow="1" bandRow="0">
                <a:tableStyleId>{5940675A-B579-460E-94D1-54222C63F5DA}</a:tableStyleId>
              </a:tblPr>
              <a:tblGrid>
                <a:gridCol w="3566160"/>
                <a:gridCol w="1737360"/>
                <a:gridCol w="5788152"/>
              </a:tblGrid>
              <a:tr h="384048">
                <a:tc>
                  <a:txBody>
                    <a:bodyPr wrap="square"/>
                    <a:lstStyle/>
                    <a:p>
                      <a:pPr algn="l">
                        <a:spcBef>
                          <a:spcPts val="0"/>
                        </a:spcBef>
                        <a:buNone/>
                      </a:pPr>
                      <a:r>
                        <a:rPr sz="1400" b="1" i="0">
                          <a:solidFill>
                            <a:srgbClr val="000000"/>
                          </a:solidFill>
                          <a:latin typeface="Arial"/>
                        </a:rPr>
                        <a:t>Test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ctr">
                        <a:spcBef>
                          <a:spcPts val="0"/>
                        </a:spcBef>
                        <a:buNone/>
                      </a:pPr>
                      <a:r>
                        <a:rPr sz="1400" b="1" i="0">
                          <a:solidFill>
                            <a:srgbClr val="000000"/>
                          </a:solidFill>
                          <a:latin typeface="Arial"/>
                        </a:rPr>
                        <a:t>Count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400" b="1" i="0">
                          <a:solidFill>
                            <a:srgbClr val="000000"/>
                          </a:solidFill>
                          <a:latin typeface="Arial"/>
                        </a:rPr>
                        <a:t>Details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384048">
                <a:tc>
                  <a:txBody>
                    <a:bodyPr wrap="square"/>
                    <a:lstStyle/>
                    <a:p>
                      <a:pPr algn="l">
                        <a:spcBef>
                          <a:spcPts val="0"/>
                        </a:spcBef>
                        <a:buNone/>
                      </a:pPr>
                      <a:r>
                        <a:rPr sz="1400" b="0" i="0">
                          <a:solidFill>
                            <a:srgbClr val="000000"/>
                          </a:solidFill>
                          <a:latin typeface="Arial"/>
                        </a:rPr>
                        <a:t>Backend tests (pytest + Hypothesis)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400" b="0" i="0">
                          <a:solidFill>
                            <a:srgbClr val="000000"/>
                          </a:solidFill>
                          <a:latin typeface="Arial"/>
                        </a:rPr>
                        <a:t>82 / 82 pass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Re-run on 18 Oct 2026, took 29.3 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84048">
                <a:tc>
                  <a:txBody>
                    <a:bodyPr wrap="square"/>
                    <a:lstStyle/>
                    <a:p>
                      <a:pPr algn="l">
                        <a:spcBef>
                          <a:spcPts val="0"/>
                        </a:spcBef>
                        <a:buNone/>
                      </a:pPr>
                      <a:r>
                        <a:rPr sz="1400" b="0" i="0">
                          <a:solidFill>
                            <a:srgbClr val="000000"/>
                          </a:solidFill>
                          <a:latin typeface="Arial"/>
                        </a:rPr>
                        <a:t>End-to-end tests (Playwright)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400" b="0" i="0">
                          <a:solidFill>
                            <a:srgbClr val="000000"/>
                          </a:solidFill>
                          <a:latin typeface="Arial"/>
                        </a:rPr>
                        <a:t>23</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A new user's journey, the phone layout on 12 pages, and the demo</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84048">
                <a:tc>
                  <a:txBody>
                    <a:bodyPr wrap="square"/>
                    <a:lstStyle/>
                    <a:p>
                      <a:pPr algn="l">
                        <a:spcBef>
                          <a:spcPts val="0"/>
                        </a:spcBef>
                        <a:buNone/>
                      </a:pPr>
                      <a:r>
                        <a:rPr sz="1400" b="0" i="0">
                          <a:solidFill>
                            <a:srgbClr val="000000"/>
                          </a:solidFill>
                          <a:latin typeface="Arial"/>
                        </a:rPr>
                        <a:t>Property-based test cases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400" b="0" i="0">
                          <a:solidFill>
                            <a:srgbClr val="000000"/>
                          </a:solidFill>
                          <a:latin typeface="Arial"/>
                        </a:rPr>
                        <a:t>300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Random cases show Buy now never breaks the safety buffer</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384048">
                <a:tc>
                  <a:txBody>
                    <a:bodyPr wrap="square"/>
                    <a:lstStyle/>
                    <a:p>
                      <a:pPr algn="l">
                        <a:spcBef>
                          <a:spcPts val="0"/>
                        </a:spcBef>
                        <a:buNone/>
                      </a:pPr>
                      <a:r>
                        <a:rPr sz="1400" b="0" i="0">
                          <a:solidFill>
                            <a:srgbClr val="000000"/>
                          </a:solidFill>
                          <a:latin typeface="Arial"/>
                        </a:rPr>
                        <a:t>On-device checks (Android 15 emulator)</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ctr">
                        <a:spcBef>
                          <a:spcPts val="0"/>
                        </a:spcBef>
                        <a:buNone/>
                      </a:pPr>
                      <a:r>
                        <a:rPr sz="1400" b="0" i="0">
                          <a:solidFill>
                            <a:srgbClr val="000000"/>
                          </a:solidFill>
                          <a:latin typeface="Arial"/>
                        </a:rPr>
                        <a:t>17 / 17</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400" b="0" i="0">
                          <a:solidFill>
                            <a:srgbClr val="000000"/>
                          </a:solidFill>
                          <a:latin typeface="Arial"/>
                        </a:rPr>
                        <a:t>Real-format SMS planted; only bank alerts uploaded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
        <p:nvSpPr>
          <p:cNvPr id="4" name="TextBox 3"/>
          <p:cNvSpPr txBox="1"/>
          <p:nvPr/>
        </p:nvSpPr>
        <p:spPr>
          <a:xfrm>
            <a:off x="548640" y="3291840"/>
            <a:ext cx="5486400" cy="365760"/>
          </a:xfrm>
          <a:prstGeom prst="rect">
            <a:avLst/>
          </a:prstGeom>
          <a:noFill/>
        </p:spPr>
        <p:txBody>
          <a:bodyPr wrap="square" anchor="t" lIns="45720" rIns="45720" tIns="27432" bIns="27432">
            <a:noAutofit/>
          </a:bodyPr>
          <a:lstStyle/>
          <a:p>
            <a:pPr algn="l">
              <a:spcBef>
                <a:spcPts val="0"/>
              </a:spcBef>
              <a:buNone/>
            </a:pPr>
            <a:r>
              <a:rPr sz="1600" b="1" i="0">
                <a:solidFill>
                  <a:srgbClr val="002060"/>
                </a:solidFill>
                <a:latin typeface="Arial"/>
              </a:rPr>
              <a:t>Backend tests cover</a:t>
            </a:r>
          </a:p>
        </p:txBody>
      </p:sp>
      <p:sp>
        <p:nvSpPr>
          <p:cNvPr id="5" name="TextBox 4"/>
          <p:cNvSpPr txBox="1"/>
          <p:nvPr/>
        </p:nvSpPr>
        <p:spPr>
          <a:xfrm>
            <a:off x="548640" y="3611880"/>
            <a:ext cx="5440680" cy="2377440"/>
          </a:xfrm>
          <a:prstGeom prst="rect">
            <a:avLst/>
          </a:prstGeom>
          <a:noFill/>
        </p:spPr>
        <p:txBody>
          <a:bodyPr wrap="square" anchor="t" lIns="45720" rIns="45720" tIns="27432" bIns="27432">
            <a:noAutofit/>
          </a:bodyPr>
          <a:lstStyle/>
          <a:p>
            <a:pPr algn="l" marL="274320" indent="-274320">
              <a:spcBef>
                <a:spcPts val="700"/>
              </a:spcBef>
              <a:buFont typeface="Arial"/>
              <a:buChar char="•"/>
            </a:pPr>
            <a:r>
              <a:rPr sz="1500" b="0" i="0">
                <a:solidFill>
                  <a:srgbClr val="000000"/>
                </a:solidFill>
                <a:latin typeface="Arial"/>
              </a:rPr>
              <a:t>Money handling and message parsing (known, unseen and challenge formats)</a:t>
            </a:r>
          </a:p>
          <a:p>
            <a:pPr algn="l" marL="274320" indent="-274320">
              <a:spcBef>
                <a:spcPts val="700"/>
              </a:spcBef>
              <a:buFont typeface="Arial"/>
              <a:buChar char="•"/>
            </a:pPr>
            <a:r>
              <a:rPr sz="1500" b="0" i="0">
                <a:solidFill>
                  <a:srgbClr val="000000"/>
                </a:solidFill>
                <a:latin typeface="Arial"/>
              </a:rPr>
              <a:t>Pipeline accuracy against ground truth: dedup, transfers, categories</a:t>
            </a:r>
          </a:p>
          <a:p>
            <a:pPr algn="l" marL="274320" indent="-274320">
              <a:spcBef>
                <a:spcPts val="700"/>
              </a:spcBef>
              <a:buFont typeface="Arial"/>
              <a:buChar char="•"/>
            </a:pPr>
            <a:r>
              <a:rPr sz="1500" b="0" i="0">
                <a:solidFill>
                  <a:srgbClr val="000000"/>
                </a:solidFill>
                <a:latin typeface="Arial"/>
              </a:rPr>
              <a:t>Consent: nothing is read without it; pause, revoke, delete data</a:t>
            </a:r>
          </a:p>
          <a:p>
            <a:pPr algn="l" marL="274320" indent="-274320">
              <a:spcBef>
                <a:spcPts val="700"/>
              </a:spcBef>
              <a:buFont typeface="Arial"/>
              <a:buChar char="•"/>
            </a:pPr>
            <a:r>
              <a:rPr sz="1500" b="0" i="0">
                <a:solidFill>
                  <a:srgbClr val="000000"/>
                </a:solidFill>
                <a:latin typeface="Arial"/>
              </a:rPr>
              <a:t>API flows: cookies and Bearer tokens, CORS, rate limit, deletion</a:t>
            </a:r>
          </a:p>
          <a:p>
            <a:pPr algn="l" marL="274320" indent="-274320">
              <a:spcBef>
                <a:spcPts val="700"/>
              </a:spcBef>
              <a:buFont typeface="Arial"/>
              <a:buChar char="•"/>
            </a:pPr>
            <a:r>
              <a:rPr sz="1500" b="0" i="0">
                <a:solidFill>
                  <a:srgbClr val="000000"/>
                </a:solidFill>
                <a:latin typeface="Arial"/>
              </a:rPr>
              <a:t>Tax for both years; forecast backtest and fallback; wishlist</a:t>
            </a:r>
          </a:p>
        </p:txBody>
      </p:sp>
      <p:sp>
        <p:nvSpPr>
          <p:cNvPr id="6" name="TextBox 5"/>
          <p:cNvSpPr txBox="1"/>
          <p:nvPr/>
        </p:nvSpPr>
        <p:spPr>
          <a:xfrm>
            <a:off x="6172200" y="3291840"/>
            <a:ext cx="5486400" cy="365760"/>
          </a:xfrm>
          <a:prstGeom prst="rect">
            <a:avLst/>
          </a:prstGeom>
          <a:noFill/>
        </p:spPr>
        <p:txBody>
          <a:bodyPr wrap="square" anchor="t" lIns="45720" rIns="45720" tIns="27432" bIns="27432">
            <a:noAutofit/>
          </a:bodyPr>
          <a:lstStyle/>
          <a:p>
            <a:pPr algn="l">
              <a:spcBef>
                <a:spcPts val="0"/>
              </a:spcBef>
              <a:buNone/>
            </a:pPr>
            <a:r>
              <a:rPr sz="1600" b="1" i="0">
                <a:solidFill>
                  <a:srgbClr val="002060"/>
                </a:solidFill>
                <a:latin typeface="Arial"/>
              </a:rPr>
              <a:t>End-to-end and model validation</a:t>
            </a:r>
          </a:p>
        </p:txBody>
      </p:sp>
      <p:sp>
        <p:nvSpPr>
          <p:cNvPr id="7" name="TextBox 6"/>
          <p:cNvSpPr txBox="1"/>
          <p:nvPr/>
        </p:nvSpPr>
        <p:spPr>
          <a:xfrm>
            <a:off x="6172200" y="3611880"/>
            <a:ext cx="5468112" cy="2377440"/>
          </a:xfrm>
          <a:prstGeom prst="rect">
            <a:avLst/>
          </a:prstGeom>
          <a:noFill/>
        </p:spPr>
        <p:txBody>
          <a:bodyPr wrap="square" anchor="t" lIns="45720" rIns="45720" tIns="27432" bIns="27432">
            <a:noAutofit/>
          </a:bodyPr>
          <a:lstStyle/>
          <a:p>
            <a:pPr algn="l" marL="274320" indent="-274320">
              <a:spcBef>
                <a:spcPts val="700"/>
              </a:spcBef>
              <a:buFont typeface="Arial"/>
              <a:buChar char="•"/>
            </a:pPr>
            <a:r>
              <a:rPr sz="1500" b="0" i="0">
                <a:solidFill>
                  <a:srgbClr val="000000"/>
                </a:solidFill>
                <a:latin typeface="Arial"/>
              </a:rPr>
              <a:t>New user: register, consent, SMS backup import, onboarding</a:t>
            </a:r>
          </a:p>
          <a:p>
            <a:pPr algn="l" marL="274320" indent="-274320">
              <a:spcBef>
                <a:spcPts val="700"/>
              </a:spcBef>
              <a:buFont typeface="Arial"/>
              <a:buChar char="•"/>
            </a:pPr>
            <a:r>
              <a:rPr sz="1500" b="0" i="0">
                <a:solidFill>
                  <a:srgbClr val="000000"/>
                </a:solidFill>
                <a:latin typeface="Arial"/>
              </a:rPr>
              <a:t>Emulator: bank SMS, OTP, promo and a chat; only alerts uploaded</a:t>
            </a:r>
          </a:p>
          <a:p>
            <a:pPr algn="l" marL="274320" indent="-274320">
              <a:spcBef>
                <a:spcPts val="700"/>
              </a:spcBef>
              <a:buFont typeface="Arial"/>
              <a:buChar char="•"/>
            </a:pPr>
            <a:r>
              <a:rPr sz="1500" b="0" i="0">
                <a:solidFill>
                  <a:srgbClr val="000000"/>
                </a:solidFill>
                <a:latin typeface="Arial"/>
              </a:rPr>
              <a:t>Receipt photo matched; wishlist, tax PDF, coach; phone layout</a:t>
            </a:r>
          </a:p>
          <a:p>
            <a:pPr algn="l" marL="274320" indent="-274320">
              <a:spcBef>
                <a:spcPts val="700"/>
              </a:spcBef>
              <a:buFont typeface="Arial"/>
              <a:buChar char="•"/>
            </a:pPr>
            <a:r>
              <a:rPr sz="1500" b="0" i="0">
                <a:solidFill>
                  <a:srgbClr val="000000"/>
                </a:solidFill>
                <a:latin typeface="Arial"/>
              </a:rPr>
              <a:t>Revoke and delete data; reset the demo</a:t>
            </a:r>
          </a:p>
          <a:p>
            <a:pPr algn="l" marL="274320" indent="-274320">
              <a:spcBef>
                <a:spcPts val="700"/>
              </a:spcBef>
              <a:buFont typeface="Arial"/>
              <a:buChar char="•"/>
            </a:pPr>
            <a:r>
              <a:rPr sz="1500" b="0" i="0">
                <a:solidFill>
                  <a:srgbClr val="000000"/>
                </a:solidFill>
                <a:latin typeface="Arial"/>
              </a:rPr>
              <a:t>Models: held-out splits, unseen banks, challenge set, real formats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Challenges and Possible Improvements</a:t>
            </a:r>
          </a:p>
        </p:txBody>
      </p:sp>
      <p:sp>
        <p:nvSpPr>
          <p:cNvPr id="3" name="TextBox 2"/>
          <p:cNvSpPr txBox="1"/>
          <p:nvPr/>
        </p:nvSpPr>
        <p:spPr>
          <a:xfrm>
            <a:off x="548640" y="1143000"/>
            <a:ext cx="603504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Challenges faced</a:t>
            </a:r>
          </a:p>
        </p:txBody>
      </p:sp>
      <p:graphicFrame>
        <p:nvGraphicFramePr>
          <p:cNvPr id="4" name="Table 3"/>
          <p:cNvGraphicFramePr>
            <a:graphicFrameLocks noGrp="1"/>
          </p:cNvGraphicFramePr>
          <p:nvPr/>
        </p:nvGraphicFramePr>
        <p:xfrm>
          <a:off x="548640" y="1508760"/>
          <a:ext cx="6126480" cy="3813048"/>
        </p:xfrm>
        <a:graphic>
          <a:graphicData uri="http://schemas.openxmlformats.org/drawingml/2006/table">
            <a:tbl>
              <a:tblPr firstRow="1" bandRow="0">
                <a:tableStyleId>{5940675A-B579-460E-94D1-54222C63F5DA}</a:tableStyleId>
              </a:tblPr>
              <a:tblGrid>
                <a:gridCol w="2011680"/>
                <a:gridCol w="4114800"/>
              </a:tblGrid>
              <a:tr h="384048">
                <a:tc>
                  <a:txBody>
                    <a:bodyPr wrap="square"/>
                    <a:lstStyle/>
                    <a:p>
                      <a:pPr algn="l">
                        <a:spcBef>
                          <a:spcPts val="0"/>
                        </a:spcBef>
                        <a:buNone/>
                      </a:pPr>
                      <a:r>
                        <a:rPr sz="1300" b="1" i="0">
                          <a:solidFill>
                            <a:srgbClr val="000000"/>
                          </a:solidFill>
                          <a:latin typeface="Arial"/>
                        </a:rPr>
                        <a:t>Challenge</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c>
                  <a:txBody>
                    <a:bodyPr wrap="square"/>
                    <a:lstStyle/>
                    <a:p>
                      <a:pPr algn="l">
                        <a:spcBef>
                          <a:spcPts val="0"/>
                        </a:spcBef>
                        <a:buNone/>
                      </a:pPr>
                      <a:r>
                        <a:rPr sz="1300" b="1" i="0">
                          <a:solidFill>
                            <a:srgbClr val="000000"/>
                          </a:solidFill>
                          <a:latin typeface="Arial"/>
                        </a:rPr>
                        <a:t>How we solved it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solidFill>
                      <a:srgbClr val="D9D9D9"/>
                    </a:solidFill>
                  </a:tcPr>
                </a:tc>
              </a:tr>
              <a:tr h="685800">
                <a:tc>
                  <a:txBody>
                    <a:bodyPr wrap="square"/>
                    <a:lstStyle/>
                    <a:p>
                      <a:pPr algn="l">
                        <a:spcBef>
                          <a:spcPts val="0"/>
                        </a:spcBef>
                        <a:buNone/>
                      </a:pPr>
                      <a:r>
                        <a:rPr sz="1300" b="1" i="0">
                          <a:solidFill>
                            <a:srgbClr val="000000"/>
                          </a:solidFill>
                          <a:latin typeface="Arial"/>
                        </a:rPr>
                        <a:t>Requirements changed after Review 0</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Re-planned around consent-based capture; one process instead of Docker + PostgreSQL</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685800">
                <a:tc>
                  <a:txBody>
                    <a:bodyPr wrap="square"/>
                    <a:lstStyle/>
                    <a:p>
                      <a:pPr algn="l">
                        <a:spcBef>
                          <a:spcPts val="0"/>
                        </a:spcBef>
                        <a:buNone/>
                      </a:pPr>
                      <a:r>
                        <a:rPr sz="1300" b="1" i="0">
                          <a:solidFill>
                            <a:srgbClr val="000000"/>
                          </a:solidFill>
                          <a:latin typeface="Arial"/>
                        </a:rPr>
                        <a:t>One payment, two messages</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Reference matching and scoring; e-mail receipts add details to the SMS transaction instead of duplicating it</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685800">
                <a:tc>
                  <a:txBody>
                    <a:bodyPr wrap="square"/>
                    <a:lstStyle/>
                    <a:p>
                      <a:pPr algn="l">
                        <a:spcBef>
                          <a:spcPts val="0"/>
                        </a:spcBef>
                        <a:buNone/>
                      </a:pPr>
                      <a:r>
                        <a:rPr sz="1300" b="1" i="0">
                          <a:solidFill>
                            <a:srgbClr val="000000"/>
                          </a:solidFill>
                          <a:latin typeface="Arial"/>
                        </a:rPr>
                        <a:t>SQLite allows only one writer</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Background jobs join the request's transaction and start after it commits (regression test added)</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685800">
                <a:tc>
                  <a:txBody>
                    <a:bodyPr wrap="square"/>
                    <a:lstStyle/>
                    <a:p>
                      <a:pPr algn="l">
                        <a:spcBef>
                          <a:spcPts val="0"/>
                        </a:spcBef>
                        <a:buNone/>
                      </a:pPr>
                      <a:r>
                        <a:rPr sz="1300" b="1" i="0">
                          <a:solidFill>
                            <a:srgbClr val="000000"/>
                          </a:solidFill>
                          <a:latin typeface="Arial"/>
                        </a:rPr>
                        <a:t>Judging forecast quality</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Rolling backtest against two baselines; WAPE instead of MAPE; automatic fallback</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r h="685800">
                <a:tc>
                  <a:txBody>
                    <a:bodyPr wrap="square"/>
                    <a:lstStyle/>
                    <a:p>
                      <a:pPr algn="l">
                        <a:spcBef>
                          <a:spcPts val="0"/>
                        </a:spcBef>
                        <a:buNone/>
                      </a:pPr>
                      <a:r>
                        <a:rPr sz="1300" b="1" i="0">
                          <a:solidFill>
                            <a:srgbClr val="000000"/>
                          </a:solidFill>
                          <a:latin typeface="Arial"/>
                        </a:rPr>
                        <a:t>Proving it on real data</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c>
                  <a:txBody>
                    <a:bodyPr wrap="square"/>
                    <a:lstStyle/>
                    <a:p>
                      <a:pPr algn="l">
                        <a:spcBef>
                          <a:spcPts val="0"/>
                        </a:spcBef>
                        <a:buNone/>
                      </a:pPr>
                      <a:r>
                        <a:rPr sz="1300" b="0" i="0">
                          <a:solidFill>
                            <a:srgbClr val="000000"/>
                          </a:solidFill>
                          <a:latin typeface="Arial"/>
                        </a:rPr>
                        <a:t>An Android app reads and filters SMS on the phone; verified on an Android 15 emulator</a:t>
                      </a:r>
                    </a:p>
                  </a:txBody>
                  <a:tcPr marL="73152" marR="73152" marT="36576" marB="36576" anchor="ctr">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noFill/>
                  </a:tcPr>
                </a:tc>
              </a:tr>
            </a:tbl>
          </a:graphicData>
        </a:graphic>
      </p:graphicFrame>
      <p:sp>
        <p:nvSpPr>
          <p:cNvPr id="5" name="TextBox 4"/>
          <p:cNvSpPr txBox="1"/>
          <p:nvPr/>
        </p:nvSpPr>
        <p:spPr>
          <a:xfrm>
            <a:off x="6949440" y="1143000"/>
            <a:ext cx="4663440" cy="365760"/>
          </a:xfrm>
          <a:prstGeom prst="rect">
            <a:avLst/>
          </a:prstGeom>
          <a:noFill/>
        </p:spPr>
        <p:txBody>
          <a:bodyPr wrap="square" anchor="t" lIns="45720" rIns="45720" tIns="27432" bIns="27432">
            <a:noAutofit/>
          </a:bodyPr>
          <a:lstStyle/>
          <a:p>
            <a:pPr algn="l">
              <a:spcBef>
                <a:spcPts val="0"/>
              </a:spcBef>
              <a:buNone/>
            </a:pPr>
            <a:r>
              <a:rPr sz="1700" b="1" i="0">
                <a:solidFill>
                  <a:srgbClr val="002060"/>
                </a:solidFill>
                <a:latin typeface="Arial"/>
              </a:rPr>
              <a:t>Possible improvements</a:t>
            </a:r>
          </a:p>
        </p:txBody>
      </p:sp>
      <p:sp>
        <p:nvSpPr>
          <p:cNvPr id="6" name="TextBox 5"/>
          <p:cNvSpPr txBox="1"/>
          <p:nvPr/>
        </p:nvSpPr>
        <p:spPr>
          <a:xfrm>
            <a:off x="6949440" y="1508760"/>
            <a:ext cx="4690872" cy="4434840"/>
          </a:xfrm>
          <a:prstGeom prst="rect">
            <a:avLst/>
          </a:prstGeom>
          <a:noFill/>
        </p:spPr>
        <p:txBody>
          <a:bodyPr wrap="square" anchor="t" lIns="45720" rIns="45720" tIns="27432" bIns="27432">
            <a:noAutofit/>
          </a:bodyPr>
          <a:lstStyle/>
          <a:p>
            <a:pPr algn="l" marL="274320" indent="-274320">
              <a:spcBef>
                <a:spcPts val="800"/>
              </a:spcBef>
              <a:buFont typeface="Arial"/>
              <a:buChar char="•"/>
            </a:pPr>
            <a:r>
              <a:rPr sz="1400" b="0" i="0">
                <a:solidFill>
                  <a:srgbClr val="000000"/>
                </a:solidFill>
                <a:latin typeface="Arial"/>
              </a:rPr>
              <a:t>A rotating log file and request IDs (logs only go to the terminal now)</a:t>
            </a:r>
          </a:p>
          <a:p>
            <a:pPr algn="l" marL="274320" indent="-274320">
              <a:spcBef>
                <a:spcPts val="800"/>
              </a:spcBef>
              <a:buFont typeface="Arial"/>
              <a:buChar char="•"/>
            </a:pPr>
            <a:r>
              <a:rPr sz="1400" b="0" i="0">
                <a:solidFill>
                  <a:srgbClr val="000000"/>
                </a:solidFill>
                <a:latin typeface="Arial"/>
              </a:rPr>
              <a:t>Persistent per-account login limits, password reset and Secure cookies over HTTPS</a:t>
            </a:r>
          </a:p>
          <a:p>
            <a:pPr algn="l" marL="274320" indent="-274320">
              <a:spcBef>
                <a:spcPts val="800"/>
              </a:spcBef>
              <a:buFont typeface="Arial"/>
              <a:buChar char="•"/>
            </a:pPr>
            <a:r>
              <a:rPr sz="1400" b="0" i="0">
                <a:solidFill>
                  <a:srgbClr val="000000"/>
                </a:solidFill>
                <a:latin typeface="Arial"/>
              </a:rPr>
              <a:t>Ask users for consent again when the notice text changes</a:t>
            </a:r>
          </a:p>
          <a:p>
            <a:pPr algn="l" marL="274320" indent="-274320">
              <a:spcBef>
                <a:spcPts val="800"/>
              </a:spcBef>
              <a:buFont typeface="Arial"/>
              <a:buChar char="•"/>
            </a:pPr>
            <a:r>
              <a:rPr sz="1400" b="0" i="0">
                <a:solidFill>
                  <a:srgbClr val="000000"/>
                </a:solidFill>
                <a:latin typeface="Arial"/>
              </a:rPr>
              <a:t>Tax: marginal relief on surcharge above ₹50 lakh</a:t>
            </a:r>
          </a:p>
          <a:p>
            <a:pPr algn="l" marL="274320" indent="-274320">
              <a:spcBef>
                <a:spcPts val="800"/>
              </a:spcBef>
              <a:buFont typeface="Arial"/>
              <a:buChar char="•"/>
            </a:pPr>
            <a:r>
              <a:rPr sz="1400" b="0" i="0">
                <a:solidFill>
                  <a:srgbClr val="000000"/>
                </a:solidFill>
                <a:latin typeface="Arial"/>
              </a:rPr>
              <a:t>Read new SMS in the background while the app is closed</a:t>
            </a:r>
          </a:p>
          <a:p>
            <a:pPr algn="l" marL="274320" indent="-274320">
              <a:spcBef>
                <a:spcPts val="800"/>
              </a:spcBef>
              <a:buFont typeface="Arial"/>
              <a:buChar char="•"/>
            </a:pPr>
            <a:r>
              <a:rPr sz="1400" b="0" i="0">
                <a:solidFill>
                  <a:srgbClr val="000000"/>
                </a:solidFill>
                <a:latin typeface="Arial"/>
              </a:rPr>
              <a:t>Account Aggregator data; Gmail and Outlook through OAuth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0"/>
            <a:ext cx="12192000" cy="960120"/>
          </a:xfrm>
          <a:solidFill>
            <a:srgbClr val="0079BC"/>
          </a:solidFill>
          <a:ln>
            <a:noFill/>
          </a:ln>
        </p:spPr>
        <p:txBody>
          <a:bodyPr anchor="ctr" wrap="square">
            <a:noAutofit/>
          </a:bodyPr>
          <a:lstStyle/>
          <a:p>
            <a:pPr algn="ctr">
              <a:spcAft>
                <a:spcPts val="0"/>
              </a:spcAft>
              <a:buNone/>
            </a:pPr>
            <a:r>
              <a:rPr sz="3000" b="1" i="0">
                <a:solidFill>
                  <a:srgbClr val="FFFFFF"/>
                </a:solidFill>
                <a:latin typeface="Times New Roman"/>
              </a:rPr>
              <a:t>Conclusion and Future Scope</a:t>
            </a:r>
          </a:p>
        </p:txBody>
      </p:sp>
      <p:sp>
        <p:nvSpPr>
          <p:cNvPr id="3" name="TextBox 2"/>
          <p:cNvSpPr txBox="1"/>
          <p:nvPr/>
        </p:nvSpPr>
        <p:spPr>
          <a:xfrm>
            <a:off x="54864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Conclusion</a:t>
            </a:r>
          </a:p>
        </p:txBody>
      </p:sp>
      <p:sp>
        <p:nvSpPr>
          <p:cNvPr id="4" name="TextBox 3"/>
          <p:cNvSpPr txBox="1"/>
          <p:nvPr/>
        </p:nvSpPr>
        <p:spPr>
          <a:xfrm>
            <a:off x="548640" y="1600200"/>
            <a:ext cx="5394960" cy="3566160"/>
          </a:xfrm>
          <a:prstGeom prst="rect">
            <a:avLst/>
          </a:prstGeom>
          <a:noFill/>
        </p:spPr>
        <p:txBody>
          <a:bodyPr wrap="square" anchor="t" lIns="45720" rIns="45720" tIns="27432" bIns="27432">
            <a:noAutofit/>
          </a:bodyPr>
          <a:lstStyle/>
          <a:p>
            <a:pPr algn="l" marL="274320" indent="-274320">
              <a:spcBef>
                <a:spcPts val="1000"/>
              </a:spcBef>
              <a:buFont typeface="Arial"/>
              <a:buChar char="•"/>
            </a:pPr>
            <a:r>
              <a:rPr sz="1600" b="0" i="0">
                <a:solidFill>
                  <a:srgbClr val="000000"/>
                </a:solidFill>
                <a:latin typeface="Arial"/>
              </a:rPr>
              <a:t>FinPilot AI turns the messages people already receive into a private, forward-looking view of their money</a:t>
            </a:r>
          </a:p>
          <a:p>
            <a:pPr algn="l" marL="274320" indent="-274320">
              <a:spcBef>
                <a:spcPts val="1000"/>
              </a:spcBef>
              <a:buFont typeface="Arial"/>
              <a:buChar char="•"/>
            </a:pPr>
            <a:r>
              <a:rPr sz="1600" b="0" i="0">
                <a:solidFill>
                  <a:srgbClr val="000000"/>
                </a:solidFill>
                <a:latin typeface="Arial"/>
              </a:rPr>
              <a:t>Every module works end to end on the user's own SMS and e-mail</a:t>
            </a:r>
          </a:p>
          <a:p>
            <a:pPr algn="l" marL="274320" indent="-274320">
              <a:spcBef>
                <a:spcPts val="1000"/>
              </a:spcBef>
              <a:buFont typeface="Arial"/>
              <a:buChar char="•"/>
            </a:pPr>
            <a:r>
              <a:rPr sz="1600" b="0" i="0">
                <a:solidFill>
                  <a:srgbClr val="000000"/>
                </a:solidFill>
                <a:latin typeface="Arial"/>
              </a:rPr>
              <a:t>Consent, purpose limitation, encryption and deletion are built in</a:t>
            </a:r>
          </a:p>
          <a:p>
            <a:pPr algn="l" marL="274320" indent="-274320">
              <a:spcBef>
                <a:spcPts val="1000"/>
              </a:spcBef>
              <a:buFont typeface="Arial"/>
              <a:buChar char="•"/>
            </a:pPr>
            <a:r>
              <a:rPr sz="1600" b="0" i="0">
                <a:solidFill>
                  <a:srgbClr val="000000"/>
                </a:solidFill>
                <a:latin typeface="Arial"/>
              </a:rPr>
              <a:t>Results are measured; 82 backend, 23 browser and 17 on-device checks pass</a:t>
            </a:r>
          </a:p>
        </p:txBody>
      </p:sp>
      <p:sp>
        <p:nvSpPr>
          <p:cNvPr id="5" name="TextBox 4"/>
          <p:cNvSpPr txBox="1"/>
          <p:nvPr/>
        </p:nvSpPr>
        <p:spPr>
          <a:xfrm>
            <a:off x="6263640" y="1188720"/>
            <a:ext cx="5486400" cy="365760"/>
          </a:xfrm>
          <a:prstGeom prst="rect">
            <a:avLst/>
          </a:prstGeom>
          <a:noFill/>
        </p:spPr>
        <p:txBody>
          <a:bodyPr wrap="square" anchor="t" lIns="45720" rIns="45720" tIns="27432" bIns="27432">
            <a:noAutofit/>
          </a:bodyPr>
          <a:lstStyle/>
          <a:p>
            <a:pPr algn="l">
              <a:spcBef>
                <a:spcPts val="0"/>
              </a:spcBef>
              <a:buNone/>
            </a:pPr>
            <a:r>
              <a:rPr sz="1800" b="1" i="0">
                <a:solidFill>
                  <a:srgbClr val="002060"/>
                </a:solidFill>
                <a:latin typeface="Arial"/>
              </a:rPr>
              <a:t>Future Scope</a:t>
            </a:r>
          </a:p>
        </p:txBody>
      </p:sp>
      <p:sp>
        <p:nvSpPr>
          <p:cNvPr id="6" name="TextBox 5"/>
          <p:cNvSpPr txBox="1"/>
          <p:nvPr/>
        </p:nvSpPr>
        <p:spPr>
          <a:xfrm>
            <a:off x="6263640" y="1600200"/>
            <a:ext cx="5376672" cy="3566160"/>
          </a:xfrm>
          <a:prstGeom prst="rect">
            <a:avLst/>
          </a:prstGeom>
          <a:noFill/>
        </p:spPr>
        <p:txBody>
          <a:bodyPr wrap="square" anchor="t" lIns="45720" rIns="45720" tIns="27432" bIns="27432">
            <a:noAutofit/>
          </a:bodyPr>
          <a:lstStyle/>
          <a:p>
            <a:pPr algn="l" marL="274320" indent="-274320">
              <a:spcBef>
                <a:spcPts val="1000"/>
              </a:spcBef>
              <a:buFont typeface="Arial"/>
              <a:buChar char="•"/>
            </a:pPr>
            <a:r>
              <a:rPr sz="1600" b="0" i="0">
                <a:solidFill>
                  <a:srgbClr val="000000"/>
                </a:solidFill>
                <a:latin typeface="Arial"/>
              </a:rPr>
              <a:t>Real bank data through India's Account Aggregator framework</a:t>
            </a:r>
          </a:p>
          <a:p>
            <a:pPr algn="l" marL="274320" indent="-274320">
              <a:spcBef>
                <a:spcPts val="1000"/>
              </a:spcBef>
              <a:buFont typeface="Arial"/>
              <a:buChar char="•"/>
            </a:pPr>
            <a:r>
              <a:rPr sz="1600" b="0" i="0">
                <a:solidFill>
                  <a:srgbClr val="000000"/>
                </a:solidFill>
                <a:latin typeface="Arial"/>
              </a:rPr>
              <a:t>SMS capture in the background, and a Play Store release</a:t>
            </a:r>
          </a:p>
          <a:p>
            <a:pPr algn="l" marL="274320" indent="-274320">
              <a:spcBef>
                <a:spcPts val="1000"/>
              </a:spcBef>
              <a:buFont typeface="Arial"/>
              <a:buChar char="•"/>
            </a:pPr>
            <a:r>
              <a:rPr sz="1600" b="0" i="0">
                <a:solidFill>
                  <a:srgbClr val="000000"/>
                </a:solidFill>
                <a:latin typeface="Arial"/>
              </a:rPr>
              <a:t>A local LLM for the coach, using the existing ResponseProvider interface</a:t>
            </a:r>
          </a:p>
          <a:p>
            <a:pPr algn="l" marL="274320" indent="-274320">
              <a:spcBef>
                <a:spcPts val="1000"/>
              </a:spcBef>
              <a:buFont typeface="Arial"/>
              <a:buChar char="•"/>
            </a:pPr>
            <a:r>
              <a:rPr sz="1600" b="0" i="0">
                <a:solidFill>
                  <a:srgbClr val="000000"/>
                </a:solidFill>
                <a:latin typeface="Arial"/>
              </a:rPr>
              <a:t>Hosted multi-user version with HTTPS, PostgreSQL and log files</a:t>
            </a:r>
          </a:p>
          <a:p>
            <a:pPr algn="l" marL="274320" indent="-274320">
              <a:spcBef>
                <a:spcPts val="1000"/>
              </a:spcBef>
              <a:buFont typeface="Arial"/>
              <a:buChar char="•"/>
            </a:pPr>
            <a:r>
              <a:rPr sz="1600" b="0" i="0">
                <a:solidFill>
                  <a:srgbClr val="000000"/>
                </a:solidFill>
                <a:latin typeface="Arial"/>
              </a:rPr>
              <a:t>More bank formats from users' Review queues; more languages</a:t>
            </a:r>
          </a:p>
        </p:txBody>
      </p:sp>
      <p:sp>
        <p:nvSpPr>
          <p:cNvPr id="7" name="TextBox 6"/>
          <p:cNvSpPr txBox="1"/>
          <p:nvPr/>
        </p:nvSpPr>
        <p:spPr>
          <a:xfrm>
            <a:off x="548640" y="5257800"/>
            <a:ext cx="11091672" cy="548640"/>
          </a:xfrm>
          <a:prstGeom prst="rect">
            <a:avLst/>
          </a:prstGeom>
          <a:noFill/>
        </p:spPr>
        <p:txBody>
          <a:bodyPr wrap="square" anchor="t" lIns="45720" rIns="45720" tIns="27432" bIns="27432">
            <a:noAutofit/>
          </a:bodyPr>
          <a:lstStyle/>
          <a:p>
            <a:pPr algn="ctr">
              <a:spcBef>
                <a:spcPts val="0"/>
              </a:spcBef>
              <a:buNone/>
            </a:pPr>
            <a:r>
              <a:rPr sz="2400" b="1" i="0">
                <a:solidFill>
                  <a:srgbClr val="002060"/>
                </a:solidFill>
                <a:latin typeface="Arial"/>
              </a:rPr>
              <a:t>Thank You! Questions?</a:t>
            </a:r>
          </a:p>
        </p:txBody>
      </p:sp>
    </p:spTree>
  </p:cSld>
  <p:clrMapOvr>
    <a:masterClrMapping/>
  </p:clrMapOvr>
</p:sld>
</file>

<file path=ppt/theme/theme1.xml><?xml version="1.0" encoding="utf-8"?>
<a:theme xmlns:a="http://schemas.openxmlformats.org/drawingml/2006/main" name="1_Default Design">
  <a:themeElements>
    <a:clrScheme name="1_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Default Design">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1_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4994</Words>
  <Application>WPS Presentation</Application>
  <PresentationFormat>Widescreen</PresentationFormat>
  <Paragraphs>148</Paragraphs>
  <Slides>6</Slides>
  <Notes>27</Notes>
  <HiddenSlides>0</HiddenSlides>
  <MMClips>0</MMClips>
  <ScaleCrop>false</ScaleCrop>
  <HeadingPairs>
    <vt:vector size="8" baseType="variant">
      <vt:variant>
        <vt:lpstr>已用的字体</vt:lpstr>
      </vt:variant>
      <vt:variant>
        <vt:i4>20</vt:i4>
      </vt:variant>
      <vt:variant>
        <vt:lpstr>主题</vt:lpstr>
      </vt:variant>
      <vt:variant>
        <vt:i4>1</vt:i4>
      </vt:variant>
      <vt:variant>
        <vt:lpstr>嵌入 OLE 服务器</vt:lpstr>
      </vt:variant>
      <vt:variant>
        <vt:i4>0</vt:i4>
      </vt:variant>
      <vt:variant>
        <vt:lpstr>幻灯片标题</vt:lpstr>
      </vt:variant>
      <vt:variant>
        <vt:i4>6</vt:i4>
      </vt:variant>
    </vt:vector>
  </HeadingPairs>
  <TitlesOfParts>
    <vt:vector size="27" baseType="lpstr">
      <vt:lpstr>Arial</vt:lpstr>
      <vt:lpstr>SimSun</vt:lpstr>
      <vt:lpstr>Wingdings</vt:lpstr>
      <vt:lpstr>Verdana</vt:lpstr>
      <vt:lpstr>Aptos Display</vt:lpstr>
      <vt:lpstr>Helvetica Neue</vt:lpstr>
      <vt:lpstr>Times New Roman</vt:lpstr>
      <vt:lpstr>Aptos</vt:lpstr>
      <vt:lpstr>Verdana</vt:lpstr>
      <vt:lpstr>Calibri</vt:lpstr>
      <vt:lpstr>Calibri</vt:lpstr>
      <vt:lpstr>Calibri</vt:lpstr>
      <vt:lpstr>Microsoft YaHei</vt:lpstr>
      <vt:lpstr>汉仪旗黑</vt:lpstr>
      <vt:lpstr>Arial Unicode MS</vt:lpstr>
      <vt:lpstr>Consolas</vt:lpstr>
      <vt:lpstr>Consolas</vt:lpstr>
      <vt:lpstr>Consolas</vt:lpstr>
      <vt:lpstr>苹方-简</vt:lpstr>
      <vt:lpstr>宋体-简</vt:lpstr>
      <vt:lpstr>1_Default Design</vt:lpstr>
      <vt:lpstr>SSN College of Engineering, Kalavakkam - 603110 Department of Information Technology</vt:lpstr>
      <vt:lpstr>Problem Statement</vt:lpstr>
      <vt:lpstr>Proposed Solution</vt:lpstr>
      <vt:lpstr>Block Diagram</vt:lpstr>
      <vt:lpstr>Technology Stack</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FinPilot AI — Project Presentation</dc:title>
  <dc:creator>Jeya Sangavi R, Rahul Akshath Rajendran, Rakshitha S</dc:creator>
  <cp:lastModifiedBy>rahulakshath</cp:lastModifiedBy>
  <cp:revision>110</cp:revision>
  <cp:lastPrinted>2026-07-31T08:58:42Z</cp:lastPrinted>
  <dcterms:created xsi:type="dcterms:W3CDTF">2026-07-31T08:58:42Z</dcterms:created>
  <dcterms:modified xsi:type="dcterms:W3CDTF">2026-07-31T08:58:42Z</dcterms:modified>
  <dc:subject>UIT2739 Full Stack Development Project, SSN College of Engineering</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1033-12.1.26035.26035</vt:lpwstr>
  </property>
  <property fmtid="{D5CDD505-2E9C-101B-9397-08002B2CF9AE}" pid="3" name="ICV">
    <vt:lpwstr>C74005CF77AE1C8DECF8566A79DFFBB0_42</vt:lpwstr>
  </property>
</Properties>
</file>