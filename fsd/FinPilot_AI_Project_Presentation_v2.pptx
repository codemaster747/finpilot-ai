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4"/>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7010400" cy="9296400"/>
  <p:defaultTextStyle>
    <a:defPPr>
      <a:defRPr lang="en-US"/>
    </a:defPPr>
    <a:lvl1pPr algn="l" rtl="0" fontAlgn="base">
      <a:spcBef>
        <a:spcPct val="0"/>
      </a:spcBef>
      <a:spcAft>
        <a:spcPct val="0"/>
      </a:spcAft>
      <a:defRPr sz="20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90204" pitchFamily="34" charset="0"/>
        <a:ea typeface="+mn-ea"/>
        <a:cs typeface="+mn-cs"/>
      </a:defRPr>
    </a:lvl5pPr>
    <a:lvl6pPr marL="2286000" algn="l" defTabSz="914400" rtl="0" eaLnBrk="1" latinLnBrk="0" hangingPunct="1">
      <a:defRPr sz="2000" kern="1200">
        <a:solidFill>
          <a:schemeClr val="tx1"/>
        </a:solidFill>
        <a:latin typeface="Arial" panose="020B0604020202090204" pitchFamily="34" charset="0"/>
        <a:ea typeface="+mn-ea"/>
        <a:cs typeface="+mn-cs"/>
      </a:defRPr>
    </a:lvl6pPr>
    <a:lvl7pPr marL="2743200" algn="l" defTabSz="914400" rtl="0" eaLnBrk="1" latinLnBrk="0" hangingPunct="1">
      <a:defRPr sz="2000" kern="1200">
        <a:solidFill>
          <a:schemeClr val="tx1"/>
        </a:solidFill>
        <a:latin typeface="Arial" panose="020B0604020202090204" pitchFamily="34" charset="0"/>
        <a:ea typeface="+mn-ea"/>
        <a:cs typeface="+mn-cs"/>
      </a:defRPr>
    </a:lvl7pPr>
    <a:lvl8pPr marL="3200400" algn="l" defTabSz="914400" rtl="0" eaLnBrk="1" latinLnBrk="0" hangingPunct="1">
      <a:defRPr sz="2000" kern="1200">
        <a:solidFill>
          <a:schemeClr val="tx1"/>
        </a:solidFill>
        <a:latin typeface="Arial" panose="020B0604020202090204" pitchFamily="34" charset="0"/>
        <a:ea typeface="+mn-ea"/>
        <a:cs typeface="+mn-cs"/>
      </a:defRPr>
    </a:lvl8pPr>
    <a:lvl9pPr marL="3657600" algn="l" defTabSz="914400" rtl="0" eaLnBrk="1" latinLnBrk="0" hangingPunct="1">
      <a:defRPr sz="2000" kern="120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a:srgbClr val="90B0D4"/>
    <a:srgbClr val="B4593C"/>
    <a:srgbClr val="0066CC"/>
    <a:srgbClr val="547B9C"/>
    <a:srgbClr val="C0309A"/>
    <a:srgbClr val="0079BC"/>
    <a:srgbClr val="3E708E"/>
    <a:srgbClr val="3399FF"/>
    <a:srgbClr val="A54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 d="2"/>
          <a:sy n="1" d="2"/>
        </p:scale>
        <p:origin x="0" y="0"/>
      </p:cViewPr>
      <p:guideLst>
        <p:guide orient="horz" pos="2200"/>
        <p:guide pos="3840"/>
      </p:guideLst>
    </p:cSldViewPr>
  </p:slideViewPr>
  <p:notesViewPr>
    <p:cSldViewPr snapToGrid="0">
      <p:cViewPr>
        <p:scale>
          <a:sx n="1" d="2"/>
          <a:sy n="1" d="2"/>
        </p:scale>
        <p:origin x="0" y="0"/>
      </p:cViewPr>
      <p:guideLst>
        <p:guide orient="horz" pos="2982"/>
        <p:guide pos="2208"/>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40" b="1" i="0" u="none" strike="noStrike" kern="1200" baseline="0">
                <a:solidFill>
                  <a:schemeClr val="tx1"/>
                </a:solidFill>
                <a:latin typeface="Arial" panose="020B0604020202090204"/>
                <a:ea typeface="+mn-ea"/>
                <a:cs typeface="+mn-cs"/>
              </a:defRPr>
            </a:pPr>
            <a:r>
              <a:rPr sz="1400" b="1">
                <a:solidFill>
                  <a:srgbClr val="000000"/>
                </a:solidFill>
                <a:latin typeface="Arial" panose="020B0604020202090204"/>
              </a:rPr>
              <a:t>Forecast error (mean absolute daily error, ₹)</a:t>
            </a:r>
            <a:endParaRPr sz="1400" b="1">
              <a:solidFill>
                <a:srgbClr val="000000"/>
              </a:solidFill>
              <a:latin typeface="Arial" panose="020B0604020202090204"/>
            </a:endParaRPr>
          </a:p>
        </c:rich>
      </c:tx>
      <c:layout/>
      <c:overlay val="0"/>
    </c:title>
    <c:autoTitleDeleted val="0"/>
    <c:plotArea>
      <c:layout/>
      <c:barChart>
        <c:barDir val="bar"/>
        <c:grouping val="clustered"/>
        <c:varyColors val="0"/>
        <c:ser>
          <c:idx val="0"/>
          <c:order val="0"/>
          <c:tx>
            <c:strRef>
              <c:f>Sheet1!$B$1</c:f>
              <c:strCache>
                <c:ptCount val="1"/>
                <c:pt idx="0">
                  <c:v>Mean absolute daily error (₹)</c:v>
                </c:pt>
              </c:strCache>
            </c:strRef>
          </c:tx>
          <c:spPr>
            <a:solidFill>
              <a:srgbClr val="4472C4"/>
            </a:solidFill>
          </c:spPr>
          <c:invertIfNegative val="0"/>
          <c:dLbls>
            <c:numFmt formatCode="&quot;₹&quot;#,##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chemeClr val="tx1"/>
                    </a:solidFill>
                    <a:latin typeface="Arial" panose="020B060402020209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Sheet1!$A$2:$A$4</c:f>
              <c:strCache>
                <c:ptCount val="3"/>
                <c:pt idx="0">
                  <c:v>Seasonal naive</c:v>
                </c:pt>
                <c:pt idx="1">
                  <c:v>Naive + known schedule</c:v>
                </c:pt>
                <c:pt idx="2">
                  <c:v>Prophet + known schedule</c:v>
                </c:pt>
              </c:strCache>
            </c:strRef>
          </c:cat>
          <c:val>
            <c:numRef>
              <c:f>Sheet1!$B$2:$B$4</c:f>
              <c:numCache>
                <c:formatCode>General</c:formatCode>
                <c:ptCount val="3"/>
                <c:pt idx="0">
                  <c:v>9784</c:v>
                </c:pt>
                <c:pt idx="1">
                  <c:v>5771</c:v>
                </c:pt>
                <c:pt idx="2">
                  <c:v>5746</c:v>
                </c:pt>
              </c:numCache>
            </c:numRef>
          </c:val>
        </c:ser>
        <c:dLbls>
          <c:showLegendKey val="0"/>
          <c:showVal val="1"/>
          <c:showCatName val="0"/>
          <c:showSerName val="0"/>
          <c:showPercent val="0"/>
          <c:showBubbleSize val="0"/>
        </c:dLbls>
        <c:gapWidth val="80"/>
        <c:axId val="-2068027336"/>
        <c:axId val="-2113994440"/>
      </c:barChart>
      <c:catAx>
        <c:axId val="-2068027336"/>
        <c:scaling>
          <c:orientation val="maxMin"/>
        </c:scaling>
        <c:delete val="0"/>
        <c:axPos val="l"/>
        <c:majorTickMark val="out"/>
        <c:minorTickMark val="none"/>
        <c:tickLblPos val="nextTo"/>
        <c:spPr>
          <a:ln w="9525" cap="flat" cmpd="sng" algn="ctr">
            <a:solidFill>
              <a:srgbClr val="7F7F7F"/>
            </a:solidFill>
            <a:prstDash val="solid"/>
            <a:round/>
          </a:ln>
        </c:spPr>
        <c:txPr>
          <a:bodyPr rot="-60000000" spcFirstLastPara="0" vertOverflow="ellipsis" vert="horz" wrap="square" anchor="ctr" anchorCtr="1"/>
          <a:lstStyle/>
          <a:p>
            <a:pPr>
              <a:defRPr lang="en-US" sz="1200" b="0" i="0" u="none" strike="noStrike" kern="1200" baseline="0">
                <a:solidFill>
                  <a:srgbClr val="000000"/>
                </a:solidFill>
                <a:latin typeface="Arial" panose="020B0604020202090204"/>
                <a:ea typeface="+mn-ea"/>
                <a:cs typeface="+mn-cs"/>
              </a:defRPr>
            </a:pPr>
          </a:p>
        </c:txPr>
        <c:crossAx val="-2113994440"/>
        <c:crosses val="autoZero"/>
        <c:auto val="1"/>
        <c:lblAlgn val="ctr"/>
        <c:lblOffset val="100"/>
        <c:noMultiLvlLbl val="0"/>
      </c:catAx>
      <c:valAx>
        <c:axId val="-2113994440"/>
        <c:scaling>
          <c:orientation val="minMax"/>
          <c:max val="12000"/>
          <c:min val="0"/>
        </c:scaling>
        <c:delete val="0"/>
        <c:axPos val="b"/>
        <c:majorGridlines>
          <c:spPr>
            <a:ln w="6350" cap="flat" cmpd="sng" algn="ctr">
              <a:solidFill>
                <a:srgbClr val="D9D9D9"/>
              </a:solidFill>
              <a:prstDash val="solid"/>
              <a:round/>
            </a:ln>
          </c:spPr>
        </c:majorGridlines>
        <c:numFmt formatCode="#,##0"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chemeClr val="tx1"/>
                </a:solidFill>
                <a:latin typeface="Arial" panose="020B0604020202090204"/>
                <a:ea typeface="+mn-ea"/>
                <a:cs typeface="+mn-cs"/>
              </a:defRPr>
            </a:pPr>
          </a:p>
        </c:txPr>
        <c:crossAx val="-2068027336"/>
        <c:crosses val="max"/>
        <c:crossBetween val="between"/>
      </c:valAx>
    </c:plotArea>
    <c:plotVisOnly val="1"/>
    <c:dispBlanksAs val="gap"/>
    <c:showDLblsOverMax val="0"/>
    <c:extLst>
      <c:ext uri="{0b15fc19-7d7d-44ad-8c2d-2c3a37ce22c3}">
        <chartProps xmlns="https://web.wps.cn/et/2018/main" chartId="{d99be8f9-5497-44c3-b521-c55a380d25eb}"/>
      </c:ext>
    </c:extLst>
  </c:chart>
  <c:txPr>
    <a:bodyPr/>
    <a:lstStyle/>
    <a:p>
      <a:pPr>
        <a:defRPr lang="en-US" sz="1200">
          <a:latin typeface="Arial" panose="020B0604020202090204"/>
        </a:defRPr>
      </a:pPr>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628" cy="464981"/>
          </a:xfrm>
          <a:prstGeom prst="rect">
            <a:avLst/>
          </a:prstGeom>
        </p:spPr>
        <p:txBody>
          <a:bodyPr vert="horz" lIns="92153" tIns="46077" rIns="92153" bIns="46077" rtlCol="0"/>
          <a:lstStyle>
            <a:lvl1pPr algn="l">
              <a:defRPr sz="1200"/>
            </a:lvl1pPr>
          </a:lstStyle>
          <a:p>
            <a:endParaRPr lang="en-US"/>
          </a:p>
        </p:txBody>
      </p:sp>
      <p:sp>
        <p:nvSpPr>
          <p:cNvPr id="3" name="Date Placeholder 2"/>
          <p:cNvSpPr>
            <a:spLocks noGrp="1"/>
          </p:cNvSpPr>
          <p:nvPr>
            <p:ph type="dt" sz="quarter" idx="1"/>
          </p:nvPr>
        </p:nvSpPr>
        <p:spPr>
          <a:xfrm>
            <a:off x="3971173" y="1"/>
            <a:ext cx="3037628" cy="464981"/>
          </a:xfrm>
          <a:prstGeom prst="rect">
            <a:avLst/>
          </a:prstGeom>
        </p:spPr>
        <p:txBody>
          <a:bodyPr vert="horz" lIns="92153" tIns="46077" rIns="92153" bIns="46077" rtlCol="0"/>
          <a:lstStyle>
            <a:lvl1pPr algn="r">
              <a:defRPr sz="1200"/>
            </a:lvl1pPr>
          </a:lstStyle>
          <a:p>
            <a:fld id="{006C233A-9D74-4117-ACA8-060D36B7D83A}" type="datetimeFigureOut">
              <a:rPr lang="en-US" smtClean="0"/>
            </a:fld>
            <a:endParaRPr lang="en-US"/>
          </a:p>
        </p:txBody>
      </p:sp>
      <p:sp>
        <p:nvSpPr>
          <p:cNvPr id="4" name="Footer Placeholder 3"/>
          <p:cNvSpPr>
            <a:spLocks noGrp="1"/>
          </p:cNvSpPr>
          <p:nvPr>
            <p:ph type="ftr" sz="quarter" idx="2"/>
          </p:nvPr>
        </p:nvSpPr>
        <p:spPr>
          <a:xfrm>
            <a:off x="0" y="8829824"/>
            <a:ext cx="3037628" cy="464981"/>
          </a:xfrm>
          <a:prstGeom prst="rect">
            <a:avLst/>
          </a:prstGeom>
        </p:spPr>
        <p:txBody>
          <a:bodyPr vert="horz" lIns="92153" tIns="46077" rIns="92153" bIns="46077" rtlCol="0" anchor="b"/>
          <a:lstStyle>
            <a:lvl1pPr algn="l">
              <a:defRPr sz="1200"/>
            </a:lvl1pPr>
          </a:lstStyle>
          <a:p>
            <a:endParaRPr lang="en-US"/>
          </a:p>
        </p:txBody>
      </p:sp>
      <p:sp>
        <p:nvSpPr>
          <p:cNvPr id="5" name="Slide Number Placeholder 4"/>
          <p:cNvSpPr>
            <a:spLocks noGrp="1"/>
          </p:cNvSpPr>
          <p:nvPr>
            <p:ph type="sldNum" sz="quarter" idx="3"/>
          </p:nvPr>
        </p:nvSpPr>
        <p:spPr>
          <a:xfrm>
            <a:off x="3971173" y="8829824"/>
            <a:ext cx="3037628" cy="464981"/>
          </a:xfrm>
          <a:prstGeom prst="rect">
            <a:avLst/>
          </a:prstGeom>
        </p:spPr>
        <p:txBody>
          <a:bodyPr vert="horz" lIns="92153" tIns="46077" rIns="92153" bIns="46077" rtlCol="0" anchor="b"/>
          <a:lstStyle>
            <a:lvl1pPr algn="r">
              <a:defRPr sz="1200"/>
            </a:lvl1pPr>
          </a:lstStyle>
          <a:p>
            <a:fld id="{A28E399E-F7B0-4ADD-938A-755F22AEF96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 y="0"/>
            <a:ext cx="3037840" cy="464821"/>
          </a:xfrm>
          <a:prstGeom prst="rect">
            <a:avLst/>
          </a:prstGeom>
          <a:noFill/>
          <a:ln w="9525">
            <a:noFill/>
            <a:miter lim="800000"/>
          </a:ln>
          <a:effectLst/>
        </p:spPr>
        <p:txBody>
          <a:bodyPr vert="horz" wrap="square" lIns="93205" tIns="46603" rIns="93205" bIns="46603" numCol="1" anchor="t" anchorCtr="0" compatLnSpc="1"/>
          <a:lstStyle>
            <a:lvl1pPr>
              <a:defRPr sz="1200"/>
            </a:lvl1pPr>
          </a:lstStyle>
          <a:p>
            <a:endParaRPr lang="en-US"/>
          </a:p>
        </p:txBody>
      </p:sp>
      <p:sp>
        <p:nvSpPr>
          <p:cNvPr id="4099" name="Rectangle 3"/>
          <p:cNvSpPr>
            <a:spLocks noGrp="1" noChangeArrowheads="1"/>
          </p:cNvSpPr>
          <p:nvPr>
            <p:ph type="dt" idx="1"/>
          </p:nvPr>
        </p:nvSpPr>
        <p:spPr bwMode="auto">
          <a:xfrm>
            <a:off x="3972563" y="0"/>
            <a:ext cx="3037840" cy="464821"/>
          </a:xfrm>
          <a:prstGeom prst="rect">
            <a:avLst/>
          </a:prstGeom>
          <a:noFill/>
          <a:ln w="9525">
            <a:noFill/>
            <a:miter lim="800000"/>
          </a:ln>
          <a:effectLst/>
        </p:spPr>
        <p:txBody>
          <a:bodyPr vert="horz" wrap="square" lIns="93205" tIns="46603" rIns="93205" bIns="46603" numCol="1" anchor="t" anchorCtr="0" compatLnSpc="1"/>
          <a:lstStyle>
            <a:lvl1pPr algn="r">
              <a:defRPr sz="1200"/>
            </a:lvl1pPr>
          </a:lstStyle>
          <a:p>
            <a:endParaRPr lang="en-US"/>
          </a:p>
        </p:txBody>
      </p:sp>
      <p:sp>
        <p:nvSpPr>
          <p:cNvPr id="4100" name="Rectangle 4"/>
          <p:cNvSpPr>
            <a:spLocks noGrp="1" noRot="1" noChangeAspect="1" noChangeArrowheads="1" noTextEdit="1"/>
          </p:cNvSpPr>
          <p:nvPr>
            <p:ph type="sldImg" idx="2"/>
          </p:nvPr>
        </p:nvSpPr>
        <p:spPr bwMode="auto">
          <a:xfrm>
            <a:off x="406400" y="698500"/>
            <a:ext cx="6197600" cy="34861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34721" y="4415792"/>
            <a:ext cx="5140960" cy="4183380"/>
          </a:xfrm>
          <a:prstGeom prst="rect">
            <a:avLst/>
          </a:prstGeom>
          <a:noFill/>
          <a:ln w="9525">
            <a:noFill/>
            <a:miter lim="800000"/>
          </a:ln>
          <a:effectLst/>
        </p:spPr>
        <p:txBody>
          <a:bodyPr vert="horz" wrap="square" lIns="93205" tIns="46603" rIns="93205" bIns="46603"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102" name="Rectangle 6"/>
          <p:cNvSpPr>
            <a:spLocks noGrp="1" noChangeArrowheads="1"/>
          </p:cNvSpPr>
          <p:nvPr>
            <p:ph type="ftr" sz="quarter" idx="4"/>
          </p:nvPr>
        </p:nvSpPr>
        <p:spPr bwMode="auto">
          <a:xfrm>
            <a:off x="1" y="8831581"/>
            <a:ext cx="3037840" cy="464821"/>
          </a:xfrm>
          <a:prstGeom prst="rect">
            <a:avLst/>
          </a:prstGeom>
          <a:noFill/>
          <a:ln w="9525">
            <a:noFill/>
            <a:miter lim="800000"/>
          </a:ln>
          <a:effectLst/>
        </p:spPr>
        <p:txBody>
          <a:bodyPr vert="horz" wrap="square" lIns="93205" tIns="46603" rIns="93205" bIns="46603" numCol="1" anchor="b" anchorCtr="0" compatLnSpc="1"/>
          <a:lstStyle>
            <a:lvl1pPr>
              <a:defRPr sz="1200"/>
            </a:lvl1pPr>
          </a:lstStyle>
          <a:p>
            <a:endParaRPr lang="en-US"/>
          </a:p>
        </p:txBody>
      </p:sp>
      <p:sp>
        <p:nvSpPr>
          <p:cNvPr id="4103" name="Rectangle 7"/>
          <p:cNvSpPr>
            <a:spLocks noGrp="1" noChangeArrowheads="1"/>
          </p:cNvSpPr>
          <p:nvPr>
            <p:ph type="sldNum" sz="quarter" idx="5"/>
          </p:nvPr>
        </p:nvSpPr>
        <p:spPr bwMode="auto">
          <a:xfrm>
            <a:off x="3972563" y="8831581"/>
            <a:ext cx="3037840" cy="464821"/>
          </a:xfrm>
          <a:prstGeom prst="rect">
            <a:avLst/>
          </a:prstGeom>
          <a:noFill/>
          <a:ln w="9525">
            <a:noFill/>
            <a:miter lim="800000"/>
          </a:ln>
          <a:effectLst/>
        </p:spPr>
        <p:txBody>
          <a:bodyPr vert="horz" wrap="square" lIns="93205" tIns="46603" rIns="93205" bIns="46603" numCol="1" anchor="b" anchorCtr="0" compatLnSpc="1"/>
          <a:lstStyle>
            <a:lvl1pPr algn="r">
              <a:defRPr sz="1200"/>
            </a:lvl1pPr>
          </a:lstStyle>
          <a:p>
            <a:fld id="{848BB432-97C3-4B7D-8D6F-1BA494990EB4}"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9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9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9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9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We are presenting FinPilot AI, our UIT2739 full-stack project. It is a personal-finance assistant that builds a user's financial picture from the bank SMS and e-mails they already receive, but only after the user allows each source. This common part covers the problem, requirements, architecture, SDLC, modules, database, testing and lessons learnt; each of us then demonstrates our own features.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FinPilot AI is a full-stack app: a server on the user's laptop, used from a browser or from our Android app. Capture: bank SMS read on the phone and e-mail read from the user's mailbox, each behind its own consent, plus optional uploads. Understand: every message is classified, its fields extracted, duplicates reconciled and the payment categorised. Predict: a 90-day cash-flow forecast, subscription analysis and tax estimates. Act: insights, a coach, budgets, goals and a wishlist checked against what is safe to spend.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data already exists: every UPI payment, card swipe and bill produces an SMS or e-mail. The problem is that it stays scattered and existing tools fall short in four ways shown on the right. Our statement: build a reliable, forward-looking picture of a person's money from the messages they already receive, only with their consent, running on their own computer at zero cost.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Six objectives, each mapped to modules we built. On the right is the scope we committed to. Out of scope, as stated in our README: no live bank or Account Aggregator connections, no payments, no product recommendations or crawling, no iOS app because iOS gives apps no SMS access, and tax figures are estimates, not advice.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requirement is implemented end to end: an API endpoint, business logic in a service, database tables and a page. FR1 to FR7 cover accounts, consent, capture, uploads, transactions, the dashboard and the forecast.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requirement is implemented end to end: an API endpoint, business logic in a service, database tables and a page. FR8 to FR14 cover subscriptions, tax, insights and coach, budgets and goals, the wishlist, settings and data rights, and the model evaluation page.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qualities are visible in the code. Security: bcrypt, JWT in httpOnly cookies for the browser and Bearer tokens for the app, rotating refresh tokens, CSRF and CORS checks and a login rate limit. Privacy: personal chats, OTPs and promotions are dropped on the phone; consent per source, Fernet encryption and a 90-day retention purge. Reliability: transactions roll back, analytics stages are isolated, Prophet falls back to a baseline, and syncing the same SMS twice stores it once. Portability: one command for the server, one for the phone app.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server is one Python process started by run.py on the laptop. FastAPI on port 8000 serves the JSON API under /api/v1 and the pre-built Next.js site. The same site is bundled into our Android app with Capacitor; the app calls the server over Wi-Fi, the phone's hotspot or a Cloudflare tunnel, with Bearer tokens, and its SMS plugin reads and filters the inbox on the phone. Services hold the business logic and ML; a job runner and scheduler read mailboxes every 30 minutes, re-check wishlist prices daily and run the nightly analytics. Data lives in SQLite in WAL mode.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backend is layered. Routers handle HTTP and validation; dependencies give each request the signed-in user and a database session; services hold the rules; models map to SQLite. On the right is one real request: a what-if purchase on the Forecast page. It only reads the stored forecast, so it answers instantly.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All tools are free and run locally. The frontend is a Next.js static export served by FastAPI, so Node.js is only needed to rebuild the UI. The backend uses FastAPI with SQLAlchemy and SQLite. ML uses scikit-learn and Prophet. The versions shown are the ones installed in our environment.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followed an iterative and incremental model. Requirements were set at Review 0 in July; afterwards we added consent-based capture and revised the design to one process, SQLite and a one-command launcher instead of Docker and PostgreSQL. At the review, the features still ran on sample data, so we built the real-data release: an Android app that reads SMS, IMAP e-mail, file imports and a real wishlist, and removed the simulators. Each phase ended with a working app and a measurable gate.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the phases as executed. Each one ended with a check we could demonstrate, for example: no transactions created from OTP or promotional messages, a receipt photo attached to its card payment, the property test showing Buy now never breaks the buffer, and the final phase: the Android app passing all 17 checks on an emulator with real-format SMS.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Nine modules, all working end to end on the user's own data. Capture and receipts bring data in; transactions, review and anomaly detection make it trustworthy; forecasting, subscriptions and tax look ahead; insights, the coach, budgets and the wishlist turn it into decisions. Each team member will demonstrate their own modules.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Screenshots from the running app: the dashboard, the Connections page of a new user after importing their SMS, the forecast with a what-if check, subscriptions, the tax comparison and the wishlist. The live demonstration follows after this common part, including the Android app.</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Every message, whatever its source, goes through the same pipeline: SMS from the phone, e-mail from the mailbox, or an imported file. First the source must be active and the message inside the consent window; on the phone, chats, OTPs and promotions are dropped before anything is sent. A classifier recognises 12 kinds of message, the extractor reads the fields, and reconciliation makes sure one payment becomes one transaction even when it arrives by SMS and by e-mail. After new data, a background job refreshes the analytics that the pages read.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SQLite with 29 tables, created by two Alembic migrations and grouped into four domains. The second migration removed the Smart Picks tables and added the mailbox connection, the wishlist's price history and the phone's sync state. Key decisions: money as integer paise, every user table cascades on delete, transactions record where they came from and how they were categorised, message text and mailbox passwords are encrypted, and the consent log is append-only.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We measured everything on data with known answers. The chart is the forecast backtest: knowing the user's schedule cuts the error by about 41 percent against the seasonal-naive baseline, and Prophet improves it only a little more; an earlier version claimed 85 percent because its backtest saw future payments, which we fixed. The tiles show message understanding, de-duplication, categorisation, the coach and our real-format SMS corpus, which we used while improving the parser, so it is a regression set rather than an unseen test.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Testing ran at four levels. 82 backend tests with pytest and Hypothesis, all passing on 18 October. 23 Playwright tests in a real browser: a new user's whole journey on real files, the phone layout on 12 pages, and the demo. The Android app on an Android 15 emulator: we planted real-format bank SMS, an OTP, a promotion and a personal chat, and checked that only the bank alerts reached the server, each as one transaction. Models are validated on held-out data, unseen bank formats and backtests.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Left: the main challenges and how we solved them, including making every feature work on real data. Right: improvements we identified while reviewing our own code, for example there is no log file yet because logs go to the terminal, the login rate limit lives in memory, the UI does not yet ask for consent again when the notice changes, and new SMS are read only while the app is open.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conclude: FinPilot AI turns messages people already receive into a private, forward-looking view of their money; every module works end to end on the user's own SMS and e-mail; privacy is built in; and our results are measured and tested, including on an Android device. In future it could read SMS in the background, connect to bank data through the Account Aggregator framework, and use a local language model behind the coach's provider interface.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11266" name="Picture 2" descr="band"/>
          <p:cNvPicPr>
            <a:picLocks noChangeAspect="1" noChangeArrowheads="1"/>
          </p:cNvPicPr>
          <p:nvPr userDrawn="1"/>
        </p:nvPicPr>
        <p:blipFill>
          <a:blip r:embed="rId2" cstate="print"/>
          <a:srcRect/>
          <a:stretch>
            <a:fillRect/>
          </a:stretch>
        </p:blipFill>
        <p:spPr bwMode="auto">
          <a:xfrm>
            <a:off x="0" y="5589588"/>
            <a:ext cx="11988800" cy="1268412"/>
          </a:xfrm>
          <a:prstGeom prst="rect">
            <a:avLst/>
          </a:prstGeom>
          <a:noFill/>
        </p:spPr>
      </p:pic>
      <p:sp>
        <p:nvSpPr>
          <p:cNvPr id="11267" name="Rectangle 3"/>
          <p:cNvSpPr>
            <a:spLocks noGrp="1" noChangeArrowheads="1"/>
          </p:cNvSpPr>
          <p:nvPr>
            <p:ph type="ctrTitle"/>
          </p:nvPr>
        </p:nvSpPr>
        <p:spPr>
          <a:xfrm>
            <a:off x="914400" y="2286000"/>
            <a:ext cx="10363200" cy="1143000"/>
          </a:xfrm>
        </p:spPr>
        <p:txBody>
          <a:bodyPr/>
          <a:lstStyle>
            <a:lvl1pPr>
              <a:defRPr>
                <a:solidFill>
                  <a:srgbClr val="1B57B5"/>
                </a:solidFill>
              </a:defRPr>
            </a:lvl1pPr>
          </a:lstStyle>
          <a:p>
            <a:r>
              <a:rPr lang="en-US"/>
              <a:t>Click to edit Master title style</a:t>
            </a:r>
            <a:endParaRPr lang="en-US"/>
          </a:p>
        </p:txBody>
      </p:sp>
      <p:sp>
        <p:nvSpPr>
          <p:cNvPr id="11268" name="Rectangle 4"/>
          <p:cNvSpPr>
            <a:spLocks noGrp="1" noChangeArrowheads="1"/>
          </p:cNvSpPr>
          <p:nvPr>
            <p:ph type="subTitle" idx="1"/>
          </p:nvPr>
        </p:nvSpPr>
        <p:spPr>
          <a:xfrm>
            <a:off x="1828800" y="3810000"/>
            <a:ext cx="8534400" cy="1752600"/>
          </a:xfrm>
        </p:spPr>
        <p:txBody>
          <a:bodyPr/>
          <a:lstStyle>
            <a:lvl1pPr marL="0" indent="0" algn="ctr">
              <a:buFontTx/>
              <a:buNone/>
              <a:defRPr>
                <a:solidFill>
                  <a:schemeClr val="bg2"/>
                </a:solidFill>
              </a:defRPr>
            </a:lvl1pPr>
          </a:lstStyle>
          <a:p>
            <a:r>
              <a:rPr lang="en-US"/>
              <a:t>Click to edit Master subtitle style</a:t>
            </a:r>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921F4039-2622-4E0D-BA5F-DF613486EC3F}" type="slidenum">
              <a:rPr lang="en-US"/>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Slide Number Placeholder 3"/>
          <p:cNvSpPr>
            <a:spLocks noGrp="1"/>
          </p:cNvSpPr>
          <p:nvPr>
            <p:ph type="sldNum" sz="quarter" idx="10"/>
          </p:nvPr>
        </p:nvSpPr>
        <p:spPr/>
        <p:txBody>
          <a:bodyPr/>
          <a:lstStyle>
            <a:lvl1pPr>
              <a:defRPr/>
            </a:lvl1pPr>
          </a:lstStyle>
          <a:p>
            <a:fld id="{9A93D3DE-0D14-436D-A6F8-99F9FCD4509C}" type="slidenum">
              <a:rPr lang="en-US"/>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p:txBody>
          <a:bodyPr/>
          <a:lstStyle>
            <a:lvl1pPr>
              <a:defRPr/>
            </a:lvl1pPr>
          </a:lstStyle>
          <a:p>
            <a:fld id="{DEF9CD4C-826D-4353-97CC-FD6B600239AB}" type="slidenum">
              <a:rPr lang="en-US"/>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6"/>
          <p:cNvSpPr>
            <a:spLocks noGrp="1"/>
          </p:cNvSpPr>
          <p:nvPr>
            <p:ph type="sldNum" sz="quarter" idx="10"/>
          </p:nvPr>
        </p:nvSpPr>
        <p:spPr/>
        <p:txBody>
          <a:bodyPr/>
          <a:lstStyle>
            <a:lvl1pPr>
              <a:defRPr/>
            </a:lvl1pPr>
          </a:lstStyle>
          <a:p>
            <a:fld id="{E7A862DA-0300-4660-A6BD-320860488EFE}" type="slidenum">
              <a:rPr lang="en-US"/>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A715D3E4-362F-49DE-85B9-977E4CF2496F}" type="slidenum">
              <a:rPr lang="en-US"/>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A4670509-8842-45C7-8721-9FA549B616AB}" type="slidenum">
              <a:rPr lang="en-US"/>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15FF190B-BFCC-43ED-94C1-8545E3613419}" type="slidenum">
              <a:rPr lang="en-US"/>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Slide Number Placeholder 4"/>
          <p:cNvSpPr>
            <a:spLocks noGrp="1"/>
          </p:cNvSpPr>
          <p:nvPr>
            <p:ph type="sldNum" sz="quarter" idx="10"/>
          </p:nvPr>
        </p:nvSpPr>
        <p:spPr/>
        <p:txBody>
          <a:bodyPr/>
          <a:lstStyle>
            <a:lvl1pPr>
              <a:defRPr/>
            </a:lvl1pPr>
          </a:lstStyle>
          <a:p>
            <a:fld id="{A31E2E50-6244-4F8C-BC21-0143E7B1D612}" type="slidenum">
              <a:rPr lang="en-US"/>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04B17A84-1EF1-46E0-86F0-87EE23199E92}" type="slidenum">
              <a:rPr lang="en-US"/>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Slide Number Placeholder 3"/>
          <p:cNvSpPr>
            <a:spLocks noGrp="1"/>
          </p:cNvSpPr>
          <p:nvPr>
            <p:ph type="sldNum" sz="quarter" idx="10"/>
          </p:nvPr>
        </p:nvSpPr>
        <p:spPr/>
        <p:txBody>
          <a:bodyPr/>
          <a:lstStyle>
            <a:lvl1pPr>
              <a:defRPr/>
            </a:lvl1pPr>
          </a:lstStyle>
          <a:p>
            <a:fld id="{5EA6033A-ADCD-4E5D-B795-05F53A6B4939}" type="slidenum">
              <a:rPr lang="en-US"/>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E765331A-FB16-4349-BB1E-9292E7905A34}" type="slidenum">
              <a:rPr lang="en-US"/>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Slide Number Placeholder 2"/>
          <p:cNvSpPr>
            <a:spLocks noGrp="1"/>
          </p:cNvSpPr>
          <p:nvPr>
            <p:ph type="sldNum" sz="quarter" idx="10"/>
          </p:nvPr>
        </p:nvSpPr>
        <p:spPr>
          <a:xfrm>
            <a:off x="0" y="6321425"/>
            <a:ext cx="12192000" cy="476250"/>
          </a:xfrm>
        </p:spPr>
        <p:txBody>
          <a:bodyPr/>
          <a:lstStyle>
            <a:lvl1pPr>
              <a:defRPr/>
            </a:lvl1pPr>
          </a:lstStyle>
          <a:p>
            <a:fld id="{CA127EDD-5AE7-4F7E-A3D2-120782799796}" type="slidenum">
              <a:rPr lang="en-US"/>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US"/>
          </a:p>
        </p:txBody>
      </p:sp>
      <p:sp>
        <p:nvSpPr>
          <p:cNvPr id="3" name="Chart Placeholder 2"/>
          <p:cNvSpPr>
            <a:spLocks noGrp="1"/>
          </p:cNvSpPr>
          <p:nvPr>
            <p:ph type="chart" idx="1"/>
          </p:nvPr>
        </p:nvSpPr>
        <p:spPr>
          <a:xfrm>
            <a:off x="609600" y="1600201"/>
            <a:ext cx="10972800" cy="4525963"/>
          </a:xfrm>
        </p:spPr>
        <p:txBody>
          <a:bodyPr/>
          <a:lstStyle/>
          <a:p>
            <a:endParaRPr lang="en-US"/>
          </a:p>
        </p:txBody>
      </p:sp>
      <p:sp>
        <p:nvSpPr>
          <p:cNvPr id="4" name="Slide Number Placeholder 3"/>
          <p:cNvSpPr>
            <a:spLocks noGrp="1"/>
          </p:cNvSpPr>
          <p:nvPr>
            <p:ph type="sldNum" sz="quarter" idx="10"/>
          </p:nvPr>
        </p:nvSpPr>
        <p:spPr>
          <a:xfrm>
            <a:off x="0" y="6321425"/>
            <a:ext cx="12192000" cy="476250"/>
          </a:xfrm>
        </p:spPr>
        <p:txBody>
          <a:bodyPr/>
          <a:lstStyle>
            <a:lvl1pPr>
              <a:defRPr/>
            </a:lvl1pPr>
          </a:lstStyle>
          <a:p>
            <a:fld id="{50D1D595-6F66-4A04-B04D-68C711B5071F}" type="slidenum">
              <a:rPr lang="en-US"/>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1.vml"/><Relationship Id="rId16" Type="http://schemas.openxmlformats.org/officeDocument/2006/relationships/image" Target="../media/image2.emf"/><Relationship Id="rId15" Type="http://schemas.openxmlformats.org/officeDocument/2006/relationships/oleObject" Target="../embeddings/oleObject1.bin"/><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609600" y="274638"/>
            <a:ext cx="10972800" cy="1143000"/>
          </a:xfrm>
          <a:prstGeom prst="rect">
            <a:avLst/>
          </a:prstGeom>
          <a:noFill/>
          <a:ln w="9525">
            <a:noFill/>
            <a:miter lim="800000"/>
          </a:ln>
          <a:effectLst/>
        </p:spPr>
        <p:txBody>
          <a:bodyPr vert="horz" wrap="square" lIns="91440" tIns="45720" rIns="91440" bIns="45720" numCol="1" anchor="ctr" anchorCtr="0" compatLnSpc="1"/>
          <a:lstStyle/>
          <a:p>
            <a:pPr lvl="0"/>
            <a:r>
              <a:rPr lang="en-US"/>
              <a:t>Click to edit Master title style</a:t>
            </a:r>
            <a:endParaRPr lang="en-US"/>
          </a:p>
        </p:txBody>
      </p:sp>
      <p:sp>
        <p:nvSpPr>
          <p:cNvPr id="10243" name="Rectangle 3"/>
          <p:cNvSpPr>
            <a:spLocks noGrp="1" noChangeArrowheads="1"/>
          </p:cNvSpPr>
          <p:nvPr>
            <p:ph type="body" idx="1"/>
          </p:nvPr>
        </p:nvSpPr>
        <p:spPr bwMode="auto">
          <a:xfrm>
            <a:off x="609600" y="1600201"/>
            <a:ext cx="10972800" cy="4525963"/>
          </a:xfrm>
          <a:prstGeom prst="rect">
            <a:avLst/>
          </a:prstGeom>
          <a:noFill/>
          <a:ln w="9525">
            <a:noFill/>
            <a:miter lim="800000"/>
          </a:ln>
          <a:effectLst/>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graphicFrame>
        <p:nvGraphicFramePr>
          <p:cNvPr id="10244" name="Object 4"/>
          <p:cNvGraphicFramePr>
            <a:graphicFrameLocks noChangeAspect="1"/>
          </p:cNvGraphicFramePr>
          <p:nvPr/>
        </p:nvGraphicFramePr>
        <p:xfrm>
          <a:off x="0" y="6117455"/>
          <a:ext cx="12191999" cy="788671"/>
        </p:xfrm>
        <a:graphic>
          <a:graphicData uri="http://schemas.openxmlformats.org/presentationml/2006/ole">
            <mc:AlternateContent xmlns:mc="http://schemas.openxmlformats.org/markup-compatibility/2006">
              <mc:Choice xmlns:v="urn:schemas-microsoft-com:vml" Requires="v">
                <p:oleObj spid="_x0000_s2" name="CorelDRAW" r:id="rId15" imgW="9529445" imgH="654685" progId="">
                  <p:embed/>
                </p:oleObj>
              </mc:Choice>
              <mc:Fallback>
                <p:oleObj name="CorelDRAW" r:id="rId15" imgW="9529445" imgH="654685" progId="">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6117455"/>
                        <a:ext cx="12191999" cy="788671"/>
                      </a:xfrm>
                      <a:prstGeom prst="rect">
                        <a:avLst/>
                      </a:prstGeom>
                      <a:noFill/>
                      <a:ln>
                        <a:noFill/>
                      </a:ln>
                    </p:spPr>
                  </p:pic>
                </p:oleObj>
              </mc:Fallback>
            </mc:AlternateContent>
          </a:graphicData>
        </a:graphic>
      </p:graphicFrame>
      <p:sp>
        <p:nvSpPr>
          <p:cNvPr id="10245" name="Rectangle 5"/>
          <p:cNvSpPr>
            <a:spLocks noGrp="1" noChangeArrowheads="1"/>
          </p:cNvSpPr>
          <p:nvPr>
            <p:ph type="sldNum" sz="quarter" idx="4"/>
          </p:nvPr>
        </p:nvSpPr>
        <p:spPr bwMode="auto">
          <a:xfrm>
            <a:off x="0" y="6126164"/>
            <a:ext cx="12192000" cy="476250"/>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fld id="{8AFEF79D-0508-431A-9382-43A6F8BABA35}"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fade/>
  </p:transition>
  <p:hf hdr="0" ftr="0" dt="0"/>
  <p:txStyles>
    <p:titleStyle>
      <a:lvl1pPr algn="ctr" rtl="0" fontAlgn="base">
        <a:spcBef>
          <a:spcPct val="0"/>
        </a:spcBef>
        <a:spcAft>
          <a:spcPct val="0"/>
        </a:spcAft>
        <a:defRPr sz="40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804030504040204" pitchFamily="34" charset="0"/>
        </a:defRPr>
      </a:lvl2pPr>
      <a:lvl3pPr algn="ctr" rtl="0" fontAlgn="base">
        <a:spcBef>
          <a:spcPct val="0"/>
        </a:spcBef>
        <a:spcAft>
          <a:spcPct val="0"/>
        </a:spcAft>
        <a:defRPr sz="4000">
          <a:solidFill>
            <a:schemeClr val="tx2"/>
          </a:solidFill>
          <a:latin typeface="Verdana" panose="020B0804030504040204" pitchFamily="34" charset="0"/>
        </a:defRPr>
      </a:lvl3pPr>
      <a:lvl4pPr algn="ctr" rtl="0" fontAlgn="base">
        <a:spcBef>
          <a:spcPct val="0"/>
        </a:spcBef>
        <a:spcAft>
          <a:spcPct val="0"/>
        </a:spcAft>
        <a:defRPr sz="4000">
          <a:solidFill>
            <a:schemeClr val="tx2"/>
          </a:solidFill>
          <a:latin typeface="Verdana" panose="020B0804030504040204" pitchFamily="34" charset="0"/>
        </a:defRPr>
      </a:lvl4pPr>
      <a:lvl5pPr algn="ctr" rtl="0" fontAlgn="base">
        <a:spcBef>
          <a:spcPct val="0"/>
        </a:spcBef>
        <a:spcAft>
          <a:spcPct val="0"/>
        </a:spcAft>
        <a:defRPr sz="4000">
          <a:solidFill>
            <a:schemeClr val="tx2"/>
          </a:solidFill>
          <a:latin typeface="Verdana" panose="020B0804030504040204" pitchFamily="34" charset="0"/>
        </a:defRPr>
      </a:lvl5pPr>
      <a:lvl6pPr marL="457200" algn="ctr" rtl="0" fontAlgn="base">
        <a:spcBef>
          <a:spcPct val="0"/>
        </a:spcBef>
        <a:spcAft>
          <a:spcPct val="0"/>
        </a:spcAft>
        <a:defRPr sz="4000">
          <a:solidFill>
            <a:schemeClr val="tx2"/>
          </a:solidFill>
          <a:latin typeface="Verdana" panose="020B0804030504040204" pitchFamily="34" charset="0"/>
        </a:defRPr>
      </a:lvl6pPr>
      <a:lvl7pPr marL="914400" algn="ctr" rtl="0" fontAlgn="base">
        <a:spcBef>
          <a:spcPct val="0"/>
        </a:spcBef>
        <a:spcAft>
          <a:spcPct val="0"/>
        </a:spcAft>
        <a:defRPr sz="4000">
          <a:solidFill>
            <a:schemeClr val="tx2"/>
          </a:solidFill>
          <a:latin typeface="Verdana" panose="020B0804030504040204" pitchFamily="34" charset="0"/>
        </a:defRPr>
      </a:lvl7pPr>
      <a:lvl8pPr marL="1371600" algn="ctr" rtl="0" fontAlgn="base">
        <a:spcBef>
          <a:spcPct val="0"/>
        </a:spcBef>
        <a:spcAft>
          <a:spcPct val="0"/>
        </a:spcAft>
        <a:defRPr sz="4000">
          <a:solidFill>
            <a:schemeClr val="tx2"/>
          </a:solidFill>
          <a:latin typeface="Verdana" panose="020B0804030504040204" pitchFamily="34" charset="0"/>
        </a:defRPr>
      </a:lvl8pPr>
      <a:lvl9pPr marL="1828800" algn="ctr" rtl="0" fontAlgn="base">
        <a:spcBef>
          <a:spcPct val="0"/>
        </a:spcBef>
        <a:spcAft>
          <a:spcPct val="0"/>
        </a:spcAft>
        <a:defRPr sz="4000">
          <a:solidFill>
            <a:schemeClr val="tx2"/>
          </a:solidFill>
          <a:latin typeface="Verdana" panose="020B0804030504040204"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1984248"/>
          </a:xfrm>
          <a:solidFill>
            <a:srgbClr val="0079BC"/>
          </a:solidFill>
          <a:ln>
            <a:noFill/>
          </a:ln>
        </p:spPr>
        <p:txBody>
          <a:bodyPr wrap="square" anchor="ctr">
            <a:noAutofit/>
          </a:bodyPr>
          <a:lstStyle/>
          <a:p>
            <a:pPr algn="ctr">
              <a:spcAft>
                <a:spcPts val="200"/>
              </a:spcAft>
              <a:buNone/>
            </a:pPr>
            <a:r>
              <a:rPr sz="3600" b="1" i="0">
                <a:solidFill>
                  <a:srgbClr val="FFFFFF"/>
                </a:solidFill>
                <a:latin typeface="Times New Roman" panose="02020503050405090304"/>
              </a:rPr>
              <a:t>SSN College of Engineering, Kalavakkam - 603110</a:t>
            </a:r>
            <a:endParaRPr sz="3600" b="1" i="0">
              <a:solidFill>
                <a:srgbClr val="FFFFFF"/>
              </a:solidFill>
              <a:latin typeface="Times New Roman" panose="02020503050405090304"/>
            </a:endParaRPr>
          </a:p>
          <a:p>
            <a:pPr algn="ctr">
              <a:spcAft>
                <a:spcPts val="0"/>
              </a:spcAft>
              <a:buNone/>
            </a:pPr>
            <a:r>
              <a:rPr sz="2800" b="1" i="0">
                <a:solidFill>
                  <a:srgbClr val="FFFFFF"/>
                </a:solidFill>
                <a:latin typeface="Times New Roman" panose="02020503050405090304"/>
              </a:rPr>
              <a:t>Department of Information Technology</a:t>
            </a:r>
            <a:endParaRPr sz="2800" b="1" i="0">
              <a:solidFill>
                <a:srgbClr val="FFFFFF"/>
              </a:solidFill>
              <a:latin typeface="Times New Roman" panose="02020503050405090304"/>
            </a:endParaRPr>
          </a:p>
        </p:txBody>
      </p:sp>
      <p:sp>
        <p:nvSpPr>
          <p:cNvPr id="3" name="TextBox 2"/>
          <p:cNvSpPr txBox="1"/>
          <p:nvPr/>
        </p:nvSpPr>
        <p:spPr>
          <a:xfrm>
            <a:off x="731520" y="2240280"/>
            <a:ext cx="10725912" cy="502920"/>
          </a:xfrm>
          <a:prstGeom prst="rect">
            <a:avLst/>
          </a:prstGeom>
          <a:noFill/>
        </p:spPr>
        <p:txBody>
          <a:bodyPr wrap="square" lIns="36576" tIns="18288" rIns="36576" bIns="18288" anchor="t">
            <a:noAutofit/>
          </a:bodyPr>
          <a:lstStyle/>
          <a:p>
            <a:pPr algn="ctr">
              <a:spcAft>
                <a:spcPts val="400"/>
              </a:spcAft>
              <a:buNone/>
            </a:pPr>
            <a:r>
              <a:rPr sz="2600" b="1" i="0">
                <a:solidFill>
                  <a:srgbClr val="0066CC"/>
                </a:solidFill>
                <a:latin typeface="Times New Roman" panose="02020503050405090304"/>
              </a:rPr>
              <a:t>UIT2739 - Full Stack Development Project</a:t>
            </a:r>
            <a:endParaRPr sz="2600" b="1" i="0">
              <a:solidFill>
                <a:srgbClr val="0066CC"/>
              </a:solidFill>
              <a:latin typeface="Times New Roman" panose="02020503050405090304"/>
            </a:endParaRPr>
          </a:p>
        </p:txBody>
      </p:sp>
      <p:sp>
        <p:nvSpPr>
          <p:cNvPr id="4" name="TextBox 3"/>
          <p:cNvSpPr txBox="1"/>
          <p:nvPr/>
        </p:nvSpPr>
        <p:spPr>
          <a:xfrm>
            <a:off x="731520" y="2852928"/>
            <a:ext cx="10725912" cy="731520"/>
          </a:xfrm>
          <a:prstGeom prst="rect">
            <a:avLst/>
          </a:prstGeom>
          <a:noFill/>
        </p:spPr>
        <p:txBody>
          <a:bodyPr wrap="square" lIns="36576" tIns="18288" rIns="36576" bIns="18288" anchor="t">
            <a:noAutofit/>
          </a:bodyPr>
          <a:lstStyle/>
          <a:p>
            <a:pPr algn="ctr">
              <a:spcAft>
                <a:spcPts val="400"/>
              </a:spcAft>
              <a:buNone/>
            </a:pPr>
            <a:r>
              <a:rPr sz="4400" b="1" i="0">
                <a:solidFill>
                  <a:srgbClr val="154360"/>
                </a:solidFill>
                <a:latin typeface="Times New Roman" panose="02020503050405090304"/>
              </a:rPr>
              <a:t>FinPilot AI</a:t>
            </a:r>
            <a:endParaRPr sz="4400" b="1" i="0">
              <a:solidFill>
                <a:srgbClr val="154360"/>
              </a:solidFill>
              <a:latin typeface="Times New Roman" panose="02020503050405090304"/>
            </a:endParaRPr>
          </a:p>
        </p:txBody>
      </p:sp>
      <p:sp>
        <p:nvSpPr>
          <p:cNvPr id="5" name="TextBox 4"/>
          <p:cNvSpPr txBox="1"/>
          <p:nvPr/>
        </p:nvSpPr>
        <p:spPr>
          <a:xfrm>
            <a:off x="731520" y="3584448"/>
            <a:ext cx="10725912" cy="502920"/>
          </a:xfrm>
          <a:prstGeom prst="rect">
            <a:avLst/>
          </a:prstGeom>
          <a:noFill/>
        </p:spPr>
        <p:txBody>
          <a:bodyPr wrap="square" lIns="36576" tIns="18288" rIns="36576" bIns="18288" anchor="t">
            <a:noAutofit/>
          </a:bodyPr>
          <a:lstStyle/>
          <a:p>
            <a:pPr algn="ctr">
              <a:spcAft>
                <a:spcPts val="400"/>
              </a:spcAft>
              <a:buNone/>
            </a:pPr>
            <a:r>
              <a:rPr sz="2400" b="0" i="0">
                <a:solidFill>
                  <a:srgbClr val="154360"/>
                </a:solidFill>
                <a:latin typeface="Times New Roman" panose="02020503050405090304"/>
              </a:rPr>
              <a:t>A Privacy-Focused Personal Finance Assistant</a:t>
            </a:r>
            <a:endParaRPr sz="2400" b="0" i="0">
              <a:solidFill>
                <a:srgbClr val="154360"/>
              </a:solidFill>
              <a:latin typeface="Times New Roman" panose="02020503050405090304"/>
            </a:endParaRPr>
          </a:p>
        </p:txBody>
      </p:sp>
      <p:sp>
        <p:nvSpPr>
          <p:cNvPr id="6" name="TextBox 5"/>
          <p:cNvSpPr txBox="1"/>
          <p:nvPr/>
        </p:nvSpPr>
        <p:spPr>
          <a:xfrm>
            <a:off x="1828800" y="4343400"/>
            <a:ext cx="8531352" cy="1143000"/>
          </a:xfrm>
          <a:prstGeom prst="rect">
            <a:avLst/>
          </a:prstGeom>
          <a:noFill/>
        </p:spPr>
        <p:txBody>
          <a:bodyPr wrap="square" lIns="36576" tIns="18288" rIns="36576" bIns="18288" anchor="t">
            <a:noAutofit/>
          </a:bodyPr>
          <a:lstStyle/>
          <a:p>
            <a:pPr algn="ctr">
              <a:spcAft>
                <a:spcPts val="200"/>
              </a:spcAft>
              <a:buNone/>
            </a:pPr>
            <a:r>
              <a:rPr sz="1800" b="1" i="0">
                <a:solidFill>
                  <a:srgbClr val="0066CC"/>
                </a:solidFill>
                <a:latin typeface="Times New Roman" panose="02020503050405090304"/>
              </a:rPr>
              <a:t>Jeya Sangavi R - 3122235002054</a:t>
            </a:r>
            <a:endParaRPr sz="1800" b="1" i="0">
              <a:solidFill>
                <a:srgbClr val="0066CC"/>
              </a:solidFill>
              <a:latin typeface="Times New Roman" panose="02020503050405090304"/>
            </a:endParaRPr>
          </a:p>
          <a:p>
            <a:pPr algn="ctr">
              <a:spcAft>
                <a:spcPts val="200"/>
              </a:spcAft>
              <a:buNone/>
            </a:pPr>
            <a:r>
              <a:rPr sz="1800" b="1" i="0">
                <a:solidFill>
                  <a:srgbClr val="0066CC"/>
                </a:solidFill>
                <a:latin typeface="Times New Roman" panose="02020503050405090304"/>
              </a:rPr>
              <a:t>Rahul Akshath Rajendran - 3122235002095</a:t>
            </a:r>
            <a:endParaRPr sz="1800" b="1" i="0">
              <a:solidFill>
                <a:srgbClr val="0066CC"/>
              </a:solidFill>
              <a:latin typeface="Times New Roman" panose="02020503050405090304"/>
            </a:endParaRPr>
          </a:p>
          <a:p>
            <a:pPr algn="ctr">
              <a:spcAft>
                <a:spcPts val="200"/>
              </a:spcAft>
              <a:buNone/>
            </a:pPr>
            <a:r>
              <a:rPr sz="1800" b="1" i="0">
                <a:solidFill>
                  <a:srgbClr val="0066CC"/>
                </a:solidFill>
                <a:latin typeface="Times New Roman" panose="02020503050405090304"/>
              </a:rPr>
              <a:t>Rakshitha S - 3122235002098</a:t>
            </a:r>
            <a:endParaRPr sz="1800" b="1" i="0">
              <a:solidFill>
                <a:srgbClr val="0066CC"/>
              </a:solidFill>
              <a:latin typeface="Times New Roman" panose="02020503050405090304"/>
            </a:endParaRPr>
          </a:p>
        </p:txBody>
      </p:sp>
      <p:sp>
        <p:nvSpPr>
          <p:cNvPr id="7" name="TextBox 6"/>
          <p:cNvSpPr txBox="1"/>
          <p:nvPr/>
        </p:nvSpPr>
        <p:spPr>
          <a:xfrm>
            <a:off x="1828800" y="5559552"/>
            <a:ext cx="8531352" cy="320040"/>
          </a:xfrm>
          <a:prstGeom prst="rect">
            <a:avLst/>
          </a:prstGeom>
          <a:noFill/>
        </p:spPr>
        <p:txBody>
          <a:bodyPr wrap="square" lIns="36576" tIns="18288" rIns="36576" bIns="18288" anchor="t">
            <a:noAutofit/>
          </a:bodyPr>
          <a:lstStyle/>
          <a:p>
            <a:pPr algn="ctr">
              <a:spcAft>
                <a:spcPts val="400"/>
              </a:spcAft>
              <a:buNone/>
            </a:pPr>
            <a:r>
              <a:rPr sz="1300" b="0" i="0">
                <a:solidFill>
                  <a:srgbClr val="5B6573"/>
                </a:solidFill>
                <a:latin typeface="Arial" panose="020B0604020202090204"/>
              </a:rPr>
              <a:t>Project Evaluation - October 2026</a:t>
            </a:r>
            <a:endParaRPr sz="1300" b="0" i="0">
              <a:solidFill>
                <a:srgbClr val="5B6573"/>
              </a:solidFill>
              <a:latin typeface="Arial" panose="020B0604020202090204"/>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Project Overview</a:t>
            </a:r>
            <a:endParaRPr sz="3000" b="1" i="0">
              <a:solidFill>
                <a:srgbClr val="FFFFFF"/>
              </a:solidFill>
              <a:latin typeface="Times New Roman" panose="02020503050405090304"/>
            </a:endParaRPr>
          </a:p>
        </p:txBody>
      </p:sp>
      <p:sp>
        <p:nvSpPr>
          <p:cNvPr id="3" name="TextBox 2"/>
          <p:cNvSpPr txBox="1"/>
          <p:nvPr/>
        </p:nvSpPr>
        <p:spPr>
          <a:xfrm>
            <a:off x="548640" y="1188720"/>
            <a:ext cx="11091672" cy="868680"/>
          </a:xfrm>
          <a:prstGeom prst="rect">
            <a:avLst/>
          </a:prstGeom>
          <a:noFill/>
        </p:spPr>
        <p:txBody>
          <a:bodyPr wrap="square" lIns="45720" tIns="27432" rIns="45720" bIns="27432" anchor="t">
            <a:noAutofit/>
          </a:bodyPr>
          <a:lstStyle/>
          <a:p>
            <a:pPr algn="l">
              <a:spcBef>
                <a:spcPts val="0"/>
              </a:spcBef>
              <a:buNone/>
            </a:pPr>
            <a:r>
              <a:rPr sz="1700" b="0" i="0">
                <a:solidFill>
                  <a:srgbClr val="000000"/>
                </a:solidFill>
                <a:latin typeface="Arial" panose="020B0604020202090204"/>
              </a:rPr>
              <a:t>FinPilot AI is a personal finance app for India: an Android app and a server on the user's laptop. It reads the bank SMS and e-mails a user already receives (only from sources they allow) to track spending, predict the balance and check what they can afford.</a:t>
            </a:r>
            <a:endParaRPr sz="1700" b="0" i="0">
              <a:solidFill>
                <a:srgbClr val="000000"/>
              </a:solidFill>
              <a:latin typeface="Arial" panose="020B0604020202090204"/>
            </a:endParaRPr>
          </a:p>
        </p:txBody>
      </p:sp>
      <p:graphicFrame>
        <p:nvGraphicFramePr>
          <p:cNvPr id="4" name="Table 3"/>
          <p:cNvGraphicFramePr>
            <a:graphicFrameLocks noGrp="1"/>
          </p:cNvGraphicFramePr>
          <p:nvPr/>
        </p:nvGraphicFramePr>
        <p:xfrm>
          <a:off x="548640" y="2095500"/>
          <a:ext cx="11091545" cy="2230120"/>
        </p:xfrm>
        <a:graphic>
          <a:graphicData uri="http://schemas.openxmlformats.org/drawingml/2006/table">
            <a:tbl>
              <a:tblPr firstRow="1">
                <a:tableStyleId>{5940675A-B579-460E-94D1-54222C63F5DA}</a:tableStyleId>
              </a:tblPr>
              <a:tblGrid>
                <a:gridCol w="2773045"/>
                <a:gridCol w="2773045"/>
                <a:gridCol w="2772410"/>
                <a:gridCol w="2773045"/>
              </a:tblGrid>
              <a:tr h="302260">
                <a:tc>
                  <a:txBody>
                    <a:bodyPr wrap="square"/>
                    <a:lstStyle/>
                    <a:p>
                      <a:pPr algn="l">
                        <a:spcBef>
                          <a:spcPts val="0"/>
                        </a:spcBef>
                        <a:buNone/>
                      </a:pPr>
                      <a:r>
                        <a:rPr sz="1500"/>
                        <a:t>Capture</a:t>
                      </a:r>
                      <a:endParaRPr sz="1500"/>
                    </a:p>
                  </a:txBody>
                  <a:tcPr marL="73152" marR="73152" marT="36576" marB="36576" anchor="t"/>
                </a:tc>
                <a:tc>
                  <a:txBody>
                    <a:bodyPr wrap="square"/>
                    <a:lstStyle/>
                    <a:p>
                      <a:pPr algn="l">
                        <a:spcBef>
                          <a:spcPts val="0"/>
                        </a:spcBef>
                        <a:buNone/>
                      </a:pPr>
                      <a:r>
                        <a:rPr sz="1500"/>
                        <a:t>Understand</a:t>
                      </a:r>
                      <a:endParaRPr sz="1500"/>
                    </a:p>
                  </a:txBody>
                  <a:tcPr marL="73152" marR="73152" marT="36576" marB="36576" anchor="t"/>
                </a:tc>
                <a:tc>
                  <a:txBody>
                    <a:bodyPr wrap="square"/>
                    <a:lstStyle/>
                    <a:p>
                      <a:pPr algn="l">
                        <a:spcBef>
                          <a:spcPts val="0"/>
                        </a:spcBef>
                        <a:buNone/>
                      </a:pPr>
                      <a:r>
                        <a:rPr sz="1500"/>
                        <a:t>Predict</a:t>
                      </a:r>
                      <a:endParaRPr sz="1500"/>
                    </a:p>
                  </a:txBody>
                  <a:tcPr marL="73152" marR="73152" marT="36576" marB="36576" anchor="t"/>
                </a:tc>
                <a:tc>
                  <a:txBody>
                    <a:bodyPr wrap="square"/>
                    <a:lstStyle/>
                    <a:p>
                      <a:pPr algn="l">
                        <a:spcBef>
                          <a:spcPts val="0"/>
                        </a:spcBef>
                        <a:buNone/>
                      </a:pPr>
                      <a:r>
                        <a:rPr sz="1500"/>
                        <a:t>Act</a:t>
                      </a:r>
                      <a:endParaRPr sz="1500"/>
                    </a:p>
                  </a:txBody>
                  <a:tcPr marL="73152" marR="73152" marT="36576" marB="36576" anchor="t"/>
                </a:tc>
              </a:tr>
              <a:tr h="1927860">
                <a:tc>
                  <a:txBody>
                    <a:bodyPr wrap="square"/>
                    <a:lstStyle/>
                    <a:p>
                      <a:pPr marL="274320" indent="-274320" algn="l">
                        <a:spcBef>
                          <a:spcPts val="200"/>
                        </a:spcBef>
                        <a:buFont typeface="Arial" panose="020B0604020202090204"/>
                        <a:buChar char="•"/>
                      </a:pPr>
                      <a:r>
                        <a:rPr sz="1500"/>
                        <a:t>Bank SMS (on the phone) and e-mail, separate consent for each</a:t>
                      </a:r>
                      <a:endParaRPr sz="1500"/>
                    </a:p>
                    <a:p>
                      <a:pPr marL="274320" indent="-274320" algn="l">
                        <a:spcBef>
                          <a:spcPts val="200"/>
                        </a:spcBef>
                        <a:buFont typeface="Arial" panose="020B0604020202090204"/>
                        <a:buChar char="•"/>
                      </a:pPr>
                      <a:r>
                        <a:rPr sz="1500"/>
                        <a:t>Optional: receipt photos, PDF bills, CSV/XLSX statements, manual entry</a:t>
                      </a:r>
                      <a:endParaRPr sz="1500"/>
                    </a:p>
                  </a:txBody>
                  <a:tcPr marL="73152" marR="73152" marT="36576" marB="36576" anchor="t"/>
                </a:tc>
                <a:tc>
                  <a:txBody>
                    <a:bodyPr wrap="square"/>
                    <a:lstStyle/>
                    <a:p>
                      <a:pPr marL="274320" indent="-274320" algn="l">
                        <a:spcBef>
                          <a:spcPts val="200"/>
                        </a:spcBef>
                        <a:buFont typeface="Arial" panose="020B0604020202090204"/>
                        <a:buChar char="•"/>
                      </a:pPr>
                      <a:r>
                        <a:rPr sz="1500"/>
                        <a:t>Classify, extract and de-duplicate messages</a:t>
                      </a:r>
                      <a:endParaRPr sz="1500"/>
                    </a:p>
                    <a:p>
                      <a:pPr marL="274320" indent="-274320" algn="l">
                        <a:spcBef>
                          <a:spcPts val="200"/>
                        </a:spcBef>
                        <a:buFont typeface="Arial" panose="020B0604020202090204"/>
                        <a:buChar char="•"/>
                      </a:pPr>
                      <a:r>
                        <a:rPr sz="1500"/>
                        <a:t>Categorise payments and flag unusual ones</a:t>
                      </a:r>
                      <a:endParaRPr sz="1500"/>
                    </a:p>
                  </a:txBody>
                  <a:tcPr marL="73152" marR="73152" marT="36576" marB="36576" anchor="t"/>
                </a:tc>
                <a:tc>
                  <a:txBody>
                    <a:bodyPr wrap="square"/>
                    <a:lstStyle/>
                    <a:p>
                      <a:pPr marL="274320" indent="-274320" algn="l">
                        <a:spcBef>
                          <a:spcPts val="200"/>
                        </a:spcBef>
                        <a:buFont typeface="Arial" panose="020B0604020202090204"/>
                        <a:buChar char="•"/>
                      </a:pPr>
                      <a:r>
                        <a:rPr sz="1500"/>
                        <a:t>90-day cash-flow forecast with an 80% range</a:t>
                      </a:r>
                      <a:endParaRPr sz="1500"/>
                    </a:p>
                    <a:p>
                      <a:pPr marL="274320" indent="-274320" algn="l">
                        <a:spcBef>
                          <a:spcPts val="200"/>
                        </a:spcBef>
                        <a:buFont typeface="Arial" panose="020B0604020202090204"/>
                        <a:buChar char="•"/>
                      </a:pPr>
                      <a:r>
                        <a:rPr sz="1500"/>
                        <a:t>Subscription analysis and income tax for two years</a:t>
                      </a:r>
                      <a:endParaRPr sz="1500"/>
                    </a:p>
                  </a:txBody>
                  <a:tcPr marL="73152" marR="73152" marT="36576" marB="36576" anchor="t"/>
                </a:tc>
                <a:tc>
                  <a:txBody>
                    <a:bodyPr wrap="square"/>
                    <a:lstStyle/>
                    <a:p>
                      <a:pPr marL="274320" indent="-274320" algn="l">
                        <a:spcBef>
                          <a:spcPts val="200"/>
                        </a:spcBef>
                        <a:buFont typeface="Arial" panose="020B0604020202090204"/>
                        <a:buChar char="•"/>
                      </a:pPr>
                      <a:r>
                        <a:rPr sz="1500"/>
                        <a:t>Ranked insights and a finance coach</a:t>
                      </a:r>
                      <a:endParaRPr sz="1500"/>
                    </a:p>
                    <a:p>
                      <a:pPr marL="274320" indent="-274320" algn="l">
                        <a:spcBef>
                          <a:spcPts val="200"/>
                        </a:spcBef>
                        <a:buFont typeface="Arial" panose="020B0604020202090204"/>
                        <a:buChar char="•"/>
                      </a:pPr>
                      <a:r>
                        <a:rPr sz="1500"/>
                        <a:t>Budgets, goals and a wishlist within budget</a:t>
                      </a:r>
                      <a:endParaRPr sz="1500"/>
                    </a:p>
                  </a:txBody>
                  <a:tcPr marL="73152" marR="73152" marT="36576" marB="36576" anchor="t"/>
                </a:tc>
              </a:tr>
            </a:tbl>
          </a:graphicData>
        </a:graphic>
      </p:graphicFrame>
      <p:sp>
        <p:nvSpPr>
          <p:cNvPr id="5" name="TextBox 4"/>
          <p:cNvSpPr txBox="1"/>
          <p:nvPr/>
        </p:nvSpPr>
        <p:spPr>
          <a:xfrm>
            <a:off x="548640" y="4508500"/>
            <a:ext cx="548640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Key points</a:t>
            </a:r>
            <a:endParaRPr sz="1700" b="1" i="0">
              <a:solidFill>
                <a:srgbClr val="002060"/>
              </a:solidFill>
              <a:latin typeface="Arial" panose="020B0604020202090204"/>
            </a:endParaRPr>
          </a:p>
        </p:txBody>
      </p:sp>
      <p:sp>
        <p:nvSpPr>
          <p:cNvPr id="6" name="TextBox 5"/>
          <p:cNvSpPr txBox="1"/>
          <p:nvPr/>
        </p:nvSpPr>
        <p:spPr>
          <a:xfrm>
            <a:off x="548640" y="4874260"/>
            <a:ext cx="11091672" cy="1188720"/>
          </a:xfrm>
          <a:prstGeom prst="rect">
            <a:avLst/>
          </a:prstGeom>
          <a:noFill/>
        </p:spPr>
        <p:txBody>
          <a:bodyPr wrap="square" lIns="45720" tIns="27432" rIns="45720" bIns="27432" anchor="t">
            <a:noAutofit/>
          </a:bodyPr>
          <a:lstStyle/>
          <a:p>
            <a:pPr marL="274320" indent="-274320" algn="l">
              <a:spcBef>
                <a:spcPts val="300"/>
              </a:spcBef>
              <a:buFont typeface="Arial" panose="020B0604020202090204"/>
              <a:buChar char="•"/>
            </a:pPr>
            <a:r>
              <a:rPr sz="1600" b="0" i="0">
                <a:solidFill>
                  <a:srgbClr val="000000"/>
                </a:solidFill>
                <a:latin typeface="Arial" panose="020B0604020202090204"/>
              </a:rPr>
              <a:t>The server runs with one command (python3 run.py); the phone pairs by QR code</a:t>
            </a:r>
            <a:endParaRPr sz="1600" b="0" i="0">
              <a:solidFill>
                <a:srgbClr val="000000"/>
              </a:solidFill>
              <a:latin typeface="Arial" panose="020B0604020202090204"/>
            </a:endParaRPr>
          </a:p>
          <a:p>
            <a:pPr marL="274320" indent="-274320" algn="l">
              <a:spcBef>
                <a:spcPts val="300"/>
              </a:spcBef>
              <a:buFont typeface="Arial" panose="020B0604020202090204"/>
              <a:buChar char="•"/>
            </a:pPr>
            <a:r>
              <a:rPr sz="1600" b="0" i="0">
                <a:solidFill>
                  <a:srgbClr val="000000"/>
                </a:solidFill>
                <a:latin typeface="Arial" panose="020B0604020202090204"/>
              </a:rPr>
              <a:t>Data stays on the user's laptop; no cloud service</a:t>
            </a:r>
            <a:endParaRPr sz="1600" b="0" i="0">
              <a:solidFill>
                <a:srgbClr val="000000"/>
              </a:solidFill>
              <a:latin typeface="Arial" panose="020B0604020202090204"/>
            </a:endParaRPr>
          </a:p>
          <a:p>
            <a:pPr marL="274320" indent="-274320" algn="l">
              <a:spcBef>
                <a:spcPts val="300"/>
              </a:spcBef>
              <a:buFont typeface="Arial" panose="020B0604020202090204"/>
              <a:buChar char="•"/>
            </a:pPr>
            <a:r>
              <a:rPr sz="1600" b="0" i="0">
                <a:solidFill>
                  <a:srgbClr val="000000"/>
                </a:solidFill>
                <a:latin typeface="Arial" panose="020B0604020202090204"/>
              </a:rPr>
              <a:t>No running cost: no paid AI services and no bank login needed</a:t>
            </a:r>
            <a:endParaRPr sz="1600" b="0" i="0">
              <a:solidFill>
                <a:srgbClr val="000000"/>
              </a:solidFill>
              <a:latin typeface="Arial" panose="020B0604020202090204"/>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Problem Statement and Motivation</a:t>
            </a:r>
            <a:endParaRPr sz="3000" b="1" i="0">
              <a:solidFill>
                <a:srgbClr val="FFFFFF"/>
              </a:solidFill>
              <a:latin typeface="Times New Roman" panose="02020503050405090304"/>
            </a:endParaRPr>
          </a:p>
        </p:txBody>
      </p:sp>
      <p:sp>
        <p:nvSpPr>
          <p:cNvPr id="3" name="TextBox 2"/>
          <p:cNvSpPr txBox="1"/>
          <p:nvPr/>
        </p:nvSpPr>
        <p:spPr>
          <a:xfrm>
            <a:off x="54864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Problem Statement</a:t>
            </a:r>
            <a:endParaRPr sz="1800" b="1" i="0">
              <a:solidFill>
                <a:srgbClr val="002060"/>
              </a:solidFill>
              <a:latin typeface="Arial" panose="020B0604020202090204"/>
            </a:endParaRPr>
          </a:p>
        </p:txBody>
      </p:sp>
      <p:sp>
        <p:nvSpPr>
          <p:cNvPr id="4" name="TextBox 3"/>
          <p:cNvSpPr txBox="1"/>
          <p:nvPr/>
        </p:nvSpPr>
        <p:spPr>
          <a:xfrm>
            <a:off x="548640" y="1572768"/>
            <a:ext cx="5257800" cy="3566160"/>
          </a:xfrm>
          <a:prstGeom prst="rect">
            <a:avLst/>
          </a:prstGeom>
          <a:noFill/>
        </p:spPr>
        <p:txBody>
          <a:bodyPr wrap="square" lIns="45720" tIns="27432" rIns="45720" bIns="27432" anchor="t">
            <a:noAutofit/>
          </a:bodyPr>
          <a:lstStyle/>
          <a:p>
            <a:pPr algn="l">
              <a:spcBef>
                <a:spcPts val="600"/>
              </a:spcBef>
              <a:buNone/>
            </a:pPr>
            <a:r>
              <a:rPr sz="1600" b="0" i="0">
                <a:solidFill>
                  <a:srgbClr val="000000"/>
                </a:solidFill>
                <a:latin typeface="Arial" panose="020B0604020202090204"/>
              </a:rPr>
              <a:t>Every UPI payment, card swipe, bill and salary credit already reaches the user as a bank SMS or e-mail, but this information stays scattered.</a:t>
            </a:r>
            <a:endParaRPr sz="1600" b="0" i="0">
              <a:solidFill>
                <a:srgbClr val="000000"/>
              </a:solidFill>
              <a:latin typeface="Arial" panose="020B0604020202090204"/>
            </a:endParaRPr>
          </a:p>
          <a:p>
            <a:pPr algn="l">
              <a:spcBef>
                <a:spcPts val="1000"/>
              </a:spcBef>
              <a:buNone/>
            </a:pPr>
            <a:r>
              <a:rPr sz="1600" b="0" i="0">
                <a:solidFill>
                  <a:srgbClr val="000000"/>
                </a:solidFill>
                <a:latin typeface="Arial" panose="020B0604020202090204"/>
              </a:rPr>
              <a:t>Existing apps make people type in transactions, ask for bank login details, or send personal data to paid cloud AI services. They also only show past spending.</a:t>
            </a:r>
            <a:endParaRPr sz="1600" b="0" i="0">
              <a:solidFill>
                <a:srgbClr val="000000"/>
              </a:solidFill>
              <a:latin typeface="Arial" panose="020B0604020202090204"/>
            </a:endParaRPr>
          </a:p>
          <a:p>
            <a:pPr algn="l">
              <a:spcBef>
                <a:spcPts val="1000"/>
              </a:spcBef>
              <a:buNone/>
            </a:pPr>
            <a:r>
              <a:rPr sz="1600" b="0" i="0">
                <a:solidFill>
                  <a:srgbClr val="000000"/>
                </a:solidFill>
                <a:latin typeface="Arial" panose="020B0604020202090204"/>
              </a:rPr>
              <a:t>We want to build a reliable, forward-looking view of a person's money from the messages they already receive, using only the sources they allow, running on their own computer at no cost.</a:t>
            </a:r>
            <a:endParaRPr sz="1600" b="0" i="0">
              <a:solidFill>
                <a:srgbClr val="000000"/>
              </a:solidFill>
              <a:latin typeface="Arial" panose="020B0604020202090204"/>
            </a:endParaRPr>
          </a:p>
        </p:txBody>
      </p:sp>
      <p:sp>
        <p:nvSpPr>
          <p:cNvPr id="5" name="TextBox 4"/>
          <p:cNvSpPr txBox="1"/>
          <p:nvPr/>
        </p:nvSpPr>
        <p:spPr>
          <a:xfrm>
            <a:off x="617220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Issues with Current Apps</a:t>
            </a:r>
            <a:endParaRPr sz="1800" b="1" i="0">
              <a:solidFill>
                <a:srgbClr val="002060"/>
              </a:solidFill>
              <a:latin typeface="Arial" panose="020B0604020202090204"/>
            </a:endParaRPr>
          </a:p>
        </p:txBody>
      </p:sp>
      <p:sp>
        <p:nvSpPr>
          <p:cNvPr id="6" name="TextBox 5"/>
          <p:cNvSpPr txBox="1"/>
          <p:nvPr/>
        </p:nvSpPr>
        <p:spPr>
          <a:xfrm>
            <a:off x="6172200" y="1572768"/>
            <a:ext cx="5468112" cy="3566160"/>
          </a:xfrm>
          <a:prstGeom prst="rect">
            <a:avLst/>
          </a:prstGeom>
          <a:noFill/>
        </p:spPr>
        <p:txBody>
          <a:bodyPr wrap="square" lIns="45720" tIns="27432" rIns="45720" bIns="27432" anchor="t">
            <a:noAutofit/>
          </a:bodyPr>
          <a:lstStyle/>
          <a:p>
            <a:pPr marL="274320" indent="-274320" algn="l">
              <a:spcBef>
                <a:spcPts val="600"/>
              </a:spcBef>
              <a:buFont typeface="Arial" panose="020B0604020202090204"/>
              <a:buChar char="•"/>
            </a:pPr>
            <a:r>
              <a:rPr sz="1600" b="1" i="0">
                <a:solidFill>
                  <a:srgbClr val="000000"/>
                </a:solidFill>
                <a:latin typeface="Arial" panose="020B0604020202090204"/>
              </a:rPr>
              <a:t>Manual entry: </a:t>
            </a:r>
            <a:r>
              <a:rPr sz="1600" b="0" i="0">
                <a:solidFill>
                  <a:srgbClr val="000000"/>
                </a:solidFill>
                <a:latin typeface="Arial" panose="020B0604020202090204"/>
              </a:rPr>
              <a:t>typing every payment is tedious, so people give up; cash and paper receipts get lost</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1" i="0">
                <a:solidFill>
                  <a:srgbClr val="000000"/>
                </a:solidFill>
                <a:latin typeface="Arial" panose="020B0604020202090204"/>
              </a:rPr>
              <a:t>Only past data: </a:t>
            </a:r>
            <a:r>
              <a:rPr sz="1600" b="0" i="0">
                <a:solidFill>
                  <a:srgbClr val="000000"/>
                </a:solidFill>
                <a:latin typeface="Arial" panose="020B0604020202090204"/>
              </a:rPr>
              <a:t>apps show what was spent, not what the balance will be at the end of the month</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1" i="0">
                <a:solidFill>
                  <a:srgbClr val="000000"/>
                </a:solidFill>
                <a:latin typeface="Arial" panose="020B0604020202090204"/>
              </a:rPr>
              <a:t>Hidden leakage: </a:t>
            </a:r>
            <a:r>
              <a:rPr sz="1600" b="0" i="0">
                <a:solidFill>
                  <a:srgbClr val="000000"/>
                </a:solidFill>
                <a:latin typeface="Arial" panose="020B0604020202090204"/>
              </a:rPr>
              <a:t>price rises, unused subscriptions and duplicate charges get lost in normal spending</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1" i="0">
                <a:solidFill>
                  <a:srgbClr val="000000"/>
                </a:solidFill>
                <a:latin typeface="Arial" panose="020B0604020202090204"/>
              </a:rPr>
              <a:t>Privacy and cost: </a:t>
            </a:r>
            <a:r>
              <a:rPr sz="1600" b="0" i="0">
                <a:solidFill>
                  <a:srgbClr val="000000"/>
                </a:solidFill>
                <a:latin typeface="Arial" panose="020B0604020202090204"/>
              </a:rPr>
              <a:t>aggregator apps need bank credentials and AI features need paid cloud services</a:t>
            </a:r>
            <a:endParaRPr sz="1600" b="0" i="0">
              <a:solidFill>
                <a:srgbClr val="000000"/>
              </a:solidFill>
              <a:latin typeface="Arial" panose="020B0604020202090204"/>
            </a:endParaRPr>
          </a:p>
        </p:txBody>
      </p:sp>
      <p:sp>
        <p:nvSpPr>
          <p:cNvPr id="7" name="TextBox 6"/>
          <p:cNvSpPr txBox="1"/>
          <p:nvPr/>
        </p:nvSpPr>
        <p:spPr>
          <a:xfrm>
            <a:off x="548640" y="5029200"/>
            <a:ext cx="11091672" cy="548640"/>
          </a:xfrm>
          <a:prstGeom prst="rect">
            <a:avLst/>
          </a:prstGeom>
          <a:noFill/>
        </p:spPr>
        <p:txBody>
          <a:bodyPr wrap="square" lIns="45720" tIns="27432" rIns="45720" bIns="27432" anchor="t">
            <a:noAutofit/>
          </a:bodyPr>
          <a:lstStyle/>
          <a:p>
            <a:pPr algn="l">
              <a:spcBef>
                <a:spcPts val="600"/>
              </a:spcBef>
              <a:buNone/>
            </a:pPr>
            <a:r>
              <a:rPr sz="1600" b="1" i="0">
                <a:solidFill>
                  <a:srgbClr val="000000"/>
                </a:solidFill>
                <a:latin typeface="Arial" panose="020B0604020202090204"/>
              </a:rPr>
              <a:t>Motivation: </a:t>
            </a:r>
            <a:r>
              <a:rPr sz="1600" b="0" i="0">
                <a:solidFill>
                  <a:srgbClr val="000000"/>
                </a:solidFill>
                <a:latin typeface="Arial" panose="020B0604020202090204"/>
              </a:rPr>
              <a:t>make money management automatic, private and forward-looking, without extra data entry or new privacy risks.</a:t>
            </a:r>
            <a:endParaRPr sz="1600" b="0" i="0">
              <a:solidFill>
                <a:srgbClr val="000000"/>
              </a:solidFill>
              <a:latin typeface="Arial" panose="020B0604020202090204"/>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Objectives and Scope</a:t>
            </a:r>
            <a:endParaRPr sz="3000" b="1" i="0">
              <a:solidFill>
                <a:srgbClr val="FFFFFF"/>
              </a:solidFill>
              <a:latin typeface="Times New Roman" panose="02020503050405090304"/>
            </a:endParaRPr>
          </a:p>
        </p:txBody>
      </p:sp>
      <p:sp>
        <p:nvSpPr>
          <p:cNvPr id="3" name="TextBox 2"/>
          <p:cNvSpPr txBox="1"/>
          <p:nvPr/>
        </p:nvSpPr>
        <p:spPr>
          <a:xfrm>
            <a:off x="54864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Objectives</a:t>
            </a:r>
            <a:endParaRPr sz="1800" b="1" i="0">
              <a:solidFill>
                <a:srgbClr val="002060"/>
              </a:solidFill>
              <a:latin typeface="Arial" panose="020B0604020202090204"/>
            </a:endParaRPr>
          </a:p>
        </p:txBody>
      </p:sp>
      <p:sp>
        <p:nvSpPr>
          <p:cNvPr id="4" name="TextBox 3"/>
          <p:cNvSpPr txBox="1"/>
          <p:nvPr/>
        </p:nvSpPr>
        <p:spPr>
          <a:xfrm>
            <a:off x="548640" y="1572768"/>
            <a:ext cx="5394960" cy="4389120"/>
          </a:xfrm>
          <a:prstGeom prst="rect">
            <a:avLst/>
          </a:prstGeom>
          <a:noFill/>
        </p:spPr>
        <p:txBody>
          <a:bodyPr wrap="square" lIns="45720" tIns="27432" rIns="45720" bIns="27432" anchor="t">
            <a:noAutofit/>
          </a:bodyPr>
          <a:lstStyle/>
          <a:p>
            <a:pPr marL="274320" indent="-274320" algn="l">
              <a:spcBef>
                <a:spcPts val="700"/>
              </a:spcBef>
              <a:buFont typeface="Arial" panose="020B0604020202090204"/>
              <a:buAutoNum type="arabicPeriod"/>
            </a:pPr>
            <a:r>
              <a:rPr sz="1500" b="0" i="0">
                <a:solidFill>
                  <a:srgbClr val="000000"/>
                </a:solidFill>
                <a:latin typeface="Arial" panose="020B0604020202090204"/>
              </a:rPr>
              <a:t>Capture transactions from bank SMS (read on the phone) and e-mail with the user's consent (no bank login), plus uploads</a:t>
            </a:r>
            <a:endParaRPr sz="1500" b="0" i="0">
              <a:solidFill>
                <a:srgbClr val="000000"/>
              </a:solidFill>
              <a:latin typeface="Arial" panose="020B0604020202090204"/>
            </a:endParaRPr>
          </a:p>
          <a:p>
            <a:pPr marL="274320" indent="-274320" algn="l">
              <a:spcBef>
                <a:spcPts val="700"/>
              </a:spcBef>
              <a:buFont typeface="Arial" panose="020B0604020202090204"/>
              <a:buAutoNum type="arabicPeriod"/>
            </a:pPr>
            <a:r>
              <a:rPr sz="1500" b="0" i="0">
                <a:solidFill>
                  <a:srgbClr val="000000"/>
                </a:solidFill>
                <a:latin typeface="Arial" panose="020B0604020202090204"/>
              </a:rPr>
              <a:t>Understand spending reliably: classify, extract, de-duplicate, categorise and flag anomalies</a:t>
            </a:r>
            <a:endParaRPr sz="1500" b="0" i="0">
              <a:solidFill>
                <a:srgbClr val="000000"/>
              </a:solidFill>
              <a:latin typeface="Arial" panose="020B0604020202090204"/>
            </a:endParaRPr>
          </a:p>
          <a:p>
            <a:pPr marL="274320" indent="-274320" algn="l">
              <a:spcBef>
                <a:spcPts val="700"/>
              </a:spcBef>
              <a:buFont typeface="Arial" panose="020B0604020202090204"/>
              <a:buAutoNum type="arabicPeriod"/>
            </a:pPr>
            <a:r>
              <a:rPr sz="1500" b="0" i="0">
                <a:solidFill>
                  <a:srgbClr val="000000"/>
                </a:solidFill>
                <a:latin typeface="Arial" panose="020B0604020202090204"/>
              </a:rPr>
              <a:t>Forecast the balance 90 days ahead and measure its accuracy against simple baselines</a:t>
            </a:r>
            <a:endParaRPr sz="1500" b="0" i="0">
              <a:solidFill>
                <a:srgbClr val="000000"/>
              </a:solidFill>
              <a:latin typeface="Arial" panose="020B0604020202090204"/>
            </a:endParaRPr>
          </a:p>
          <a:p>
            <a:pPr marL="274320" indent="-274320" algn="l">
              <a:spcBef>
                <a:spcPts val="700"/>
              </a:spcBef>
              <a:buFont typeface="Arial" panose="020B0604020202090204"/>
              <a:buAutoNum type="arabicPeriod"/>
            </a:pPr>
            <a:r>
              <a:rPr sz="1500" b="0" i="0">
                <a:solidFill>
                  <a:srgbClr val="000000"/>
                </a:solidFill>
                <a:latin typeface="Arial" panose="020B0604020202090204"/>
              </a:rPr>
              <a:t>Find subscription leakage and estimate income tax under both regimes</a:t>
            </a:r>
            <a:endParaRPr sz="1500" b="0" i="0">
              <a:solidFill>
                <a:srgbClr val="000000"/>
              </a:solidFill>
              <a:latin typeface="Arial" panose="020B0604020202090204"/>
            </a:endParaRPr>
          </a:p>
          <a:p>
            <a:pPr marL="274320" indent="-274320" algn="l">
              <a:spcBef>
                <a:spcPts val="700"/>
              </a:spcBef>
              <a:buFont typeface="Arial" panose="020B0604020202090204"/>
              <a:buAutoNum type="arabicPeriod"/>
            </a:pPr>
            <a:r>
              <a:rPr sz="1500" b="0" i="0">
                <a:solidFill>
                  <a:srgbClr val="000000"/>
                </a:solidFill>
                <a:latin typeface="Arial" panose="020B0604020202090204"/>
              </a:rPr>
              <a:t>Turn the data into decisions: insights, a coach, budgets, goals and an affordable wishlist</a:t>
            </a:r>
            <a:endParaRPr sz="1500" b="0" i="0">
              <a:solidFill>
                <a:srgbClr val="000000"/>
              </a:solidFill>
              <a:latin typeface="Arial" panose="020B0604020202090204"/>
            </a:endParaRPr>
          </a:p>
          <a:p>
            <a:pPr marL="274320" indent="-274320" algn="l">
              <a:spcBef>
                <a:spcPts val="700"/>
              </a:spcBef>
              <a:buFont typeface="Arial" panose="020B0604020202090204"/>
              <a:buAutoNum type="arabicPeriod"/>
            </a:pPr>
            <a:r>
              <a:rPr sz="1500" b="0" i="0">
                <a:solidFill>
                  <a:srgbClr val="000000"/>
                </a:solidFill>
                <a:latin typeface="Arial" panose="020B0604020202090204"/>
              </a:rPr>
              <a:t>Keep users in control: consent per source and purpose, encryption, retention and deletion</a:t>
            </a:r>
            <a:endParaRPr sz="1500" b="0" i="0">
              <a:solidFill>
                <a:srgbClr val="000000"/>
              </a:solidFill>
              <a:latin typeface="Arial" panose="020B0604020202090204"/>
            </a:endParaRPr>
          </a:p>
        </p:txBody>
      </p:sp>
      <p:sp>
        <p:nvSpPr>
          <p:cNvPr id="5" name="TextBox 4"/>
          <p:cNvSpPr txBox="1"/>
          <p:nvPr/>
        </p:nvSpPr>
        <p:spPr>
          <a:xfrm>
            <a:off x="621792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Scope</a:t>
            </a:r>
            <a:endParaRPr sz="1800" b="1" i="0">
              <a:solidFill>
                <a:srgbClr val="002060"/>
              </a:solidFill>
              <a:latin typeface="Arial" panose="020B0604020202090204"/>
            </a:endParaRPr>
          </a:p>
        </p:txBody>
      </p:sp>
      <p:graphicFrame>
        <p:nvGraphicFramePr>
          <p:cNvPr id="6" name="Table 5"/>
          <p:cNvGraphicFramePr>
            <a:graphicFrameLocks noGrp="1"/>
          </p:cNvGraphicFramePr>
          <p:nvPr/>
        </p:nvGraphicFramePr>
        <p:xfrm>
          <a:off x="6217920" y="1600200"/>
          <a:ext cx="5422392" cy="2212848"/>
        </p:xfrm>
        <a:graphic>
          <a:graphicData uri="http://schemas.openxmlformats.org/drawingml/2006/table">
            <a:tbl>
              <a:tblPr firstRow="1">
                <a:tableStyleId>{5940675A-B579-460E-94D1-54222C63F5DA}</a:tableStyleId>
              </a:tblPr>
              <a:tblGrid>
                <a:gridCol w="2715768"/>
                <a:gridCol w="2706624"/>
              </a:tblGrid>
              <a:tr h="384048">
                <a:tc>
                  <a:txBody>
                    <a:bodyPr wrap="square"/>
                    <a:lstStyle/>
                    <a:p>
                      <a:pPr algn="l">
                        <a:spcBef>
                          <a:spcPts val="0"/>
                        </a:spcBef>
                        <a:buNone/>
                      </a:pPr>
                      <a:r>
                        <a:rPr sz="1400"/>
                        <a:t>In scope</a:t>
                      </a:r>
                      <a:endParaRPr sz="1400"/>
                    </a:p>
                  </a:txBody>
                  <a:tcPr marL="73152" marR="73152" marT="36576" marB="36576" anchor="ctr"/>
                </a:tc>
                <a:tc>
                  <a:txBody>
                    <a:bodyPr wrap="square"/>
                    <a:lstStyle/>
                    <a:p>
                      <a:pPr algn="l">
                        <a:spcBef>
                          <a:spcPts val="0"/>
                        </a:spcBef>
                        <a:buNone/>
                      </a:pPr>
                      <a:r>
                        <a:rPr sz="1400"/>
                        <a:t>Out of scope</a:t>
                      </a:r>
                      <a:endParaRPr sz="1400"/>
                    </a:p>
                  </a:txBody>
                  <a:tcPr marL="73152" marR="73152" marT="36576" marB="36576" anchor="ctr"/>
                </a:tc>
              </a:tr>
              <a:tr h="365760">
                <a:tc>
                  <a:txBody>
                    <a:bodyPr wrap="square"/>
                    <a:lstStyle/>
                    <a:p>
                      <a:pPr algn="l">
                        <a:spcBef>
                          <a:spcPts val="0"/>
                        </a:spcBef>
                        <a:buNone/>
                      </a:pPr>
                      <a:r>
                        <a:rPr sz="1400"/>
                        <a:t>SMS from an Android app, e-mail over IMAP, consent per source</a:t>
                      </a:r>
                      <a:endParaRPr sz="1400"/>
                    </a:p>
                  </a:txBody>
                  <a:tcPr marL="73152" marR="73152" marT="36576" marB="36576" anchor="ctr"/>
                </a:tc>
                <a:tc>
                  <a:txBody>
                    <a:bodyPr wrap="square"/>
                    <a:lstStyle/>
                    <a:p>
                      <a:pPr algn="l">
                        <a:spcBef>
                          <a:spcPts val="0"/>
                        </a:spcBef>
                        <a:buNone/>
                      </a:pPr>
                      <a:r>
                        <a:rPr sz="1400"/>
                        <a:t>Live bank or Account Aggregator connections</a:t>
                      </a:r>
                      <a:endParaRPr sz="1400"/>
                    </a:p>
                  </a:txBody>
                  <a:tcPr marL="73152" marR="73152" marT="36576" marB="36576" anchor="ctr"/>
                </a:tc>
              </a:tr>
              <a:tr h="365760">
                <a:tc>
                  <a:txBody>
                    <a:bodyPr wrap="square"/>
                    <a:lstStyle/>
                    <a:p>
                      <a:pPr algn="l">
                        <a:spcBef>
                          <a:spcPts val="0"/>
                        </a:spcBef>
                        <a:buNone/>
                      </a:pPr>
                      <a:r>
                        <a:rPr sz="1400"/>
                        <a:t>Receipt photos (on-device OCR), PDF bills, CSV/XLSX, manual entry</a:t>
                      </a:r>
                      <a:endParaRPr sz="1400"/>
                    </a:p>
                  </a:txBody>
                  <a:tcPr marL="73152" marR="73152" marT="36576" marB="36576" anchor="ctr"/>
                </a:tc>
                <a:tc>
                  <a:txBody>
                    <a:bodyPr wrap="square"/>
                    <a:lstStyle/>
                    <a:p>
                      <a:pPr algn="l">
                        <a:spcBef>
                          <a:spcPts val="0"/>
                        </a:spcBef>
                        <a:buNone/>
                      </a:pPr>
                      <a:r>
                        <a:rPr sz="1400"/>
                        <a:t>Real payments or money transfers</a:t>
                      </a:r>
                      <a:endParaRPr sz="1400"/>
                    </a:p>
                  </a:txBody>
                  <a:tcPr marL="73152" marR="73152" marT="36576" marB="36576" anchor="ctr"/>
                </a:tc>
              </a:tr>
              <a:tr h="365760">
                <a:tc>
                  <a:txBody>
                    <a:bodyPr wrap="square"/>
                    <a:lstStyle/>
                    <a:p>
                      <a:pPr algn="l">
                        <a:spcBef>
                          <a:spcPts val="0"/>
                        </a:spcBef>
                        <a:buNone/>
                      </a:pPr>
                      <a:r>
                        <a:rPr sz="1400"/>
                        <a:t>Forecast, subscriptions, tax, anomalies, insights, coach</a:t>
                      </a:r>
                      <a:endParaRPr sz="1400"/>
                    </a:p>
                  </a:txBody>
                  <a:tcPr marL="73152" marR="73152" marT="36576" marB="36576" anchor="ctr"/>
                </a:tc>
                <a:tc>
                  <a:txBody>
                    <a:bodyPr wrap="square"/>
                    <a:lstStyle/>
                    <a:p>
                      <a:pPr algn="l">
                        <a:spcBef>
                          <a:spcPts val="0"/>
                        </a:spcBef>
                        <a:buNone/>
                      </a:pPr>
                      <a:r>
                        <a:rPr sz="1400"/>
                        <a:t>Product recommendations or web crawling</a:t>
                      </a:r>
                      <a:endParaRPr sz="1400"/>
                    </a:p>
                  </a:txBody>
                  <a:tcPr marL="73152" marR="73152" marT="36576" marB="36576" anchor="ctr"/>
                </a:tc>
              </a:tr>
              <a:tr h="365760">
                <a:tc>
                  <a:txBody>
                    <a:bodyPr wrap="square"/>
                    <a:lstStyle/>
                    <a:p>
                      <a:pPr algn="l">
                        <a:spcBef>
                          <a:spcPts val="0"/>
                        </a:spcBef>
                        <a:buNone/>
                      </a:pPr>
                      <a:r>
                        <a:rPr sz="1400"/>
                        <a:t>A wishlist checked against the budget</a:t>
                      </a:r>
                      <a:endParaRPr sz="1400"/>
                    </a:p>
                  </a:txBody>
                  <a:tcPr marL="73152" marR="73152" marT="36576" marB="36576" anchor="ctr"/>
                </a:tc>
                <a:tc>
                  <a:txBody>
                    <a:bodyPr wrap="square"/>
                    <a:lstStyle/>
                    <a:p>
                      <a:pPr algn="l">
                        <a:spcBef>
                          <a:spcPts val="0"/>
                        </a:spcBef>
                        <a:buNone/>
                      </a:pPr>
                      <a:r>
                        <a:rPr sz="1400"/>
                        <a:t>Tax filing or financial advice (estimates only)</a:t>
                      </a:r>
                      <a:endParaRPr sz="1400"/>
                    </a:p>
                  </a:txBody>
                  <a:tcPr marL="73152" marR="73152" marT="36576" marB="36576" anchor="ctr"/>
                </a:tc>
              </a:tr>
              <a:tr h="365760">
                <a:tc>
                  <a:txBody>
                    <a:bodyPr wrap="square"/>
                    <a:lstStyle/>
                    <a:p>
                      <a:pPr algn="l">
                        <a:spcBef>
                          <a:spcPts val="0"/>
                        </a:spcBef>
                        <a:buNone/>
                      </a:pPr>
                      <a:r>
                        <a:rPr sz="1400"/>
                        <a:t>Laptop server; the phone pairs by QR code</a:t>
                      </a:r>
                      <a:endParaRPr sz="1400"/>
                    </a:p>
                  </a:txBody>
                  <a:tcPr marL="73152" marR="73152" marT="36576" marB="36576" anchor="ctr"/>
                </a:tc>
                <a:tc>
                  <a:txBody>
                    <a:bodyPr wrap="square"/>
                    <a:lstStyle/>
                    <a:p>
                      <a:pPr algn="l">
                        <a:spcBef>
                          <a:spcPts val="0"/>
                        </a:spcBef>
                        <a:buNone/>
                      </a:pPr>
                      <a:r>
                        <a:rPr sz="1400"/>
                        <a:t>iOS (Apple gives apps no SMS access)</a:t>
                      </a:r>
                      <a:endParaRPr sz="1400"/>
                    </a:p>
                  </a:txBody>
                  <a:tcPr marL="73152" marR="73152" marT="36576" marB="36576" anchor="ctr"/>
                </a:tc>
              </a:tr>
            </a:tbl>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Functional Requirements (1/2)</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234440"/>
          <a:ext cx="11091672" cy="4352544"/>
        </p:xfrm>
        <a:graphic>
          <a:graphicData uri="http://schemas.openxmlformats.org/drawingml/2006/table">
            <a:tbl>
              <a:tblPr firstRow="1">
                <a:tableStyleId>{5940675A-B579-460E-94D1-54222C63F5DA}</a:tableStyleId>
              </a:tblPr>
              <a:tblGrid>
                <a:gridCol w="822960"/>
                <a:gridCol w="2651760"/>
                <a:gridCol w="7616952"/>
              </a:tblGrid>
              <a:tr h="384048">
                <a:tc>
                  <a:txBody>
                    <a:bodyPr wrap="square"/>
                    <a:lstStyle/>
                    <a:p>
                      <a:pPr algn="ctr">
                        <a:spcBef>
                          <a:spcPts val="0"/>
                        </a:spcBef>
                        <a:buNone/>
                      </a:pPr>
                      <a:r>
                        <a:rPr sz="1400"/>
                        <a:t>ID</a:t>
                      </a:r>
                      <a:endParaRPr sz="1400"/>
                    </a:p>
                  </a:txBody>
                  <a:tcPr marL="73152" marR="73152" marT="36576" marB="36576" anchor="ctr"/>
                </a:tc>
                <a:tc>
                  <a:txBody>
                    <a:bodyPr wrap="square"/>
                    <a:lstStyle/>
                    <a:p>
                      <a:pPr algn="l">
                        <a:spcBef>
                          <a:spcPts val="0"/>
                        </a:spcBef>
                        <a:buNone/>
                      </a:pPr>
                      <a:r>
                        <a:rPr sz="1400"/>
                        <a:t>Requirement</a:t>
                      </a:r>
                      <a:endParaRPr sz="1400"/>
                    </a:p>
                  </a:txBody>
                  <a:tcPr marL="73152" marR="73152" marT="36576" marB="36576" anchor="ctr"/>
                </a:tc>
                <a:tc>
                  <a:txBody>
                    <a:bodyPr wrap="square"/>
                    <a:lstStyle/>
                    <a:p>
                      <a:pPr algn="l">
                        <a:spcBef>
                          <a:spcPts val="0"/>
                        </a:spcBef>
                        <a:buNone/>
                      </a:pPr>
                      <a:r>
                        <a:rPr sz="1400"/>
                        <a:t>Description</a:t>
                      </a:r>
                      <a:endParaRPr sz="1400"/>
                    </a:p>
                  </a:txBody>
                  <a:tcPr marL="73152" marR="73152" marT="36576" marB="36576" anchor="ctr"/>
                </a:tc>
              </a:tr>
              <a:tr h="566928">
                <a:tc>
                  <a:txBody>
                    <a:bodyPr wrap="square"/>
                    <a:lstStyle/>
                    <a:p>
                      <a:pPr algn="ctr">
                        <a:spcBef>
                          <a:spcPts val="0"/>
                        </a:spcBef>
                        <a:buNone/>
                      </a:pPr>
                      <a:r>
                        <a:rPr sz="1400"/>
                        <a:t>FR1</a:t>
                      </a:r>
                      <a:endParaRPr sz="1400"/>
                    </a:p>
                  </a:txBody>
                  <a:tcPr marL="73152" marR="73152" marT="36576" marB="36576" anchor="ctr"/>
                </a:tc>
                <a:tc>
                  <a:txBody>
                    <a:bodyPr wrap="square"/>
                    <a:lstStyle/>
                    <a:p>
                      <a:pPr algn="l">
                        <a:spcBef>
                          <a:spcPts val="0"/>
                        </a:spcBef>
                        <a:buNone/>
                      </a:pPr>
                      <a:r>
                        <a:rPr sz="1400"/>
                        <a:t>Accounts and sessions</a:t>
                      </a:r>
                      <a:endParaRPr sz="1400"/>
                    </a:p>
                  </a:txBody>
                  <a:tcPr marL="73152" marR="73152" marT="36576" marB="36576" anchor="ctr"/>
                </a:tc>
                <a:tc>
                  <a:txBody>
                    <a:bodyPr wrap="square"/>
                    <a:lstStyle/>
                    <a:p>
                      <a:pPr algn="l">
                        <a:spcBef>
                          <a:spcPts val="0"/>
                        </a:spcBef>
                        <a:buNone/>
                      </a:pPr>
                      <a:r>
                        <a:rPr sz="1400"/>
                        <a:t>Register, sign in, labelled demo login and sign out; cookies on the web, tokens in the Android app</a:t>
                      </a:r>
                      <a:endParaRPr sz="1400"/>
                    </a:p>
                  </a:txBody>
                  <a:tcPr marL="73152" marR="73152" marT="36576" marB="36576" anchor="ctr"/>
                </a:tc>
              </a:tr>
              <a:tr h="566928">
                <a:tc>
                  <a:txBody>
                    <a:bodyPr wrap="square"/>
                    <a:lstStyle/>
                    <a:p>
                      <a:pPr algn="ctr">
                        <a:spcBef>
                          <a:spcPts val="0"/>
                        </a:spcBef>
                        <a:buNone/>
                      </a:pPr>
                      <a:r>
                        <a:rPr sz="1400"/>
                        <a:t>FR2</a:t>
                      </a:r>
                      <a:endParaRPr sz="1400"/>
                    </a:p>
                  </a:txBody>
                  <a:tcPr marL="73152" marR="73152" marT="36576" marB="36576" anchor="ctr"/>
                </a:tc>
                <a:tc>
                  <a:txBody>
                    <a:bodyPr wrap="square"/>
                    <a:lstStyle/>
                    <a:p>
                      <a:pPr algn="l">
                        <a:spcBef>
                          <a:spcPts val="0"/>
                        </a:spcBef>
                        <a:buNone/>
                      </a:pPr>
                      <a:r>
                        <a:rPr sz="1400"/>
                        <a:t>Consent per source</a:t>
                      </a:r>
                      <a:endParaRPr sz="1400"/>
                    </a:p>
                  </a:txBody>
                  <a:tcPr marL="73152" marR="73152" marT="36576" marB="36576" anchor="ctr"/>
                </a:tc>
                <a:tc>
                  <a:txBody>
                    <a:bodyPr wrap="square"/>
                    <a:lstStyle/>
                    <a:p>
                      <a:pPr algn="l">
                        <a:spcBef>
                          <a:spcPts val="0"/>
                        </a:spcBef>
                        <a:buNone/>
                      </a:pPr>
                      <a:r>
                        <a:rPr sz="1400"/>
                        <a:t>Allow SMS and e-mail separately with a purpose and a backfill window; pause, resume or revoke; delete data; consent history</a:t>
                      </a:r>
                      <a:endParaRPr sz="1400"/>
                    </a:p>
                  </a:txBody>
                  <a:tcPr marL="73152" marR="73152" marT="36576" marB="36576" anchor="ctr"/>
                </a:tc>
              </a:tr>
              <a:tr h="566928">
                <a:tc>
                  <a:txBody>
                    <a:bodyPr wrap="square"/>
                    <a:lstStyle/>
                    <a:p>
                      <a:pPr algn="ctr">
                        <a:spcBef>
                          <a:spcPts val="0"/>
                        </a:spcBef>
                        <a:buNone/>
                      </a:pPr>
                      <a:r>
                        <a:rPr sz="1400"/>
                        <a:t>FR3</a:t>
                      </a:r>
                      <a:endParaRPr sz="1400"/>
                    </a:p>
                  </a:txBody>
                  <a:tcPr marL="73152" marR="73152" marT="36576" marB="36576" anchor="ctr"/>
                </a:tc>
                <a:tc>
                  <a:txBody>
                    <a:bodyPr wrap="square"/>
                    <a:lstStyle/>
                    <a:p>
                      <a:pPr algn="l">
                        <a:spcBef>
                          <a:spcPts val="0"/>
                        </a:spcBef>
                        <a:buNone/>
                      </a:pPr>
                      <a:r>
                        <a:rPr sz="1400"/>
                        <a:t>Message capture</a:t>
                      </a:r>
                      <a:endParaRPr sz="1400"/>
                    </a:p>
                  </a:txBody>
                  <a:tcPr marL="73152" marR="73152" marT="36576" marB="36576" anchor="ctr"/>
                </a:tc>
                <a:tc>
                  <a:txBody>
                    <a:bodyPr wrap="square"/>
                    <a:lstStyle/>
                    <a:p>
                      <a:pPr algn="l">
                        <a:spcBef>
                          <a:spcPts val="0"/>
                        </a:spcBef>
                        <a:buNone/>
                      </a:pPr>
                      <a:r>
                        <a:rPr sz="1400"/>
                        <a:t>Read SMS on the phone and e-mail over IMAP; classify 12 types, extract fields; handle duplicates, transfers and refunds</a:t>
                      </a:r>
                      <a:endParaRPr sz="1400"/>
                    </a:p>
                  </a:txBody>
                  <a:tcPr marL="73152" marR="73152" marT="36576" marB="36576" anchor="ctr"/>
                </a:tc>
              </a:tr>
              <a:tr h="566928">
                <a:tc>
                  <a:txBody>
                    <a:bodyPr wrap="square"/>
                    <a:lstStyle/>
                    <a:p>
                      <a:pPr algn="ctr">
                        <a:spcBef>
                          <a:spcPts val="0"/>
                        </a:spcBef>
                        <a:buNone/>
                      </a:pPr>
                      <a:r>
                        <a:rPr sz="1400"/>
                        <a:t>FR4</a:t>
                      </a:r>
                      <a:endParaRPr sz="1400"/>
                    </a:p>
                  </a:txBody>
                  <a:tcPr marL="73152" marR="73152" marT="36576" marB="36576" anchor="ctr"/>
                </a:tc>
                <a:tc>
                  <a:txBody>
                    <a:bodyPr wrap="square"/>
                    <a:lstStyle/>
                    <a:p>
                      <a:pPr algn="l">
                        <a:spcBef>
                          <a:spcPts val="0"/>
                        </a:spcBef>
                        <a:buNone/>
                      </a:pPr>
                      <a:r>
                        <a:rPr sz="1400"/>
                        <a:t>Optional uploads</a:t>
                      </a:r>
                      <a:endParaRPr sz="1400"/>
                    </a:p>
                  </a:txBody>
                  <a:tcPr marL="73152" marR="73152" marT="36576" marB="36576" anchor="ctr"/>
                </a:tc>
                <a:tc>
                  <a:txBody>
                    <a:bodyPr wrap="square"/>
                    <a:lstStyle/>
                    <a:p>
                      <a:pPr algn="l">
                        <a:spcBef>
                          <a:spcPts val="0"/>
                        </a:spcBef>
                        <a:buNone/>
                      </a:pPr>
                      <a:r>
                        <a:rPr sz="1400"/>
                        <a:t>Camera receipt OCR on the device, PDF bills, CSV/XLSX statement wizard and manual entry</a:t>
                      </a:r>
                      <a:endParaRPr sz="1400"/>
                    </a:p>
                  </a:txBody>
                  <a:tcPr marL="73152" marR="73152" marT="36576" marB="36576" anchor="ctr"/>
                </a:tc>
              </a:tr>
              <a:tr h="566928">
                <a:tc>
                  <a:txBody>
                    <a:bodyPr wrap="square"/>
                    <a:lstStyle/>
                    <a:p>
                      <a:pPr algn="ctr">
                        <a:spcBef>
                          <a:spcPts val="0"/>
                        </a:spcBef>
                        <a:buNone/>
                      </a:pPr>
                      <a:r>
                        <a:rPr sz="1400"/>
                        <a:t>FR5</a:t>
                      </a:r>
                      <a:endParaRPr sz="1400"/>
                    </a:p>
                  </a:txBody>
                  <a:tcPr marL="73152" marR="73152" marT="36576" marB="36576" anchor="ctr"/>
                </a:tc>
                <a:tc>
                  <a:txBody>
                    <a:bodyPr wrap="square"/>
                    <a:lstStyle/>
                    <a:p>
                      <a:pPr algn="l">
                        <a:spcBef>
                          <a:spcPts val="0"/>
                        </a:spcBef>
                        <a:buNone/>
                      </a:pPr>
                      <a:r>
                        <a:rPr sz="1400"/>
                        <a:t>Transactions and review</a:t>
                      </a:r>
                      <a:endParaRPr sz="1400"/>
                    </a:p>
                  </a:txBody>
                  <a:tcPr marL="73152" marR="73152" marT="36576" marB="36576" anchor="ctr"/>
                </a:tc>
                <a:tc>
                  <a:txBody>
                    <a:bodyPr wrap="square"/>
                    <a:lstStyle/>
                    <a:p>
                      <a:pPr algn="l">
                        <a:spcBef>
                          <a:spcPts val="0"/>
                        </a:spcBef>
                        <a:buNone/>
                      </a:pPr>
                      <a:r>
                        <a:rPr sz="1400"/>
                        <a:t>Search and filter, evidence drawer, recategorise with "apply to all" rules, review queue that learns</a:t>
                      </a:r>
                      <a:endParaRPr sz="1400"/>
                    </a:p>
                  </a:txBody>
                  <a:tcPr marL="73152" marR="73152" marT="36576" marB="36576" anchor="ctr"/>
                </a:tc>
              </a:tr>
              <a:tr h="566928">
                <a:tc>
                  <a:txBody>
                    <a:bodyPr wrap="square"/>
                    <a:lstStyle/>
                    <a:p>
                      <a:pPr algn="ctr">
                        <a:spcBef>
                          <a:spcPts val="0"/>
                        </a:spcBef>
                        <a:buNone/>
                      </a:pPr>
                      <a:r>
                        <a:rPr sz="1400"/>
                        <a:t>FR6</a:t>
                      </a:r>
                      <a:endParaRPr sz="1400"/>
                    </a:p>
                  </a:txBody>
                  <a:tcPr marL="73152" marR="73152" marT="36576" marB="36576" anchor="ctr"/>
                </a:tc>
                <a:tc>
                  <a:txBody>
                    <a:bodyPr wrap="square"/>
                    <a:lstStyle/>
                    <a:p>
                      <a:pPr algn="l">
                        <a:spcBef>
                          <a:spcPts val="0"/>
                        </a:spcBef>
                        <a:buNone/>
                      </a:pPr>
                      <a:r>
                        <a:rPr sz="1400"/>
                        <a:t>Dashboard</a:t>
                      </a:r>
                      <a:endParaRPr sz="1400"/>
                    </a:p>
                  </a:txBody>
                  <a:tcPr marL="73152" marR="73152" marT="36576" marB="36576" anchor="ctr"/>
                </a:tc>
                <a:tc>
                  <a:txBody>
                    <a:bodyPr wrap="square"/>
                    <a:lstStyle/>
                    <a:p>
                      <a:pPr algn="l">
                        <a:spcBef>
                          <a:spcPts val="0"/>
                        </a:spcBef>
                        <a:buNone/>
                      </a:pPr>
                      <a:r>
                        <a:rPr sz="1400"/>
                        <a:t>Balance, safe-to-spend amount, spending, 90-day forecast band, alerts, upcoming bills and anomalies</a:t>
                      </a:r>
                      <a:endParaRPr sz="1400"/>
                    </a:p>
                  </a:txBody>
                  <a:tcPr marL="73152" marR="73152" marT="36576" marB="36576" anchor="ctr"/>
                </a:tc>
              </a:tr>
              <a:tr h="566928">
                <a:tc>
                  <a:txBody>
                    <a:bodyPr wrap="square"/>
                    <a:lstStyle/>
                    <a:p>
                      <a:pPr algn="ctr">
                        <a:spcBef>
                          <a:spcPts val="0"/>
                        </a:spcBef>
                        <a:buNone/>
                      </a:pPr>
                      <a:r>
                        <a:rPr sz="1400"/>
                        <a:t>FR7</a:t>
                      </a:r>
                      <a:endParaRPr sz="1400"/>
                    </a:p>
                  </a:txBody>
                  <a:tcPr marL="73152" marR="73152" marT="36576" marB="36576" anchor="ctr"/>
                </a:tc>
                <a:tc>
                  <a:txBody>
                    <a:bodyPr wrap="square"/>
                    <a:lstStyle/>
                    <a:p>
                      <a:pPr algn="l">
                        <a:spcBef>
                          <a:spcPts val="0"/>
                        </a:spcBef>
                        <a:buNone/>
                      </a:pPr>
                      <a:r>
                        <a:rPr sz="1400"/>
                        <a:t>Cash-flow forecast</a:t>
                      </a:r>
                      <a:endParaRPr sz="1400"/>
                    </a:p>
                  </a:txBody>
                  <a:tcPr marL="73152" marR="73152" marT="36576" marB="36576" anchor="ctr"/>
                </a:tc>
                <a:tc>
                  <a:txBody>
                    <a:bodyPr wrap="square"/>
                    <a:lstStyle/>
                    <a:p>
                      <a:pPr algn="l">
                        <a:spcBef>
                          <a:spcPts val="0"/>
                        </a:spcBef>
                        <a:buNone/>
                      </a:pPr>
                      <a:r>
                        <a:rPr sz="1400"/>
                        <a:t>90-day projection with an 80% band, what-if purchases, upcoming payments and a backtest against baselines</a:t>
                      </a:r>
                      <a:endParaRPr sz="1400"/>
                    </a:p>
                  </a:txBody>
                  <a:tcPr marL="73152" marR="73152" marT="36576" marB="36576" anchor="ctr"/>
                </a:tc>
              </a:tr>
            </a:tbl>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Functional Requirements (2/2)</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234440"/>
          <a:ext cx="11091672" cy="4352544"/>
        </p:xfrm>
        <a:graphic>
          <a:graphicData uri="http://schemas.openxmlformats.org/drawingml/2006/table">
            <a:tbl>
              <a:tblPr firstRow="1">
                <a:tableStyleId>{5940675A-B579-460E-94D1-54222C63F5DA}</a:tableStyleId>
              </a:tblPr>
              <a:tblGrid>
                <a:gridCol w="822960"/>
                <a:gridCol w="2651760"/>
                <a:gridCol w="7616952"/>
              </a:tblGrid>
              <a:tr h="384048">
                <a:tc>
                  <a:txBody>
                    <a:bodyPr wrap="square"/>
                    <a:lstStyle/>
                    <a:p>
                      <a:pPr algn="ctr">
                        <a:spcBef>
                          <a:spcPts val="0"/>
                        </a:spcBef>
                        <a:buNone/>
                      </a:pPr>
                      <a:r>
                        <a:rPr sz="1400"/>
                        <a:t>ID</a:t>
                      </a:r>
                      <a:endParaRPr sz="1400"/>
                    </a:p>
                  </a:txBody>
                  <a:tcPr marL="73152" marR="73152" marT="36576" marB="36576" anchor="ctr"/>
                </a:tc>
                <a:tc>
                  <a:txBody>
                    <a:bodyPr wrap="square"/>
                    <a:lstStyle/>
                    <a:p>
                      <a:pPr algn="l">
                        <a:spcBef>
                          <a:spcPts val="0"/>
                        </a:spcBef>
                        <a:buNone/>
                      </a:pPr>
                      <a:r>
                        <a:rPr sz="1400"/>
                        <a:t>Requirement</a:t>
                      </a:r>
                      <a:endParaRPr sz="1400"/>
                    </a:p>
                  </a:txBody>
                  <a:tcPr marL="73152" marR="73152" marT="36576" marB="36576" anchor="ctr"/>
                </a:tc>
                <a:tc>
                  <a:txBody>
                    <a:bodyPr wrap="square"/>
                    <a:lstStyle/>
                    <a:p>
                      <a:pPr algn="l">
                        <a:spcBef>
                          <a:spcPts val="0"/>
                        </a:spcBef>
                        <a:buNone/>
                      </a:pPr>
                      <a:r>
                        <a:rPr sz="1400"/>
                        <a:t>Description</a:t>
                      </a:r>
                      <a:endParaRPr sz="1400"/>
                    </a:p>
                  </a:txBody>
                  <a:tcPr marL="73152" marR="73152" marT="36576" marB="36576" anchor="ctr"/>
                </a:tc>
              </a:tr>
              <a:tr h="566928">
                <a:tc>
                  <a:txBody>
                    <a:bodyPr wrap="square"/>
                    <a:lstStyle/>
                    <a:p>
                      <a:pPr algn="ctr">
                        <a:spcBef>
                          <a:spcPts val="0"/>
                        </a:spcBef>
                        <a:buNone/>
                      </a:pPr>
                      <a:r>
                        <a:rPr sz="1400"/>
                        <a:t>FR8</a:t>
                      </a:r>
                      <a:endParaRPr sz="1400"/>
                    </a:p>
                  </a:txBody>
                  <a:tcPr marL="73152" marR="73152" marT="36576" marB="36576" anchor="ctr"/>
                </a:tc>
                <a:tc>
                  <a:txBody>
                    <a:bodyPr wrap="square"/>
                    <a:lstStyle/>
                    <a:p>
                      <a:pPr algn="l">
                        <a:spcBef>
                          <a:spcPts val="0"/>
                        </a:spcBef>
                        <a:buNone/>
                      </a:pPr>
                      <a:r>
                        <a:rPr sz="1400"/>
                        <a:t>Subscriptions</a:t>
                      </a:r>
                      <a:endParaRPr sz="1400"/>
                    </a:p>
                  </a:txBody>
                  <a:tcPr marL="73152" marR="73152" marT="36576" marB="36576" anchor="ctr"/>
                </a:tc>
                <a:tc>
                  <a:txBody>
                    <a:bodyPr wrap="square"/>
                    <a:lstStyle/>
                    <a:p>
                      <a:pPr algn="l">
                        <a:spcBef>
                          <a:spcPts val="0"/>
                        </a:spcBef>
                        <a:buNone/>
                      </a:pPr>
                      <a:r>
                        <a:rPr sz="1400"/>
                        <a:t>Detect recurring charges; flag price rises, unused plans, trials that became paid and overlaps; keep or cancel</a:t>
                      </a:r>
                      <a:endParaRPr sz="1400"/>
                    </a:p>
                  </a:txBody>
                  <a:tcPr marL="73152" marR="73152" marT="36576" marB="36576" anchor="ctr"/>
                </a:tc>
              </a:tr>
              <a:tr h="566928">
                <a:tc>
                  <a:txBody>
                    <a:bodyPr wrap="square"/>
                    <a:lstStyle/>
                    <a:p>
                      <a:pPr algn="ctr">
                        <a:spcBef>
                          <a:spcPts val="0"/>
                        </a:spcBef>
                        <a:buNone/>
                      </a:pPr>
                      <a:r>
                        <a:rPr sz="1400"/>
                        <a:t>FR9</a:t>
                      </a:r>
                      <a:endParaRPr sz="1400"/>
                    </a:p>
                  </a:txBody>
                  <a:tcPr marL="73152" marR="73152" marT="36576" marB="36576" anchor="ctr"/>
                </a:tc>
                <a:tc>
                  <a:txBody>
                    <a:bodyPr wrap="square"/>
                    <a:lstStyle/>
                    <a:p>
                      <a:pPr algn="l">
                        <a:spcBef>
                          <a:spcPts val="0"/>
                        </a:spcBef>
                        <a:buNone/>
                      </a:pPr>
                      <a:r>
                        <a:rPr sz="1400"/>
                        <a:t>Tax insights</a:t>
                      </a:r>
                      <a:endParaRPr sz="1400"/>
                    </a:p>
                  </a:txBody>
                  <a:tcPr marL="73152" marR="73152" marT="36576" marB="36576" anchor="ctr"/>
                </a:tc>
                <a:tc>
                  <a:txBody>
                    <a:bodyPr wrap="square"/>
                    <a:lstStyle/>
                    <a:p>
                      <a:pPr algn="l">
                        <a:spcBef>
                          <a:spcPts val="0"/>
                        </a:spcBef>
                        <a:buNone/>
                      </a:pPr>
                      <a:r>
                        <a:rPr sz="1400"/>
                        <a:t>FY 2025-26 and Tax Year 2026-27 under both regimes; deductions found in transactions, headroom, advance tax; CSV/PDF export</a:t>
                      </a:r>
                      <a:endParaRPr sz="1400"/>
                    </a:p>
                  </a:txBody>
                  <a:tcPr marL="73152" marR="73152" marT="36576" marB="36576" anchor="ctr"/>
                </a:tc>
              </a:tr>
              <a:tr h="566928">
                <a:tc>
                  <a:txBody>
                    <a:bodyPr wrap="square"/>
                    <a:lstStyle/>
                    <a:p>
                      <a:pPr algn="ctr">
                        <a:spcBef>
                          <a:spcPts val="0"/>
                        </a:spcBef>
                        <a:buNone/>
                      </a:pPr>
                      <a:r>
                        <a:rPr sz="1400"/>
                        <a:t>FR10</a:t>
                      </a:r>
                      <a:endParaRPr sz="1400"/>
                    </a:p>
                  </a:txBody>
                  <a:tcPr marL="73152" marR="73152" marT="36576" marB="36576" anchor="ctr"/>
                </a:tc>
                <a:tc>
                  <a:txBody>
                    <a:bodyPr wrap="square"/>
                    <a:lstStyle/>
                    <a:p>
                      <a:pPr algn="l">
                        <a:spcBef>
                          <a:spcPts val="0"/>
                        </a:spcBef>
                        <a:buNone/>
                      </a:pPr>
                      <a:r>
                        <a:rPr sz="1400"/>
                        <a:t>Insights and coach</a:t>
                      </a:r>
                      <a:endParaRPr sz="1400"/>
                    </a:p>
                  </a:txBody>
                  <a:tcPr marL="73152" marR="73152" marT="36576" marB="36576" anchor="ctr"/>
                </a:tc>
                <a:tc>
                  <a:txBody>
                    <a:bodyPr wrap="square"/>
                    <a:lstStyle/>
                    <a:p>
                      <a:pPr algn="l">
                        <a:spcBef>
                          <a:spcPts val="0"/>
                        </a:spcBef>
                        <a:buNone/>
                      </a:pPr>
                      <a:r>
                        <a:rPr sz="1400"/>
                        <a:t>Ranked insights that can be dismissed; a coach that answers 13 types of questions from the user's own data</a:t>
                      </a:r>
                      <a:endParaRPr sz="1400"/>
                    </a:p>
                  </a:txBody>
                  <a:tcPr marL="73152" marR="73152" marT="36576" marB="36576" anchor="ctr"/>
                </a:tc>
              </a:tr>
              <a:tr h="566928">
                <a:tc>
                  <a:txBody>
                    <a:bodyPr wrap="square"/>
                    <a:lstStyle/>
                    <a:p>
                      <a:pPr algn="ctr">
                        <a:spcBef>
                          <a:spcPts val="0"/>
                        </a:spcBef>
                        <a:buNone/>
                      </a:pPr>
                      <a:r>
                        <a:rPr sz="1400"/>
                        <a:t>FR11</a:t>
                      </a:r>
                      <a:endParaRPr sz="1400"/>
                    </a:p>
                  </a:txBody>
                  <a:tcPr marL="73152" marR="73152" marT="36576" marB="36576" anchor="ctr"/>
                </a:tc>
                <a:tc>
                  <a:txBody>
                    <a:bodyPr wrap="square"/>
                    <a:lstStyle/>
                    <a:p>
                      <a:pPr algn="l">
                        <a:spcBef>
                          <a:spcPts val="0"/>
                        </a:spcBef>
                        <a:buNone/>
                      </a:pPr>
                      <a:r>
                        <a:rPr sz="1400"/>
                        <a:t>Budgets and goals</a:t>
                      </a:r>
                      <a:endParaRPr sz="1400"/>
                    </a:p>
                  </a:txBody>
                  <a:tcPr marL="73152" marR="73152" marT="36576" marB="36576" anchor="ctr"/>
                </a:tc>
                <a:tc>
                  <a:txBody>
                    <a:bodyPr wrap="square"/>
                    <a:lstStyle/>
                    <a:p>
                      <a:pPr algn="l">
                        <a:spcBef>
                          <a:spcPts val="0"/>
                        </a:spcBef>
                        <a:buNone/>
                      </a:pPr>
                      <a:r>
                        <a:rPr sz="1400"/>
                        <a:t>Monthly category limits with pace markers; goals with monthly targets and an "add money" option</a:t>
                      </a:r>
                      <a:endParaRPr sz="1400"/>
                    </a:p>
                  </a:txBody>
                  <a:tcPr marL="73152" marR="73152" marT="36576" marB="36576" anchor="ctr"/>
                </a:tc>
              </a:tr>
              <a:tr h="566928">
                <a:tc>
                  <a:txBody>
                    <a:bodyPr wrap="square"/>
                    <a:lstStyle/>
                    <a:p>
                      <a:pPr algn="ctr">
                        <a:spcBef>
                          <a:spcPts val="0"/>
                        </a:spcBef>
                        <a:buNone/>
                      </a:pPr>
                      <a:r>
                        <a:rPr sz="1400"/>
                        <a:t>FR12</a:t>
                      </a:r>
                      <a:endParaRPr sz="1400"/>
                    </a:p>
                  </a:txBody>
                  <a:tcPr marL="73152" marR="73152" marT="36576" marB="36576" anchor="ctr"/>
                </a:tc>
                <a:tc>
                  <a:txBody>
                    <a:bodyPr wrap="square"/>
                    <a:lstStyle/>
                    <a:p>
                      <a:pPr algn="l">
                        <a:spcBef>
                          <a:spcPts val="0"/>
                        </a:spcBef>
                        <a:buNone/>
                      </a:pPr>
                      <a:r>
                        <a:rPr sz="1400"/>
                        <a:t>Wishlist</a:t>
                      </a:r>
                      <a:endParaRPr sz="1400"/>
                    </a:p>
                  </a:txBody>
                  <a:tcPr marL="73152" marR="73152" marT="36576" marB="36576" anchor="ctr"/>
                </a:tc>
                <a:tc>
                  <a:txBody>
                    <a:bodyPr wrap="square"/>
                    <a:lstStyle/>
                    <a:p>
                      <a:pPr algn="l">
                        <a:spcBef>
                          <a:spcPts val="0"/>
                        </a:spcBef>
                        <a:buNone/>
                      </a:pPr>
                      <a:r>
                        <a:rPr sz="1400"/>
                        <a:t>Items with a price or product link (prices read where allowed); Buy now / For your goals / Save up tiers; Can I afford…?</a:t>
                      </a:r>
                      <a:endParaRPr sz="1400"/>
                    </a:p>
                  </a:txBody>
                  <a:tcPr marL="73152" marR="73152" marT="36576" marB="36576" anchor="ctr"/>
                </a:tc>
              </a:tr>
              <a:tr h="566928">
                <a:tc>
                  <a:txBody>
                    <a:bodyPr wrap="square"/>
                    <a:lstStyle/>
                    <a:p>
                      <a:pPr algn="ctr">
                        <a:spcBef>
                          <a:spcPts val="0"/>
                        </a:spcBef>
                        <a:buNone/>
                      </a:pPr>
                      <a:r>
                        <a:rPr sz="1400"/>
                        <a:t>FR13</a:t>
                      </a:r>
                      <a:endParaRPr sz="1400"/>
                    </a:p>
                  </a:txBody>
                  <a:tcPr marL="73152" marR="73152" marT="36576" marB="36576" anchor="ctr"/>
                </a:tc>
                <a:tc>
                  <a:txBody>
                    <a:bodyPr wrap="square"/>
                    <a:lstStyle/>
                    <a:p>
                      <a:pPr algn="l">
                        <a:spcBef>
                          <a:spcPts val="0"/>
                        </a:spcBef>
                        <a:buNone/>
                      </a:pPr>
                      <a:r>
                        <a:rPr sz="1400"/>
                        <a:t>Settings and data rights</a:t>
                      </a:r>
                      <a:endParaRPr sz="1400"/>
                    </a:p>
                  </a:txBody>
                  <a:tcPr marL="73152" marR="73152" marT="36576" marB="36576" anchor="ctr"/>
                </a:tc>
                <a:tc>
                  <a:txBody>
                    <a:bodyPr wrap="square"/>
                    <a:lstStyle/>
                    <a:p>
                      <a:pPr algn="l">
                        <a:spcBef>
                          <a:spcPts val="0"/>
                        </a:spcBef>
                        <a:buNone/>
                      </a:pPr>
                      <a:r>
                        <a:rPr sz="1400"/>
                        <a:t>Safety buffer, take-home pay, accounts and retention; phone pairing; export all data; delete account</a:t>
                      </a:r>
                      <a:endParaRPr sz="1400"/>
                    </a:p>
                  </a:txBody>
                  <a:tcPr marL="73152" marR="73152" marT="36576" marB="36576" anchor="ctr"/>
                </a:tc>
              </a:tr>
              <a:tr h="566928">
                <a:tc>
                  <a:txBody>
                    <a:bodyPr wrap="square"/>
                    <a:lstStyle/>
                    <a:p>
                      <a:pPr algn="ctr">
                        <a:spcBef>
                          <a:spcPts val="0"/>
                        </a:spcBef>
                        <a:buNone/>
                      </a:pPr>
                      <a:r>
                        <a:rPr sz="1400"/>
                        <a:t>FR14</a:t>
                      </a:r>
                      <a:endParaRPr sz="1400"/>
                    </a:p>
                  </a:txBody>
                  <a:tcPr marL="73152" marR="73152" marT="36576" marB="36576" anchor="ctr"/>
                </a:tc>
                <a:tc>
                  <a:txBody>
                    <a:bodyPr wrap="square"/>
                    <a:lstStyle/>
                    <a:p>
                      <a:pPr algn="l">
                        <a:spcBef>
                          <a:spcPts val="0"/>
                        </a:spcBef>
                        <a:buNone/>
                      </a:pPr>
                      <a:r>
                        <a:rPr sz="1400"/>
                        <a:t>Model evaluation</a:t>
                      </a:r>
                      <a:endParaRPr sz="1400"/>
                    </a:p>
                  </a:txBody>
                  <a:tcPr marL="73152" marR="73152" marT="36576" marB="36576" anchor="ctr"/>
                </a:tc>
                <a:tc>
                  <a:txBody>
                    <a:bodyPr wrap="square"/>
                    <a:lstStyle/>
                    <a:p>
                      <a:pPr algn="l">
                        <a:spcBef>
                          <a:spcPts val="0"/>
                        </a:spcBef>
                        <a:buNone/>
                      </a:pPr>
                      <a:r>
                        <a:rPr sz="1400"/>
                        <a:t>Capability checks and measured model metrics, including a real-format SMS corpus</a:t>
                      </a:r>
                      <a:endParaRPr sz="1400"/>
                    </a:p>
                  </a:txBody>
                  <a:tcPr marL="73152" marR="73152" marT="36576" marB="36576" anchor="ctr"/>
                </a:tc>
              </a:tr>
            </a:tbl>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Non-Functional Requirements</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188720"/>
          <a:ext cx="11091672" cy="4553704"/>
        </p:xfrm>
        <a:graphic>
          <a:graphicData uri="http://schemas.openxmlformats.org/drawingml/2006/table">
            <a:tbl>
              <a:tblPr firstRow="1">
                <a:tableStyleId>{5940675A-B579-460E-94D1-54222C63F5DA}</a:tableStyleId>
              </a:tblPr>
              <a:tblGrid>
                <a:gridCol w="2103120"/>
                <a:gridCol w="8988552"/>
              </a:tblGrid>
              <a:tr h="384048">
                <a:tc>
                  <a:txBody>
                    <a:bodyPr wrap="square"/>
                    <a:lstStyle/>
                    <a:p>
                      <a:pPr algn="l">
                        <a:spcBef>
                          <a:spcPts val="0"/>
                        </a:spcBef>
                        <a:buNone/>
                      </a:pPr>
                      <a:r>
                        <a:rPr sz="1400"/>
                        <a:t>Requirement</a:t>
                      </a:r>
                      <a:endParaRPr sz="1400"/>
                    </a:p>
                  </a:txBody>
                  <a:tcPr marL="73152" marR="73152" marT="36576" marB="36576" anchor="ctr"/>
                </a:tc>
                <a:tc>
                  <a:txBody>
                    <a:bodyPr wrap="square"/>
                    <a:lstStyle/>
                    <a:p>
                      <a:pPr algn="l">
                        <a:spcBef>
                          <a:spcPts val="0"/>
                        </a:spcBef>
                        <a:buNone/>
                      </a:pPr>
                      <a:r>
                        <a:rPr sz="1400"/>
                        <a:t>How it is met</a:t>
                      </a:r>
                      <a:endParaRPr sz="1400"/>
                    </a:p>
                  </a:txBody>
                  <a:tcPr marL="73152" marR="73152" marT="36576" marB="36576" anchor="ctr"/>
                </a:tc>
              </a:tr>
              <a:tr h="521207">
                <a:tc>
                  <a:txBody>
                    <a:bodyPr wrap="square"/>
                    <a:lstStyle/>
                    <a:p>
                      <a:pPr algn="l">
                        <a:spcBef>
                          <a:spcPts val="0"/>
                        </a:spcBef>
                        <a:buNone/>
                      </a:pPr>
                      <a:r>
                        <a:rPr sz="1400"/>
                        <a:t>Security</a:t>
                      </a:r>
                      <a:endParaRPr sz="1400"/>
                    </a:p>
                  </a:txBody>
                  <a:tcPr marL="73152" marR="73152" marT="36576" marB="36576" anchor="ctr"/>
                </a:tc>
                <a:tc>
                  <a:txBody>
                    <a:bodyPr wrap="square"/>
                    <a:lstStyle/>
                    <a:p>
                      <a:pPr algn="l">
                        <a:spcBef>
                          <a:spcPts val="0"/>
                        </a:spcBef>
                        <a:buNone/>
                      </a:pPr>
                      <a:r>
                        <a:rPr sz="1400"/>
                        <a:t>Passwords hashed with bcrypt (12 rounds); JWT in httpOnly cookies (web) or Bearer tokens (app), rotated; CSRF and CORS checks; login limit</a:t>
                      </a:r>
                      <a:endParaRPr sz="1400"/>
                    </a:p>
                  </a:txBody>
                  <a:tcPr marL="73152" marR="73152" marT="36576" marB="36576" anchor="ctr"/>
                </a:tc>
              </a:tr>
              <a:tr h="521207">
                <a:tc>
                  <a:txBody>
                    <a:bodyPr wrap="square"/>
                    <a:lstStyle/>
                    <a:p>
                      <a:pPr algn="l">
                        <a:spcBef>
                          <a:spcPts val="0"/>
                        </a:spcBef>
                        <a:buNone/>
                      </a:pPr>
                      <a:r>
                        <a:rPr sz="1400"/>
                        <a:t>Privacy</a:t>
                      </a:r>
                      <a:endParaRPr sz="1400"/>
                    </a:p>
                  </a:txBody>
                  <a:tcPr marL="73152" marR="73152" marT="36576" marB="36576" anchor="ctr"/>
                </a:tc>
                <a:tc>
                  <a:txBody>
                    <a:bodyPr wrap="square"/>
                    <a:lstStyle/>
                    <a:p>
                      <a:pPr algn="l">
                        <a:spcBef>
                          <a:spcPts val="0"/>
                        </a:spcBef>
                        <a:buNone/>
                      </a:pPr>
                      <a:r>
                        <a:rPr sz="1400"/>
                        <a:t>SMS filtered on the phone; consent per source; message text encrypted, deleted after 90 days; append-only consent log; export, deletion</a:t>
                      </a:r>
                      <a:endParaRPr sz="1400"/>
                    </a:p>
                  </a:txBody>
                  <a:tcPr marL="73152" marR="73152" marT="36576" marB="36576" anchor="ctr"/>
                </a:tc>
              </a:tr>
              <a:tr h="521207">
                <a:tc>
                  <a:txBody>
                    <a:bodyPr wrap="square"/>
                    <a:lstStyle/>
                    <a:p>
                      <a:pPr algn="l">
                        <a:spcBef>
                          <a:spcPts val="0"/>
                        </a:spcBef>
                        <a:buNone/>
                      </a:pPr>
                      <a:r>
                        <a:rPr sz="1400"/>
                        <a:t>Reliability</a:t>
                      </a:r>
                      <a:endParaRPr sz="1400"/>
                    </a:p>
                  </a:txBody>
                  <a:tcPr marL="73152" marR="73152" marT="36576" marB="36576" anchor="ctr"/>
                </a:tc>
                <a:tc>
                  <a:txBody>
                    <a:bodyPr wrap="square"/>
                    <a:lstStyle/>
                    <a:p>
                      <a:pPr algn="l">
                        <a:spcBef>
                          <a:spcPts val="0"/>
                        </a:spcBef>
                        <a:buNone/>
                      </a:pPr>
                      <a:r>
                        <a:rPr sz="1400"/>
                        <a:t>Every request commits or rolls back; analytics stages and jobs are isolated; Prophet falls back to a baseline; repeat syncs are idempotent</a:t>
                      </a:r>
                      <a:endParaRPr sz="1400"/>
                    </a:p>
                  </a:txBody>
                  <a:tcPr marL="73152" marR="73152" marT="36576" marB="36576" anchor="ctr"/>
                </a:tc>
              </a:tr>
              <a:tr h="521207">
                <a:tc>
                  <a:txBody>
                    <a:bodyPr wrap="square"/>
                    <a:lstStyle/>
                    <a:p>
                      <a:pPr algn="l">
                        <a:spcBef>
                          <a:spcPts val="0"/>
                        </a:spcBef>
                        <a:buNone/>
                      </a:pPr>
                      <a:r>
                        <a:rPr sz="1400"/>
                        <a:t>Performance</a:t>
                      </a:r>
                      <a:endParaRPr sz="1400"/>
                    </a:p>
                  </a:txBody>
                  <a:tcPr marL="73152" marR="73152" marT="36576" marB="36576" anchor="ctr"/>
                </a:tc>
                <a:tc>
                  <a:txBody>
                    <a:bodyPr wrap="square"/>
                    <a:lstStyle/>
                    <a:p>
                      <a:pPr algn="l">
                        <a:spcBef>
                          <a:spcPts val="0"/>
                        </a:spcBef>
                        <a:buNone/>
                      </a:pPr>
                      <a:r>
                        <a:rPr sz="1400"/>
                        <a:t>Demo ready about 51 s after a clean start; models train in about 3 s; OCR about 0.5 s per receipt; what-if reuses the stored forecast</a:t>
                      </a:r>
                      <a:endParaRPr sz="1400"/>
                    </a:p>
                  </a:txBody>
                  <a:tcPr marL="73152" marR="73152" marT="36576" marB="36576" anchor="ctr"/>
                </a:tc>
              </a:tr>
              <a:tr h="521207">
                <a:tc>
                  <a:txBody>
                    <a:bodyPr wrap="square"/>
                    <a:lstStyle/>
                    <a:p>
                      <a:pPr algn="l">
                        <a:spcBef>
                          <a:spcPts val="0"/>
                        </a:spcBef>
                        <a:buNone/>
                      </a:pPr>
                      <a:r>
                        <a:rPr sz="1400"/>
                        <a:t>Usability</a:t>
                      </a:r>
                      <a:endParaRPr sz="1400"/>
                    </a:p>
                  </a:txBody>
                  <a:tcPr marL="73152" marR="73152" marT="36576" marB="36576" anchor="ctr"/>
                </a:tc>
                <a:tc>
                  <a:txBody>
                    <a:bodyPr wrap="square"/>
                    <a:lstStyle/>
                    <a:p>
                      <a:pPr algn="l">
                        <a:spcBef>
                          <a:spcPts val="0"/>
                        </a:spcBef>
                        <a:buNone/>
                      </a:pPr>
                      <a:r>
                        <a:rPr sz="1400"/>
                        <a:t>Android app with bottom tabs; responsive web layout; every chart also has a table view; plain-language errors and progress</a:t>
                      </a:r>
                      <a:endParaRPr sz="1400"/>
                    </a:p>
                  </a:txBody>
                  <a:tcPr marL="73152" marR="73152" marT="36576" marB="36576" anchor="ctr"/>
                </a:tc>
              </a:tr>
              <a:tr h="521207">
                <a:tc>
                  <a:txBody>
                    <a:bodyPr wrap="square"/>
                    <a:lstStyle/>
                    <a:p>
                      <a:pPr algn="l">
                        <a:spcBef>
                          <a:spcPts val="0"/>
                        </a:spcBef>
                        <a:buNone/>
                      </a:pPr>
                      <a:r>
                        <a:rPr sz="1400"/>
                        <a:t>Portability</a:t>
                      </a:r>
                      <a:endParaRPr sz="1400"/>
                    </a:p>
                  </a:txBody>
                  <a:tcPr marL="73152" marR="73152" marT="36576" marB="36576" anchor="ctr"/>
                </a:tc>
                <a:tc>
                  <a:txBody>
                    <a:bodyPr wrap="square"/>
                    <a:lstStyle/>
                    <a:p>
                      <a:pPr algn="l">
                        <a:spcBef>
                          <a:spcPts val="0"/>
                        </a:spcBef>
                        <a:buNone/>
                      </a:pPr>
                      <a:r>
                        <a:rPr sz="1400"/>
                        <a:t>One command (python3 run.py); Python 3.11+; no Docker or database server; the APK installs over USB and pairs by QR code</a:t>
                      </a:r>
                      <a:endParaRPr sz="1400"/>
                    </a:p>
                  </a:txBody>
                  <a:tcPr marL="73152" marR="73152" marT="36576" marB="36576" anchor="ctr"/>
                </a:tc>
              </a:tr>
              <a:tr h="521207">
                <a:tc>
                  <a:txBody>
                    <a:bodyPr wrap="square"/>
                    <a:lstStyle/>
                    <a:p>
                      <a:pPr algn="l">
                        <a:spcBef>
                          <a:spcPts val="0"/>
                        </a:spcBef>
                        <a:buNone/>
                      </a:pPr>
                      <a:r>
                        <a:rPr sz="1400"/>
                        <a:t>Maintainability</a:t>
                      </a:r>
                      <a:endParaRPr sz="1400"/>
                    </a:p>
                  </a:txBody>
                  <a:tcPr marL="73152" marR="73152" marT="36576" marB="36576" anchor="ctr"/>
                </a:tc>
                <a:tc>
                  <a:txBody>
                    <a:bodyPr wrap="square"/>
                    <a:lstStyle/>
                    <a:p>
                      <a:pPr algn="l">
                        <a:spcBef>
                          <a:spcPts val="0"/>
                        </a:spcBef>
                        <a:buNone/>
                      </a:pPr>
                      <a:r>
                        <a:rPr sz="1400"/>
                        <a:t>Routers -&gt; services -&gt; models structure; Alembic migrations; shared metrics; 82 backend, 23 browser and 17 on-device checks</a:t>
                      </a:r>
                      <a:endParaRPr sz="1400"/>
                    </a:p>
                  </a:txBody>
                  <a:tcPr marL="73152" marR="73152" marT="36576" marB="36576" anchor="ctr"/>
                </a:tc>
              </a:tr>
              <a:tr h="521207">
                <a:tc>
                  <a:txBody>
                    <a:bodyPr wrap="square"/>
                    <a:lstStyle/>
                    <a:p>
                      <a:pPr algn="l">
                        <a:spcBef>
                          <a:spcPts val="0"/>
                        </a:spcBef>
                        <a:buNone/>
                      </a:pPr>
                      <a:r>
                        <a:rPr sz="1400"/>
                        <a:t>Accuracy</a:t>
                      </a:r>
                      <a:endParaRPr sz="1400"/>
                    </a:p>
                  </a:txBody>
                  <a:tcPr marL="73152" marR="73152" marT="36576" marB="36576" anchor="ctr"/>
                </a:tc>
                <a:tc>
                  <a:txBody>
                    <a:bodyPr wrap="square"/>
                    <a:lstStyle/>
                    <a:p>
                      <a:pPr algn="l">
                        <a:spcBef>
                          <a:spcPts val="0"/>
                        </a:spcBef>
                        <a:buNone/>
                      </a:pPr>
                      <a:r>
                        <a:rPr sz="1400"/>
                        <a:t>Money stored as integer paise and handled as Decimal; held-out tests, backtests and WAPE; "estimates, not advice" disclaimers</a:t>
                      </a:r>
                      <a:endParaRPr sz="1400"/>
                    </a:p>
                  </a:txBody>
                  <a:tcPr marL="73152" marR="73152" marT="36576" marB="36576" anchor="ctr"/>
                </a:tc>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System Architecture</a:t>
            </a:r>
            <a:endParaRPr sz="3000" b="1" i="0">
              <a:solidFill>
                <a:srgbClr val="FFFFFF"/>
              </a:solidFill>
              <a:latin typeface="Times New Roman" panose="02020503050405090304"/>
            </a:endParaRPr>
          </a:p>
        </p:txBody>
      </p:sp>
      <p:sp>
        <p:nvSpPr>
          <p:cNvPr id="3" name="Rectangle 2"/>
          <p:cNvSpPr/>
          <p:nvPr/>
        </p:nvSpPr>
        <p:spPr>
          <a:xfrm>
            <a:off x="548640" y="1234440"/>
            <a:ext cx="2514600" cy="4343400"/>
          </a:xfrm>
          <a:prstGeom prst="rect">
            <a:avLst/>
          </a:prstGeom>
          <a:solidFill>
            <a:srgbClr val="FFFFFF"/>
          </a:solidFill>
          <a:ln w="12700">
            <a:solidFill>
              <a:srgbClr val="000000"/>
            </a:solidFill>
            <a:prstDash val="dash"/>
          </a:ln>
        </p:spPr>
        <p:txBody>
          <a:bodyPr wrap="square" lIns="73152" tIns="36576" rIns="73152" bIns="36576" rtlCol="0" anchor="ctr">
            <a:noAutofit/>
          </a:bodyPr>
          <a:lstStyle/>
          <a:p>
            <a:pPr algn="ctr"/>
          </a:p>
        </p:txBody>
      </p:sp>
      <p:sp>
        <p:nvSpPr>
          <p:cNvPr id="4" name="TextBox 3"/>
          <p:cNvSpPr txBox="1"/>
          <p:nvPr/>
        </p:nvSpPr>
        <p:spPr>
          <a:xfrm>
            <a:off x="640080" y="1280160"/>
            <a:ext cx="2377440" cy="320040"/>
          </a:xfrm>
          <a:prstGeom prst="rect">
            <a:avLst/>
          </a:prstGeom>
          <a:noFill/>
        </p:spPr>
        <p:txBody>
          <a:bodyPr wrap="square" lIns="45720" tIns="27432" rIns="45720" bIns="27432" anchor="t">
            <a:noAutofit/>
          </a:bodyPr>
          <a:lstStyle/>
          <a:p>
            <a:pPr algn="l">
              <a:spcBef>
                <a:spcPts val="600"/>
              </a:spcBef>
              <a:buNone/>
            </a:pPr>
            <a:r>
              <a:rPr sz="1500" b="1" i="0">
                <a:solidFill>
                  <a:srgbClr val="000000"/>
                </a:solidFill>
                <a:latin typeface="Arial" panose="020B0604020202090204"/>
              </a:rPr>
              <a:t>Browser / phone</a:t>
            </a:r>
            <a:endParaRPr sz="1500" b="1" i="0">
              <a:solidFill>
                <a:srgbClr val="000000"/>
              </a:solidFill>
              <a:latin typeface="Arial" panose="020B0604020202090204"/>
            </a:endParaRPr>
          </a:p>
        </p:txBody>
      </p:sp>
      <p:sp>
        <p:nvSpPr>
          <p:cNvPr id="5" name="Rectangle 4"/>
          <p:cNvSpPr/>
          <p:nvPr/>
        </p:nvSpPr>
        <p:spPr>
          <a:xfrm>
            <a:off x="658368" y="1691640"/>
            <a:ext cx="2286000" cy="109728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Next.js 16 UI (web and Android)</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Same static UI in the browser and in a Capacitor 8 Android app</a:t>
            </a:r>
            <a:endParaRPr sz="1200" b="0" i="0">
              <a:solidFill>
                <a:srgbClr val="000000"/>
              </a:solidFill>
              <a:latin typeface="Arial" panose="020B0604020202090204"/>
            </a:endParaRPr>
          </a:p>
        </p:txBody>
      </p:sp>
      <p:sp>
        <p:nvSpPr>
          <p:cNvPr id="6" name="Rectangle 5"/>
          <p:cNvSpPr/>
          <p:nvPr/>
        </p:nvSpPr>
        <p:spPr>
          <a:xfrm>
            <a:off x="658368" y="2971800"/>
            <a:ext cx="2286000" cy="109728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TanStack Query + api.ts</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cookies + X-Requested-With (web); Bearer tokens (app)</a:t>
            </a:r>
            <a:endParaRPr sz="1200" b="0" i="0">
              <a:solidFill>
                <a:srgbClr val="000000"/>
              </a:solidFill>
              <a:latin typeface="Arial" panose="020B0604020202090204"/>
            </a:endParaRPr>
          </a:p>
        </p:txBody>
      </p:sp>
      <p:sp>
        <p:nvSpPr>
          <p:cNvPr id="7" name="Rectangle 6"/>
          <p:cNvSpPr/>
          <p:nvPr/>
        </p:nvSpPr>
        <p:spPr>
          <a:xfrm>
            <a:off x="658368" y="4251960"/>
            <a:ext cx="2286000" cy="11430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tesseract.js · SMS plugin</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OCR on the device; the app reads and filters SMS on the phone</a:t>
            </a:r>
            <a:endParaRPr sz="1200" b="0" i="0">
              <a:solidFill>
                <a:srgbClr val="000000"/>
              </a:solidFill>
              <a:latin typeface="Arial" panose="020B0604020202090204"/>
            </a:endParaRPr>
          </a:p>
        </p:txBody>
      </p:sp>
      <p:sp>
        <p:nvSpPr>
          <p:cNvPr id="8" name="Rectangle 7"/>
          <p:cNvSpPr/>
          <p:nvPr/>
        </p:nvSpPr>
        <p:spPr>
          <a:xfrm>
            <a:off x="4069080" y="1234440"/>
            <a:ext cx="5120640" cy="4343400"/>
          </a:xfrm>
          <a:prstGeom prst="rect">
            <a:avLst/>
          </a:prstGeom>
          <a:solidFill>
            <a:srgbClr val="FFFFFF"/>
          </a:solidFill>
          <a:ln w="12700">
            <a:solidFill>
              <a:srgbClr val="000000"/>
            </a:solidFill>
            <a:prstDash val="dash"/>
          </a:ln>
        </p:spPr>
        <p:txBody>
          <a:bodyPr wrap="square" lIns="73152" tIns="36576" rIns="73152" bIns="36576" rtlCol="0" anchor="ctr">
            <a:noAutofit/>
          </a:bodyPr>
          <a:lstStyle/>
          <a:p>
            <a:pPr algn="ctr"/>
          </a:p>
        </p:txBody>
      </p:sp>
      <p:sp>
        <p:nvSpPr>
          <p:cNvPr id="9" name="TextBox 8"/>
          <p:cNvSpPr txBox="1"/>
          <p:nvPr/>
        </p:nvSpPr>
        <p:spPr>
          <a:xfrm>
            <a:off x="4160520" y="1280160"/>
            <a:ext cx="4937759" cy="320040"/>
          </a:xfrm>
          <a:prstGeom prst="rect">
            <a:avLst/>
          </a:prstGeom>
          <a:noFill/>
        </p:spPr>
        <p:txBody>
          <a:bodyPr wrap="square" lIns="45720" tIns="27432" rIns="45720" bIns="27432" anchor="t">
            <a:noAutofit/>
          </a:bodyPr>
          <a:lstStyle/>
          <a:p>
            <a:pPr algn="l">
              <a:spcBef>
                <a:spcPts val="600"/>
              </a:spcBef>
              <a:buNone/>
            </a:pPr>
            <a:r>
              <a:rPr sz="1500" b="1" i="0">
                <a:solidFill>
                  <a:srgbClr val="000000"/>
                </a:solidFill>
                <a:latin typeface="Arial" panose="020B0604020202090204"/>
              </a:rPr>
              <a:t>Single Python process (started by python3 run.py)</a:t>
            </a:r>
            <a:endParaRPr sz="1500" b="1" i="0">
              <a:solidFill>
                <a:srgbClr val="000000"/>
              </a:solidFill>
              <a:latin typeface="Arial" panose="020B0604020202090204"/>
            </a:endParaRPr>
          </a:p>
        </p:txBody>
      </p:sp>
      <p:sp>
        <p:nvSpPr>
          <p:cNvPr id="10" name="Rectangle 9"/>
          <p:cNvSpPr/>
          <p:nvPr/>
        </p:nvSpPr>
        <p:spPr>
          <a:xfrm>
            <a:off x="4178808" y="1691640"/>
            <a:ext cx="4901183" cy="77724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FastAPI app (port 8000)</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15 routers under /api/v1, CSRF guard, error handler, serves the web app</a:t>
            </a:r>
            <a:endParaRPr sz="1200" b="0" i="0">
              <a:solidFill>
                <a:srgbClr val="000000"/>
              </a:solidFill>
              <a:latin typeface="Arial" panose="020B0604020202090204"/>
            </a:endParaRPr>
          </a:p>
        </p:txBody>
      </p:sp>
      <p:sp>
        <p:nvSpPr>
          <p:cNvPr id="11" name="Rectangle 10"/>
          <p:cNvSpPr/>
          <p:nvPr/>
        </p:nvSpPr>
        <p:spPr>
          <a:xfrm>
            <a:off x="4178808" y="2651760"/>
            <a:ext cx="4901183" cy="141732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Services (business logic and ML)</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Consent and capture, receipts, categories and anomalies, forecasting, subscriptions, tax, insights and coach, wishlist and price reading</a:t>
            </a:r>
            <a:endParaRPr sz="1200" b="0" i="0">
              <a:solidFill>
                <a:srgbClr val="000000"/>
              </a:solidFill>
              <a:latin typeface="Arial" panose="020B0604020202090204"/>
            </a:endParaRPr>
          </a:p>
          <a:p>
            <a:pPr algn="ctr">
              <a:spcBef>
                <a:spcPts val="400"/>
              </a:spcBef>
              <a:buNone/>
            </a:pPr>
            <a:r>
              <a:rPr sz="1200" b="0" i="0">
                <a:solidFill>
                  <a:srgbClr val="000000"/>
                </a:solidFill>
                <a:latin typeface="Arial" panose="020B0604020202090204"/>
              </a:rPr>
              <a:t>ML runs in-process: scikit-learn (TF-IDF + logistic regression, IsolationForest) and Prophet</a:t>
            </a:r>
            <a:endParaRPr sz="1200" b="0" i="0">
              <a:solidFill>
                <a:srgbClr val="000000"/>
              </a:solidFill>
              <a:latin typeface="Arial" panose="020B0604020202090204"/>
            </a:endParaRPr>
          </a:p>
        </p:txBody>
      </p:sp>
      <p:sp>
        <p:nvSpPr>
          <p:cNvPr id="12" name="Rectangle 11"/>
          <p:cNvSpPr/>
          <p:nvPr/>
        </p:nvSpPr>
        <p:spPr>
          <a:xfrm>
            <a:off x="4178808" y="4251960"/>
            <a:ext cx="2377439" cy="11430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Job runner + scheduler</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Thread pool; mail every 30 min, prices daily, nightly analytics</a:t>
            </a:r>
            <a:endParaRPr sz="1200" b="0" i="0">
              <a:solidFill>
                <a:srgbClr val="000000"/>
              </a:solidFill>
              <a:latin typeface="Arial" panose="020B0604020202090204"/>
            </a:endParaRPr>
          </a:p>
        </p:txBody>
      </p:sp>
      <p:sp>
        <p:nvSpPr>
          <p:cNvPr id="13" name="Rectangle 12"/>
          <p:cNvSpPr/>
          <p:nvPr/>
        </p:nvSpPr>
        <p:spPr>
          <a:xfrm>
            <a:off x="6702552" y="4251960"/>
            <a:ext cx="2377439" cy="11430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IMAP mailboxes · product pages</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Mail every 30 min; one product page a day (robots.txt)</a:t>
            </a:r>
            <a:endParaRPr sz="1200" b="0" i="0">
              <a:solidFill>
                <a:srgbClr val="000000"/>
              </a:solidFill>
              <a:latin typeface="Arial" panose="020B0604020202090204"/>
            </a:endParaRPr>
          </a:p>
        </p:txBody>
      </p:sp>
      <p:cxnSp>
        <p:nvCxnSpPr>
          <p:cNvPr id="14" name="Connector 13"/>
          <p:cNvCxnSpPr/>
          <p:nvPr/>
        </p:nvCxnSpPr>
        <p:spPr>
          <a:xfrm>
            <a:off x="6629400" y="2468880"/>
            <a:ext cx="0" cy="182880"/>
          </a:xfrm>
          <a:prstGeom prst="line">
            <a:avLst/>
          </a:prstGeom>
          <a:ln w="15875">
            <a:solidFill>
              <a:srgbClr val="000000"/>
            </a:solidFill>
            <a:tailEnd type="triangle" w="med" len="med"/>
          </a:ln>
        </p:spPr>
      </p:cxnSp>
      <p:cxnSp>
        <p:nvCxnSpPr>
          <p:cNvPr id="15" name="Connector 14"/>
          <p:cNvCxnSpPr/>
          <p:nvPr/>
        </p:nvCxnSpPr>
        <p:spPr>
          <a:xfrm>
            <a:off x="5367528" y="4069080"/>
            <a:ext cx="0" cy="182880"/>
          </a:xfrm>
          <a:prstGeom prst="line">
            <a:avLst/>
          </a:prstGeom>
          <a:ln w="15875">
            <a:solidFill>
              <a:srgbClr val="000000"/>
            </a:solidFill>
            <a:tailEnd type="triangle" w="med" len="med"/>
          </a:ln>
        </p:spPr>
      </p:cxnSp>
      <p:sp>
        <p:nvSpPr>
          <p:cNvPr id="16" name="Can 15"/>
          <p:cNvSpPr/>
          <p:nvPr/>
        </p:nvSpPr>
        <p:spPr>
          <a:xfrm>
            <a:off x="9646920" y="1463040"/>
            <a:ext cx="1993392" cy="2103120"/>
          </a:xfrm>
          <a:prstGeom prst="can">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SQLite (WAL)</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data/finpilot.db</a:t>
            </a:r>
            <a:endParaRPr sz="1200" b="0"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29 tables</a:t>
            </a:r>
            <a:endParaRPr sz="1200" b="0"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SQLAlchemy + Alembic</a:t>
            </a:r>
            <a:endParaRPr sz="1200" b="0" i="0">
              <a:solidFill>
                <a:srgbClr val="000000"/>
              </a:solidFill>
              <a:latin typeface="Arial" panose="020B0604020202090204"/>
            </a:endParaRPr>
          </a:p>
        </p:txBody>
      </p:sp>
      <p:sp>
        <p:nvSpPr>
          <p:cNvPr id="17" name="Rectangle 16"/>
          <p:cNvSpPr/>
          <p:nvPr/>
        </p:nvSpPr>
        <p:spPr>
          <a:xfrm>
            <a:off x="9646920" y="4251960"/>
            <a:ext cx="1993392" cy="11430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data/ folder</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Uploads, trained models and the generated secret key</a:t>
            </a:r>
            <a:endParaRPr sz="1200" b="0" i="0">
              <a:solidFill>
                <a:srgbClr val="000000"/>
              </a:solidFill>
              <a:latin typeface="Arial" panose="020B0604020202090204"/>
            </a:endParaRPr>
          </a:p>
        </p:txBody>
      </p:sp>
      <p:cxnSp>
        <p:nvCxnSpPr>
          <p:cNvPr id="18" name="Connector 17"/>
          <p:cNvCxnSpPr/>
          <p:nvPr/>
        </p:nvCxnSpPr>
        <p:spPr>
          <a:xfrm>
            <a:off x="2944368" y="2103120"/>
            <a:ext cx="1234440" cy="0"/>
          </a:xfrm>
          <a:prstGeom prst="line">
            <a:avLst/>
          </a:prstGeom>
          <a:ln w="15875">
            <a:solidFill>
              <a:srgbClr val="000000"/>
            </a:solidFill>
            <a:headEnd type="triangle"/>
            <a:tailEnd type="triangle" w="med" len="med"/>
          </a:ln>
        </p:spPr>
      </p:cxnSp>
      <p:sp>
        <p:nvSpPr>
          <p:cNvPr id="19" name="TextBox 18"/>
          <p:cNvSpPr txBox="1"/>
          <p:nvPr/>
        </p:nvSpPr>
        <p:spPr>
          <a:xfrm>
            <a:off x="3063240" y="1810512"/>
            <a:ext cx="1005840" cy="274320"/>
          </a:xfrm>
          <a:prstGeom prst="rect">
            <a:avLst/>
          </a:prstGeom>
          <a:noFill/>
        </p:spPr>
        <p:txBody>
          <a:bodyPr wrap="square" lIns="0" tIns="27432" rIns="0" bIns="27432" anchor="t">
            <a:noAutofit/>
          </a:bodyPr>
          <a:lstStyle/>
          <a:p>
            <a:pPr algn="ctr">
              <a:spcBef>
                <a:spcPts val="0"/>
              </a:spcBef>
              <a:buNone/>
            </a:pPr>
            <a:r>
              <a:rPr sz="1000" b="0" i="0">
                <a:solidFill>
                  <a:srgbClr val="000000"/>
                </a:solidFill>
                <a:latin typeface="Arial" panose="020B0604020202090204"/>
              </a:rPr>
              <a:t>HTTP / JSON</a:t>
            </a:r>
            <a:endParaRPr sz="1000" b="0" i="0">
              <a:solidFill>
                <a:srgbClr val="000000"/>
              </a:solidFill>
              <a:latin typeface="Arial" panose="020B0604020202090204"/>
            </a:endParaRPr>
          </a:p>
        </p:txBody>
      </p:sp>
      <p:cxnSp>
        <p:nvCxnSpPr>
          <p:cNvPr id="20" name="Connector 19"/>
          <p:cNvCxnSpPr/>
          <p:nvPr/>
        </p:nvCxnSpPr>
        <p:spPr>
          <a:xfrm>
            <a:off x="9079992" y="3017520"/>
            <a:ext cx="566928" cy="0"/>
          </a:xfrm>
          <a:prstGeom prst="line">
            <a:avLst/>
          </a:prstGeom>
          <a:ln w="15875">
            <a:solidFill>
              <a:srgbClr val="000000"/>
            </a:solidFill>
            <a:headEnd type="triangle"/>
            <a:tailEnd type="triangle" w="med" len="med"/>
          </a:ln>
        </p:spPr>
      </p:cxnSp>
      <p:sp>
        <p:nvSpPr>
          <p:cNvPr id="21" name="TextBox 20"/>
          <p:cNvSpPr txBox="1"/>
          <p:nvPr/>
        </p:nvSpPr>
        <p:spPr>
          <a:xfrm>
            <a:off x="9189720" y="2724912"/>
            <a:ext cx="457200" cy="274320"/>
          </a:xfrm>
          <a:prstGeom prst="rect">
            <a:avLst/>
          </a:prstGeom>
          <a:noFill/>
        </p:spPr>
        <p:txBody>
          <a:bodyPr wrap="square" lIns="0" tIns="27432" rIns="0" bIns="27432" anchor="t">
            <a:noAutofit/>
          </a:bodyPr>
          <a:lstStyle/>
          <a:p>
            <a:pPr algn="ctr">
              <a:spcBef>
                <a:spcPts val="0"/>
              </a:spcBef>
              <a:buNone/>
            </a:pPr>
            <a:r>
              <a:rPr sz="1000" b="0" i="0">
                <a:solidFill>
                  <a:srgbClr val="000000"/>
                </a:solidFill>
                <a:latin typeface="Arial" panose="020B0604020202090204"/>
              </a:rPr>
              <a:t>SQL</a:t>
            </a:r>
            <a:endParaRPr sz="1000" b="0" i="0">
              <a:solidFill>
                <a:srgbClr val="000000"/>
              </a:solidFill>
              <a:latin typeface="Arial" panose="020B0604020202090204"/>
            </a:endParaRPr>
          </a:p>
        </p:txBody>
      </p:sp>
      <p:sp>
        <p:nvSpPr>
          <p:cNvPr id="22" name="TextBox 21"/>
          <p:cNvSpPr txBox="1"/>
          <p:nvPr/>
        </p:nvSpPr>
        <p:spPr>
          <a:xfrm>
            <a:off x="548640" y="5623560"/>
            <a:ext cx="11091672" cy="320040"/>
          </a:xfrm>
          <a:prstGeom prst="rect">
            <a:avLst/>
          </a:prstGeom>
          <a:noFill/>
        </p:spPr>
        <p:txBody>
          <a:bodyPr wrap="square" lIns="45720" tIns="27432" rIns="45720" bIns="27432" anchor="t">
            <a:noAutofit/>
          </a:bodyPr>
          <a:lstStyle/>
          <a:p>
            <a:pPr algn="l">
              <a:spcBef>
                <a:spcPts val="600"/>
              </a:spcBef>
              <a:buNone/>
            </a:pPr>
            <a:r>
              <a:rPr sz="1300" b="0" i="0">
                <a:solidFill>
                  <a:srgbClr val="000000"/>
                </a:solidFill>
                <a:latin typeface="Arial" panose="020B0604020202090204"/>
              </a:rPr>
              <a:t>The browser calls /api/v1 on the same server; the Android app calls it over Wi-Fi or a tunnel (CORS).</a:t>
            </a:r>
            <a:endParaRPr sz="1300" b="0" i="0">
              <a:solidFill>
                <a:srgbClr val="000000"/>
              </a:solidFill>
              <a:latin typeface="Arial" panose="020B0604020202090204"/>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Backend Layers and Request Flow</a:t>
            </a:r>
            <a:endParaRPr sz="3000" b="1" i="0">
              <a:solidFill>
                <a:srgbClr val="FFFFFF"/>
              </a:solidFill>
              <a:latin typeface="Times New Roman" panose="02020503050405090304"/>
            </a:endParaRPr>
          </a:p>
        </p:txBody>
      </p:sp>
      <p:sp>
        <p:nvSpPr>
          <p:cNvPr id="3" name="TextBox 2"/>
          <p:cNvSpPr txBox="1"/>
          <p:nvPr/>
        </p:nvSpPr>
        <p:spPr>
          <a:xfrm>
            <a:off x="548640" y="1143000"/>
            <a:ext cx="475488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Backend layers</a:t>
            </a:r>
            <a:endParaRPr sz="1700" b="1" i="0">
              <a:solidFill>
                <a:srgbClr val="002060"/>
              </a:solidFill>
              <a:latin typeface="Arial" panose="020B0604020202090204"/>
            </a:endParaRPr>
          </a:p>
        </p:txBody>
      </p:sp>
      <p:sp>
        <p:nvSpPr>
          <p:cNvPr id="4" name="Rectangle 3"/>
          <p:cNvSpPr/>
          <p:nvPr/>
        </p:nvSpPr>
        <p:spPr>
          <a:xfrm>
            <a:off x="548640" y="1554480"/>
            <a:ext cx="4663440" cy="621792"/>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Routers (api/v1/*.py)</a:t>
            </a:r>
            <a:endParaRPr sz="1300" b="1" i="0">
              <a:solidFill>
                <a:srgbClr val="000000"/>
              </a:solidFill>
              <a:latin typeface="Arial" panose="020B0604020202090204"/>
            </a:endParaRPr>
          </a:p>
          <a:p>
            <a:pPr algn="ctr">
              <a:spcBef>
                <a:spcPts val="0"/>
              </a:spcBef>
              <a:buNone/>
            </a:pPr>
            <a:r>
              <a:rPr sz="1300" b="0" i="0">
                <a:solidFill>
                  <a:srgbClr val="000000"/>
                </a:solidFill>
                <a:latin typeface="Arial" panose="020B0604020202090204"/>
              </a:rPr>
              <a:t>HTTP, Pydantic validation, ownership checks</a:t>
            </a:r>
            <a:endParaRPr sz="1300" b="0" i="0">
              <a:solidFill>
                <a:srgbClr val="000000"/>
              </a:solidFill>
              <a:latin typeface="Arial" panose="020B0604020202090204"/>
            </a:endParaRPr>
          </a:p>
        </p:txBody>
      </p:sp>
      <p:cxnSp>
        <p:nvCxnSpPr>
          <p:cNvPr id="5" name="Connector 4"/>
          <p:cNvCxnSpPr/>
          <p:nvPr/>
        </p:nvCxnSpPr>
        <p:spPr>
          <a:xfrm>
            <a:off x="2880360" y="2176272"/>
            <a:ext cx="0" cy="182880"/>
          </a:xfrm>
          <a:prstGeom prst="line">
            <a:avLst/>
          </a:prstGeom>
          <a:ln w="15875">
            <a:solidFill>
              <a:srgbClr val="000000"/>
            </a:solidFill>
            <a:tailEnd type="triangle" w="med" len="med"/>
          </a:ln>
        </p:spPr>
      </p:cxnSp>
      <p:sp>
        <p:nvSpPr>
          <p:cNvPr id="6" name="Rectangle 5"/>
          <p:cNvSpPr/>
          <p:nvPr/>
        </p:nvSpPr>
        <p:spPr>
          <a:xfrm>
            <a:off x="548640" y="2359152"/>
            <a:ext cx="4663440" cy="621792"/>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Dependencies (core/deps.py)</a:t>
            </a:r>
            <a:endParaRPr sz="1300" b="1" i="0">
              <a:solidFill>
                <a:srgbClr val="000000"/>
              </a:solidFill>
              <a:latin typeface="Arial" panose="020B0604020202090204"/>
            </a:endParaRPr>
          </a:p>
          <a:p>
            <a:pPr algn="ctr">
              <a:spcBef>
                <a:spcPts val="0"/>
              </a:spcBef>
              <a:buNone/>
            </a:pPr>
            <a:r>
              <a:rPr sz="1300" b="0" i="0">
                <a:solidFill>
                  <a:srgbClr val="000000"/>
                </a:solidFill>
                <a:latin typeface="Arial" panose="020B0604020202090204"/>
              </a:rPr>
              <a:t>User from the cookie or Bearer token; one DB session</a:t>
            </a:r>
            <a:endParaRPr sz="1300" b="0" i="0">
              <a:solidFill>
                <a:srgbClr val="000000"/>
              </a:solidFill>
              <a:latin typeface="Arial" panose="020B0604020202090204"/>
            </a:endParaRPr>
          </a:p>
        </p:txBody>
      </p:sp>
      <p:cxnSp>
        <p:nvCxnSpPr>
          <p:cNvPr id="7" name="Connector 6"/>
          <p:cNvCxnSpPr/>
          <p:nvPr/>
        </p:nvCxnSpPr>
        <p:spPr>
          <a:xfrm>
            <a:off x="2880360" y="2980944"/>
            <a:ext cx="0" cy="182880"/>
          </a:xfrm>
          <a:prstGeom prst="line">
            <a:avLst/>
          </a:prstGeom>
          <a:ln w="15875">
            <a:solidFill>
              <a:srgbClr val="000000"/>
            </a:solidFill>
            <a:tailEnd type="triangle" w="med" len="med"/>
          </a:ln>
        </p:spPr>
      </p:cxnSp>
      <p:sp>
        <p:nvSpPr>
          <p:cNvPr id="8" name="Rectangle 7"/>
          <p:cNvSpPr/>
          <p:nvPr/>
        </p:nvSpPr>
        <p:spPr>
          <a:xfrm>
            <a:off x="548640" y="3163824"/>
            <a:ext cx="4663440" cy="621792"/>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Services (services/*.py)</a:t>
            </a:r>
            <a:endParaRPr sz="1300" b="1" i="0">
              <a:solidFill>
                <a:srgbClr val="000000"/>
              </a:solidFill>
              <a:latin typeface="Arial" panose="020B0604020202090204"/>
            </a:endParaRPr>
          </a:p>
          <a:p>
            <a:pPr algn="ctr">
              <a:spcBef>
                <a:spcPts val="0"/>
              </a:spcBef>
              <a:buNone/>
            </a:pPr>
            <a:r>
              <a:rPr sz="1300" b="0" i="0">
                <a:solidFill>
                  <a:srgbClr val="000000"/>
                </a:solidFill>
                <a:latin typeface="Arial" panose="020B0604020202090204"/>
              </a:rPr>
              <a:t>Business rules: forecasting, tax, wishlist, consent</a:t>
            </a:r>
            <a:endParaRPr sz="1300" b="0" i="0">
              <a:solidFill>
                <a:srgbClr val="000000"/>
              </a:solidFill>
              <a:latin typeface="Arial" panose="020B0604020202090204"/>
            </a:endParaRPr>
          </a:p>
        </p:txBody>
      </p:sp>
      <p:cxnSp>
        <p:nvCxnSpPr>
          <p:cNvPr id="9" name="Connector 8"/>
          <p:cNvCxnSpPr/>
          <p:nvPr/>
        </p:nvCxnSpPr>
        <p:spPr>
          <a:xfrm>
            <a:off x="2880360" y="3785615"/>
            <a:ext cx="0" cy="182881"/>
          </a:xfrm>
          <a:prstGeom prst="line">
            <a:avLst/>
          </a:prstGeom>
          <a:ln w="15875">
            <a:solidFill>
              <a:srgbClr val="000000"/>
            </a:solidFill>
            <a:tailEnd type="triangle" w="med" len="med"/>
          </a:ln>
        </p:spPr>
      </p:cxnSp>
      <p:sp>
        <p:nvSpPr>
          <p:cNvPr id="10" name="Rectangle 9"/>
          <p:cNvSpPr/>
          <p:nvPr/>
        </p:nvSpPr>
        <p:spPr>
          <a:xfrm>
            <a:off x="548640" y="3968496"/>
            <a:ext cx="4663440" cy="621792"/>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Models (models/*.py)</a:t>
            </a:r>
            <a:endParaRPr sz="1300" b="1" i="0">
              <a:solidFill>
                <a:srgbClr val="000000"/>
              </a:solidFill>
              <a:latin typeface="Arial" panose="020B0604020202090204"/>
            </a:endParaRPr>
          </a:p>
          <a:p>
            <a:pPr algn="ctr">
              <a:spcBef>
                <a:spcPts val="0"/>
              </a:spcBef>
              <a:buNone/>
            </a:pPr>
            <a:r>
              <a:rPr sz="1300" b="0" i="0">
                <a:solidFill>
                  <a:srgbClr val="000000"/>
                </a:solidFill>
                <a:latin typeface="Arial" panose="020B0604020202090204"/>
              </a:rPr>
              <a:t>SQLAlchemy 2 ORM; money as integer paise</a:t>
            </a:r>
            <a:endParaRPr sz="1300" b="0" i="0">
              <a:solidFill>
                <a:srgbClr val="000000"/>
              </a:solidFill>
              <a:latin typeface="Arial" panose="020B0604020202090204"/>
            </a:endParaRPr>
          </a:p>
        </p:txBody>
      </p:sp>
      <p:cxnSp>
        <p:nvCxnSpPr>
          <p:cNvPr id="11" name="Connector 10"/>
          <p:cNvCxnSpPr/>
          <p:nvPr/>
        </p:nvCxnSpPr>
        <p:spPr>
          <a:xfrm>
            <a:off x="2880360" y="4590288"/>
            <a:ext cx="0" cy="182880"/>
          </a:xfrm>
          <a:prstGeom prst="line">
            <a:avLst/>
          </a:prstGeom>
          <a:ln w="15875">
            <a:solidFill>
              <a:srgbClr val="000000"/>
            </a:solidFill>
            <a:tailEnd type="triangle" w="med" len="med"/>
          </a:ln>
        </p:spPr>
      </p:cxnSp>
      <p:sp>
        <p:nvSpPr>
          <p:cNvPr id="12" name="Rectangle 11"/>
          <p:cNvSpPr/>
          <p:nvPr/>
        </p:nvSpPr>
        <p:spPr>
          <a:xfrm>
            <a:off x="548640" y="4773168"/>
            <a:ext cx="4663440" cy="621792"/>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Database (data/finpilot.db)</a:t>
            </a:r>
            <a:endParaRPr sz="1300" b="1" i="0">
              <a:solidFill>
                <a:srgbClr val="000000"/>
              </a:solidFill>
              <a:latin typeface="Arial" panose="020B0604020202090204"/>
            </a:endParaRPr>
          </a:p>
          <a:p>
            <a:pPr algn="ctr">
              <a:spcBef>
                <a:spcPts val="0"/>
              </a:spcBef>
              <a:buNone/>
            </a:pPr>
            <a:r>
              <a:rPr sz="1300" b="0" i="0">
                <a:solidFill>
                  <a:srgbClr val="000000"/>
                </a:solidFill>
                <a:latin typeface="Arial" panose="020B0604020202090204"/>
              </a:rPr>
              <a:t>SQLite in WAL mode; Alembic migrations</a:t>
            </a:r>
            <a:endParaRPr sz="1300" b="0" i="0">
              <a:solidFill>
                <a:srgbClr val="000000"/>
              </a:solidFill>
              <a:latin typeface="Arial" panose="020B0604020202090204"/>
            </a:endParaRPr>
          </a:p>
        </p:txBody>
      </p:sp>
      <p:sp>
        <p:nvSpPr>
          <p:cNvPr id="13" name="TextBox 12"/>
          <p:cNvSpPr txBox="1"/>
          <p:nvPr/>
        </p:nvSpPr>
        <p:spPr>
          <a:xfrm>
            <a:off x="548640" y="5559552"/>
            <a:ext cx="4663440" cy="411480"/>
          </a:xfrm>
          <a:prstGeom prst="rect">
            <a:avLst/>
          </a:prstGeom>
          <a:noFill/>
        </p:spPr>
        <p:txBody>
          <a:bodyPr wrap="square" lIns="45720" tIns="27432" rIns="45720" bIns="27432" anchor="t">
            <a:noAutofit/>
          </a:bodyPr>
          <a:lstStyle/>
          <a:p>
            <a:pPr algn="l">
              <a:spcBef>
                <a:spcPts val="600"/>
              </a:spcBef>
              <a:buNone/>
            </a:pPr>
            <a:r>
              <a:rPr sz="1200" b="0" i="0">
                <a:solidFill>
                  <a:srgbClr val="000000"/>
                </a:solidFill>
                <a:latin typeface="Arial" panose="020B0604020202090204"/>
              </a:rPr>
              <a:t>Shared code: core/ (config, security, crypto, money) and jobs/ (runner, scheduler)</a:t>
            </a:r>
            <a:endParaRPr sz="1200" b="0" i="0">
              <a:solidFill>
                <a:srgbClr val="000000"/>
              </a:solidFill>
              <a:latin typeface="Arial" panose="020B0604020202090204"/>
            </a:endParaRPr>
          </a:p>
        </p:txBody>
      </p:sp>
      <p:sp>
        <p:nvSpPr>
          <p:cNvPr id="14" name="TextBox 13"/>
          <p:cNvSpPr txBox="1"/>
          <p:nvPr/>
        </p:nvSpPr>
        <p:spPr>
          <a:xfrm>
            <a:off x="5669280" y="1143000"/>
            <a:ext cx="594360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Example: a what-if purchase</a:t>
            </a:r>
            <a:endParaRPr sz="1700" b="1" i="0">
              <a:solidFill>
                <a:srgbClr val="002060"/>
              </a:solidFill>
              <a:latin typeface="Arial" panose="020B0604020202090204"/>
            </a:endParaRPr>
          </a:p>
        </p:txBody>
      </p:sp>
      <p:sp>
        <p:nvSpPr>
          <p:cNvPr id="15" name="TextBox 14"/>
          <p:cNvSpPr txBox="1"/>
          <p:nvPr/>
        </p:nvSpPr>
        <p:spPr>
          <a:xfrm>
            <a:off x="5669280" y="1554480"/>
            <a:ext cx="5971032" cy="4389120"/>
          </a:xfrm>
          <a:prstGeom prst="rect">
            <a:avLst/>
          </a:prstGeom>
          <a:noFill/>
        </p:spPr>
        <p:txBody>
          <a:bodyPr wrap="square" lIns="45720" tIns="27432" rIns="45720" bIns="27432" anchor="t">
            <a:noAutofit/>
          </a:bodyPr>
          <a:lstStyle/>
          <a:p>
            <a:pPr marL="274320" indent="-274320" algn="l">
              <a:spcBef>
                <a:spcPts val="1400"/>
              </a:spcBef>
              <a:buFont typeface="Arial" panose="020B0604020202090204"/>
              <a:buAutoNum type="arabicPeriod"/>
            </a:pPr>
            <a:r>
              <a:rPr sz="1600" b="0" i="0">
                <a:solidFill>
                  <a:srgbClr val="000000"/>
                </a:solidFill>
                <a:latin typeface="Arial" panose="020B0604020202090204"/>
              </a:rPr>
              <a:t>User enters ₹45,000 under "What if I spend..." on the Forecast page and clicks Check</a:t>
            </a:r>
            <a:endParaRPr sz="1600" b="0" i="0">
              <a:solidFill>
                <a:srgbClr val="000000"/>
              </a:solidFill>
              <a:latin typeface="Arial" panose="020B0604020202090204"/>
            </a:endParaRPr>
          </a:p>
          <a:p>
            <a:pPr marL="274320" indent="-274320" algn="l">
              <a:spcBef>
                <a:spcPts val="1400"/>
              </a:spcBef>
              <a:buFont typeface="Arial" panose="020B0604020202090204"/>
              <a:buAutoNum type="arabicPeriod"/>
            </a:pPr>
            <a:r>
              <a:rPr sz="1600" b="0" i="0">
                <a:solidFill>
                  <a:srgbClr val="000000"/>
                </a:solidFill>
                <a:latin typeface="Arial" panose="020B0604020202090204"/>
              </a:rPr>
              <a:t>api.ts sends GET /api/v1/forecast/whatif?amount=45000 with the cookie or token</a:t>
            </a:r>
            <a:endParaRPr sz="1600" b="0" i="0">
              <a:solidFill>
                <a:srgbClr val="000000"/>
              </a:solidFill>
              <a:latin typeface="Arial" panose="020B0604020202090204"/>
            </a:endParaRPr>
          </a:p>
          <a:p>
            <a:pPr marL="274320" indent="-274320" algn="l">
              <a:spcBef>
                <a:spcPts val="1400"/>
              </a:spcBef>
              <a:buFont typeface="Arial" panose="020B0604020202090204"/>
              <a:buAutoNum type="arabicPeriod"/>
            </a:pPr>
            <a:r>
              <a:rPr sz="1600" b="0" i="0">
                <a:solidFill>
                  <a:srgbClr val="000000"/>
                </a:solidFill>
                <a:latin typeface="Arial" panose="020B0604020202090204"/>
              </a:rPr>
              <a:t>FastAPI checks 0 &lt; amount &lt; ₹1e9 and loads the user from the JWT (otherwise 422 or 401)</a:t>
            </a:r>
            <a:endParaRPr sz="1600" b="0" i="0">
              <a:solidFill>
                <a:srgbClr val="000000"/>
              </a:solidFill>
              <a:latin typeface="Arial" panose="020B0604020202090204"/>
            </a:endParaRPr>
          </a:p>
          <a:p>
            <a:pPr marL="274320" indent="-274320" algn="l">
              <a:spcBef>
                <a:spcPts val="1400"/>
              </a:spcBef>
              <a:buFont typeface="Arial" panose="020B0604020202090204"/>
              <a:buAutoNum type="arabicPeriod"/>
            </a:pPr>
            <a:r>
              <a:rPr sz="1600" b="0" i="0">
                <a:solidFill>
                  <a:srgbClr val="000000"/>
                </a:solidFill>
                <a:latin typeface="Arial" panose="020B0604020202090204"/>
              </a:rPr>
              <a:t>The service reads the stored 90-day forecast and lowers p10, p50 and p90 from the purchase date</a:t>
            </a:r>
            <a:endParaRPr sz="1600" b="0" i="0">
              <a:solidFill>
                <a:srgbClr val="000000"/>
              </a:solidFill>
              <a:latin typeface="Arial" panose="020B0604020202090204"/>
            </a:endParaRPr>
          </a:p>
          <a:p>
            <a:pPr marL="274320" indent="-274320" algn="l">
              <a:spcBef>
                <a:spcPts val="1400"/>
              </a:spcBef>
              <a:buFont typeface="Arial" panose="020B0604020202090204"/>
              <a:buAutoNum type="arabicPeriod"/>
            </a:pPr>
            <a:r>
              <a:rPr sz="1600" b="0" i="0">
                <a:solidFill>
                  <a:srgbClr val="000000"/>
                </a:solidFill>
                <a:latin typeface="Arial" panose="020B0604020202090204"/>
              </a:rPr>
              <a:t>It compares the new lowest balance in the next 60 days with the safety buffer</a:t>
            </a:r>
            <a:endParaRPr sz="1600" b="0" i="0">
              <a:solidFill>
                <a:srgbClr val="000000"/>
              </a:solidFill>
              <a:latin typeface="Arial" panose="020B0604020202090204"/>
            </a:endParaRPr>
          </a:p>
          <a:p>
            <a:pPr marL="274320" indent="-274320" algn="l">
              <a:spcBef>
                <a:spcPts val="1400"/>
              </a:spcBef>
              <a:buFont typeface="Arial" panose="020B0604020202090204"/>
              <a:buAutoNum type="arabicPeriod"/>
            </a:pPr>
            <a:r>
              <a:rPr sz="1600" b="0" i="0">
                <a:solidFill>
                  <a:srgbClr val="000000"/>
                </a:solidFill>
                <a:latin typeface="Arial" panose="020B0604020202090204"/>
              </a:rPr>
              <a:t>TanStack Query redraws the chart and shows a green or red result</a:t>
            </a:r>
            <a:endParaRPr sz="1600" b="0" i="0">
              <a:solidFill>
                <a:srgbClr val="000000"/>
              </a:solidFill>
              <a:latin typeface="Arial" panose="020B0604020202090204"/>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Technologies Used</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280160"/>
          <a:ext cx="11091672" cy="4041648"/>
        </p:xfrm>
        <a:graphic>
          <a:graphicData uri="http://schemas.openxmlformats.org/drawingml/2006/table">
            <a:tbl>
              <a:tblPr firstRow="1">
                <a:tableStyleId>{5940675A-B579-460E-94D1-54222C63F5DA}</a:tableStyleId>
              </a:tblPr>
              <a:tblGrid>
                <a:gridCol w="2651760"/>
                <a:gridCol w="8439912"/>
              </a:tblGrid>
              <a:tr h="384048">
                <a:tc>
                  <a:txBody>
                    <a:bodyPr wrap="square"/>
                    <a:lstStyle/>
                    <a:p>
                      <a:pPr algn="l">
                        <a:spcBef>
                          <a:spcPts val="0"/>
                        </a:spcBef>
                        <a:buNone/>
                      </a:pPr>
                      <a:r>
                        <a:rPr sz="1500" b="1" i="0">
                          <a:solidFill>
                            <a:srgbClr val="000000"/>
                          </a:solidFill>
                          <a:latin typeface="Arial" panose="020B0604020202090204"/>
                        </a:rPr>
                        <a:t>Category</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500" b="1" i="0">
                          <a:solidFill>
                            <a:srgbClr val="000000"/>
                          </a:solidFill>
                          <a:latin typeface="Arial" panose="020B0604020202090204"/>
                        </a:rPr>
                        <a:t>Tools and versions</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731520">
                <a:tc>
                  <a:txBody>
                    <a:bodyPr wrap="square"/>
                    <a:lstStyle/>
                    <a:p>
                      <a:pPr algn="l">
                        <a:spcBef>
                          <a:spcPts val="0"/>
                        </a:spcBef>
                        <a:buNone/>
                      </a:pPr>
                      <a:r>
                        <a:rPr sz="1500" b="1" i="0">
                          <a:solidFill>
                            <a:srgbClr val="000000"/>
                          </a:solidFill>
                          <a:latin typeface="Arial" panose="020B0604020202090204"/>
                        </a:rPr>
                        <a:t>Frontend</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panose="020B0604020202090204"/>
                        </a:rPr>
                        <a:t>Next.js 16.4 (static export), React 19.3, TypeScript 5.9, Tailwind CSS 4.3, shadcn/ui on Base UI, TanStack Query 5, Recharts 3, tesseract.js 7, Capacitor 8 (Android)</a:t>
                      </a:r>
                      <a:endParaRPr sz="15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panose="020B0604020202090204"/>
                        </a:rPr>
                        <a:t>Backend</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panose="020B0604020202090204"/>
                        </a:rPr>
                        <a:t>Python 3.11+ (tested on 3.14), FastAPI 0.143, Uvicorn 0.54, Pydantic 2.14, SQLAlchemy 2.1, Alembic 1.20, PyJWT 2.15, pwdlib (bcrypt), cryptography (Fernet)</a:t>
                      </a:r>
                      <a:endParaRPr sz="15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panose="020B0604020202090204"/>
                        </a:rPr>
                        <a:t>Data and ML</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panose="020B0604020202090204"/>
                        </a:rPr>
                        <a:t>SQLite (WAL), scikit-learn 1.9, Prophet 1.5, pandas 3.0, NumPy 2.5, RapidFuzz 3.14, dateparser 1.4</a:t>
                      </a:r>
                      <a:endParaRPr sz="15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panose="020B0604020202090204"/>
                        </a:rPr>
                        <a:t>Documents and web</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panose="020B0604020202090204"/>
                        </a:rPr>
                        <a:t>pdfplumber 0.11, ReportLab 5.0, openpyxl, xlrd, httpx 0.28, Protego 0.7 (robots.txt), BeautifulSoup + lxml, segno (QR)</a:t>
                      </a:r>
                      <a:endParaRPr sz="15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731520">
                <a:tc>
                  <a:txBody>
                    <a:bodyPr wrap="square"/>
                    <a:lstStyle/>
                    <a:p>
                      <a:pPr algn="l">
                        <a:spcBef>
                          <a:spcPts val="0"/>
                        </a:spcBef>
                        <a:buNone/>
                      </a:pPr>
                      <a:r>
                        <a:rPr sz="1500" b="1" i="0">
                          <a:solidFill>
                            <a:srgbClr val="000000"/>
                          </a:solidFill>
                          <a:latin typeface="Arial" panose="020B0604020202090204"/>
                        </a:rPr>
                        <a:t>Testing and tools</a:t>
                      </a:r>
                      <a:endParaRPr sz="15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500" b="0" i="0">
                          <a:solidFill>
                            <a:srgbClr val="000000"/>
                          </a:solidFill>
                          <a:latin typeface="Arial" panose="020B0604020202090204"/>
                        </a:rPr>
                        <a:t>pytest 9.1, Hypothesis 6, Playwright 1.64 (browser and Android), Android SDK and emulator, Git and GitHub, Node.js / npm</a:t>
                      </a:r>
                      <a:endParaRPr sz="15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4" name="TextBox 3"/>
          <p:cNvSpPr txBox="1"/>
          <p:nvPr/>
        </p:nvSpPr>
        <p:spPr>
          <a:xfrm>
            <a:off x="548640" y="5486400"/>
            <a:ext cx="11091672" cy="365760"/>
          </a:xfrm>
          <a:prstGeom prst="rect">
            <a:avLst/>
          </a:prstGeom>
          <a:noFill/>
        </p:spPr>
        <p:txBody>
          <a:bodyPr wrap="square" lIns="45720" tIns="27432" rIns="45720" bIns="27432" anchor="t">
            <a:noAutofit/>
          </a:bodyPr>
          <a:lstStyle/>
          <a:p>
            <a:pPr algn="l">
              <a:spcBef>
                <a:spcPts val="600"/>
              </a:spcBef>
              <a:buNone/>
            </a:pPr>
            <a:r>
              <a:rPr sz="1400" b="0" i="0">
                <a:solidFill>
                  <a:srgbClr val="000000"/>
                </a:solidFill>
                <a:latin typeface="Arial" panose="020B0604020202090204"/>
              </a:rPr>
              <a:t>All tools are free and run locally.</a:t>
            </a:r>
            <a:endParaRPr sz="1400" b="0" i="0">
              <a:solidFill>
                <a:srgbClr val="000000"/>
              </a:solidFill>
              <a:latin typeface="Arial" panose="020B0604020202090204"/>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Software Development Life Cycle</a:t>
            </a:r>
            <a:endParaRPr sz="3000" b="1" i="0">
              <a:solidFill>
                <a:srgbClr val="FFFFFF"/>
              </a:solidFill>
              <a:latin typeface="Times New Roman" panose="02020503050405090304"/>
            </a:endParaRPr>
          </a:p>
        </p:txBody>
      </p:sp>
      <p:sp>
        <p:nvSpPr>
          <p:cNvPr id="3" name="TextBox 2"/>
          <p:cNvSpPr txBox="1"/>
          <p:nvPr/>
        </p:nvSpPr>
        <p:spPr>
          <a:xfrm>
            <a:off x="548640" y="1143000"/>
            <a:ext cx="11091672" cy="411480"/>
          </a:xfrm>
          <a:prstGeom prst="rect">
            <a:avLst/>
          </a:prstGeom>
          <a:noFill/>
        </p:spPr>
        <p:txBody>
          <a:bodyPr wrap="square" lIns="45720" tIns="27432" rIns="45720" bIns="27432" anchor="t">
            <a:noAutofit/>
          </a:bodyPr>
          <a:lstStyle/>
          <a:p>
            <a:pPr algn="l">
              <a:spcBef>
                <a:spcPts val="0"/>
              </a:spcBef>
              <a:buNone/>
            </a:pPr>
            <a:r>
              <a:rPr sz="1600" b="1" i="0">
                <a:solidFill>
                  <a:srgbClr val="000000"/>
                </a:solidFill>
                <a:latin typeface="Arial" panose="020B0604020202090204"/>
              </a:rPr>
              <a:t>Model used: </a:t>
            </a:r>
            <a:r>
              <a:rPr sz="1600" b="0" i="0">
                <a:solidFill>
                  <a:srgbClr val="000000"/>
                </a:solidFill>
                <a:latin typeface="Arial" panose="020B0604020202090204"/>
              </a:rPr>
              <a:t>Iterative and incremental. Every phase ended with a working app and a check we could measure.</a:t>
            </a:r>
            <a:endParaRPr sz="1600" b="0" i="0">
              <a:solidFill>
                <a:srgbClr val="000000"/>
              </a:solidFill>
              <a:latin typeface="Arial" panose="020B0604020202090204"/>
            </a:endParaRPr>
          </a:p>
        </p:txBody>
      </p:sp>
      <p:sp>
        <p:nvSpPr>
          <p:cNvPr id="4" name="Rectangle 3"/>
          <p:cNvSpPr/>
          <p:nvPr/>
        </p:nvSpPr>
        <p:spPr>
          <a:xfrm>
            <a:off x="548640"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Requirements</a:t>
            </a:r>
            <a:endParaRPr sz="1300" b="1" i="0">
              <a:solidFill>
                <a:srgbClr val="000000"/>
              </a:solidFill>
              <a:latin typeface="Arial" panose="020B0604020202090204"/>
            </a:endParaRPr>
          </a:p>
        </p:txBody>
      </p:sp>
      <p:cxnSp>
        <p:nvCxnSpPr>
          <p:cNvPr id="5" name="Connector 4"/>
          <p:cNvCxnSpPr/>
          <p:nvPr/>
        </p:nvCxnSpPr>
        <p:spPr>
          <a:xfrm>
            <a:off x="2103120" y="1920240"/>
            <a:ext cx="351129" cy="0"/>
          </a:xfrm>
          <a:prstGeom prst="line">
            <a:avLst/>
          </a:prstGeom>
          <a:ln w="15875">
            <a:solidFill>
              <a:srgbClr val="000000"/>
            </a:solidFill>
            <a:tailEnd type="triangle" w="med" len="med"/>
          </a:ln>
        </p:spPr>
      </p:cxnSp>
      <p:sp>
        <p:nvSpPr>
          <p:cNvPr id="6" name="Rectangle 5"/>
          <p:cNvSpPr/>
          <p:nvPr/>
        </p:nvSpPr>
        <p:spPr>
          <a:xfrm>
            <a:off x="2454249"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Design</a:t>
            </a:r>
            <a:endParaRPr sz="1300" b="1" i="0">
              <a:solidFill>
                <a:srgbClr val="000000"/>
              </a:solidFill>
              <a:latin typeface="Arial" panose="020B0604020202090204"/>
            </a:endParaRPr>
          </a:p>
        </p:txBody>
      </p:sp>
      <p:cxnSp>
        <p:nvCxnSpPr>
          <p:cNvPr id="7" name="Connector 6"/>
          <p:cNvCxnSpPr/>
          <p:nvPr/>
        </p:nvCxnSpPr>
        <p:spPr>
          <a:xfrm>
            <a:off x="4008729" y="1920240"/>
            <a:ext cx="351130" cy="0"/>
          </a:xfrm>
          <a:prstGeom prst="line">
            <a:avLst/>
          </a:prstGeom>
          <a:ln w="15875">
            <a:solidFill>
              <a:srgbClr val="000000"/>
            </a:solidFill>
            <a:tailEnd type="triangle" w="med" len="med"/>
          </a:ln>
        </p:spPr>
      </p:cxnSp>
      <p:sp>
        <p:nvSpPr>
          <p:cNvPr id="8" name="Rectangle 7"/>
          <p:cNvSpPr/>
          <p:nvPr/>
        </p:nvSpPr>
        <p:spPr>
          <a:xfrm>
            <a:off x="4359859"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Implementation</a:t>
            </a:r>
            <a:endParaRPr sz="1300" b="1" i="0">
              <a:solidFill>
                <a:srgbClr val="000000"/>
              </a:solidFill>
              <a:latin typeface="Arial" panose="020B0604020202090204"/>
            </a:endParaRPr>
          </a:p>
        </p:txBody>
      </p:sp>
      <p:cxnSp>
        <p:nvCxnSpPr>
          <p:cNvPr id="9" name="Connector 8"/>
          <p:cNvCxnSpPr/>
          <p:nvPr/>
        </p:nvCxnSpPr>
        <p:spPr>
          <a:xfrm>
            <a:off x="5914339" y="1920240"/>
            <a:ext cx="351129" cy="0"/>
          </a:xfrm>
          <a:prstGeom prst="line">
            <a:avLst/>
          </a:prstGeom>
          <a:ln w="15875">
            <a:solidFill>
              <a:srgbClr val="000000"/>
            </a:solidFill>
            <a:tailEnd type="triangle" w="med" len="med"/>
          </a:ln>
        </p:spPr>
      </p:cxnSp>
      <p:sp>
        <p:nvSpPr>
          <p:cNvPr id="10" name="Rectangle 9"/>
          <p:cNvSpPr/>
          <p:nvPr/>
        </p:nvSpPr>
        <p:spPr>
          <a:xfrm>
            <a:off x="6265468"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Testing</a:t>
            </a:r>
            <a:endParaRPr sz="1300" b="1" i="0">
              <a:solidFill>
                <a:srgbClr val="000000"/>
              </a:solidFill>
              <a:latin typeface="Arial" panose="020B0604020202090204"/>
            </a:endParaRPr>
          </a:p>
        </p:txBody>
      </p:sp>
      <p:cxnSp>
        <p:nvCxnSpPr>
          <p:cNvPr id="11" name="Connector 10"/>
          <p:cNvCxnSpPr/>
          <p:nvPr/>
        </p:nvCxnSpPr>
        <p:spPr>
          <a:xfrm>
            <a:off x="7819948" y="1920240"/>
            <a:ext cx="351130" cy="0"/>
          </a:xfrm>
          <a:prstGeom prst="line">
            <a:avLst/>
          </a:prstGeom>
          <a:ln w="15875">
            <a:solidFill>
              <a:srgbClr val="000000"/>
            </a:solidFill>
            <a:tailEnd type="triangle" w="med" len="med"/>
          </a:ln>
        </p:spPr>
      </p:cxnSp>
      <p:sp>
        <p:nvSpPr>
          <p:cNvPr id="12" name="Rectangle 11"/>
          <p:cNvSpPr/>
          <p:nvPr/>
        </p:nvSpPr>
        <p:spPr>
          <a:xfrm>
            <a:off x="8171078"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Deployment</a:t>
            </a:r>
            <a:endParaRPr sz="1300" b="1" i="0">
              <a:solidFill>
                <a:srgbClr val="000000"/>
              </a:solidFill>
              <a:latin typeface="Arial" panose="020B0604020202090204"/>
            </a:endParaRPr>
          </a:p>
        </p:txBody>
      </p:sp>
      <p:cxnSp>
        <p:nvCxnSpPr>
          <p:cNvPr id="13" name="Connector 12"/>
          <p:cNvCxnSpPr/>
          <p:nvPr/>
        </p:nvCxnSpPr>
        <p:spPr>
          <a:xfrm>
            <a:off x="9725558" y="1920240"/>
            <a:ext cx="351130" cy="0"/>
          </a:xfrm>
          <a:prstGeom prst="line">
            <a:avLst/>
          </a:prstGeom>
          <a:ln w="15875">
            <a:solidFill>
              <a:srgbClr val="000000"/>
            </a:solidFill>
            <a:tailEnd type="triangle" w="med" len="med"/>
          </a:ln>
        </p:spPr>
      </p:cxnSp>
      <p:sp>
        <p:nvSpPr>
          <p:cNvPr id="14" name="Rectangle 13"/>
          <p:cNvSpPr/>
          <p:nvPr/>
        </p:nvSpPr>
        <p:spPr>
          <a:xfrm>
            <a:off x="10076688" y="169164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Maintenance</a:t>
            </a:r>
            <a:endParaRPr sz="1300" b="1" i="0">
              <a:solidFill>
                <a:srgbClr val="000000"/>
              </a:solidFill>
              <a:latin typeface="Arial" panose="020B0604020202090204"/>
            </a:endParaRPr>
          </a:p>
        </p:txBody>
      </p:sp>
      <p:graphicFrame>
        <p:nvGraphicFramePr>
          <p:cNvPr id="15" name="Table 14"/>
          <p:cNvGraphicFramePr>
            <a:graphicFrameLocks noGrp="1"/>
          </p:cNvGraphicFramePr>
          <p:nvPr/>
        </p:nvGraphicFramePr>
        <p:xfrm>
          <a:off x="548640" y="2377440"/>
          <a:ext cx="11091672" cy="3127248"/>
        </p:xfrm>
        <a:graphic>
          <a:graphicData uri="http://schemas.openxmlformats.org/drawingml/2006/table">
            <a:tbl>
              <a:tblPr firstRow="1">
                <a:tableStyleId>{5940675A-B579-460E-94D1-54222C63F5DA}</a:tableStyleId>
              </a:tblPr>
              <a:tblGrid>
                <a:gridCol w="2103120"/>
                <a:gridCol w="8988552"/>
              </a:tblGrid>
              <a:tr h="384048">
                <a:tc>
                  <a:txBody>
                    <a:bodyPr wrap="square"/>
                    <a:lstStyle/>
                    <a:p>
                      <a:pPr algn="l">
                        <a:spcBef>
                          <a:spcPts val="0"/>
                        </a:spcBef>
                        <a:buNone/>
                      </a:pPr>
                      <a:r>
                        <a:rPr sz="1400" b="1" i="0">
                          <a:solidFill>
                            <a:srgbClr val="000000"/>
                          </a:solidFill>
                          <a:latin typeface="Arial" panose="020B0604020202090204"/>
                        </a:rPr>
                        <a:t>Phase</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panose="020B0604020202090204"/>
                        </a:rPr>
                        <a:t>What we did</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57200">
                <a:tc>
                  <a:txBody>
                    <a:bodyPr wrap="square"/>
                    <a:lstStyle/>
                    <a:p>
                      <a:pPr algn="l">
                        <a:spcBef>
                          <a:spcPts val="0"/>
                        </a:spcBef>
                        <a:buNone/>
                      </a:pPr>
                      <a:r>
                        <a:rPr sz="1400" b="1" i="0">
                          <a:solidFill>
                            <a:srgbClr val="000000"/>
                          </a:solidFill>
                          <a:latin typeface="Arial" panose="020B0604020202090204"/>
                        </a:rPr>
                        <a:t>Requirements</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Review 0 (July 2026): problem, objectives and modules. After the review, real SMS (Android app), IMAP e-mail and a wishlist replaced sample data</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panose="020B0604020202090204"/>
                        </a:rPr>
                        <a:t>Design</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Laptop server + Android app; 29-table schema with money in paise; Docker + PostgreSQL replaced by SQLite and run.py</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panose="020B0604020202090204"/>
                        </a:rPr>
                        <a:t>Implementation</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10 build phases (0 to 9), each one a working increment with API, logic and UI</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panose="020B0604020202090204"/>
                        </a:rPr>
                        <a:t>Testing</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pytest + Hypothesis in every phase; Playwright in the browser and on an Android emulator; metrics on held-out data</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panose="020B0604020202090204"/>
                        </a:rPr>
                        <a:t>Deployment</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One command (python3 run.py); pre-built web app; Android APK installed over USB</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400" b="1" i="0">
                          <a:solidFill>
                            <a:srgbClr val="000000"/>
                          </a:solidFill>
                          <a:latin typeface="Arial" panose="020B0604020202090204"/>
                        </a:rPr>
                        <a:t>Maintenance</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Alembic migrations; demo data refreshes daily; model evaluation in Settings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Build Phases</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188720"/>
          <a:ext cx="11091672" cy="4590288"/>
        </p:xfrm>
        <a:graphic>
          <a:graphicData uri="http://schemas.openxmlformats.org/drawingml/2006/table">
            <a:tbl>
              <a:tblPr firstRow="1">
                <a:tableStyleId>{5940675A-B579-460E-94D1-54222C63F5DA}</a:tableStyleId>
              </a:tblPr>
              <a:tblGrid>
                <a:gridCol w="822960"/>
                <a:gridCol w="2148840"/>
                <a:gridCol w="4206240"/>
                <a:gridCol w="3913632"/>
              </a:tblGrid>
              <a:tr h="384048">
                <a:tc>
                  <a:txBody>
                    <a:bodyPr wrap="square"/>
                    <a:lstStyle/>
                    <a:p>
                      <a:pPr algn="ctr">
                        <a:spcBef>
                          <a:spcPts val="0"/>
                        </a:spcBef>
                        <a:buNone/>
                      </a:pPr>
                      <a:r>
                        <a:rPr sz="1400" b="1" i="0">
                          <a:solidFill>
                            <a:srgbClr val="000000"/>
                          </a:solidFill>
                          <a:latin typeface="Arial" panose="020B0604020202090204"/>
                        </a:rPr>
                        <a:t>Phase</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panose="020B0604020202090204"/>
                        </a:rPr>
                        <a:t>Focus</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panose="020B0604020202090204"/>
                        </a:rPr>
                        <a:t>Work done</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panose="020B0604020202090204"/>
                        </a:rPr>
                        <a:t>Exit check</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20624">
                <a:tc>
                  <a:txBody>
                    <a:bodyPr wrap="square"/>
                    <a:lstStyle/>
                    <a:p>
                      <a:pPr algn="ctr">
                        <a:spcBef>
                          <a:spcPts val="0"/>
                        </a:spcBef>
                        <a:buNone/>
                      </a:pPr>
                      <a:r>
                        <a:rPr sz="1400" b="0" i="0">
                          <a:solidFill>
                            <a:srgbClr val="000000"/>
                          </a:solidFill>
                          <a:latin typeface="Arial" panose="020B0604020202090204"/>
                        </a:rPr>
                        <a:t>0</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Foundation</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run.py, server, jobs, SQLite + Alembic</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 clean start renders a page</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1</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Data and auth</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Schema, auth, demo persona, model training</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Deterministic data; tests pass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2</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Capture</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Consent API, pipeline, file imports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No transactions from OTP or promo messages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3</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Core UI</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App shell, onboarding, dashboard, connections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E2E test: an SMS becomes a transaction</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4</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Receipts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On-device OCR, receipt commit, PDF bills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 receipt photo attached to its payment</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5</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Forecasting</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Prophet + known schedule, backtest, what-if</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Backtest against baselines; fallback tested</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6</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Subscriptions, tax</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Detection, both tax regimes, export</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Planted findings detected; tax tests pass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7</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Insights, coach</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Insights, coach, budgets, goals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Every coach intent answers from data</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8</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Affordability</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Safe-to-spend, wishlist, price reading</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Property test passes; private links refused</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20624">
                <a:tc>
                  <a:txBody>
                    <a:bodyPr wrap="square"/>
                    <a:lstStyle/>
                    <a:p>
                      <a:pPr algn="ctr">
                        <a:spcBef>
                          <a:spcPts val="0"/>
                        </a:spcBef>
                        <a:buNone/>
                      </a:pPr>
                      <a:r>
                        <a:rPr sz="1400" b="0" i="0">
                          <a:solidFill>
                            <a:srgbClr val="000000"/>
                          </a:solidFill>
                          <a:latin typeface="Arial" panose="020B0604020202090204"/>
                        </a:rPr>
                        <a:t>9</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Real data</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Android app, IMAP, XLSX import, hardening</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17/17 on-device and 23 E2E checks pass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Major Features and Modules</a:t>
            </a:r>
            <a:endParaRPr sz="3000" b="1" i="0">
              <a:solidFill>
                <a:srgbClr val="FFFFFF"/>
              </a:solidFill>
              <a:latin typeface="Times New Roman" panose="02020503050405090304"/>
            </a:endParaRPr>
          </a:p>
        </p:txBody>
      </p:sp>
      <p:sp>
        <p:nvSpPr>
          <p:cNvPr id="3" name="TextBox 2"/>
          <p:cNvSpPr txBox="1"/>
          <p:nvPr/>
        </p:nvSpPr>
        <p:spPr>
          <a:xfrm>
            <a:off x="548640" y="1188720"/>
            <a:ext cx="11091672" cy="4754880"/>
          </a:xfrm>
          <a:prstGeom prst="rect">
            <a:avLst/>
          </a:prstGeom>
          <a:noFill/>
        </p:spPr>
        <p:txBody>
          <a:bodyPr wrap="square" lIns="45720" tIns="27432" rIns="45720" bIns="27432" anchor="t">
            <a:noAutofit/>
          </a:bodyPr>
          <a:lstStyle/>
          <a:p>
            <a:pPr marL="274320" indent="-274320" algn="l">
              <a:spcBef>
                <a:spcPts val="1200"/>
              </a:spcBef>
              <a:buFont typeface="Arial" panose="020B0604020202090204"/>
              <a:buAutoNum type="arabicPeriod"/>
            </a:pPr>
            <a:r>
              <a:rPr sz="1700" b="1" i="0">
                <a:solidFill>
                  <a:srgbClr val="000000"/>
                </a:solidFill>
                <a:latin typeface="Arial" panose="020B0604020202090204"/>
              </a:rPr>
              <a:t>Consent and capture: </a:t>
            </a:r>
            <a:r>
              <a:rPr sz="1700" b="0" i="0">
                <a:solidFill>
                  <a:srgbClr val="000000"/>
                </a:solidFill>
                <a:latin typeface="Arial" panose="020B0604020202090204"/>
              </a:rPr>
              <a:t>SMS read on the phone, e-mail over IMAP and file imports, with consent per source</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Receipts and bills: </a:t>
            </a:r>
            <a:r>
              <a:rPr sz="1700" b="0" i="0">
                <a:solidFill>
                  <a:srgbClr val="000000"/>
                </a:solidFill>
                <a:latin typeface="Arial" panose="020B0604020202090204"/>
              </a:rPr>
              <a:t>camera OCR on the device with confidence boxes; PDF bills; matched to card payments</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Transactions and review: </a:t>
            </a:r>
            <a:r>
              <a:rPr sz="1700" b="0" i="0">
                <a:solidFill>
                  <a:srgbClr val="000000"/>
                </a:solidFill>
                <a:latin typeface="Arial" panose="020B0604020202090204"/>
              </a:rPr>
              <a:t>rules, then merchant list, then ML; uncertain items go to Review and become rules</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Anomaly detection: </a:t>
            </a:r>
            <a:r>
              <a:rPr sz="1700" b="0" i="0">
                <a:solidFill>
                  <a:srgbClr val="000000"/>
                </a:solidFill>
                <a:latin typeface="Arial" panose="020B0604020202090204"/>
              </a:rPr>
              <a:t>robust z-score, IsolationForest, duplicate charges and new-merchant spikes</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Cash-flow forecast: </a:t>
            </a:r>
            <a:r>
              <a:rPr sz="1700" b="0" i="0">
                <a:solidFill>
                  <a:srgbClr val="000000"/>
                </a:solidFill>
                <a:latin typeface="Arial" panose="020B0604020202090204"/>
              </a:rPr>
              <a:t>known schedule + Prophet; 80% band, what-if check and a backtest against baselines</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Subscriptions: </a:t>
            </a:r>
            <a:r>
              <a:rPr sz="1700" b="0" i="0">
                <a:solidFill>
                  <a:srgbClr val="000000"/>
                </a:solidFill>
                <a:latin typeface="Arial" panose="020B0604020202090204"/>
              </a:rPr>
              <a:t>price rises, unused plans, trials turned paid and overlaps, ranked by ₹ per year</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Tax insights: </a:t>
            </a:r>
            <a:r>
              <a:rPr sz="1700" b="0" i="0">
                <a:solidFill>
                  <a:srgbClr val="000000"/>
                </a:solidFill>
                <a:latin typeface="Arial" panose="020B0604020202090204"/>
              </a:rPr>
              <a:t>two tax years, both regimes, deductions from transactions, CSV/PDF export</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Insights, coach and budgets: </a:t>
            </a:r>
            <a:r>
              <a:rPr sz="1700" b="0" i="0">
                <a:solidFill>
                  <a:srgbClr val="000000"/>
                </a:solidFill>
                <a:latin typeface="Arial" panose="020B0604020202090204"/>
              </a:rPr>
              <a:t>ranked insights; a coach with 13 intents; budgets and goals feed affordability</a:t>
            </a:r>
            <a:endParaRPr sz="1700" b="0" i="0">
              <a:solidFill>
                <a:srgbClr val="000000"/>
              </a:solidFill>
              <a:latin typeface="Arial" panose="020B0604020202090204"/>
            </a:endParaRPr>
          </a:p>
          <a:p>
            <a:pPr marL="274320" indent="-274320" algn="l">
              <a:spcBef>
                <a:spcPts val="1200"/>
              </a:spcBef>
              <a:buFont typeface="Arial" panose="020B0604020202090204"/>
              <a:buAutoNum type="arabicPeriod"/>
            </a:pPr>
            <a:r>
              <a:rPr sz="1700" b="1" i="0">
                <a:solidFill>
                  <a:srgbClr val="000000"/>
                </a:solidFill>
                <a:latin typeface="Arial" panose="020B0604020202090204"/>
              </a:rPr>
              <a:t>Wishlist: </a:t>
            </a:r>
            <a:r>
              <a:rPr sz="1700" b="0" i="0">
                <a:solidFill>
                  <a:srgbClr val="000000"/>
                </a:solidFill>
                <a:latin typeface="Arial" panose="020B0604020202090204"/>
              </a:rPr>
              <a:t>prices from product links + affordability check with Buy now, For your goals and Save up</a:t>
            </a:r>
            <a:endParaRPr sz="1700" b="0" i="0">
              <a:solidFill>
                <a:srgbClr val="000000"/>
              </a:solidFill>
              <a:latin typeface="Arial" panose="020B0604020202090204"/>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Application Screenshots</a:t>
            </a:r>
            <a:endParaRPr sz="3000" b="1" i="0">
              <a:solidFill>
                <a:srgbClr val="FFFFFF"/>
              </a:solidFill>
              <a:latin typeface="Times New Roman" panose="02020503050405090304"/>
            </a:endParaRPr>
          </a:p>
        </p:txBody>
      </p:sp>
      <p:pic>
        <p:nvPicPr>
          <p:cNvPr id="3" name="Picture 2" descr="dashboard.png"/>
          <p:cNvPicPr>
            <a:picLocks noChangeAspect="1"/>
          </p:cNvPicPr>
          <p:nvPr/>
        </p:nvPicPr>
        <p:blipFill>
          <a:blip r:embed="rId1"/>
          <a:stretch>
            <a:fillRect/>
          </a:stretch>
        </p:blipFill>
        <p:spPr>
          <a:xfrm>
            <a:off x="868680" y="1188720"/>
            <a:ext cx="3291840" cy="2057400"/>
          </a:xfrm>
          <a:prstGeom prst="rect">
            <a:avLst/>
          </a:prstGeom>
          <a:ln w="9525">
            <a:solidFill>
              <a:srgbClr val="7F7F7F"/>
            </a:solidFill>
          </a:ln>
        </p:spPr>
      </p:pic>
      <p:pic>
        <p:nvPicPr>
          <p:cNvPr id="5" name="Picture 4" descr="connections.png"/>
          <p:cNvPicPr>
            <a:picLocks noChangeAspect="1"/>
          </p:cNvPicPr>
          <p:nvPr/>
        </p:nvPicPr>
        <p:blipFill>
          <a:blip r:embed="rId2"/>
          <a:stretch>
            <a:fillRect/>
          </a:stretch>
        </p:blipFill>
        <p:spPr>
          <a:xfrm>
            <a:off x="4453128" y="1188720"/>
            <a:ext cx="3291840" cy="2057400"/>
          </a:xfrm>
          <a:prstGeom prst="rect">
            <a:avLst/>
          </a:prstGeom>
          <a:ln w="9525">
            <a:solidFill>
              <a:srgbClr val="7F7F7F"/>
            </a:solidFill>
          </a:ln>
        </p:spPr>
      </p:pic>
      <p:pic>
        <p:nvPicPr>
          <p:cNvPr id="7" name="Picture 6" descr="forecast.png"/>
          <p:cNvPicPr>
            <a:picLocks noChangeAspect="1"/>
          </p:cNvPicPr>
          <p:nvPr/>
        </p:nvPicPr>
        <p:blipFill>
          <a:blip r:embed="rId3"/>
          <a:stretch>
            <a:fillRect/>
          </a:stretch>
        </p:blipFill>
        <p:spPr>
          <a:xfrm>
            <a:off x="8037575" y="1188720"/>
            <a:ext cx="3291840" cy="2057400"/>
          </a:xfrm>
          <a:prstGeom prst="rect">
            <a:avLst/>
          </a:prstGeom>
          <a:ln w="9525">
            <a:solidFill>
              <a:srgbClr val="7F7F7F"/>
            </a:solidFill>
          </a:ln>
        </p:spPr>
      </p:pic>
      <p:pic>
        <p:nvPicPr>
          <p:cNvPr id="9" name="Picture 8" descr="subscriptions.png"/>
          <p:cNvPicPr>
            <a:picLocks noChangeAspect="1"/>
          </p:cNvPicPr>
          <p:nvPr/>
        </p:nvPicPr>
        <p:blipFill>
          <a:blip r:embed="rId4"/>
          <a:stretch>
            <a:fillRect/>
          </a:stretch>
        </p:blipFill>
        <p:spPr>
          <a:xfrm>
            <a:off x="868680" y="3611880"/>
            <a:ext cx="3291840" cy="2057400"/>
          </a:xfrm>
          <a:prstGeom prst="rect">
            <a:avLst/>
          </a:prstGeom>
          <a:ln w="9525">
            <a:solidFill>
              <a:srgbClr val="7F7F7F"/>
            </a:solidFill>
          </a:ln>
        </p:spPr>
      </p:pic>
      <p:pic>
        <p:nvPicPr>
          <p:cNvPr id="11" name="Picture 10" descr="tax.png"/>
          <p:cNvPicPr>
            <a:picLocks noChangeAspect="1"/>
          </p:cNvPicPr>
          <p:nvPr/>
        </p:nvPicPr>
        <p:blipFill>
          <a:blip r:embed="rId5"/>
          <a:stretch>
            <a:fillRect/>
          </a:stretch>
        </p:blipFill>
        <p:spPr>
          <a:xfrm>
            <a:off x="4453128" y="3611880"/>
            <a:ext cx="3291840" cy="2057400"/>
          </a:xfrm>
          <a:prstGeom prst="rect">
            <a:avLst/>
          </a:prstGeom>
          <a:ln w="9525">
            <a:solidFill>
              <a:srgbClr val="7F7F7F"/>
            </a:solidFill>
          </a:ln>
        </p:spPr>
      </p:pic>
      <p:pic>
        <p:nvPicPr>
          <p:cNvPr id="13" name="Picture 12" descr="picks.png"/>
          <p:cNvPicPr>
            <a:picLocks noChangeAspect="1"/>
          </p:cNvPicPr>
          <p:nvPr/>
        </p:nvPicPr>
        <p:blipFill>
          <a:blip r:embed="rId6"/>
          <a:stretch>
            <a:fillRect/>
          </a:stretch>
        </p:blipFill>
        <p:spPr>
          <a:xfrm>
            <a:off x="8037575" y="3611880"/>
            <a:ext cx="3291840" cy="2057400"/>
          </a:xfrm>
          <a:prstGeom prst="rect">
            <a:avLst/>
          </a:prstGeom>
          <a:ln w="9525">
            <a:solidFill>
              <a:srgbClr val="7F7F7F"/>
            </a:solidFill>
          </a:ln>
        </p:spPr>
      </p:pic>
      <p:sp>
        <p:nvSpPr>
          <p:cNvPr id="14" name="TextBox 13"/>
          <p:cNvSpPr txBox="1"/>
          <p:nvPr/>
        </p:nvSpPr>
        <p:spPr>
          <a:xfrm>
            <a:off x="868680" y="328269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1: Dashboard</a:t>
            </a:r>
            <a:endParaRPr sz="1200" b="0" i="0">
              <a:solidFill>
                <a:srgbClr val="000000"/>
              </a:solidFill>
              <a:latin typeface="Arial" panose="020B0604020202090204"/>
            </a:endParaRPr>
          </a:p>
        </p:txBody>
      </p:sp>
      <p:sp>
        <p:nvSpPr>
          <p:cNvPr id="15" name="TextBox 14"/>
          <p:cNvSpPr txBox="1"/>
          <p:nvPr/>
        </p:nvSpPr>
        <p:spPr>
          <a:xfrm>
            <a:off x="4453128" y="328269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2: Connections (consent per source)</a:t>
            </a:r>
            <a:endParaRPr sz="1200" b="0" i="0">
              <a:solidFill>
                <a:srgbClr val="000000"/>
              </a:solidFill>
              <a:latin typeface="Arial" panose="020B0604020202090204"/>
            </a:endParaRPr>
          </a:p>
        </p:txBody>
      </p:sp>
      <p:sp>
        <p:nvSpPr>
          <p:cNvPr id="16" name="TextBox 15"/>
          <p:cNvSpPr txBox="1"/>
          <p:nvPr/>
        </p:nvSpPr>
        <p:spPr>
          <a:xfrm>
            <a:off x="8037575" y="328269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3: Forecast with what-if check</a:t>
            </a:r>
            <a:endParaRPr sz="1200" b="0" i="0">
              <a:solidFill>
                <a:srgbClr val="000000"/>
              </a:solidFill>
              <a:latin typeface="Arial" panose="020B0604020202090204"/>
            </a:endParaRPr>
          </a:p>
        </p:txBody>
      </p:sp>
      <p:sp>
        <p:nvSpPr>
          <p:cNvPr id="17" name="TextBox 16"/>
          <p:cNvSpPr txBox="1"/>
          <p:nvPr/>
        </p:nvSpPr>
        <p:spPr>
          <a:xfrm>
            <a:off x="868680" y="570585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4: Subscriptions (ranked savings)</a:t>
            </a:r>
            <a:endParaRPr sz="1200" b="0" i="0">
              <a:solidFill>
                <a:srgbClr val="000000"/>
              </a:solidFill>
              <a:latin typeface="Arial" panose="020B0604020202090204"/>
            </a:endParaRPr>
          </a:p>
        </p:txBody>
      </p:sp>
      <p:sp>
        <p:nvSpPr>
          <p:cNvPr id="18" name="TextBox 17"/>
          <p:cNvSpPr txBox="1"/>
          <p:nvPr/>
        </p:nvSpPr>
        <p:spPr>
          <a:xfrm>
            <a:off x="4453128" y="570585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5: Tax: old vs new regime</a:t>
            </a:r>
            <a:endParaRPr sz="1200" b="0" i="0">
              <a:solidFill>
                <a:srgbClr val="000000"/>
              </a:solidFill>
              <a:latin typeface="Arial" panose="020B0604020202090204"/>
            </a:endParaRPr>
          </a:p>
        </p:txBody>
      </p:sp>
      <p:sp>
        <p:nvSpPr>
          <p:cNvPr id="19" name="TextBox 18"/>
          <p:cNvSpPr txBox="1"/>
          <p:nvPr/>
        </p:nvSpPr>
        <p:spPr>
          <a:xfrm>
            <a:off x="8037575" y="5705856"/>
            <a:ext cx="3291840" cy="292608"/>
          </a:xfrm>
          <a:prstGeom prst="rect">
            <a:avLst/>
          </a:prstGeom>
          <a:noFill/>
        </p:spPr>
        <p:txBody>
          <a:bodyPr wrap="square" lIns="45720" tIns="27432" rIns="45720" bIns="27432" anchor="t">
            <a:noAutofit/>
          </a:bodyPr>
          <a:lstStyle/>
          <a:p>
            <a:pPr algn="ctr">
              <a:spcBef>
                <a:spcPts val="0"/>
              </a:spcBef>
              <a:buNone/>
            </a:pPr>
            <a:r>
              <a:rPr sz="1200" b="0" i="0">
                <a:solidFill>
                  <a:srgbClr val="000000"/>
                </a:solidFill>
                <a:latin typeface="Arial" panose="020B0604020202090204"/>
              </a:rPr>
              <a:t>Fig. 6: Wishlist</a:t>
            </a:r>
            <a:endParaRPr sz="1200" b="0" i="0">
              <a:solidFill>
                <a:srgbClr val="000000"/>
              </a:solidFill>
              <a:latin typeface="Arial" panose="020B0604020202090204"/>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Data Flow</a:t>
            </a:r>
            <a:endParaRPr sz="3000" b="1" i="0">
              <a:solidFill>
                <a:srgbClr val="FFFFFF"/>
              </a:solidFill>
              <a:latin typeface="Times New Roman" panose="02020503050405090304"/>
            </a:endParaRPr>
          </a:p>
        </p:txBody>
      </p:sp>
      <p:sp>
        <p:nvSpPr>
          <p:cNvPr id="3" name="TextBox 2"/>
          <p:cNvSpPr txBox="1"/>
          <p:nvPr/>
        </p:nvSpPr>
        <p:spPr>
          <a:xfrm>
            <a:off x="548640" y="1143000"/>
            <a:ext cx="11091672" cy="365760"/>
          </a:xfrm>
          <a:prstGeom prst="rect">
            <a:avLst/>
          </a:prstGeom>
          <a:noFill/>
        </p:spPr>
        <p:txBody>
          <a:bodyPr wrap="square" lIns="45720" tIns="27432" rIns="45720" bIns="27432" anchor="t">
            <a:noAutofit/>
          </a:bodyPr>
          <a:lstStyle/>
          <a:p>
            <a:pPr algn="l">
              <a:spcBef>
                <a:spcPts val="0"/>
              </a:spcBef>
              <a:buNone/>
            </a:pPr>
            <a:r>
              <a:rPr sz="1500" b="1" i="0">
                <a:solidFill>
                  <a:srgbClr val="000000"/>
                </a:solidFill>
                <a:latin typeface="Arial" panose="020B0604020202090204"/>
              </a:rPr>
              <a:t>Capture pipeline </a:t>
            </a:r>
            <a:r>
              <a:rPr sz="1500" b="0" i="0">
                <a:solidFill>
                  <a:srgbClr val="000000"/>
                </a:solidFill>
                <a:latin typeface="Arial" panose="020B0604020202090204"/>
              </a:rPr>
              <a:t>(same for the phone's SMS, the mailbox and file imports)</a:t>
            </a:r>
            <a:endParaRPr sz="1500" b="0" i="0">
              <a:solidFill>
                <a:srgbClr val="000000"/>
              </a:solidFill>
              <a:latin typeface="Arial" panose="020B0604020202090204"/>
            </a:endParaRPr>
          </a:p>
        </p:txBody>
      </p:sp>
      <p:sp>
        <p:nvSpPr>
          <p:cNvPr id="4" name="Rectangle 3"/>
          <p:cNvSpPr/>
          <p:nvPr/>
        </p:nvSpPr>
        <p:spPr>
          <a:xfrm>
            <a:off x="548640"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Consent gate</a:t>
            </a:r>
            <a:endParaRPr sz="1300" b="1" i="0">
              <a:solidFill>
                <a:srgbClr val="000000"/>
              </a:solidFill>
              <a:latin typeface="Arial" panose="020B0604020202090204"/>
            </a:endParaRPr>
          </a:p>
        </p:txBody>
      </p:sp>
      <p:sp>
        <p:nvSpPr>
          <p:cNvPr id="5" name="TextBox 4"/>
          <p:cNvSpPr txBox="1"/>
          <p:nvPr/>
        </p:nvSpPr>
        <p:spPr>
          <a:xfrm>
            <a:off x="502919"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Rejected unless the source is active</a:t>
            </a:r>
            <a:endParaRPr sz="1200" b="0" i="0">
              <a:solidFill>
                <a:srgbClr val="000000"/>
              </a:solidFill>
              <a:latin typeface="Arial" panose="020B0604020202090204"/>
            </a:endParaRPr>
          </a:p>
        </p:txBody>
      </p:sp>
      <p:cxnSp>
        <p:nvCxnSpPr>
          <p:cNvPr id="6" name="Connector 5"/>
          <p:cNvCxnSpPr/>
          <p:nvPr/>
        </p:nvCxnSpPr>
        <p:spPr>
          <a:xfrm>
            <a:off x="2103120" y="1828800"/>
            <a:ext cx="351129" cy="0"/>
          </a:xfrm>
          <a:prstGeom prst="line">
            <a:avLst/>
          </a:prstGeom>
          <a:ln w="15875">
            <a:solidFill>
              <a:srgbClr val="000000"/>
            </a:solidFill>
            <a:tailEnd type="triangle" w="med" len="med"/>
          </a:ln>
        </p:spPr>
      </p:cxnSp>
      <p:sp>
        <p:nvSpPr>
          <p:cNvPr id="7" name="Rectangle 6"/>
          <p:cNvSpPr/>
          <p:nvPr/>
        </p:nvSpPr>
        <p:spPr>
          <a:xfrm>
            <a:off x="2454249"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Pre-filter</a:t>
            </a:r>
            <a:endParaRPr sz="1300" b="1" i="0">
              <a:solidFill>
                <a:srgbClr val="000000"/>
              </a:solidFill>
              <a:latin typeface="Arial" panose="020B0604020202090204"/>
            </a:endParaRPr>
          </a:p>
        </p:txBody>
      </p:sp>
      <p:sp>
        <p:nvSpPr>
          <p:cNvPr id="8" name="TextBox 7"/>
          <p:cNvSpPr txBox="1"/>
          <p:nvPr/>
        </p:nvSpPr>
        <p:spPr>
          <a:xfrm>
            <a:off x="2408529"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Chats, OTPs and -P promos dropped on the phone; non-allowlisted e-mail</a:t>
            </a:r>
            <a:endParaRPr sz="1200" b="0" i="0">
              <a:solidFill>
                <a:srgbClr val="000000"/>
              </a:solidFill>
              <a:latin typeface="Arial" panose="020B0604020202090204"/>
            </a:endParaRPr>
          </a:p>
        </p:txBody>
      </p:sp>
      <p:cxnSp>
        <p:nvCxnSpPr>
          <p:cNvPr id="9" name="Connector 8"/>
          <p:cNvCxnSpPr/>
          <p:nvPr/>
        </p:nvCxnSpPr>
        <p:spPr>
          <a:xfrm>
            <a:off x="4008729" y="1828800"/>
            <a:ext cx="351130" cy="0"/>
          </a:xfrm>
          <a:prstGeom prst="line">
            <a:avLst/>
          </a:prstGeom>
          <a:ln w="15875">
            <a:solidFill>
              <a:srgbClr val="000000"/>
            </a:solidFill>
            <a:tailEnd type="triangle" w="med" len="med"/>
          </a:ln>
        </p:spPr>
      </p:cxnSp>
      <p:sp>
        <p:nvSpPr>
          <p:cNvPr id="10" name="Rectangle 9"/>
          <p:cNvSpPr/>
          <p:nvPr/>
        </p:nvSpPr>
        <p:spPr>
          <a:xfrm>
            <a:off x="4359859"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Classify</a:t>
            </a:r>
            <a:endParaRPr sz="1300" b="1" i="0">
              <a:solidFill>
                <a:srgbClr val="000000"/>
              </a:solidFill>
              <a:latin typeface="Arial" panose="020B0604020202090204"/>
            </a:endParaRPr>
          </a:p>
        </p:txBody>
      </p:sp>
      <p:sp>
        <p:nvSpPr>
          <p:cNvPr id="11" name="TextBox 10"/>
          <p:cNvSpPr txBox="1"/>
          <p:nvPr/>
        </p:nvSpPr>
        <p:spPr>
          <a:xfrm>
            <a:off x="4314139"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12 message types (TF-IDF + LR); OTPs are never stored</a:t>
            </a:r>
            <a:endParaRPr sz="1200" b="0" i="0">
              <a:solidFill>
                <a:srgbClr val="000000"/>
              </a:solidFill>
              <a:latin typeface="Arial" panose="020B0604020202090204"/>
            </a:endParaRPr>
          </a:p>
        </p:txBody>
      </p:sp>
      <p:cxnSp>
        <p:nvCxnSpPr>
          <p:cNvPr id="12" name="Connector 11"/>
          <p:cNvCxnSpPr/>
          <p:nvPr/>
        </p:nvCxnSpPr>
        <p:spPr>
          <a:xfrm>
            <a:off x="5914339" y="1828800"/>
            <a:ext cx="351129" cy="0"/>
          </a:xfrm>
          <a:prstGeom prst="line">
            <a:avLst/>
          </a:prstGeom>
          <a:ln w="15875">
            <a:solidFill>
              <a:srgbClr val="000000"/>
            </a:solidFill>
            <a:tailEnd type="triangle" w="med" len="med"/>
          </a:ln>
        </p:spPr>
      </p:cxnSp>
      <p:sp>
        <p:nvSpPr>
          <p:cNvPr id="13" name="Rectangle 12"/>
          <p:cNvSpPr/>
          <p:nvPr/>
        </p:nvSpPr>
        <p:spPr>
          <a:xfrm>
            <a:off x="6265468"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Extract</a:t>
            </a:r>
            <a:endParaRPr sz="1300" b="1" i="0">
              <a:solidFill>
                <a:srgbClr val="000000"/>
              </a:solidFill>
              <a:latin typeface="Arial" panose="020B0604020202090204"/>
            </a:endParaRPr>
          </a:p>
        </p:txBody>
      </p:sp>
      <p:sp>
        <p:nvSpPr>
          <p:cNvPr id="14" name="TextBox 13"/>
          <p:cNvSpPr txBox="1"/>
          <p:nvPr/>
        </p:nvSpPr>
        <p:spPr>
          <a:xfrm>
            <a:off x="6219748"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Bank templates first, then a generic reader; each field gets a confidence</a:t>
            </a:r>
            <a:endParaRPr sz="1200" b="0" i="0">
              <a:solidFill>
                <a:srgbClr val="000000"/>
              </a:solidFill>
              <a:latin typeface="Arial" panose="020B0604020202090204"/>
            </a:endParaRPr>
          </a:p>
        </p:txBody>
      </p:sp>
      <p:cxnSp>
        <p:nvCxnSpPr>
          <p:cNvPr id="15" name="Connector 14"/>
          <p:cNvCxnSpPr/>
          <p:nvPr/>
        </p:nvCxnSpPr>
        <p:spPr>
          <a:xfrm>
            <a:off x="7819948" y="1828800"/>
            <a:ext cx="351130" cy="0"/>
          </a:xfrm>
          <a:prstGeom prst="line">
            <a:avLst/>
          </a:prstGeom>
          <a:ln w="15875">
            <a:solidFill>
              <a:srgbClr val="000000"/>
            </a:solidFill>
            <a:tailEnd type="triangle" w="med" len="med"/>
          </a:ln>
        </p:spPr>
      </p:cxnSp>
      <p:sp>
        <p:nvSpPr>
          <p:cNvPr id="16" name="Rectangle 15"/>
          <p:cNvSpPr/>
          <p:nvPr/>
        </p:nvSpPr>
        <p:spPr>
          <a:xfrm>
            <a:off x="8171078"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Reconcile</a:t>
            </a:r>
            <a:endParaRPr sz="1300" b="1" i="0">
              <a:solidFill>
                <a:srgbClr val="000000"/>
              </a:solidFill>
              <a:latin typeface="Arial" panose="020B0604020202090204"/>
            </a:endParaRPr>
          </a:p>
        </p:txBody>
      </p:sp>
      <p:sp>
        <p:nvSpPr>
          <p:cNvPr id="17" name="TextBox 16"/>
          <p:cNvSpPr txBox="1"/>
          <p:nvPr/>
        </p:nvSpPr>
        <p:spPr>
          <a:xfrm>
            <a:off x="8125358"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One transaction per payment across SMS and e-mail; transfers, refunds</a:t>
            </a:r>
            <a:endParaRPr sz="1200" b="0" i="0">
              <a:solidFill>
                <a:srgbClr val="000000"/>
              </a:solidFill>
              <a:latin typeface="Arial" panose="020B0604020202090204"/>
            </a:endParaRPr>
          </a:p>
        </p:txBody>
      </p:sp>
      <p:cxnSp>
        <p:nvCxnSpPr>
          <p:cNvPr id="18" name="Connector 17"/>
          <p:cNvCxnSpPr/>
          <p:nvPr/>
        </p:nvCxnSpPr>
        <p:spPr>
          <a:xfrm>
            <a:off x="9725558" y="1828800"/>
            <a:ext cx="351130" cy="0"/>
          </a:xfrm>
          <a:prstGeom prst="line">
            <a:avLst/>
          </a:prstGeom>
          <a:ln w="15875">
            <a:solidFill>
              <a:srgbClr val="000000"/>
            </a:solidFill>
            <a:tailEnd type="triangle" w="med" len="med"/>
          </a:ln>
        </p:spPr>
      </p:cxnSp>
      <p:sp>
        <p:nvSpPr>
          <p:cNvPr id="19" name="Rectangle 18"/>
          <p:cNvSpPr/>
          <p:nvPr/>
        </p:nvSpPr>
        <p:spPr>
          <a:xfrm>
            <a:off x="10076688" y="1600200"/>
            <a:ext cx="15544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Categorise</a:t>
            </a:r>
            <a:endParaRPr sz="1300" b="1" i="0">
              <a:solidFill>
                <a:srgbClr val="000000"/>
              </a:solidFill>
              <a:latin typeface="Arial" panose="020B0604020202090204"/>
            </a:endParaRPr>
          </a:p>
        </p:txBody>
      </p:sp>
      <p:sp>
        <p:nvSpPr>
          <p:cNvPr id="20" name="TextBox 19"/>
          <p:cNvSpPr txBox="1"/>
          <p:nvPr/>
        </p:nvSpPr>
        <p:spPr>
          <a:xfrm>
            <a:off x="10030967" y="2121408"/>
            <a:ext cx="1645920" cy="1188720"/>
          </a:xfrm>
          <a:prstGeom prst="rect">
            <a:avLst/>
          </a:prstGeom>
          <a:noFill/>
        </p:spPr>
        <p:txBody>
          <a:bodyPr wrap="square" lIns="45720" tIns="27432" rIns="45720" bIns="27432" anchor="t">
            <a:noAutofit/>
          </a:bodyPr>
          <a:lstStyle/>
          <a:p>
            <a:pPr algn="l">
              <a:spcBef>
                <a:spcPts val="0"/>
              </a:spcBef>
              <a:buNone/>
            </a:pPr>
            <a:r>
              <a:rPr sz="1200" b="0" i="0">
                <a:solidFill>
                  <a:srgbClr val="000000"/>
                </a:solidFill>
                <a:latin typeface="Arial" panose="020B0604020202090204"/>
              </a:rPr>
              <a:t>Rules, merchant list, ML, then the Review queue</a:t>
            </a:r>
            <a:endParaRPr sz="1200" b="0" i="0">
              <a:solidFill>
                <a:srgbClr val="000000"/>
              </a:solidFill>
              <a:latin typeface="Arial" panose="020B0604020202090204"/>
            </a:endParaRPr>
          </a:p>
        </p:txBody>
      </p:sp>
      <p:sp>
        <p:nvSpPr>
          <p:cNvPr id="21" name="TextBox 20"/>
          <p:cNvSpPr txBox="1"/>
          <p:nvPr/>
        </p:nvSpPr>
        <p:spPr>
          <a:xfrm>
            <a:off x="548640" y="3429000"/>
            <a:ext cx="11091672" cy="365760"/>
          </a:xfrm>
          <a:prstGeom prst="rect">
            <a:avLst/>
          </a:prstGeom>
          <a:noFill/>
        </p:spPr>
        <p:txBody>
          <a:bodyPr wrap="square" lIns="45720" tIns="27432" rIns="45720" bIns="27432" anchor="t">
            <a:noAutofit/>
          </a:bodyPr>
          <a:lstStyle/>
          <a:p>
            <a:pPr algn="l">
              <a:spcBef>
                <a:spcPts val="0"/>
              </a:spcBef>
              <a:buNone/>
            </a:pPr>
            <a:r>
              <a:rPr sz="1500" b="1" i="0">
                <a:solidFill>
                  <a:srgbClr val="000000"/>
                </a:solidFill>
                <a:latin typeface="Arial" panose="020B0604020202090204"/>
              </a:rPr>
              <a:t>Analytics after new data </a:t>
            </a:r>
            <a:r>
              <a:rPr sz="1500" b="0" i="0">
                <a:solidFill>
                  <a:srgbClr val="000000"/>
                </a:solidFill>
                <a:latin typeface="Arial" panose="020B0604020202090204"/>
              </a:rPr>
              <a:t>(user_analytics background job, also runs nightly)</a:t>
            </a:r>
            <a:endParaRPr sz="1500" b="0" i="0">
              <a:solidFill>
                <a:srgbClr val="000000"/>
              </a:solidFill>
              <a:latin typeface="Arial" panose="020B0604020202090204"/>
            </a:endParaRPr>
          </a:p>
        </p:txBody>
      </p:sp>
      <p:sp>
        <p:nvSpPr>
          <p:cNvPr id="22" name="Rectangle 21"/>
          <p:cNvSpPr/>
          <p:nvPr/>
        </p:nvSpPr>
        <p:spPr>
          <a:xfrm>
            <a:off x="548640" y="3886200"/>
            <a:ext cx="13258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Anomalies</a:t>
            </a:r>
            <a:endParaRPr sz="1300" b="1" i="0">
              <a:solidFill>
                <a:srgbClr val="000000"/>
              </a:solidFill>
              <a:latin typeface="Arial" panose="020B0604020202090204"/>
            </a:endParaRPr>
          </a:p>
        </p:txBody>
      </p:sp>
      <p:cxnSp>
        <p:nvCxnSpPr>
          <p:cNvPr id="23" name="Connector 22"/>
          <p:cNvCxnSpPr/>
          <p:nvPr/>
        </p:nvCxnSpPr>
        <p:spPr>
          <a:xfrm>
            <a:off x="1874519" y="4114800"/>
            <a:ext cx="274320" cy="0"/>
          </a:xfrm>
          <a:prstGeom prst="line">
            <a:avLst/>
          </a:prstGeom>
          <a:ln w="15875">
            <a:solidFill>
              <a:srgbClr val="000000"/>
            </a:solidFill>
            <a:tailEnd type="triangle" w="med" len="med"/>
          </a:ln>
        </p:spPr>
      </p:cxnSp>
      <p:sp>
        <p:nvSpPr>
          <p:cNvPr id="24" name="Rectangle 23"/>
          <p:cNvSpPr/>
          <p:nvPr/>
        </p:nvSpPr>
        <p:spPr>
          <a:xfrm>
            <a:off x="2148840" y="3886200"/>
            <a:ext cx="13258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Subscriptions</a:t>
            </a:r>
            <a:endParaRPr sz="1300" b="1" i="0">
              <a:solidFill>
                <a:srgbClr val="000000"/>
              </a:solidFill>
              <a:latin typeface="Arial" panose="020B0604020202090204"/>
            </a:endParaRPr>
          </a:p>
        </p:txBody>
      </p:sp>
      <p:cxnSp>
        <p:nvCxnSpPr>
          <p:cNvPr id="25" name="Connector 24"/>
          <p:cNvCxnSpPr/>
          <p:nvPr/>
        </p:nvCxnSpPr>
        <p:spPr>
          <a:xfrm>
            <a:off x="3474720" y="4114800"/>
            <a:ext cx="274319" cy="0"/>
          </a:xfrm>
          <a:prstGeom prst="line">
            <a:avLst/>
          </a:prstGeom>
          <a:ln w="15875">
            <a:solidFill>
              <a:srgbClr val="000000"/>
            </a:solidFill>
            <a:tailEnd type="triangle" w="med" len="med"/>
          </a:ln>
        </p:spPr>
      </p:cxnSp>
      <p:sp>
        <p:nvSpPr>
          <p:cNvPr id="26" name="Rectangle 25"/>
          <p:cNvSpPr/>
          <p:nvPr/>
        </p:nvSpPr>
        <p:spPr>
          <a:xfrm>
            <a:off x="3749039" y="3886200"/>
            <a:ext cx="13258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Forecast</a:t>
            </a:r>
            <a:endParaRPr sz="1300" b="1" i="0">
              <a:solidFill>
                <a:srgbClr val="000000"/>
              </a:solidFill>
              <a:latin typeface="Arial" panose="020B0604020202090204"/>
            </a:endParaRPr>
          </a:p>
        </p:txBody>
      </p:sp>
      <p:cxnSp>
        <p:nvCxnSpPr>
          <p:cNvPr id="27" name="Connector 26"/>
          <p:cNvCxnSpPr/>
          <p:nvPr/>
        </p:nvCxnSpPr>
        <p:spPr>
          <a:xfrm>
            <a:off x="5074920" y="4114800"/>
            <a:ext cx="274320" cy="0"/>
          </a:xfrm>
          <a:prstGeom prst="line">
            <a:avLst/>
          </a:prstGeom>
          <a:ln w="15875">
            <a:solidFill>
              <a:srgbClr val="000000"/>
            </a:solidFill>
            <a:tailEnd type="triangle" w="med" len="med"/>
          </a:ln>
        </p:spPr>
      </p:cxnSp>
      <p:sp>
        <p:nvSpPr>
          <p:cNvPr id="28" name="Rectangle 27"/>
          <p:cNvSpPr/>
          <p:nvPr/>
        </p:nvSpPr>
        <p:spPr>
          <a:xfrm>
            <a:off x="5349240" y="3886200"/>
            <a:ext cx="13258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Wishlist tiers</a:t>
            </a:r>
            <a:endParaRPr sz="1300" b="1" i="0">
              <a:solidFill>
                <a:srgbClr val="000000"/>
              </a:solidFill>
              <a:latin typeface="Arial" panose="020B0604020202090204"/>
            </a:endParaRPr>
          </a:p>
        </p:txBody>
      </p:sp>
      <p:cxnSp>
        <p:nvCxnSpPr>
          <p:cNvPr id="29" name="Connector 28"/>
          <p:cNvCxnSpPr/>
          <p:nvPr/>
        </p:nvCxnSpPr>
        <p:spPr>
          <a:xfrm>
            <a:off x="6675120" y="4114800"/>
            <a:ext cx="274320" cy="0"/>
          </a:xfrm>
          <a:prstGeom prst="line">
            <a:avLst/>
          </a:prstGeom>
          <a:ln w="15875">
            <a:solidFill>
              <a:srgbClr val="000000"/>
            </a:solidFill>
            <a:tailEnd type="triangle" w="med" len="med"/>
          </a:ln>
        </p:spPr>
      </p:cxnSp>
      <p:sp>
        <p:nvSpPr>
          <p:cNvPr id="30" name="Rectangle 29"/>
          <p:cNvSpPr/>
          <p:nvPr/>
        </p:nvSpPr>
        <p:spPr>
          <a:xfrm>
            <a:off x="6949440" y="3886200"/>
            <a:ext cx="1325880" cy="45720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300" b="1" i="0">
                <a:solidFill>
                  <a:srgbClr val="000000"/>
                </a:solidFill>
                <a:latin typeface="Arial" panose="020B0604020202090204"/>
              </a:rPr>
              <a:t>Insights</a:t>
            </a:r>
            <a:endParaRPr sz="1300" b="1" i="0">
              <a:solidFill>
                <a:srgbClr val="000000"/>
              </a:solidFill>
              <a:latin typeface="Arial" panose="020B0604020202090204"/>
            </a:endParaRPr>
          </a:p>
        </p:txBody>
      </p:sp>
      <p:cxnSp>
        <p:nvCxnSpPr>
          <p:cNvPr id="31" name="Connector 30"/>
          <p:cNvCxnSpPr/>
          <p:nvPr/>
        </p:nvCxnSpPr>
        <p:spPr>
          <a:xfrm>
            <a:off x="8275319" y="4114800"/>
            <a:ext cx="274321" cy="0"/>
          </a:xfrm>
          <a:prstGeom prst="line">
            <a:avLst/>
          </a:prstGeom>
          <a:ln w="15875">
            <a:solidFill>
              <a:srgbClr val="000000"/>
            </a:solidFill>
            <a:tailEnd type="triangle" w="med" len="med"/>
          </a:ln>
        </p:spPr>
      </p:cxnSp>
      <p:sp>
        <p:nvSpPr>
          <p:cNvPr id="32" name="Rectangle 31"/>
          <p:cNvSpPr/>
          <p:nvPr/>
        </p:nvSpPr>
        <p:spPr>
          <a:xfrm>
            <a:off x="8549640" y="3749039"/>
            <a:ext cx="3090672" cy="731520"/>
          </a:xfrm>
          <a:prstGeom prst="rect">
            <a:avLst/>
          </a:prstGeom>
          <a:solidFill>
            <a:srgbClr val="FFFFFF"/>
          </a:solidFill>
          <a:ln w="12700">
            <a:solidFill>
              <a:srgbClr val="000000"/>
            </a:solidFill>
          </a:ln>
        </p:spPr>
        <p:txBody>
          <a:bodyPr wrap="square" lIns="73152" tIns="36576" rIns="73152" bIns="36576" rtlCol="0" anchor="ctr">
            <a:noAutofit/>
          </a:bodyPr>
          <a:lstStyle/>
          <a:p>
            <a:pPr algn="ctr">
              <a:spcBef>
                <a:spcPts val="0"/>
              </a:spcBef>
              <a:buNone/>
            </a:pPr>
            <a:r>
              <a:rPr sz="1200" b="1" i="0">
                <a:solidFill>
                  <a:srgbClr val="000000"/>
                </a:solidFill>
                <a:latin typeface="Arial" panose="020B0604020202090204"/>
              </a:rPr>
              <a:t>Pages read the results</a:t>
            </a:r>
            <a:endParaRPr sz="1200" b="1" i="0">
              <a:solidFill>
                <a:srgbClr val="000000"/>
              </a:solidFill>
              <a:latin typeface="Arial" panose="020B0604020202090204"/>
            </a:endParaRPr>
          </a:p>
          <a:p>
            <a:pPr algn="ctr">
              <a:spcBef>
                <a:spcPts val="0"/>
              </a:spcBef>
              <a:buNone/>
            </a:pPr>
            <a:r>
              <a:rPr sz="1200" b="0" i="0">
                <a:solidFill>
                  <a:srgbClr val="000000"/>
                </a:solidFill>
                <a:latin typeface="Arial" panose="020B0604020202090204"/>
              </a:rPr>
              <a:t>Dashboard, Forecast, Subscriptions, Wishlist, Insights</a:t>
            </a:r>
            <a:endParaRPr sz="1200" b="0" i="0">
              <a:solidFill>
                <a:srgbClr val="000000"/>
              </a:solidFill>
              <a:latin typeface="Arial" panose="020B0604020202090204"/>
            </a:endParaRPr>
          </a:p>
        </p:txBody>
      </p:sp>
      <p:sp>
        <p:nvSpPr>
          <p:cNvPr id="33" name="TextBox 32"/>
          <p:cNvSpPr txBox="1"/>
          <p:nvPr/>
        </p:nvSpPr>
        <p:spPr>
          <a:xfrm>
            <a:off x="548640" y="4754880"/>
            <a:ext cx="11091672" cy="914400"/>
          </a:xfrm>
          <a:prstGeom prst="rect">
            <a:avLst/>
          </a:prstGeom>
          <a:noFill/>
        </p:spPr>
        <p:txBody>
          <a:bodyPr wrap="square" lIns="45720" tIns="27432" rIns="45720" bIns="27432" anchor="t">
            <a:noAutofit/>
          </a:bodyPr>
          <a:lstStyle/>
          <a:p>
            <a:pPr algn="l">
              <a:spcBef>
                <a:spcPts val="0"/>
              </a:spcBef>
              <a:buNone/>
            </a:pPr>
            <a:r>
              <a:rPr sz="1400" b="0" i="0">
                <a:solidFill>
                  <a:srgbClr val="000000"/>
                </a:solidFill>
                <a:latin typeface="Arial" panose="020B0604020202090204"/>
              </a:rPr>
              <a:t>Results are stored in SQLite (forecasts, subscriptions, anomalies, insights). Wishlist tiers and tax are calculated on each request. Each stage runs in its own try/except block, so one failure does not stop the others.</a:t>
            </a:r>
            <a:endParaRPr sz="1400" b="0" i="0">
              <a:solidFill>
                <a:srgbClr val="000000"/>
              </a:solidFill>
              <a:latin typeface="Arial" panose="020B0604020202090204"/>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Database Design</a:t>
            </a:r>
            <a:endParaRPr sz="3000" b="1" i="0">
              <a:solidFill>
                <a:srgbClr val="FFFFFF"/>
              </a:solidFill>
              <a:latin typeface="Times New Roman" panose="02020503050405090304"/>
            </a:endParaRPr>
          </a:p>
        </p:txBody>
      </p:sp>
      <p:sp>
        <p:nvSpPr>
          <p:cNvPr id="3" name="TextBox 2"/>
          <p:cNvSpPr txBox="1"/>
          <p:nvPr/>
        </p:nvSpPr>
        <p:spPr>
          <a:xfrm>
            <a:off x="548640" y="1143000"/>
            <a:ext cx="548640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Key design decisions</a:t>
            </a:r>
            <a:endParaRPr sz="1700" b="1" i="0">
              <a:solidFill>
                <a:srgbClr val="002060"/>
              </a:solidFill>
              <a:latin typeface="Arial" panose="020B0604020202090204"/>
            </a:endParaRPr>
          </a:p>
        </p:txBody>
      </p:sp>
      <p:sp>
        <p:nvSpPr>
          <p:cNvPr id="4" name="TextBox 3"/>
          <p:cNvSpPr txBox="1"/>
          <p:nvPr/>
        </p:nvSpPr>
        <p:spPr>
          <a:xfrm>
            <a:off x="548640" y="1508760"/>
            <a:ext cx="5486400" cy="1828800"/>
          </a:xfrm>
          <a:prstGeom prst="rect">
            <a:avLst/>
          </a:prstGeom>
          <a:noFill/>
        </p:spPr>
        <p:txBody>
          <a:bodyPr wrap="square" lIns="45720" tIns="27432" rIns="45720" bIns="27432" anchor="t">
            <a:noAutofit/>
          </a:bodyPr>
          <a:lstStyle/>
          <a:p>
            <a:pPr marL="274320" indent="-274320" algn="l">
              <a:spcBef>
                <a:spcPts val="400"/>
              </a:spcBef>
              <a:buFont typeface="Arial" panose="020B0604020202090204"/>
              <a:buChar char="•"/>
            </a:pPr>
            <a:r>
              <a:rPr sz="1400" b="0" i="0">
                <a:solidFill>
                  <a:srgbClr val="000000"/>
                </a:solidFill>
                <a:latin typeface="Arial" panose="020B0604020202090204"/>
              </a:rPr>
              <a:t>29 tables created from two Alembic migrations; SQLite in WAL mode</a:t>
            </a:r>
            <a:endParaRPr sz="1400" b="0" i="0">
              <a:solidFill>
                <a:srgbClr val="000000"/>
              </a:solidFill>
              <a:latin typeface="Arial" panose="020B0604020202090204"/>
            </a:endParaRPr>
          </a:p>
          <a:p>
            <a:pPr marL="274320" indent="-274320" algn="l">
              <a:spcBef>
                <a:spcPts val="400"/>
              </a:spcBef>
              <a:buFont typeface="Arial" panose="020B0604020202090204"/>
              <a:buChar char="•"/>
            </a:pPr>
            <a:r>
              <a:rPr sz="1400" b="0" i="0">
                <a:solidFill>
                  <a:srgbClr val="000000"/>
                </a:solidFill>
                <a:latin typeface="Arial" panose="020B0604020202090204"/>
              </a:rPr>
              <a:t>Money stored as integer paise and used as Decimal, never as float</a:t>
            </a:r>
            <a:endParaRPr sz="1400" b="0" i="0">
              <a:solidFill>
                <a:srgbClr val="000000"/>
              </a:solidFill>
              <a:latin typeface="Arial" panose="020B0604020202090204"/>
            </a:endParaRPr>
          </a:p>
          <a:p>
            <a:pPr marL="274320" indent="-274320" algn="l">
              <a:spcBef>
                <a:spcPts val="400"/>
              </a:spcBef>
              <a:buFont typeface="Arial" panose="020B0604020202090204"/>
              <a:buChar char="•"/>
            </a:pPr>
            <a:r>
              <a:rPr sz="1400" b="0" i="0">
                <a:solidFill>
                  <a:srgbClr val="000000"/>
                </a:solidFill>
                <a:latin typeface="Arial" panose="020B0604020202090204"/>
              </a:rPr>
              <a:t>Every user table has user_id with ON DELETE CASCADE</a:t>
            </a:r>
            <a:endParaRPr sz="1400" b="0" i="0">
              <a:solidFill>
                <a:srgbClr val="000000"/>
              </a:solidFill>
              <a:latin typeface="Arial" panose="020B0604020202090204"/>
            </a:endParaRPr>
          </a:p>
        </p:txBody>
      </p:sp>
      <p:sp>
        <p:nvSpPr>
          <p:cNvPr id="5" name="TextBox 4"/>
          <p:cNvSpPr txBox="1"/>
          <p:nvPr/>
        </p:nvSpPr>
        <p:spPr>
          <a:xfrm>
            <a:off x="6172200" y="1508760"/>
            <a:ext cx="5468112" cy="1828800"/>
          </a:xfrm>
          <a:prstGeom prst="rect">
            <a:avLst/>
          </a:prstGeom>
          <a:noFill/>
        </p:spPr>
        <p:txBody>
          <a:bodyPr wrap="square" lIns="45720" tIns="27432" rIns="45720" bIns="27432" anchor="t">
            <a:noAutofit/>
          </a:bodyPr>
          <a:lstStyle/>
          <a:p>
            <a:pPr marL="274320" indent="-274320" algn="l">
              <a:spcBef>
                <a:spcPts val="400"/>
              </a:spcBef>
              <a:buFont typeface="Arial" panose="020B0604020202090204"/>
              <a:buChar char="•"/>
            </a:pPr>
            <a:r>
              <a:rPr sz="1400" b="0" i="0">
                <a:solidFill>
                  <a:srgbClr val="000000"/>
                </a:solidFill>
                <a:latin typeface="Arial" panose="020B0604020202090204"/>
              </a:rPr>
              <a:t>Transactions store origin, is_transfer and category_source with a confidence</a:t>
            </a:r>
            <a:endParaRPr sz="1400" b="0" i="0">
              <a:solidFill>
                <a:srgbClr val="000000"/>
              </a:solidFill>
              <a:latin typeface="Arial" panose="020B0604020202090204"/>
            </a:endParaRPr>
          </a:p>
          <a:p>
            <a:pPr marL="274320" indent="-274320" algn="l">
              <a:spcBef>
                <a:spcPts val="400"/>
              </a:spcBef>
              <a:buFont typeface="Arial" panose="020B0604020202090204"/>
              <a:buChar char="•"/>
            </a:pPr>
            <a:r>
              <a:rPr sz="1400" b="0" i="0">
                <a:solidFill>
                  <a:srgbClr val="000000"/>
                </a:solidFill>
                <a:latin typeface="Arial" panose="020B0604020202090204"/>
              </a:rPr>
              <a:t>Message text is Fernet-encrypted and purged after the retention period</a:t>
            </a:r>
            <a:endParaRPr sz="1400" b="0" i="0">
              <a:solidFill>
                <a:srgbClr val="000000"/>
              </a:solidFill>
              <a:latin typeface="Arial" panose="020B0604020202090204"/>
            </a:endParaRPr>
          </a:p>
          <a:p>
            <a:pPr marL="274320" indent="-274320" algn="l">
              <a:spcBef>
                <a:spcPts val="400"/>
              </a:spcBef>
              <a:buFont typeface="Arial" panose="020B0604020202090204"/>
              <a:buChar char="•"/>
            </a:pPr>
            <a:r>
              <a:rPr sz="1400" b="0" i="0">
                <a:solidFill>
                  <a:srgbClr val="000000"/>
                </a:solidFill>
                <a:latin typeface="Arial" panose="020B0604020202090204"/>
              </a:rPr>
              <a:t>consent_events is append-only; mailbox passwords are encrypted</a:t>
            </a:r>
            <a:endParaRPr sz="1400" b="0" i="0">
              <a:solidFill>
                <a:srgbClr val="000000"/>
              </a:solidFill>
              <a:latin typeface="Arial" panose="020B0604020202090204"/>
            </a:endParaRPr>
          </a:p>
        </p:txBody>
      </p:sp>
      <p:graphicFrame>
        <p:nvGraphicFramePr>
          <p:cNvPr id="6" name="Table 5"/>
          <p:cNvGraphicFramePr>
            <a:graphicFrameLocks noGrp="1"/>
          </p:cNvGraphicFramePr>
          <p:nvPr/>
        </p:nvGraphicFramePr>
        <p:xfrm>
          <a:off x="548640" y="3246120"/>
          <a:ext cx="11091672" cy="1847088"/>
        </p:xfrm>
        <a:graphic>
          <a:graphicData uri="http://schemas.openxmlformats.org/drawingml/2006/table">
            <a:tbl>
              <a:tblPr firstRow="1">
                <a:tableStyleId>{5940675A-B579-460E-94D1-54222C63F5DA}</a:tableStyleId>
              </a:tblPr>
              <a:tblGrid>
                <a:gridCol w="1554480"/>
                <a:gridCol w="1005840"/>
                <a:gridCol w="8531352"/>
              </a:tblGrid>
              <a:tr h="384048">
                <a:tc>
                  <a:txBody>
                    <a:bodyPr wrap="square"/>
                    <a:lstStyle/>
                    <a:p>
                      <a:pPr algn="l">
                        <a:spcBef>
                          <a:spcPts val="0"/>
                        </a:spcBef>
                        <a:buNone/>
                      </a:pPr>
                      <a:r>
                        <a:rPr sz="1300" b="1" i="0">
                          <a:solidFill>
                            <a:srgbClr val="000000"/>
                          </a:solidFill>
                          <a:latin typeface="Arial" panose="020B0604020202090204"/>
                        </a:rPr>
                        <a:t>Domain</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300" b="1" i="0">
                          <a:solidFill>
                            <a:srgbClr val="000000"/>
                          </a:solidFill>
                          <a:latin typeface="Arial" panose="020B0604020202090204"/>
                        </a:rPr>
                        <a:t>Tables</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300" b="1" i="0">
                          <a:solidFill>
                            <a:srgbClr val="000000"/>
                          </a:solidFill>
                          <a:latin typeface="Arial" panose="020B0604020202090204"/>
                        </a:rPr>
                        <a:t>Table names</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65760">
                <a:tc>
                  <a:txBody>
                    <a:bodyPr wrap="square"/>
                    <a:lstStyle/>
                    <a:p>
                      <a:pPr algn="l">
                        <a:spcBef>
                          <a:spcPts val="0"/>
                        </a:spcBef>
                        <a:buNone/>
                      </a:pPr>
                      <a:r>
                        <a:rPr sz="1300" b="1" i="0">
                          <a:solidFill>
                            <a:srgbClr val="000000"/>
                          </a:solidFill>
                          <a:latin typeface="Arial" panose="020B0604020202090204"/>
                        </a:rPr>
                        <a:t>Core</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4</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users, refresh_tokens, jobs, model_artifacts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panose="020B0604020202090204"/>
                        </a:rPr>
                        <a:t>Capture</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6</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data_sources, consent_events, ingested_messages, upcoming_payments, balance_snapshots, mailbox_connections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panose="020B0604020202090204"/>
                        </a:rPr>
                        <a:t>Finance</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17</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accounts, categories, merchants, merchant_aliases, category_rules, transactions, transaction_items, receipts, import_batches, budgets, goals, subscriptions, anomalies, insights, forecasts, forecast_metrics, chat_messages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65760">
                <a:tc>
                  <a:txBody>
                    <a:bodyPr wrap="square"/>
                    <a:lstStyle/>
                    <a:p>
                      <a:pPr algn="l">
                        <a:spcBef>
                          <a:spcPts val="0"/>
                        </a:spcBef>
                        <a:buNone/>
                      </a:pPr>
                      <a:r>
                        <a:rPr sz="1300" b="1" i="0">
                          <a:solidFill>
                            <a:srgbClr val="000000"/>
                          </a:solidFill>
                          <a:latin typeface="Arial" panose="020B0604020202090204"/>
                        </a:rPr>
                        <a:t>Wishlist</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2</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wishlist_items, wishlist_price_points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Results</a:t>
            </a:r>
            <a:endParaRPr sz="3000" b="1" i="0">
              <a:solidFill>
                <a:srgbClr val="FFFFFF"/>
              </a:solidFill>
              <a:latin typeface="Times New Roman" panose="02020503050405090304"/>
            </a:endParaRPr>
          </a:p>
        </p:txBody>
      </p:sp>
      <p:graphicFrame>
        <p:nvGraphicFramePr>
          <p:cNvPr id="3" name="Chart 2"/>
          <p:cNvGraphicFramePr>
            <a:graphicFrameLocks noGrp="1"/>
          </p:cNvGraphicFramePr>
          <p:nvPr/>
        </p:nvGraphicFramePr>
        <p:xfrm>
          <a:off x="548640" y="1188720"/>
          <a:ext cx="5394960" cy="35661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 name="Table 3"/>
          <p:cNvGraphicFramePr>
            <a:graphicFrameLocks noGrp="1"/>
          </p:cNvGraphicFramePr>
          <p:nvPr/>
        </p:nvGraphicFramePr>
        <p:xfrm>
          <a:off x="6263640" y="1188720"/>
          <a:ext cx="5376672" cy="3127248"/>
        </p:xfrm>
        <a:graphic>
          <a:graphicData uri="http://schemas.openxmlformats.org/drawingml/2006/table">
            <a:tbl>
              <a:tblPr firstRow="1">
                <a:tableStyleId>{5940675A-B579-460E-94D1-54222C63F5DA}</a:tableStyleId>
              </a:tblPr>
              <a:tblGrid>
                <a:gridCol w="3730752"/>
                <a:gridCol w="1645920"/>
              </a:tblGrid>
              <a:tr h="384048">
                <a:tc>
                  <a:txBody>
                    <a:bodyPr wrap="square"/>
                    <a:lstStyle/>
                    <a:p>
                      <a:pPr algn="l">
                        <a:spcBef>
                          <a:spcPts val="0"/>
                        </a:spcBef>
                        <a:buNone/>
                      </a:pPr>
                      <a:r>
                        <a:rPr sz="1300" b="1" i="0">
                          <a:solidFill>
                            <a:srgbClr val="000000"/>
                          </a:solidFill>
                          <a:latin typeface="Arial" panose="020B0604020202090204"/>
                        </a:rPr>
                        <a:t>Metric</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300" b="1" i="0">
                          <a:solidFill>
                            <a:srgbClr val="000000"/>
                          </a:solidFill>
                          <a:latin typeface="Arial" panose="020B0604020202090204"/>
                        </a:rPr>
                        <a:t>Result</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457200">
                <a:tc>
                  <a:txBody>
                    <a:bodyPr wrap="square"/>
                    <a:lstStyle/>
                    <a:p>
                      <a:pPr algn="l">
                        <a:spcBef>
                          <a:spcPts val="0"/>
                        </a:spcBef>
                        <a:buNone/>
                      </a:pPr>
                      <a:r>
                        <a:rPr sz="1300" b="0" i="0">
                          <a:solidFill>
                            <a:srgbClr val="000000"/>
                          </a:solidFill>
                          <a:latin typeface="Arial" panose="020B0604020202090204"/>
                        </a:rPr>
                        <a:t>Message-type macro F1 (held-out test split)</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100%</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panose="020B0604020202090204"/>
                        </a:rPr>
                        <a:t>Type accuracy on hand-written challenge set (amounts: 100%)</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98.3%</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panose="020B0604020202090204"/>
                        </a:rPr>
                        <a:t>De-duplication precision / recall (SMS + e-mail)</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100% / 100%</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panose="020B0604020202090204"/>
                        </a:rPr>
                        <a:t>Category accuracy on captured payments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99.8%</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panose="020B0604020202090204"/>
                        </a:rPr>
                        <a:t>Coach intent accuracy (held-out paraphrases)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84.6%</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457200">
                <a:tc>
                  <a:txBody>
                    <a:bodyPr wrap="square"/>
                    <a:lstStyle/>
                    <a:p>
                      <a:pPr algn="l">
                        <a:spcBef>
                          <a:spcPts val="0"/>
                        </a:spcBef>
                        <a:buNone/>
                      </a:pPr>
                      <a:r>
                        <a:rPr sz="1300" b="0" i="0">
                          <a:solidFill>
                            <a:srgbClr val="000000"/>
                          </a:solidFill>
                          <a:latin typeface="Arial" panose="020B0604020202090204"/>
                        </a:rPr>
                        <a:t>Real-format SMS regression set: 90 messages, 25+ institutions (all fields)</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300" b="0" i="0">
                          <a:solidFill>
                            <a:srgbClr val="000000"/>
                          </a:solidFill>
                          <a:latin typeface="Arial" panose="020B0604020202090204"/>
                        </a:rPr>
                        <a:t>100%</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5" name="TextBox 4"/>
          <p:cNvSpPr txBox="1"/>
          <p:nvPr/>
        </p:nvSpPr>
        <p:spPr>
          <a:xfrm>
            <a:off x="548640" y="4892040"/>
            <a:ext cx="11091672" cy="1051560"/>
          </a:xfrm>
          <a:prstGeom prst="rect">
            <a:avLst/>
          </a:prstGeom>
          <a:noFill/>
        </p:spPr>
        <p:txBody>
          <a:bodyPr wrap="square" lIns="45720" tIns="27432" rIns="45720" bIns="27432" anchor="t">
            <a:noAutofit/>
          </a:bodyPr>
          <a:lstStyle/>
          <a:p>
            <a:pPr marL="274320" indent="-274320" algn="l">
              <a:spcBef>
                <a:spcPts val="200"/>
              </a:spcBef>
              <a:buFont typeface="Arial" panose="020B0604020202090204"/>
              <a:buChar char="•"/>
            </a:pPr>
            <a:r>
              <a:rPr sz="1300" b="0" i="0">
                <a:solidFill>
                  <a:srgbClr val="000000"/>
                </a:solidFill>
                <a:latin typeface="Arial" panose="020B0604020202090204"/>
              </a:rPr>
              <a:t>Using the known payment schedule cuts forecast error by about 41%; Prophet improves it a little more.</a:t>
            </a:r>
            <a:endParaRPr sz="1300" b="0" i="0">
              <a:solidFill>
                <a:srgbClr val="000000"/>
              </a:solidFill>
              <a:latin typeface="Arial" panose="020B0604020202090204"/>
            </a:endParaRPr>
          </a:p>
          <a:p>
            <a:pPr marL="274320" indent="-274320" algn="l">
              <a:spcBef>
                <a:spcPts val="200"/>
              </a:spcBef>
              <a:buFont typeface="Arial" panose="020B0604020202090204"/>
              <a:buChar char="•"/>
            </a:pPr>
            <a:r>
              <a:rPr sz="1300" b="0" i="0">
                <a:solidFill>
                  <a:srgbClr val="000000"/>
                </a:solidFill>
                <a:latin typeface="Arial" panose="020B0604020202090204"/>
              </a:rPr>
              <a:t>WAPE is used instead of MAPE because the daily net flow often crosses zero.</a:t>
            </a:r>
            <a:endParaRPr sz="1300" b="0" i="0">
              <a:solidFill>
                <a:srgbClr val="000000"/>
              </a:solidFill>
              <a:latin typeface="Arial" panose="020B0604020202090204"/>
            </a:endParaRPr>
          </a:p>
          <a:p>
            <a:pPr marL="274320" indent="-274320" algn="l">
              <a:spcBef>
                <a:spcPts val="200"/>
              </a:spcBef>
              <a:buFont typeface="Arial" panose="020B0604020202090204"/>
              <a:buChar char="•"/>
            </a:pPr>
            <a:r>
              <a:rPr sz="1300" b="0" i="0">
                <a:solidFill>
                  <a:srgbClr val="000000"/>
                </a:solidFill>
                <a:latin typeface="Arial" panose="020B0604020202090204"/>
              </a:rPr>
              <a:t>Measured on 18 Oct 2026 (see README). Demo data is regenerated daily, so the numbers can shift slightly.</a:t>
            </a:r>
            <a:endParaRPr sz="1300" b="0" i="0">
              <a:solidFill>
                <a:srgbClr val="000000"/>
              </a:solidFill>
              <a:latin typeface="Arial" panose="020B0604020202090204"/>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Testing and Validation</a:t>
            </a:r>
            <a:endParaRPr sz="3000" b="1" i="0">
              <a:solidFill>
                <a:srgbClr val="FFFFFF"/>
              </a:solidFill>
              <a:latin typeface="Times New Roman" panose="02020503050405090304"/>
            </a:endParaRPr>
          </a:p>
        </p:txBody>
      </p:sp>
      <p:graphicFrame>
        <p:nvGraphicFramePr>
          <p:cNvPr id="3" name="Table 2"/>
          <p:cNvGraphicFramePr>
            <a:graphicFrameLocks noGrp="1"/>
          </p:cNvGraphicFramePr>
          <p:nvPr/>
        </p:nvGraphicFramePr>
        <p:xfrm>
          <a:off x="548640" y="1188720"/>
          <a:ext cx="11091672" cy="1920240"/>
        </p:xfrm>
        <a:graphic>
          <a:graphicData uri="http://schemas.openxmlformats.org/drawingml/2006/table">
            <a:tbl>
              <a:tblPr firstRow="1">
                <a:tableStyleId>{5940675A-B579-460E-94D1-54222C63F5DA}</a:tableStyleId>
              </a:tblPr>
              <a:tblGrid>
                <a:gridCol w="3566160"/>
                <a:gridCol w="1737360"/>
                <a:gridCol w="5788152"/>
              </a:tblGrid>
              <a:tr h="384048">
                <a:tc>
                  <a:txBody>
                    <a:bodyPr wrap="square"/>
                    <a:lstStyle/>
                    <a:p>
                      <a:pPr algn="l">
                        <a:spcBef>
                          <a:spcPts val="0"/>
                        </a:spcBef>
                        <a:buNone/>
                      </a:pPr>
                      <a:r>
                        <a:rPr sz="1400" b="1" i="0">
                          <a:solidFill>
                            <a:srgbClr val="000000"/>
                          </a:solidFill>
                          <a:latin typeface="Arial" panose="020B0604020202090204"/>
                        </a:rPr>
                        <a:t>Test</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ctr">
                        <a:spcBef>
                          <a:spcPts val="0"/>
                        </a:spcBef>
                        <a:buNone/>
                      </a:pPr>
                      <a:r>
                        <a:rPr sz="1400" b="1" i="0">
                          <a:solidFill>
                            <a:srgbClr val="000000"/>
                          </a:solidFill>
                          <a:latin typeface="Arial" panose="020B0604020202090204"/>
                        </a:rPr>
                        <a:t>Count</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400" b="1" i="0">
                          <a:solidFill>
                            <a:srgbClr val="000000"/>
                          </a:solidFill>
                          <a:latin typeface="Arial" panose="020B0604020202090204"/>
                        </a:rPr>
                        <a:t>Details</a:t>
                      </a:r>
                      <a:endParaRPr sz="14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384048">
                <a:tc>
                  <a:txBody>
                    <a:bodyPr wrap="square"/>
                    <a:lstStyle/>
                    <a:p>
                      <a:pPr algn="l">
                        <a:spcBef>
                          <a:spcPts val="0"/>
                        </a:spcBef>
                        <a:buNone/>
                      </a:pPr>
                      <a:r>
                        <a:rPr sz="1400" b="0" i="0">
                          <a:solidFill>
                            <a:srgbClr val="000000"/>
                          </a:solidFill>
                          <a:latin typeface="Arial" panose="020B0604020202090204"/>
                        </a:rPr>
                        <a:t>Backend tests (pytest + Hypothesis)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panose="020B0604020202090204"/>
                        </a:rPr>
                        <a:t>82 / 82 pass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Re-run on 18 Oct 2026, took 29.3 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panose="020B0604020202090204"/>
                        </a:rPr>
                        <a:t>End-to-end tests (Playwright)</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panose="020B0604020202090204"/>
                        </a:rPr>
                        <a:t>23</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A new user's journey, the phone layout on 12 pages, and the demo</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panose="020B0604020202090204"/>
                        </a:rPr>
                        <a:t>Property-based test cases</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panose="020B0604020202090204"/>
                        </a:rPr>
                        <a:t>300</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Random cases show Buy now never breaks the safety buffer</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384048">
                <a:tc>
                  <a:txBody>
                    <a:bodyPr wrap="square"/>
                    <a:lstStyle/>
                    <a:p>
                      <a:pPr algn="l">
                        <a:spcBef>
                          <a:spcPts val="0"/>
                        </a:spcBef>
                        <a:buNone/>
                      </a:pPr>
                      <a:r>
                        <a:rPr sz="1400" b="0" i="0">
                          <a:solidFill>
                            <a:srgbClr val="000000"/>
                          </a:solidFill>
                          <a:latin typeface="Arial" panose="020B0604020202090204"/>
                        </a:rPr>
                        <a:t>On-device checks (Android 15 emulator)</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ctr">
                        <a:spcBef>
                          <a:spcPts val="0"/>
                        </a:spcBef>
                        <a:buNone/>
                      </a:pPr>
                      <a:r>
                        <a:rPr sz="1400" b="0" i="0">
                          <a:solidFill>
                            <a:srgbClr val="000000"/>
                          </a:solidFill>
                          <a:latin typeface="Arial" panose="020B0604020202090204"/>
                        </a:rPr>
                        <a:t>17 / 17</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400" b="0" i="0">
                          <a:solidFill>
                            <a:srgbClr val="000000"/>
                          </a:solidFill>
                          <a:latin typeface="Arial" panose="020B0604020202090204"/>
                        </a:rPr>
                        <a:t>Real-format SMS planted; only bank alerts uploaded</a:t>
                      </a:r>
                      <a:endParaRPr sz="14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4" name="TextBox 3"/>
          <p:cNvSpPr txBox="1"/>
          <p:nvPr/>
        </p:nvSpPr>
        <p:spPr>
          <a:xfrm>
            <a:off x="548640" y="3291840"/>
            <a:ext cx="5486400" cy="365760"/>
          </a:xfrm>
          <a:prstGeom prst="rect">
            <a:avLst/>
          </a:prstGeom>
          <a:noFill/>
        </p:spPr>
        <p:txBody>
          <a:bodyPr wrap="square" lIns="45720" tIns="27432" rIns="45720" bIns="27432" anchor="t">
            <a:noAutofit/>
          </a:bodyPr>
          <a:lstStyle/>
          <a:p>
            <a:pPr algn="l">
              <a:spcBef>
                <a:spcPts val="0"/>
              </a:spcBef>
              <a:buNone/>
            </a:pPr>
            <a:r>
              <a:rPr sz="1600" b="1" i="0">
                <a:solidFill>
                  <a:srgbClr val="002060"/>
                </a:solidFill>
                <a:latin typeface="Arial" panose="020B0604020202090204"/>
              </a:rPr>
              <a:t>Backend tests cover</a:t>
            </a:r>
            <a:endParaRPr sz="1600" b="1" i="0">
              <a:solidFill>
                <a:srgbClr val="002060"/>
              </a:solidFill>
              <a:latin typeface="Arial" panose="020B0604020202090204"/>
            </a:endParaRPr>
          </a:p>
        </p:txBody>
      </p:sp>
      <p:sp>
        <p:nvSpPr>
          <p:cNvPr id="5" name="TextBox 4"/>
          <p:cNvSpPr txBox="1"/>
          <p:nvPr/>
        </p:nvSpPr>
        <p:spPr>
          <a:xfrm>
            <a:off x="548640" y="3611880"/>
            <a:ext cx="5440680" cy="2377440"/>
          </a:xfrm>
          <a:prstGeom prst="rect">
            <a:avLst/>
          </a:prstGeom>
          <a:noFill/>
        </p:spPr>
        <p:txBody>
          <a:bodyPr wrap="square" lIns="45720" tIns="27432" rIns="45720" bIns="27432" anchor="t">
            <a:noAutofit/>
          </a:bodyPr>
          <a:lstStyle/>
          <a:p>
            <a:pPr marL="274320" indent="-274320" algn="l">
              <a:spcBef>
                <a:spcPts val="700"/>
              </a:spcBef>
              <a:buFont typeface="Arial" panose="020B0604020202090204"/>
              <a:buChar char="•"/>
            </a:pPr>
            <a:r>
              <a:rPr sz="1500" b="0" i="0">
                <a:solidFill>
                  <a:srgbClr val="000000"/>
                </a:solidFill>
                <a:latin typeface="Arial" panose="020B0604020202090204"/>
              </a:rPr>
              <a:t>Money handling and message parsing (known, unseen and challenge formats)</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Pipeline accuracy against ground truth: dedup, transfers, categories</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Consent: nothing is read without it; pause, revoke, delete data</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API flows: cookies and Bearer tokens, CORS, rate limit, deletion</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Tax for both years; forecast backtest and fallback; wishlist</a:t>
            </a:r>
            <a:endParaRPr sz="1500" b="0" i="0">
              <a:solidFill>
                <a:srgbClr val="000000"/>
              </a:solidFill>
              <a:latin typeface="Arial" panose="020B0604020202090204"/>
            </a:endParaRPr>
          </a:p>
        </p:txBody>
      </p:sp>
      <p:sp>
        <p:nvSpPr>
          <p:cNvPr id="6" name="TextBox 5"/>
          <p:cNvSpPr txBox="1"/>
          <p:nvPr/>
        </p:nvSpPr>
        <p:spPr>
          <a:xfrm>
            <a:off x="6172200" y="3291840"/>
            <a:ext cx="5486400" cy="365760"/>
          </a:xfrm>
          <a:prstGeom prst="rect">
            <a:avLst/>
          </a:prstGeom>
          <a:noFill/>
        </p:spPr>
        <p:txBody>
          <a:bodyPr wrap="square" lIns="45720" tIns="27432" rIns="45720" bIns="27432" anchor="t">
            <a:noAutofit/>
          </a:bodyPr>
          <a:lstStyle/>
          <a:p>
            <a:pPr algn="l">
              <a:spcBef>
                <a:spcPts val="0"/>
              </a:spcBef>
              <a:buNone/>
            </a:pPr>
            <a:r>
              <a:rPr sz="1600" b="1" i="0">
                <a:solidFill>
                  <a:srgbClr val="002060"/>
                </a:solidFill>
                <a:latin typeface="Arial" panose="020B0604020202090204"/>
              </a:rPr>
              <a:t>End-to-end and model validation</a:t>
            </a:r>
            <a:endParaRPr sz="1600" b="1" i="0">
              <a:solidFill>
                <a:srgbClr val="002060"/>
              </a:solidFill>
              <a:latin typeface="Arial" panose="020B0604020202090204"/>
            </a:endParaRPr>
          </a:p>
        </p:txBody>
      </p:sp>
      <p:sp>
        <p:nvSpPr>
          <p:cNvPr id="7" name="TextBox 6"/>
          <p:cNvSpPr txBox="1"/>
          <p:nvPr/>
        </p:nvSpPr>
        <p:spPr>
          <a:xfrm>
            <a:off x="6172200" y="3611880"/>
            <a:ext cx="5468112" cy="2377440"/>
          </a:xfrm>
          <a:prstGeom prst="rect">
            <a:avLst/>
          </a:prstGeom>
          <a:noFill/>
        </p:spPr>
        <p:txBody>
          <a:bodyPr wrap="square" lIns="45720" tIns="27432" rIns="45720" bIns="27432" anchor="t">
            <a:noAutofit/>
          </a:bodyPr>
          <a:lstStyle/>
          <a:p>
            <a:pPr marL="274320" indent="-274320" algn="l">
              <a:spcBef>
                <a:spcPts val="700"/>
              </a:spcBef>
              <a:buFont typeface="Arial" panose="020B0604020202090204"/>
              <a:buChar char="•"/>
            </a:pPr>
            <a:r>
              <a:rPr sz="1500" b="0" i="0">
                <a:solidFill>
                  <a:srgbClr val="000000"/>
                </a:solidFill>
                <a:latin typeface="Arial" panose="020B0604020202090204"/>
              </a:rPr>
              <a:t>New user: register, consent, SMS backup import, onboarding</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Emulator: bank SMS, OTP, promo and a chat; only alerts uploaded</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Receipt photo matched; wishlist, tax PDF, coach; phone layout</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Revoke and delete data; reset the demo</a:t>
            </a:r>
            <a:endParaRPr sz="1500" b="0" i="0">
              <a:solidFill>
                <a:srgbClr val="000000"/>
              </a:solidFill>
              <a:latin typeface="Arial" panose="020B0604020202090204"/>
            </a:endParaRPr>
          </a:p>
          <a:p>
            <a:pPr marL="274320" indent="-274320" algn="l">
              <a:spcBef>
                <a:spcPts val="700"/>
              </a:spcBef>
              <a:buFont typeface="Arial" panose="020B0604020202090204"/>
              <a:buChar char="•"/>
            </a:pPr>
            <a:r>
              <a:rPr sz="1500" b="0" i="0">
                <a:solidFill>
                  <a:srgbClr val="000000"/>
                </a:solidFill>
                <a:latin typeface="Arial" panose="020B0604020202090204"/>
              </a:rPr>
              <a:t>Models: held-out splits, unseen banks, challenge set, real formats</a:t>
            </a:r>
            <a:endParaRPr sz="1500" b="0" i="0">
              <a:solidFill>
                <a:srgbClr val="000000"/>
              </a:solidFill>
              <a:latin typeface="Arial" panose="020B0604020202090204"/>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Challenges and Possible Improvements</a:t>
            </a:r>
            <a:endParaRPr sz="3000" b="1" i="0">
              <a:solidFill>
                <a:srgbClr val="FFFFFF"/>
              </a:solidFill>
              <a:latin typeface="Times New Roman" panose="02020503050405090304"/>
            </a:endParaRPr>
          </a:p>
        </p:txBody>
      </p:sp>
      <p:sp>
        <p:nvSpPr>
          <p:cNvPr id="3" name="TextBox 2"/>
          <p:cNvSpPr txBox="1"/>
          <p:nvPr/>
        </p:nvSpPr>
        <p:spPr>
          <a:xfrm>
            <a:off x="548640" y="1143000"/>
            <a:ext cx="603504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Challenges faced</a:t>
            </a:r>
            <a:endParaRPr sz="1700" b="1" i="0">
              <a:solidFill>
                <a:srgbClr val="002060"/>
              </a:solidFill>
              <a:latin typeface="Arial" panose="020B0604020202090204"/>
            </a:endParaRPr>
          </a:p>
        </p:txBody>
      </p:sp>
      <p:graphicFrame>
        <p:nvGraphicFramePr>
          <p:cNvPr id="4" name="Table 3"/>
          <p:cNvGraphicFramePr>
            <a:graphicFrameLocks noGrp="1"/>
          </p:cNvGraphicFramePr>
          <p:nvPr/>
        </p:nvGraphicFramePr>
        <p:xfrm>
          <a:off x="548640" y="1508760"/>
          <a:ext cx="6126480" cy="3813048"/>
        </p:xfrm>
        <a:graphic>
          <a:graphicData uri="http://schemas.openxmlformats.org/drawingml/2006/table">
            <a:tbl>
              <a:tblPr firstRow="1">
                <a:tableStyleId>{5940675A-B579-460E-94D1-54222C63F5DA}</a:tableStyleId>
              </a:tblPr>
              <a:tblGrid>
                <a:gridCol w="2011680"/>
                <a:gridCol w="4114800"/>
              </a:tblGrid>
              <a:tr h="384048">
                <a:tc>
                  <a:txBody>
                    <a:bodyPr wrap="square"/>
                    <a:lstStyle/>
                    <a:p>
                      <a:pPr algn="l">
                        <a:spcBef>
                          <a:spcPts val="0"/>
                        </a:spcBef>
                        <a:buNone/>
                      </a:pPr>
                      <a:r>
                        <a:rPr sz="1300" b="1" i="0">
                          <a:solidFill>
                            <a:srgbClr val="000000"/>
                          </a:solidFill>
                          <a:latin typeface="Arial" panose="020B0604020202090204"/>
                        </a:rPr>
                        <a:t>Challenge</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c>
                  <a:txBody>
                    <a:bodyPr wrap="square"/>
                    <a:lstStyle/>
                    <a:p>
                      <a:pPr algn="l">
                        <a:spcBef>
                          <a:spcPts val="0"/>
                        </a:spcBef>
                        <a:buNone/>
                      </a:pPr>
                      <a:r>
                        <a:rPr sz="1300" b="1" i="0">
                          <a:solidFill>
                            <a:srgbClr val="000000"/>
                          </a:solidFill>
                          <a:latin typeface="Arial" panose="020B0604020202090204"/>
                        </a:rPr>
                        <a:t>How we solved it</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solidFill>
                      <a:srgbClr val="D9D9D9"/>
                    </a:solidFill>
                  </a:tcPr>
                </a:tc>
              </a:tr>
              <a:tr h="685800">
                <a:tc>
                  <a:txBody>
                    <a:bodyPr wrap="square"/>
                    <a:lstStyle/>
                    <a:p>
                      <a:pPr algn="l">
                        <a:spcBef>
                          <a:spcPts val="0"/>
                        </a:spcBef>
                        <a:buNone/>
                      </a:pPr>
                      <a:r>
                        <a:rPr sz="1300" b="1" i="0">
                          <a:solidFill>
                            <a:srgbClr val="000000"/>
                          </a:solidFill>
                          <a:latin typeface="Arial" panose="020B0604020202090204"/>
                        </a:rPr>
                        <a:t>Requirements changed after Review 0</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Re-planned around consent-based capture; one process instead of Docker + PostgreSQL</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panose="020B0604020202090204"/>
                        </a:rPr>
                        <a:t>One payment, two messages</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Reference matching and scoring; e-mail receipts add details to the SMS transaction instead of duplicating it</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panose="020B0604020202090204"/>
                        </a:rPr>
                        <a:t>SQLite allows only one writer</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Background jobs join the request's transaction and start after it commits (regression test added)</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panose="020B0604020202090204"/>
                        </a:rPr>
                        <a:t>Judging forecast quality</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Rolling backtest against two baselines; WAPE instead of MAPE; automatic fallback</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r h="685800">
                <a:tc>
                  <a:txBody>
                    <a:bodyPr wrap="square"/>
                    <a:lstStyle/>
                    <a:p>
                      <a:pPr algn="l">
                        <a:spcBef>
                          <a:spcPts val="0"/>
                        </a:spcBef>
                        <a:buNone/>
                      </a:pPr>
                      <a:r>
                        <a:rPr sz="1300" b="1" i="0">
                          <a:solidFill>
                            <a:srgbClr val="000000"/>
                          </a:solidFill>
                          <a:latin typeface="Arial" panose="020B0604020202090204"/>
                        </a:rPr>
                        <a:t>Proving it on real data</a:t>
                      </a:r>
                      <a:endParaRPr sz="1300" b="1"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c>
                  <a:txBody>
                    <a:bodyPr wrap="square"/>
                    <a:lstStyle/>
                    <a:p>
                      <a:pPr algn="l">
                        <a:spcBef>
                          <a:spcPts val="0"/>
                        </a:spcBef>
                        <a:buNone/>
                      </a:pPr>
                      <a:r>
                        <a:rPr sz="1300" b="0" i="0">
                          <a:solidFill>
                            <a:srgbClr val="000000"/>
                          </a:solidFill>
                          <a:latin typeface="Arial" panose="020B0604020202090204"/>
                        </a:rPr>
                        <a:t>An Android app reads and filters SMS on the phone; verified on an Android 15 emulator</a:t>
                      </a:r>
                      <a:endParaRPr sz="1300" b="0" i="0">
                        <a:solidFill>
                          <a:srgbClr val="000000"/>
                        </a:solidFill>
                        <a:latin typeface="Arial" panose="020B0604020202090204"/>
                      </a:endParaRPr>
                    </a:p>
                  </a:txBody>
                  <a:tcPr marL="73152" marR="73152" marT="36576" marB="36576" anchor="ctr">
                    <a:lnL w="12700" cap="flat" cmpd="sng" algn="ctr">
                      <a:solidFill>
                        <a:srgbClr val="000000"/>
                      </a:solidFill>
                      <a:prstDash val="solid"/>
                    </a:lnL>
                    <a:lnR w="12700" cap="flat" cmpd="sng" algn="ctr">
                      <a:solidFill>
                        <a:srgbClr val="000000"/>
                      </a:solidFill>
                      <a:prstDash val="solid"/>
                    </a:lnR>
                    <a:lnT w="12700" cap="flat" cmpd="sng" algn="ctr">
                      <a:solidFill>
                        <a:srgbClr val="000000"/>
                      </a:solidFill>
                      <a:prstDash val="solid"/>
                    </a:lnT>
                    <a:lnB w="12700" cap="flat" cmpd="sng" algn="ctr">
                      <a:solidFill>
                        <a:srgbClr val="000000"/>
                      </a:solidFill>
                      <a:prstDash val="solid"/>
                    </a:lnB>
                    <a:noFill/>
                  </a:tcPr>
                </a:tc>
              </a:tr>
            </a:tbl>
          </a:graphicData>
        </a:graphic>
      </p:graphicFrame>
      <p:sp>
        <p:nvSpPr>
          <p:cNvPr id="5" name="TextBox 4"/>
          <p:cNvSpPr txBox="1"/>
          <p:nvPr/>
        </p:nvSpPr>
        <p:spPr>
          <a:xfrm>
            <a:off x="6949440" y="1143000"/>
            <a:ext cx="4663440" cy="365760"/>
          </a:xfrm>
          <a:prstGeom prst="rect">
            <a:avLst/>
          </a:prstGeom>
          <a:noFill/>
        </p:spPr>
        <p:txBody>
          <a:bodyPr wrap="square" lIns="45720" tIns="27432" rIns="45720" bIns="27432" anchor="t">
            <a:noAutofit/>
          </a:bodyPr>
          <a:lstStyle/>
          <a:p>
            <a:pPr algn="l">
              <a:spcBef>
                <a:spcPts val="0"/>
              </a:spcBef>
              <a:buNone/>
            </a:pPr>
            <a:r>
              <a:rPr sz="1700" b="1" i="0">
                <a:solidFill>
                  <a:srgbClr val="002060"/>
                </a:solidFill>
                <a:latin typeface="Arial" panose="020B0604020202090204"/>
              </a:rPr>
              <a:t>Possible improvements</a:t>
            </a:r>
            <a:endParaRPr sz="1700" b="1" i="0">
              <a:solidFill>
                <a:srgbClr val="002060"/>
              </a:solidFill>
              <a:latin typeface="Arial" panose="020B0604020202090204"/>
            </a:endParaRPr>
          </a:p>
        </p:txBody>
      </p:sp>
      <p:sp>
        <p:nvSpPr>
          <p:cNvPr id="6" name="TextBox 5"/>
          <p:cNvSpPr txBox="1"/>
          <p:nvPr/>
        </p:nvSpPr>
        <p:spPr>
          <a:xfrm>
            <a:off x="6949440" y="1508760"/>
            <a:ext cx="4690872" cy="4434840"/>
          </a:xfrm>
          <a:prstGeom prst="rect">
            <a:avLst/>
          </a:prstGeom>
          <a:noFill/>
        </p:spPr>
        <p:txBody>
          <a:bodyPr wrap="square" lIns="45720" tIns="27432" rIns="45720" bIns="27432" anchor="t">
            <a:noAutofit/>
          </a:bodyPr>
          <a:lstStyle/>
          <a:p>
            <a:pPr marL="274320" indent="-274320" algn="l">
              <a:spcBef>
                <a:spcPts val="800"/>
              </a:spcBef>
              <a:buFont typeface="Arial" panose="020B0604020202090204"/>
              <a:buChar char="•"/>
            </a:pPr>
            <a:r>
              <a:rPr sz="1400" b="0" i="0">
                <a:solidFill>
                  <a:srgbClr val="000000"/>
                </a:solidFill>
                <a:latin typeface="Arial" panose="020B0604020202090204"/>
              </a:rPr>
              <a:t>A rotating log file and request IDs (logs only go to the terminal now)</a:t>
            </a:r>
            <a:endParaRPr sz="1400" b="0" i="0">
              <a:solidFill>
                <a:srgbClr val="000000"/>
              </a:solidFill>
              <a:latin typeface="Arial" panose="020B0604020202090204"/>
            </a:endParaRPr>
          </a:p>
          <a:p>
            <a:pPr marL="274320" indent="-274320" algn="l">
              <a:spcBef>
                <a:spcPts val="800"/>
              </a:spcBef>
              <a:buFont typeface="Arial" panose="020B0604020202090204"/>
              <a:buChar char="•"/>
            </a:pPr>
            <a:r>
              <a:rPr sz="1400" b="0" i="0">
                <a:solidFill>
                  <a:srgbClr val="000000"/>
                </a:solidFill>
                <a:latin typeface="Arial" panose="020B0604020202090204"/>
              </a:rPr>
              <a:t>Persistent per-account login limits, password reset and Secure cookies over HTTPS</a:t>
            </a:r>
            <a:endParaRPr sz="1400" b="0" i="0">
              <a:solidFill>
                <a:srgbClr val="000000"/>
              </a:solidFill>
              <a:latin typeface="Arial" panose="020B0604020202090204"/>
            </a:endParaRPr>
          </a:p>
          <a:p>
            <a:pPr marL="274320" indent="-274320" algn="l">
              <a:spcBef>
                <a:spcPts val="800"/>
              </a:spcBef>
              <a:buFont typeface="Arial" panose="020B0604020202090204"/>
              <a:buChar char="•"/>
            </a:pPr>
            <a:r>
              <a:rPr sz="1400" b="0" i="0">
                <a:solidFill>
                  <a:srgbClr val="000000"/>
                </a:solidFill>
                <a:latin typeface="Arial" panose="020B0604020202090204"/>
              </a:rPr>
              <a:t>Ask users for consent again when the notice text changes</a:t>
            </a:r>
            <a:endParaRPr sz="1400" b="0" i="0">
              <a:solidFill>
                <a:srgbClr val="000000"/>
              </a:solidFill>
              <a:latin typeface="Arial" panose="020B0604020202090204"/>
            </a:endParaRPr>
          </a:p>
          <a:p>
            <a:pPr marL="274320" indent="-274320" algn="l">
              <a:spcBef>
                <a:spcPts val="800"/>
              </a:spcBef>
              <a:buFont typeface="Arial" panose="020B0604020202090204"/>
              <a:buChar char="•"/>
            </a:pPr>
            <a:r>
              <a:rPr sz="1400" b="0" i="0">
                <a:solidFill>
                  <a:srgbClr val="000000"/>
                </a:solidFill>
                <a:latin typeface="Arial" panose="020B0604020202090204"/>
              </a:rPr>
              <a:t>Tax: marginal relief on surcharge above ₹50 lakh</a:t>
            </a:r>
            <a:endParaRPr sz="1400" b="0" i="0">
              <a:solidFill>
                <a:srgbClr val="000000"/>
              </a:solidFill>
              <a:latin typeface="Arial" panose="020B0604020202090204"/>
            </a:endParaRPr>
          </a:p>
          <a:p>
            <a:pPr marL="274320" indent="-274320" algn="l">
              <a:spcBef>
                <a:spcPts val="800"/>
              </a:spcBef>
              <a:buFont typeface="Arial" panose="020B0604020202090204"/>
              <a:buChar char="•"/>
            </a:pPr>
            <a:r>
              <a:rPr sz="1400" b="0" i="0">
                <a:solidFill>
                  <a:srgbClr val="000000"/>
                </a:solidFill>
                <a:latin typeface="Arial" panose="020B0604020202090204"/>
              </a:rPr>
              <a:t>Read new SMS in the background while the app is closed</a:t>
            </a:r>
            <a:endParaRPr sz="1400" b="0" i="0">
              <a:solidFill>
                <a:srgbClr val="000000"/>
              </a:solidFill>
              <a:latin typeface="Arial" panose="020B0604020202090204"/>
            </a:endParaRPr>
          </a:p>
          <a:p>
            <a:pPr marL="274320" indent="-274320" algn="l">
              <a:spcBef>
                <a:spcPts val="800"/>
              </a:spcBef>
              <a:buFont typeface="Arial" panose="020B0604020202090204"/>
              <a:buChar char="•"/>
            </a:pPr>
            <a:r>
              <a:rPr sz="1400" b="0" i="0">
                <a:solidFill>
                  <a:srgbClr val="000000"/>
                </a:solidFill>
                <a:latin typeface="Arial" panose="020B0604020202090204"/>
              </a:rPr>
              <a:t>Account Aggregator data; Gmail and Outlook through OAuth</a:t>
            </a:r>
            <a:endParaRPr sz="1400" b="0" i="0">
              <a:solidFill>
                <a:srgbClr val="000000"/>
              </a:solidFill>
              <a:latin typeface="Arial" panose="020B0604020202090204"/>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960120"/>
          </a:xfrm>
          <a:solidFill>
            <a:srgbClr val="0079BC"/>
          </a:solidFill>
          <a:ln>
            <a:noFill/>
          </a:ln>
        </p:spPr>
        <p:txBody>
          <a:bodyPr wrap="square" anchor="ctr">
            <a:noAutofit/>
          </a:bodyPr>
          <a:lstStyle/>
          <a:p>
            <a:pPr algn="ctr">
              <a:spcAft>
                <a:spcPts val="0"/>
              </a:spcAft>
              <a:buNone/>
            </a:pPr>
            <a:r>
              <a:rPr sz="3000" b="1" i="0">
                <a:solidFill>
                  <a:srgbClr val="FFFFFF"/>
                </a:solidFill>
                <a:latin typeface="Times New Roman" panose="02020503050405090304"/>
              </a:rPr>
              <a:t>Conclusion and Future Scope</a:t>
            </a:r>
            <a:endParaRPr sz="3000" b="1" i="0">
              <a:solidFill>
                <a:srgbClr val="FFFFFF"/>
              </a:solidFill>
              <a:latin typeface="Times New Roman" panose="02020503050405090304"/>
            </a:endParaRPr>
          </a:p>
        </p:txBody>
      </p:sp>
      <p:sp>
        <p:nvSpPr>
          <p:cNvPr id="3" name="TextBox 2"/>
          <p:cNvSpPr txBox="1"/>
          <p:nvPr/>
        </p:nvSpPr>
        <p:spPr>
          <a:xfrm>
            <a:off x="54864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Conclusion</a:t>
            </a:r>
            <a:endParaRPr sz="1800" b="1" i="0">
              <a:solidFill>
                <a:srgbClr val="002060"/>
              </a:solidFill>
              <a:latin typeface="Arial" panose="020B0604020202090204"/>
            </a:endParaRPr>
          </a:p>
        </p:txBody>
      </p:sp>
      <p:sp>
        <p:nvSpPr>
          <p:cNvPr id="4" name="TextBox 3"/>
          <p:cNvSpPr txBox="1"/>
          <p:nvPr/>
        </p:nvSpPr>
        <p:spPr>
          <a:xfrm>
            <a:off x="548640" y="1600200"/>
            <a:ext cx="5394960" cy="3566160"/>
          </a:xfrm>
          <a:prstGeom prst="rect">
            <a:avLst/>
          </a:prstGeom>
          <a:noFill/>
        </p:spPr>
        <p:txBody>
          <a:bodyPr wrap="square" lIns="45720" tIns="27432" rIns="45720" bIns="27432" anchor="t">
            <a:noAutofit/>
          </a:bodyPr>
          <a:lstStyle/>
          <a:p>
            <a:pPr marL="274320" indent="-274320" algn="l">
              <a:spcBef>
                <a:spcPts val="1000"/>
              </a:spcBef>
              <a:buFont typeface="Arial" panose="020B0604020202090204"/>
              <a:buChar char="•"/>
            </a:pPr>
            <a:r>
              <a:rPr sz="1600" b="0" i="0">
                <a:solidFill>
                  <a:srgbClr val="000000"/>
                </a:solidFill>
                <a:latin typeface="Arial" panose="020B0604020202090204"/>
              </a:rPr>
              <a:t>FinPilot AI turns the messages people already receive into a private, forward-looking view of their money</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Every module works end to end on the user's own SMS and e-mail</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Consent, purpose limitation, encryption and deletion are built in</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Results are measured; 82 backend, 23 browser and 17 on-device checks pass</a:t>
            </a:r>
            <a:endParaRPr sz="1600" b="0" i="0">
              <a:solidFill>
                <a:srgbClr val="000000"/>
              </a:solidFill>
              <a:latin typeface="Arial" panose="020B0604020202090204"/>
            </a:endParaRPr>
          </a:p>
        </p:txBody>
      </p:sp>
      <p:sp>
        <p:nvSpPr>
          <p:cNvPr id="5" name="TextBox 4"/>
          <p:cNvSpPr txBox="1"/>
          <p:nvPr/>
        </p:nvSpPr>
        <p:spPr>
          <a:xfrm>
            <a:off x="6263640" y="1188720"/>
            <a:ext cx="5486400" cy="365760"/>
          </a:xfrm>
          <a:prstGeom prst="rect">
            <a:avLst/>
          </a:prstGeom>
          <a:noFill/>
        </p:spPr>
        <p:txBody>
          <a:bodyPr wrap="square" lIns="45720" tIns="27432" rIns="45720" bIns="27432" anchor="t">
            <a:noAutofit/>
          </a:bodyPr>
          <a:lstStyle/>
          <a:p>
            <a:pPr algn="l">
              <a:spcBef>
                <a:spcPts val="0"/>
              </a:spcBef>
              <a:buNone/>
            </a:pPr>
            <a:r>
              <a:rPr sz="1800" b="1" i="0">
                <a:solidFill>
                  <a:srgbClr val="002060"/>
                </a:solidFill>
                <a:latin typeface="Arial" panose="020B0604020202090204"/>
              </a:rPr>
              <a:t>Future Scope</a:t>
            </a:r>
            <a:endParaRPr sz="1800" b="1" i="0">
              <a:solidFill>
                <a:srgbClr val="002060"/>
              </a:solidFill>
              <a:latin typeface="Arial" panose="020B0604020202090204"/>
            </a:endParaRPr>
          </a:p>
        </p:txBody>
      </p:sp>
      <p:sp>
        <p:nvSpPr>
          <p:cNvPr id="6" name="TextBox 5"/>
          <p:cNvSpPr txBox="1"/>
          <p:nvPr/>
        </p:nvSpPr>
        <p:spPr>
          <a:xfrm>
            <a:off x="6263640" y="1600200"/>
            <a:ext cx="5376672" cy="3566160"/>
          </a:xfrm>
          <a:prstGeom prst="rect">
            <a:avLst/>
          </a:prstGeom>
          <a:noFill/>
        </p:spPr>
        <p:txBody>
          <a:bodyPr wrap="square" lIns="45720" tIns="27432" rIns="45720" bIns="27432" anchor="t">
            <a:noAutofit/>
          </a:bodyPr>
          <a:lstStyle/>
          <a:p>
            <a:pPr marL="274320" indent="-274320" algn="l">
              <a:spcBef>
                <a:spcPts val="1000"/>
              </a:spcBef>
              <a:buFont typeface="Arial" panose="020B0604020202090204"/>
              <a:buChar char="•"/>
            </a:pPr>
            <a:r>
              <a:rPr sz="1600" b="0" i="0">
                <a:solidFill>
                  <a:srgbClr val="000000"/>
                </a:solidFill>
                <a:latin typeface="Arial" panose="020B0604020202090204"/>
              </a:rPr>
              <a:t>Real bank data through India's Account Aggregator framework</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SMS capture in the background, and a Play Store release</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A local LLM for the coach, using the existing ResponseProvider interface</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Hosted multi-user version with HTTPS, PostgreSQL and log files</a:t>
            </a:r>
            <a:endParaRPr sz="1600" b="0" i="0">
              <a:solidFill>
                <a:srgbClr val="000000"/>
              </a:solidFill>
              <a:latin typeface="Arial" panose="020B0604020202090204"/>
            </a:endParaRPr>
          </a:p>
          <a:p>
            <a:pPr marL="274320" indent="-274320" algn="l">
              <a:spcBef>
                <a:spcPts val="1000"/>
              </a:spcBef>
              <a:buFont typeface="Arial" panose="020B0604020202090204"/>
              <a:buChar char="•"/>
            </a:pPr>
            <a:r>
              <a:rPr sz="1600" b="0" i="0">
                <a:solidFill>
                  <a:srgbClr val="000000"/>
                </a:solidFill>
                <a:latin typeface="Arial" panose="020B0604020202090204"/>
              </a:rPr>
              <a:t>More bank formats from users' Review queues; more languages</a:t>
            </a:r>
            <a:endParaRPr sz="1600" b="0" i="0">
              <a:solidFill>
                <a:srgbClr val="000000"/>
              </a:solidFill>
              <a:latin typeface="Arial" panose="020B0604020202090204"/>
            </a:endParaRPr>
          </a:p>
        </p:txBody>
      </p:sp>
      <p:sp>
        <p:nvSpPr>
          <p:cNvPr id="7" name="TextBox 6"/>
          <p:cNvSpPr txBox="1"/>
          <p:nvPr/>
        </p:nvSpPr>
        <p:spPr>
          <a:xfrm>
            <a:off x="548640" y="5257800"/>
            <a:ext cx="11091672" cy="548640"/>
          </a:xfrm>
          <a:prstGeom prst="rect">
            <a:avLst/>
          </a:prstGeom>
          <a:noFill/>
        </p:spPr>
        <p:txBody>
          <a:bodyPr wrap="square" lIns="45720" tIns="27432" rIns="45720" bIns="27432" anchor="t">
            <a:noAutofit/>
          </a:bodyPr>
          <a:lstStyle/>
          <a:p>
            <a:pPr algn="ctr">
              <a:spcBef>
                <a:spcPts val="0"/>
              </a:spcBef>
              <a:buNone/>
            </a:pPr>
            <a:r>
              <a:rPr sz="2400" b="1" i="0">
                <a:solidFill>
                  <a:srgbClr val="002060"/>
                </a:solidFill>
                <a:latin typeface="Arial" panose="020B0604020202090204"/>
              </a:rPr>
              <a:t>Thank You! Questions?</a:t>
            </a:r>
            <a:endParaRPr sz="2400" b="1" i="0">
              <a:solidFill>
                <a:srgbClr val="002060"/>
              </a:solidFill>
              <a:latin typeface="Arial" panose="020B0604020202090204"/>
            </a:endParaRPr>
          </a:p>
        </p:txBody>
      </p:sp>
    </p:spTree>
  </p:cSld>
  <p:clrMapOvr>
    <a:masterClrMapping/>
  </p:clrMapOvr>
  <p:transition>
    <p:fade/>
  </p:transition>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17338</Words>
  <Application>WPS Presentation</Application>
  <PresentationFormat>Widescreen</PresentationFormat>
  <Paragraphs>722</Paragraphs>
  <Slides>20</Slides>
  <Notes>27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0</vt:i4>
      </vt:variant>
      <vt:variant>
        <vt:lpstr>幻灯片标题</vt:lpstr>
      </vt:variant>
      <vt:variant>
        <vt:i4>20</vt:i4>
      </vt:variant>
    </vt:vector>
  </HeadingPairs>
  <TitlesOfParts>
    <vt:vector size="31" baseType="lpstr">
      <vt:lpstr>Arial</vt:lpstr>
      <vt:lpstr>SimSun</vt:lpstr>
      <vt:lpstr>Wingdings</vt:lpstr>
      <vt:lpstr>Verdana</vt:lpstr>
      <vt:lpstr>Times New Roman</vt:lpstr>
      <vt:lpstr>Arial</vt:lpstr>
      <vt:lpstr>Microsoft YaHei</vt:lpstr>
      <vt:lpstr>汉仪旗黑</vt:lpstr>
      <vt:lpstr>宋体-简</vt:lpstr>
      <vt:lpstr>Arial Unicode MS</vt:lpstr>
      <vt:lpstr>1_Default Design</vt:lpstr>
      <vt:lpstr>Department of Information Technology</vt:lpstr>
      <vt:lpstr>Project Overview</vt:lpstr>
      <vt:lpstr>Problem Statement and Motivation</vt:lpstr>
      <vt:lpstr>Objectives and Scope</vt:lpstr>
      <vt:lpstr>Functional Requirements (1/2)</vt:lpstr>
      <vt:lpstr>Functional Requirements (2/2)</vt:lpstr>
      <vt:lpstr>Non-Functional Requirements</vt:lpstr>
      <vt:lpstr>System Architecture</vt:lpstr>
      <vt:lpstr>Backend Layers and Request Flow</vt:lpstr>
      <vt:lpstr>Technologies Used</vt:lpstr>
      <vt:lpstr>Software Development Life Cycle</vt:lpstr>
      <vt:lpstr>Build Phases</vt:lpstr>
      <vt:lpstr>Major Features and Modules</vt:lpstr>
      <vt:lpstr>Application Screenshots</vt:lpstr>
      <vt:lpstr>Data Flow</vt:lpstr>
      <vt:lpstr>Database Design</vt:lpstr>
      <vt:lpstr>Results</vt:lpstr>
      <vt:lpstr>Testing and Validation</vt:lpstr>
      <vt:lpstr>Challenges and Possible Improvements</vt:lpstr>
      <vt:lpstr>Conclusion and Future Scope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FinPilot AI — Project Presentation</dc:title>
  <dc:creator>Jeya Sangavi R, Rahul Akshath Rajendran, Rakshitha S</dc:creator>
  <dc:subject>UIT2739 Full Stack Development Project, SSN College of Engineering</dc:subject>
  <cp:lastModifiedBy>rahul</cp:lastModifiedBy>
  <cp:revision>111</cp:revision>
  <cp:lastPrinted>2026-10-23T07:55:18Z</cp:lastPrinted>
  <dcterms:created xsi:type="dcterms:W3CDTF">2026-10-23T07:55:18Z</dcterms:created>
  <dcterms:modified xsi:type="dcterms:W3CDTF">2026-10-23T07:55:18Z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C74005CF77AE1C8DECF8566A79DFFBB0_42</vt:lpwstr>
  </property>
</Properties>
</file>