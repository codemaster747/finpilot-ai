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
  </p:handoutMasterIdLst>
  <p:sldIdLst>
    <p:sldId id="256" r:id="rId8"/>
    <p:sldId id="257" r:id="rId9"/>
    <p:sldId id="258" r:id="rId7"/>
    <p:sldId id="259" r:id="rId6"/>
    <p:sldId id="260" r:id="rId5"/>
    <p:sldId id="261" r:id="rId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7010400" cy="9296400"/>
  <p:defaultTextStyle>
    <a:defPPr>
      <a:defRPr lang="en-US"/>
    </a:defPPr>
    <a:lvl1pPr algn="l" rtl="0" fontAlgn="base">
      <a:spcBef>
        <a:spcPct val="0"/>
      </a:spcBef>
      <a:spcAft>
        <a:spcPct val="0"/>
      </a:spcAft>
      <a:defRPr sz="20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90204" pitchFamily="34" charset="0"/>
        <a:ea typeface="+mn-ea"/>
        <a:cs typeface="+mn-cs"/>
      </a:defRPr>
    </a:lvl5pPr>
    <a:lvl6pPr marL="2286000" algn="l" defTabSz="914400" rtl="0" eaLnBrk="1" latinLnBrk="0" hangingPunct="1">
      <a:defRPr sz="2000" kern="1200">
        <a:solidFill>
          <a:schemeClr val="tx1"/>
        </a:solidFill>
        <a:latin typeface="Arial" panose="020B0604020202090204" pitchFamily="34" charset="0"/>
        <a:ea typeface="+mn-ea"/>
        <a:cs typeface="+mn-cs"/>
      </a:defRPr>
    </a:lvl6pPr>
    <a:lvl7pPr marL="2743200" algn="l" defTabSz="914400" rtl="0" eaLnBrk="1" latinLnBrk="0" hangingPunct="1">
      <a:defRPr sz="2000" kern="1200">
        <a:solidFill>
          <a:schemeClr val="tx1"/>
        </a:solidFill>
        <a:latin typeface="Arial" panose="020B0604020202090204" pitchFamily="34" charset="0"/>
        <a:ea typeface="+mn-ea"/>
        <a:cs typeface="+mn-cs"/>
      </a:defRPr>
    </a:lvl7pPr>
    <a:lvl8pPr marL="3200400" algn="l" defTabSz="914400" rtl="0" eaLnBrk="1" latinLnBrk="0" hangingPunct="1">
      <a:defRPr sz="2000" kern="1200">
        <a:solidFill>
          <a:schemeClr val="tx1"/>
        </a:solidFill>
        <a:latin typeface="Arial" panose="020B0604020202090204" pitchFamily="34" charset="0"/>
        <a:ea typeface="+mn-ea"/>
        <a:cs typeface="+mn-cs"/>
      </a:defRPr>
    </a:lvl8pPr>
    <a:lvl9pPr marL="3657600" algn="l" defTabSz="914400" rtl="0" eaLnBrk="1" latinLnBrk="0" hangingPunct="1">
      <a:defRPr sz="2000" kern="120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90B0D4"/>
    <a:srgbClr val="B4593C"/>
    <a:srgbClr val="0066CC"/>
    <a:srgbClr val="547B9C"/>
    <a:srgbClr val="C0309A"/>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200"/>
        <p:guide pos="3840"/>
      </p:guideLst>
    </p:cSldViewPr>
  </p:slideViewPr>
  <p:notesViewPr>
    <p:cSldViewPr snapToGrid="0">
      <p:cViewPr>
        <p:scale>
          <a:sx n="1" d="2"/>
          <a:sy n="1" d="2"/>
        </p:scale>
        <p:origin x="0" y="0"/>
      </p:cViewPr>
      <p:guideLst>
        <p:guide orient="horz" pos="2982"/>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00000"/>
                </a:solidFill>
                <a:latin typeface="Arial"/>
              </a:rPr>
              <a:t>Forecast error (mean absolute daily error, ₹)</a:t>
            </a:r>
          </a:p>
        </c:rich>
      </c:tx>
      <c:layout/>
      <c:overlay val="0"/>
    </c:title>
    <c:autoTitleDeleted val="0"/>
    <c:plotArea>
      <c:barChart>
        <c:barDir val="bar"/>
        <c:grouping val="clustered"/>
        <c:ser>
          <c:idx val="0"/>
          <c:order val="0"/>
          <c:tx>
            <c:strRef>
              <c:f>Sheet1!$B$1</c:f>
              <c:strCache>
                <c:ptCount val="1"/>
                <c:pt idx="0">
                  <c:v>Mean absolute daily error (₹)</c:v>
                </c:pt>
              </c:strCache>
            </c:strRef>
          </c:tx>
          <c:spPr>
            <a:solidFill>
              <a:srgbClr val="4472C4"/>
            </a:solidFill>
          </c:spPr>
          <c:cat>
            <c:strRef>
              <c:f>Sheet1!$A$2:$A$4</c:f>
              <c:strCache>
                <c:ptCount val="3"/>
                <c:pt idx="0">
                  <c:v>Seasonal naive</c:v>
                </c:pt>
                <c:pt idx="1">
                  <c:v>Naive + known schedule</c:v>
                </c:pt>
                <c:pt idx="2">
                  <c:v>Prophet + known schedule</c:v>
                </c:pt>
              </c:strCache>
            </c:strRef>
          </c:cat>
          <c:val>
            <c:numRef>
              <c:f>Sheet1!$B$2:$B$4</c:f>
              <c:numCache>
                <c:formatCode>General</c:formatCode>
                <c:ptCount val="3"/>
                <c:pt idx="0">
                  <c:v>10067</c:v>
                </c:pt>
                <c:pt idx="1">
                  <c:v>1518</c:v>
                </c:pt>
                <c:pt idx="2">
                  <c:v>1466</c:v>
                </c:pt>
              </c:numCache>
            </c:numRef>
          </c:val>
        </c:ser>
        <c:dLbls>
          <c:numFmt formatCode="&quot;₹&quot;#,##0" sourceLinked="0"/>
          <c:txPr>
            <a:bodyPr/>
            <a:lstStyle/>
            <a:p>
              <a:pPr>
                <a:defRPr sz="1200" b="0">
                  <a:solidFill>
                    <a:srgbClr val="000000"/>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axMin"/>
        </c:scaling>
        <c:delete val="0"/>
        <c:axPos val="l"/>
        <c:majorTickMark val="out"/>
        <c:minorTickMark val="none"/>
        <c:tickLblPos val="nextTo"/>
        <c:spPr>
          <a:ln>
            <a:solidFill>
              <a:srgbClr val="7F7F7F"/>
            </a:solidFill>
          </a:ln>
        </c:spPr>
        <c:txPr>
          <a:bodyPr/>
          <a:lstStyle/>
          <a:p>
            <a:pPr>
              <a:defRPr sz="1200">
                <a:solidFill>
                  <a:srgbClr val="000000"/>
                </a:solidFill>
              </a:defRPr>
            </a:pPr>
          </a:p>
        </c:txPr>
        <c:crossAx val="-2113994440"/>
        <c:crosses val="autoZero"/>
        <c:auto val="1"/>
        <c:lblAlgn val="ctr"/>
        <c:lblOffset val="100"/>
        <c:noMultiLvlLbl val="0"/>
      </c:catAx>
      <c:valAx>
        <c:axId val="-2113994440"/>
        <c:scaling>
          <c:max val="12000.0"/>
          <c:min val="0.0"/>
        </c:scaling>
        <c:delete val="0"/>
        <c:axPos val="b"/>
        <c:majorGridlines>
          <c:spPr>
            <a:ln w="6350">
              <a:solidFill>
                <a:srgbClr val="D9D9D9"/>
              </a:solidFill>
            </a:ln>
          </c:spPr>
        </c:majorGridlines>
        <c:numFmt formatCode="#,##0" sourceLinked="0"/>
        <c:majorTickMark val="out"/>
        <c:minorTickMark val="none"/>
        <c:tickLblPos val="nextTo"/>
        <c:crossAx val="-2068027336"/>
        <c:crosses val="max"/>
      </c:valAx>
    </c:plotArea>
    <c:dispBlanksAs val="gap"/>
  </c:chart>
  <c:txPr>
    <a:bodyPr/>
    <a:lstStyle/>
    <a:p>
      <a:pPr>
        <a:defRPr sz="1200">
          <a:latin typeface="Aria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628" cy="464981"/>
          </a:xfrm>
          <a:prstGeom prst="rect">
            <a:avLst/>
          </a:prstGeom>
        </p:spPr>
        <p:txBody>
          <a:bodyPr vert="horz" lIns="92153" tIns="46077" rIns="92153" bIns="46077" rtlCol="0"/>
          <a:lstStyle>
            <a:lvl1pPr algn="l">
              <a:defRPr sz="1200"/>
            </a:lvl1pPr>
          </a:lstStyle>
          <a:p>
            <a:endParaRPr lang="en-US"/>
          </a:p>
        </p:txBody>
      </p:sp>
      <p:sp>
        <p:nvSpPr>
          <p:cNvPr id="3" name="Date Placeholder 2"/>
          <p:cNvSpPr>
            <a:spLocks noGrp="1"/>
          </p:cNvSpPr>
          <p:nvPr>
            <p:ph type="dt" sz="quarter" idx="1"/>
          </p:nvPr>
        </p:nvSpPr>
        <p:spPr>
          <a:xfrm>
            <a:off x="3971173" y="1"/>
            <a:ext cx="3037628" cy="464981"/>
          </a:xfrm>
          <a:prstGeom prst="rect">
            <a:avLst/>
          </a:prstGeom>
        </p:spPr>
        <p:txBody>
          <a:bodyPr vert="horz" lIns="92153" tIns="46077" rIns="92153" bIns="46077" rtlCol="0"/>
          <a:lstStyle>
            <a:lvl1pPr algn="r">
              <a:defRPr sz="1200"/>
            </a:lvl1pPr>
          </a:lstStyle>
          <a:p>
            <a:fld id="{006C233A-9D74-4117-ACA8-060D36B7D83A}" type="datetimeFigureOut">
              <a:rPr lang="en-US" smtClean="0"/>
            </a:fld>
            <a:endParaRPr lang="en-US"/>
          </a:p>
        </p:txBody>
      </p:sp>
      <p:sp>
        <p:nvSpPr>
          <p:cNvPr id="4" name="Footer Placeholder 3"/>
          <p:cNvSpPr>
            <a:spLocks noGrp="1"/>
          </p:cNvSpPr>
          <p:nvPr>
            <p:ph type="ftr" sz="quarter" idx="2"/>
          </p:nvPr>
        </p:nvSpPr>
        <p:spPr>
          <a:xfrm>
            <a:off x="0" y="8829824"/>
            <a:ext cx="3037628" cy="464981"/>
          </a:xfrm>
          <a:prstGeom prst="rect">
            <a:avLst/>
          </a:prstGeom>
        </p:spPr>
        <p:txBody>
          <a:bodyPr vert="horz" lIns="92153" tIns="46077" rIns="92153" bIns="46077" rtlCol="0" anchor="b"/>
          <a:lstStyle>
            <a:lvl1pPr algn="l">
              <a:defRPr sz="1200"/>
            </a:lvl1pPr>
          </a:lstStyle>
          <a:p>
            <a:endParaRPr lang="en-US"/>
          </a:p>
        </p:txBody>
      </p:sp>
      <p:sp>
        <p:nvSpPr>
          <p:cNvPr id="5" name="Slide Number Placeholder 4"/>
          <p:cNvSpPr>
            <a:spLocks noGrp="1"/>
          </p:cNvSpPr>
          <p:nvPr>
            <p:ph type="sldNum" sz="quarter" idx="3"/>
          </p:nvPr>
        </p:nvSpPr>
        <p:spPr>
          <a:xfrm>
            <a:off x="3971173" y="8829824"/>
            <a:ext cx="3037628" cy="464981"/>
          </a:xfrm>
          <a:prstGeom prst="rect">
            <a:avLst/>
          </a:prstGeom>
        </p:spPr>
        <p:txBody>
          <a:bodyPr vert="horz" lIns="92153" tIns="46077" rIns="92153" bIns="46077" rtlCol="0" anchor="b"/>
          <a:lstStyle>
            <a:lvl1pPr algn="r">
              <a:defRPr sz="1200"/>
            </a:lvl1pPr>
          </a:lstStyle>
          <a:p>
            <a:fld id="{A28E399E-F7B0-4ADD-938A-755F22AEF96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840" cy="464821"/>
          </a:xfrm>
          <a:prstGeom prst="rect">
            <a:avLst/>
          </a:prstGeom>
          <a:noFill/>
          <a:ln w="9525">
            <a:noFill/>
            <a:miter lim="800000"/>
          </a:ln>
          <a:effectLst/>
        </p:spPr>
        <p:txBody>
          <a:bodyPr vert="horz" wrap="square" lIns="93205" tIns="46603" rIns="93205" bIns="46603" numCol="1" anchor="t" anchorCtr="0" compatLnSpc="1"/>
          <a:lstStyle>
            <a:lvl1pPr>
              <a:defRPr sz="1200"/>
            </a:lvl1pPr>
          </a:lstStyle>
          <a:p>
            <a:endParaRPr lang="en-US"/>
          </a:p>
        </p:txBody>
      </p:sp>
      <p:sp>
        <p:nvSpPr>
          <p:cNvPr id="4099" name="Rectangle 3"/>
          <p:cNvSpPr>
            <a:spLocks noGrp="1" noChangeArrowheads="1"/>
          </p:cNvSpPr>
          <p:nvPr>
            <p:ph type="dt" idx="1"/>
          </p:nvPr>
        </p:nvSpPr>
        <p:spPr bwMode="auto">
          <a:xfrm>
            <a:off x="3972563" y="0"/>
            <a:ext cx="3037840" cy="464821"/>
          </a:xfrm>
          <a:prstGeom prst="rect">
            <a:avLst/>
          </a:prstGeom>
          <a:noFill/>
          <a:ln w="9525">
            <a:noFill/>
            <a:miter lim="800000"/>
          </a:ln>
          <a:effectLst/>
        </p:spPr>
        <p:txBody>
          <a:bodyPr vert="horz" wrap="square" lIns="93205" tIns="46603" rIns="93205" bIns="46603" numCol="1" anchor="t" anchorCtr="0" compatLnSpc="1"/>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406400" y="698500"/>
            <a:ext cx="6197600" cy="34861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34721" y="4415792"/>
            <a:ext cx="5140960" cy="4183380"/>
          </a:xfrm>
          <a:prstGeom prst="rect">
            <a:avLst/>
          </a:prstGeom>
          <a:noFill/>
          <a:ln w="9525">
            <a:noFill/>
            <a:miter lim="800000"/>
          </a:ln>
          <a:effectLst/>
        </p:spPr>
        <p:txBody>
          <a:bodyPr vert="horz" wrap="square" lIns="93205" tIns="46603" rIns="93205" bIns="46603"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102" name="Rectangle 6"/>
          <p:cNvSpPr>
            <a:spLocks noGrp="1" noChangeArrowheads="1"/>
          </p:cNvSpPr>
          <p:nvPr>
            <p:ph type="ftr" sz="quarter" idx="4"/>
          </p:nvPr>
        </p:nvSpPr>
        <p:spPr bwMode="auto">
          <a:xfrm>
            <a:off x="1" y="8831581"/>
            <a:ext cx="3037840" cy="464821"/>
          </a:xfrm>
          <a:prstGeom prst="rect">
            <a:avLst/>
          </a:prstGeom>
          <a:noFill/>
          <a:ln w="9525">
            <a:noFill/>
            <a:miter lim="800000"/>
          </a:ln>
          <a:effectLst/>
        </p:spPr>
        <p:txBody>
          <a:bodyPr vert="horz" wrap="square" lIns="93205" tIns="46603" rIns="93205" bIns="46603" numCol="1" anchor="b" anchorCtr="0" compatLnSpc="1"/>
          <a:lstStyle>
            <a:lvl1pPr>
              <a:defRPr sz="1200"/>
            </a:lvl1pPr>
          </a:lstStyle>
          <a:p>
            <a:endParaRPr lang="en-US"/>
          </a:p>
        </p:txBody>
      </p:sp>
      <p:sp>
        <p:nvSpPr>
          <p:cNvPr id="4103" name="Rectangle 7"/>
          <p:cNvSpPr>
            <a:spLocks noGrp="1" noChangeArrowheads="1"/>
          </p:cNvSpPr>
          <p:nvPr>
            <p:ph type="sldNum" sz="quarter" idx="5"/>
          </p:nvPr>
        </p:nvSpPr>
        <p:spPr bwMode="auto">
          <a:xfrm>
            <a:off x="3972563" y="8831581"/>
            <a:ext cx="3037840" cy="464821"/>
          </a:xfrm>
          <a:prstGeom prst="rect">
            <a:avLst/>
          </a:prstGeom>
          <a:noFill/>
          <a:ln w="9525">
            <a:noFill/>
            <a:miter lim="800000"/>
          </a:ln>
          <a:effectLst/>
        </p:spPr>
        <p:txBody>
          <a:bodyPr vert="horz" wrap="square" lIns="93205" tIns="46603" rIns="93205" bIns="46603" numCol="1" anchor="b" anchorCtr="0" compatLnSpc="1"/>
          <a:lstStyle>
            <a:lvl1pPr algn="r">
              <a:defRPr sz="1200"/>
            </a:lvl1pPr>
          </a:lstStyle>
          <a:p>
            <a:fld id="{848BB432-97C3-4B7D-8D6F-1BA494990EB4}"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FinPilot AI, our UIT2739 full-stack project. It is a personal-finance assistant that builds a user's financial picture from the bank SMS and e-mails they already receive, but only after the user allows each source. This common part covers the problem, requirements, architecture, SDLC, modules, database, testing and lessons learnt; each of us then demonstrates our own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FinPilot AI is a full-stack web app. Capture: bank SMS and e-mails, each behind its own consent, plus optional uploads. Understand: every message is classified, its fields extracted, duplicates reconciled and the payment categorised. Predict: a 90-day cash-flow forecast, subscription analysis and tax estimates. Act: insights, a coach, budgets, goals and Smart Picks that never touch the safety buffer. It runs with one command, works offline after the first run and costs nothing to operate.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already exists: every UPI payment, card swipe and bill produces an SMS or e-mail. The problem is that it stays scattered and existing tools fall short in four ways shown on the right. Our statement: build a reliable, forward-looking picture of a person's money from the messages they already receive, only with their consent, running on their own computer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each mapped to modules we built. On the right is the scope we committed to. The out-of-scope items are the limits stated in our README: no live bank or Gmail connections, no payments, only the bundled demo stores for crawling, and tax figures are estimates, not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FR1 to FR7 cover accounts, consent, capture, uploads, transactions, the dashboard and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FR8 to FR14 cover subscriptions, tax, insights and coach, budgets and goals, Smart Picks, settings and data rights, and the system quality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qualities are visible in the code. Security: bcrypt, JWT in httpOnly cookies, rotating refresh tokens, a CSRF header and a login rate limit. Privacy: consent per source and purpose, Fernet encryption and a 90-day retention purge. Reliability: transactions roll back, analytics stages are isolated, and Prophet falls back to a baseline. Performance figures come from our measured cold start. Portability: one command, no Docker.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in one Python process started by run.py. FastAPI on port 8000 serves both the JSON API under /api/v1 and the pre-built Next.js site, so the browser talks to one origin and no CORS is needed. Services hold the business logic and ML; a job runner and scheduler do background work; a second Uvicorn server on port 8090 hosts the demo stores that the Smart Picks crawler visits. Data lives in SQLite in WAL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layered. Routers handle HTTP and validation; dependencies give each request the signed-in user and a database session; services hold the rules; models map to SQLite. On the right is one real request: a what-if purchase on the Forecast page. It only reads the stored forecast, so it answers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tools are free and run locally. The frontend is a Next.js static export served by FastAPI, so Node.js is only needed to rebuild the UI. The backend uses FastAPI with SQLAlchemy and SQLite. ML uses scikit-learn and Prophet. The versions shown are the ones installed in our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followed an iterative and incremental model. Requirements were set at Review 0 in July; afterwards they changed to add consent-based SMS and e-mail capture and Smart Picks, so we revised the design: one process, SQLite and a one-command launcher instead of Docker and PostgreSQL. Implementation ran in ten phases, each ending with a working app and a measurable gate, followed by testing, packaging and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ten phases as executed, taken from our project plan. Each one ended with a check we could demonstrate, for example: no transactions created from OTP or promotional messages, the BlockedMart store skipped because robots.txt forbids it, and the property test showing Buy now never breaks the buffer.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modules, all working end to end. Capture and receipts bring data in; transactions, review and anomaly detection make it trustworthy; forecasting, subscriptions and tax look ahead; insights, the coach, budgets and Smart Picks turn it into decisions. Each team member will demonstrate their own modules.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screenshots from the running app with the demo persona, Aarav Sharma: the dashboard, the consent centre, the forecast with a what-if check, subscriptions, the tax comparison and Smart Picks. The live demonstration follows after this common part.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whatever its source, goes through the same pipeline. First the source must be active; then the pre-filter drops promotions and personal messages before anything is stored. A classifier recognises 12 kinds of message, the extractor reads the fields, and reconciliation makes sure one payment becomes one transaction even when it arrives by SMS and by e-mail. After new data, a background job refreshes the analytics that the pages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SQLite with 33 tables, created by one Alembic migration and grouped into four domains. Key decisions: money as integer paise, every user table cascades on delete so removing an account removes everything, transactions record where they came from and how they were categorised, message text is encrypted and purged, and the consent log is append-only.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everything on data with known answers. The chart is the forecast backtest: knowing the user's schedule cuts the error by 85 percent against the seasonal-naive baseline, and Prophet improves it by about 3 percent more, which we report honestly. The tiles show message understanding, de-duplication, categorisation, the coach and Smart Picks.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ran at three levels. 59 backend tests with pytest and Hypothesis; we re-ran them on 14 October and all 59 passed in about 30 seconds. 14 Playwright end-to-end tests walk the whole demo script in a real browser. Models are validated on held-out data, unseen bank formats, a hand-written challenge set and rolling backtests. Settings shows a live quality report and an in-browser OCR benchmark.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main challenges and how we solved them. Right: improvements we identified while reviewing our own code, for example there is no log file yet because logs go to the terminal, the login rate limit lives in memory, and the UI does not yet ask for consent again when the notice changes.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FinPilot AI turns messages people already receive into a private, forward-looking view of their money; every module works end to end from one command; privacy is built in; and our results are measured and tested. In future it could connect to real bank data through the Account Aggregator framework, gain an Android companion app, and use a local language model behind the coach's provider interface.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11988800" cy="1268412"/>
          </a:xfrm>
          <a:prstGeom prst="rect">
            <a:avLst/>
          </a:prstGeom>
          <a:noFill/>
        </p:spPr>
      </p:pic>
      <p:sp>
        <p:nvSpPr>
          <p:cNvPr id="11267" name="Rectangle 3"/>
          <p:cNvSpPr>
            <a:spLocks noGrp="1" noChangeArrowheads="1"/>
          </p:cNvSpPr>
          <p:nvPr>
            <p:ph type="ctrTitle"/>
          </p:nvPr>
        </p:nvSpPr>
        <p:spPr>
          <a:xfrm>
            <a:off x="914400" y="2286000"/>
            <a:ext cx="10363200" cy="1143000"/>
          </a:xfrm>
        </p:spPr>
        <p:txBody>
          <a:bodyPr/>
          <a:lstStyle>
            <a:lvl1pPr>
              <a:defRPr>
                <a:solidFill>
                  <a:srgbClr val="1B57B5"/>
                </a:solidFill>
              </a:defRPr>
            </a:lvl1pPr>
          </a:lstStyle>
          <a:p>
            <a:r>
              <a:rPr lang="en-US"/>
              <a:t>Click to edit Master title style</a:t>
            </a:r>
            <a:endParaRPr lang="en-US"/>
          </a:p>
        </p:txBody>
      </p:sp>
      <p:sp>
        <p:nvSpPr>
          <p:cNvPr id="11268" name="Rectangle 4"/>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r>
              <a:rPr lang="en-US"/>
              <a:t>Click to edit Master subtitle style</a:t>
            </a:r>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E765331A-FB16-4349-BB1E-9292E7905A34}" type="slidenum">
              <a:rPr lang="en-US"/>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Slide Number Placeholder 2"/>
          <p:cNvSpPr>
            <a:spLocks noGrp="1"/>
          </p:cNvSpPr>
          <p:nvPr>
            <p:ph type="sldNum" sz="quarter" idx="10"/>
          </p:nvPr>
        </p:nvSpPr>
        <p:spPr>
          <a:xfrm>
            <a:off x="0" y="6321425"/>
            <a:ext cx="12192000" cy="476250"/>
          </a:xfrm>
        </p:spPr>
        <p:txBody>
          <a:bodyPr/>
          <a:lstStyle>
            <a:lvl1pPr>
              <a:defRPr/>
            </a:lvl1pPr>
          </a:lstStyle>
          <a:p>
            <a:fld id="{CA127EDD-5AE7-4F7E-A3D2-120782799796}" type="slidenum">
              <a:rPr lang="en-US"/>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50D1D595-6F66-4A04-B04D-68C711B5071F}"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oleObject" Target="../embeddings/oleObject1.bin"/><Relationship Id="rId16" Type="http://schemas.openxmlformats.org/officeDocument/2006/relationships/image" Target="../media/image2.emf"/><Relationship Id="rId17" Type="http://schemas.openxmlformats.org/officeDocument/2006/relationships/vmlDrawing" Target="../drawings/vmlDrawing1.v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09600" y="274638"/>
            <a:ext cx="10972800" cy="1143000"/>
          </a:xfrm>
          <a:prstGeom prst="rect">
            <a:avLst/>
          </a:prstGeom>
          <a:noFill/>
          <a:ln w="9525">
            <a:noFill/>
            <a:miter lim="800000"/>
          </a:ln>
          <a:effectLst/>
        </p:spPr>
        <p:txBody>
          <a:bodyPr vert="horz" wrap="square" lIns="91440" tIns="45720" rIns="91440" bIns="45720" numCol="1" anchor="ctr" anchorCtr="0" compatLnSpc="1"/>
          <a:lstStyle/>
          <a:p>
            <a:pPr lvl="0"/>
            <a:r>
              <a:rPr lang="en-US"/>
              <a:t>Click to edit Master title style</a:t>
            </a:r>
            <a:endParaRPr lang="en-US"/>
          </a:p>
        </p:txBody>
      </p:sp>
      <p:sp>
        <p:nvSpPr>
          <p:cNvPr id="10243" name="Rectangle 3"/>
          <p:cNvSpPr>
            <a:spLocks noGrp="1" noChangeArrowheads="1"/>
          </p:cNvSpPr>
          <p:nvPr>
            <p:ph type="body" idx="1"/>
          </p:nvPr>
        </p:nvSpPr>
        <p:spPr bwMode="auto">
          <a:xfrm>
            <a:off x="609600" y="1600201"/>
            <a:ext cx="10972800" cy="4525963"/>
          </a:xfrm>
          <a:prstGeom prst="rect">
            <a:avLst/>
          </a:prstGeom>
          <a:noFill/>
          <a:ln w="9525">
            <a:noFill/>
            <a:miter lim="800000"/>
          </a:ln>
          <a:effec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aphicFrame>
        <p:nvGraphicFramePr>
          <p:cNvPr id="10244" name="Object 4"/>
          <p:cNvGraphicFramePr>
            <a:graphicFrameLocks noChangeAspect="1"/>
          </p:cNvGraphicFramePr>
          <p:nvPr/>
        </p:nvGraphicFramePr>
        <p:xfrm>
          <a:off x="0" y="6117455"/>
          <a:ext cx="12191999" cy="788671"/>
        </p:xfrm>
        <a:graphic>
          <a:graphicData uri="http://schemas.openxmlformats.org/presentationml/2006/ole">
            <mc:AlternateContent xmlns:mc="http://schemas.openxmlformats.org/markup-compatibility/2006">
              <mc:Choice xmlns:v="urn:schemas-microsoft-com:vml" Requires="v">
                <p:oleObj spid="_x0000_s2" name="CorelDRAW" r:id="rId15" imgW="9529445" imgH="654685" progId="">
                  <p:embed/>
                </p:oleObj>
              </mc:Choice>
              <mc:Fallback>
                <p:oleObj name="CorelDRAW" r:id="rId15" imgW="9529445" imgH="654685" progId="">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117455"/>
                        <a:ext cx="12191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121920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fld id="{8AFEF79D-0508-431A-9382-43A6F8BABA35}"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hdr="0" ftr="0" dt="0"/>
  <p:txStyles>
    <p:titleStyle>
      <a:lvl1pPr algn="ctr" rtl="0" fontAlgn="base">
        <a:spcBef>
          <a:spcPct val="0"/>
        </a:spcBef>
        <a:spcAft>
          <a:spcPct val="0"/>
        </a:spcAft>
        <a:defRPr sz="40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804030504040204" pitchFamily="34" charset="0"/>
        </a:defRPr>
      </a:lvl2pPr>
      <a:lvl3pPr algn="ctr" rtl="0" fontAlgn="base">
        <a:spcBef>
          <a:spcPct val="0"/>
        </a:spcBef>
        <a:spcAft>
          <a:spcPct val="0"/>
        </a:spcAft>
        <a:defRPr sz="4000">
          <a:solidFill>
            <a:schemeClr val="tx2"/>
          </a:solidFill>
          <a:latin typeface="Verdana" panose="020B0804030504040204" pitchFamily="34" charset="0"/>
        </a:defRPr>
      </a:lvl3pPr>
      <a:lvl4pPr algn="ctr" rtl="0" fontAlgn="base">
        <a:spcBef>
          <a:spcPct val="0"/>
        </a:spcBef>
        <a:spcAft>
          <a:spcPct val="0"/>
        </a:spcAft>
        <a:defRPr sz="4000">
          <a:solidFill>
            <a:schemeClr val="tx2"/>
          </a:solidFill>
          <a:latin typeface="Verdana" panose="020B0804030504040204" pitchFamily="34" charset="0"/>
        </a:defRPr>
      </a:lvl4pPr>
      <a:lvl5pPr algn="ctr" rtl="0" fontAlgn="base">
        <a:spcBef>
          <a:spcPct val="0"/>
        </a:spcBef>
        <a:spcAft>
          <a:spcPct val="0"/>
        </a:spcAft>
        <a:defRPr sz="4000">
          <a:solidFill>
            <a:schemeClr val="tx2"/>
          </a:solidFill>
          <a:latin typeface="Verdana" panose="020B0804030504040204" pitchFamily="34" charset="0"/>
        </a:defRPr>
      </a:lvl5pPr>
      <a:lvl6pPr marL="457200" algn="ctr" rtl="0" fontAlgn="base">
        <a:spcBef>
          <a:spcPct val="0"/>
        </a:spcBef>
        <a:spcAft>
          <a:spcPct val="0"/>
        </a:spcAft>
        <a:defRPr sz="4000">
          <a:solidFill>
            <a:schemeClr val="tx2"/>
          </a:solidFill>
          <a:latin typeface="Verdana" panose="020B0804030504040204" pitchFamily="34" charset="0"/>
        </a:defRPr>
      </a:lvl6pPr>
      <a:lvl7pPr marL="914400" algn="ctr" rtl="0" fontAlgn="base">
        <a:spcBef>
          <a:spcPct val="0"/>
        </a:spcBef>
        <a:spcAft>
          <a:spcPct val="0"/>
        </a:spcAft>
        <a:defRPr sz="4000">
          <a:solidFill>
            <a:schemeClr val="tx2"/>
          </a:solidFill>
          <a:latin typeface="Verdana" panose="020B0804030504040204" pitchFamily="34" charset="0"/>
        </a:defRPr>
      </a:lvl7pPr>
      <a:lvl8pPr marL="1371600" algn="ctr" rtl="0" fontAlgn="base">
        <a:spcBef>
          <a:spcPct val="0"/>
        </a:spcBef>
        <a:spcAft>
          <a:spcPct val="0"/>
        </a:spcAft>
        <a:defRPr sz="4000">
          <a:solidFill>
            <a:schemeClr val="tx2"/>
          </a:solidFill>
          <a:latin typeface="Verdana" panose="020B0804030504040204" pitchFamily="34" charset="0"/>
        </a:defRPr>
      </a:lvl8pPr>
      <a:lvl9pPr marL="1828800" algn="ctr" rtl="0" fontAlgn="base">
        <a:spcBef>
          <a:spcPct val="0"/>
        </a:spcBef>
        <a:spcAft>
          <a:spcPct val="0"/>
        </a:spcAft>
        <a:defRPr sz="4000">
          <a:solidFill>
            <a:schemeClr val="tx2"/>
          </a:solidFill>
          <a:latin typeface="Verdana" panose="020B0804030504040204"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1984248"/>
          </a:xfrm>
          <a:solidFill>
            <a:srgbClr val="0079BC"/>
          </a:solidFill>
          <a:ln>
            <a:noFill/>
          </a:ln>
        </p:spPr>
        <p:txBody>
          <a:bodyPr anchor="ctr" wrap="square">
            <a:noAutofit/>
          </a:bodyPr>
          <a:lstStyle/>
          <a:p>
            <a:pPr algn="ctr">
              <a:spcAft>
                <a:spcPts val="200"/>
              </a:spcAft>
              <a:buNone/>
            </a:pPr>
            <a:r>
              <a:rPr sz="3600" b="1" i="0">
                <a:solidFill>
                  <a:srgbClr val="FFFFFF"/>
                </a:solidFill>
                <a:latin typeface="Times New Roman"/>
              </a:rPr>
              <a:t>SSN College of Engineering, Kalavakkam - 603110</a:t>
            </a:r>
          </a:p>
          <a:p>
            <a:pPr algn="ctr">
              <a:spcAft>
                <a:spcPts val="0"/>
              </a:spcAft>
              <a:buNone/>
            </a:pPr>
            <a:r>
              <a:rPr sz="2800" b="1" i="0">
                <a:solidFill>
                  <a:srgbClr val="FFFFFF"/>
                </a:solidFill>
                <a:latin typeface="Times New Roman"/>
              </a:rPr>
              <a:t>Department of Information Technology</a:t>
            </a:r>
          </a:p>
        </p:txBody>
      </p:sp>
      <p:sp>
        <p:nvSpPr>
          <p:cNvPr id="3" name="TextBox 2"/>
          <p:cNvSpPr txBox="1"/>
          <p:nvPr/>
        </p:nvSpPr>
        <p:spPr>
          <a:xfrm>
            <a:off x="731520" y="2240280"/>
            <a:ext cx="10725912" cy="502920"/>
          </a:xfrm>
          <a:prstGeom prst="rect">
            <a:avLst/>
          </a:prstGeom>
          <a:noFill/>
        </p:spPr>
        <p:txBody>
          <a:bodyPr wrap="square" lIns="36576" tIns="18288" rIns="36576" bIns="18288" anchor="t">
            <a:noAutofit/>
          </a:bodyPr>
          <a:lstStyle/>
          <a:p>
            <a:pPr algn="ctr">
              <a:spcAft>
                <a:spcPts val="400"/>
              </a:spcAft>
              <a:buNone/>
            </a:pPr>
            <a:r>
              <a:rPr sz="2600" b="1" i="0">
                <a:solidFill>
                  <a:srgbClr val="0066CC"/>
                </a:solidFill>
                <a:latin typeface="Times New Roman"/>
              </a:rPr>
              <a:t>UIT2739 - Full Stack Development Project</a:t>
            </a:r>
          </a:p>
        </p:txBody>
      </p:sp>
      <p:sp>
        <p:nvSpPr>
          <p:cNvPr id="4" name="TextBox 3"/>
          <p:cNvSpPr txBox="1"/>
          <p:nvPr/>
        </p:nvSpPr>
        <p:spPr>
          <a:xfrm>
            <a:off x="731520" y="2852928"/>
            <a:ext cx="10725912" cy="731520"/>
          </a:xfrm>
          <a:prstGeom prst="rect">
            <a:avLst/>
          </a:prstGeom>
          <a:noFill/>
        </p:spPr>
        <p:txBody>
          <a:bodyPr wrap="square" lIns="36576" tIns="18288" rIns="36576" bIns="18288" anchor="t">
            <a:noAutofit/>
          </a:bodyPr>
          <a:lstStyle/>
          <a:p>
            <a:pPr algn="ctr">
              <a:spcAft>
                <a:spcPts val="400"/>
              </a:spcAft>
              <a:buNone/>
            </a:pPr>
            <a:r>
              <a:rPr sz="4400" b="1" i="0">
                <a:solidFill>
                  <a:srgbClr val="154360"/>
                </a:solidFill>
                <a:latin typeface="Times New Roman"/>
              </a:rPr>
              <a:t>FinPilot AI</a:t>
            </a:r>
          </a:p>
        </p:txBody>
      </p:sp>
      <p:sp>
        <p:nvSpPr>
          <p:cNvPr id="5" name="TextBox 4"/>
          <p:cNvSpPr txBox="1"/>
          <p:nvPr/>
        </p:nvSpPr>
        <p:spPr>
          <a:xfrm>
            <a:off x="731520" y="3584448"/>
            <a:ext cx="10725912" cy="502920"/>
          </a:xfrm>
          <a:prstGeom prst="rect">
            <a:avLst/>
          </a:prstGeom>
          <a:noFill/>
        </p:spPr>
        <p:txBody>
          <a:bodyPr wrap="square" lIns="36576" tIns="18288" rIns="36576" bIns="18288" anchor="t">
            <a:noAutofit/>
          </a:bodyPr>
          <a:lstStyle/>
          <a:p>
            <a:pPr algn="ctr">
              <a:spcAft>
                <a:spcPts val="400"/>
              </a:spcAft>
              <a:buNone/>
            </a:pPr>
            <a:r>
              <a:rPr sz="2400" b="0" i="0">
                <a:solidFill>
                  <a:srgbClr val="154360"/>
                </a:solidFill>
                <a:latin typeface="Times New Roman"/>
              </a:rPr>
              <a:t>A Privacy-Focused Personal Finance Assistant</a:t>
            </a:r>
          </a:p>
        </p:txBody>
      </p:sp>
      <p:sp>
        <p:nvSpPr>
          <p:cNvPr id="6" name="TextBox 5"/>
          <p:cNvSpPr txBox="1"/>
          <p:nvPr/>
        </p:nvSpPr>
        <p:spPr>
          <a:xfrm>
            <a:off x="1828800" y="4343400"/>
            <a:ext cx="8531352" cy="1143000"/>
          </a:xfrm>
          <a:prstGeom prst="rect">
            <a:avLst/>
          </a:prstGeom>
          <a:noFill/>
        </p:spPr>
        <p:txBody>
          <a:bodyPr wrap="square" lIns="36576" tIns="18288" rIns="36576" bIns="18288" anchor="t">
            <a:noAutofit/>
          </a:bodyPr>
          <a:lstStyle/>
          <a:p>
            <a:pPr algn="ctr">
              <a:spcAft>
                <a:spcPts val="200"/>
              </a:spcAft>
              <a:buNone/>
            </a:pPr>
            <a:r>
              <a:rPr sz="1800" b="1" i="0">
                <a:solidFill>
                  <a:srgbClr val="0066CC"/>
                </a:solidFill>
                <a:latin typeface="Times New Roman"/>
              </a:rPr>
              <a:t>Jeya Sangavi R - 3122235002054</a:t>
            </a:r>
          </a:p>
          <a:p>
            <a:pPr algn="ctr">
              <a:spcAft>
                <a:spcPts val="200"/>
              </a:spcAft>
              <a:buNone/>
            </a:pPr>
            <a:r>
              <a:rPr sz="1800" b="1" i="0">
                <a:solidFill>
                  <a:srgbClr val="0066CC"/>
                </a:solidFill>
                <a:latin typeface="Times New Roman"/>
              </a:rPr>
              <a:t>Rahul Akshath Rajendran - 3122235002095</a:t>
            </a:r>
          </a:p>
          <a:p>
            <a:pPr algn="ctr">
              <a:spcAft>
                <a:spcPts val="200"/>
              </a:spcAft>
              <a:buNone/>
            </a:pPr>
            <a:r>
              <a:rPr sz="1800" b="1" i="0">
                <a:solidFill>
                  <a:srgbClr val="0066CC"/>
                </a:solidFill>
                <a:latin typeface="Times New Roman"/>
              </a:rPr>
              <a:t>Rakshitha S - 3122235002098</a:t>
            </a:r>
          </a:p>
        </p:txBody>
      </p:sp>
      <p:sp>
        <p:nvSpPr>
          <p:cNvPr id="7" name="TextBox 6"/>
          <p:cNvSpPr txBox="1"/>
          <p:nvPr/>
        </p:nvSpPr>
        <p:spPr>
          <a:xfrm>
            <a:off x="1828800" y="5559552"/>
            <a:ext cx="8531352" cy="320040"/>
          </a:xfrm>
          <a:prstGeom prst="rect">
            <a:avLst/>
          </a:prstGeom>
          <a:noFill/>
        </p:spPr>
        <p:txBody>
          <a:bodyPr wrap="square" lIns="36576" tIns="18288" rIns="36576" bIns="18288" anchor="t">
            <a:noAutofit/>
          </a:bodyPr>
          <a:lstStyle/>
          <a:p>
            <a:pPr algn="ctr">
              <a:spcAft>
                <a:spcPts val="400"/>
              </a:spcAft>
              <a:buNone/>
            </a:pPr>
            <a:r>
              <a:rPr sz="1300" b="0" i="0">
                <a:solidFill>
                  <a:srgbClr val="5B6573"/>
                </a:solidFill>
                <a:latin typeface="Arial"/>
              </a:rPr>
              <a:t>Project Evaluation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Project Overview</a:t>
            </a:r>
          </a:p>
        </p:txBody>
      </p:sp>
      <p:sp>
        <p:nvSpPr>
          <p:cNvPr id="3" name="TextBox 2"/>
          <p:cNvSpPr txBox="1"/>
          <p:nvPr/>
        </p:nvSpPr>
        <p:spPr>
          <a:xfrm>
            <a:off x="548640" y="1188720"/>
            <a:ext cx="11091672" cy="868680"/>
          </a:xfrm>
          <a:prstGeom prst="rect">
            <a:avLst/>
          </a:prstGeom>
          <a:noFill/>
        </p:spPr>
        <p:txBody>
          <a:bodyPr wrap="square" anchor="t" lIns="45720" rIns="45720" tIns="27432" bIns="27432">
            <a:noAutofit/>
          </a:bodyPr>
          <a:lstStyle/>
          <a:p>
            <a:pPr algn="l">
              <a:spcBef>
                <a:spcPts val="0"/>
              </a:spcBef>
              <a:buNone/>
            </a:pPr>
            <a:r>
              <a:rPr sz="1700" b="0" i="0">
                <a:solidFill>
                  <a:srgbClr val="000000"/>
                </a:solidFill>
                <a:latin typeface="Arial"/>
              </a:rPr>
              <a:t>FinPilot AI is a personal finance web app for users in India. It reads the bank SMS and e-mails that a user already receives (only from the sources they allow) and uses them to track spending, predict the balance and suggest what they can afford.</a:t>
            </a:r>
          </a:p>
        </p:txBody>
      </p:sp>
      <p:graphicFrame>
        <p:nvGraphicFramePr>
          <p:cNvPr id="4" name="Table 3"/>
          <p:cNvGraphicFramePr>
            <a:graphicFrameLocks noGrp="1"/>
          </p:cNvGraphicFramePr>
          <p:nvPr/>
        </p:nvGraphicFramePr>
        <p:xfrm>
          <a:off x="548640" y="2240280"/>
          <a:ext cx="11091672" cy="749808"/>
        </p:xfrm>
        <a:graphic>
          <a:graphicData uri="http://schemas.openxmlformats.org/drawingml/2006/table">
            <a:tbl>
              <a:tblPr firstRow="1" bandRow="0">
                <a:tableStyleId>{5940675A-B579-460E-94D1-54222C63F5DA}</a:tableStyleId>
              </a:tblPr>
              <a:tblGrid>
                <a:gridCol w="2772918"/>
                <a:gridCol w="2772918"/>
                <a:gridCol w="2772918"/>
                <a:gridCol w="2772918"/>
              </a:tblGrid>
              <a:tr h="384048">
                <a:tc>
                  <a:txBody>
                    <a:bodyPr wrap="square"/>
                    <a:lstStyle/>
                    <a:p>
                      <a:pPr algn="l">
                        <a:spcBef>
                          <a:spcPts val="0"/>
                        </a:spcBef>
                        <a:buNone/>
                      </a:pPr>
                      <a:r>
                        <a:rPr sz="1500" b="1" i="0">
                          <a:solidFill>
                            <a:srgbClr val="000000"/>
                          </a:solidFill>
                          <a:latin typeface="Arial"/>
                        </a:rPr>
                        <a:t>Capture</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500" b="1" i="0">
                          <a:solidFill>
                            <a:srgbClr val="000000"/>
                          </a:solidFill>
                          <a:latin typeface="Arial"/>
                        </a:rPr>
                        <a:t>Understand</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500" b="1" i="0">
                          <a:solidFill>
                            <a:srgbClr val="000000"/>
                          </a:solidFill>
                          <a:latin typeface="Arial"/>
                        </a:rPr>
                        <a:t>Predict</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500" b="1" i="0">
                          <a:solidFill>
                            <a:srgbClr val="000000"/>
                          </a:solidFill>
                          <a:latin typeface="Arial"/>
                        </a:rPr>
                        <a:t>Act</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65760">
                <a:tc>
                  <a:txBody>
                    <a:bodyPr wrap="square"/>
                    <a:lstStyle/>
                    <a:p>
                      <a:pPr algn="l" marL="274320" indent="-274320">
                        <a:spcBef>
                          <a:spcPts val="200"/>
                        </a:spcBef>
                        <a:buFont typeface="Arial"/>
                        <a:buChar char="•"/>
                      </a:pPr>
                      <a:r>
                        <a:rPr sz="1500" b="0" i="0">
                          <a:solidFill>
                            <a:srgbClr val="000000"/>
                          </a:solidFill>
                          <a:latin typeface="Arial"/>
                        </a:rPr>
                        <a:t>Bank SMS and e-mail, with separate consent for each</a:t>
                      </a:r>
                    </a:p>
                    <a:p>
                      <a:pPr algn="l" marL="274320" indent="-274320">
                        <a:spcBef>
                          <a:spcPts val="200"/>
                        </a:spcBef>
                        <a:buFont typeface="Arial"/>
                        <a:buChar char="•"/>
                      </a:pPr>
                      <a:r>
                        <a:rPr sz="1500" b="0" i="0">
                          <a:solidFill>
                            <a:srgbClr val="000000"/>
                          </a:solidFill>
                          <a:latin typeface="Arial"/>
                        </a:rPr>
                        <a:t>Optional: receipt OCR, PDF bills, statement CSV, manual entry</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marL="274320" indent="-274320">
                        <a:spcBef>
                          <a:spcPts val="200"/>
                        </a:spcBef>
                        <a:buFont typeface="Arial"/>
                        <a:buChar char="•"/>
                      </a:pPr>
                      <a:r>
                        <a:rPr sz="1500" b="0" i="0">
                          <a:solidFill>
                            <a:srgbClr val="000000"/>
                          </a:solidFill>
                          <a:latin typeface="Arial"/>
                        </a:rPr>
                        <a:t>Classify, extract and de-duplicate messages</a:t>
                      </a:r>
                    </a:p>
                    <a:p>
                      <a:pPr algn="l" marL="274320" indent="-274320">
                        <a:spcBef>
                          <a:spcPts val="200"/>
                        </a:spcBef>
                        <a:buFont typeface="Arial"/>
                        <a:buChar char="•"/>
                      </a:pPr>
                      <a:r>
                        <a:rPr sz="1500" b="0" i="0">
                          <a:solidFill>
                            <a:srgbClr val="000000"/>
                          </a:solidFill>
                          <a:latin typeface="Arial"/>
                        </a:rPr>
                        <a:t>Categorise payments and flag unusual ones</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marL="274320" indent="-274320">
                        <a:spcBef>
                          <a:spcPts val="200"/>
                        </a:spcBef>
                        <a:buFont typeface="Arial"/>
                        <a:buChar char="•"/>
                      </a:pPr>
                      <a:r>
                        <a:rPr sz="1500" b="0" i="0">
                          <a:solidFill>
                            <a:srgbClr val="000000"/>
                          </a:solidFill>
                          <a:latin typeface="Arial"/>
                        </a:rPr>
                        <a:t>90-day cash-flow forecast with an 80% range</a:t>
                      </a:r>
                    </a:p>
                    <a:p>
                      <a:pPr algn="l" marL="274320" indent="-274320">
                        <a:spcBef>
                          <a:spcPts val="200"/>
                        </a:spcBef>
                        <a:buFont typeface="Arial"/>
                        <a:buChar char="•"/>
                      </a:pPr>
                      <a:r>
                        <a:rPr sz="1500" b="0" i="0">
                          <a:solidFill>
                            <a:srgbClr val="000000"/>
                          </a:solidFill>
                          <a:latin typeface="Arial"/>
                        </a:rPr>
                        <a:t>Subscription analysis and income tax for two years</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marL="274320" indent="-274320">
                        <a:spcBef>
                          <a:spcPts val="200"/>
                        </a:spcBef>
                        <a:buFont typeface="Arial"/>
                        <a:buChar char="•"/>
                      </a:pPr>
                      <a:r>
                        <a:rPr sz="1500" b="0" i="0">
                          <a:solidFill>
                            <a:srgbClr val="000000"/>
                          </a:solidFill>
                          <a:latin typeface="Arial"/>
                        </a:rPr>
                        <a:t>Ranked insights and a finance coach</a:t>
                      </a:r>
                    </a:p>
                    <a:p>
                      <a:pPr algn="l" marL="274320" indent="-274320">
                        <a:spcBef>
                          <a:spcPts val="200"/>
                        </a:spcBef>
                        <a:buFont typeface="Arial"/>
                        <a:buChar char="•"/>
                      </a:pPr>
                      <a:r>
                        <a:rPr sz="1500" b="0" i="0">
                          <a:solidFill>
                            <a:srgbClr val="000000"/>
                          </a:solidFill>
                          <a:latin typeface="Arial"/>
                        </a:rPr>
                        <a:t>Budgets, goals and Smart Picks within budget</a:t>
                      </a:r>
                    </a:p>
                  </a:txBody>
                  <a:tcPr marL="73152" marR="73152" marT="36576" marB="36576" anchor="t">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5" name="TextBox 4"/>
          <p:cNvSpPr txBox="1"/>
          <p:nvPr/>
        </p:nvSpPr>
        <p:spPr>
          <a:xfrm>
            <a:off x="548640" y="4069080"/>
            <a:ext cx="548640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Key points</a:t>
            </a:r>
          </a:p>
        </p:txBody>
      </p:sp>
      <p:sp>
        <p:nvSpPr>
          <p:cNvPr id="6" name="TextBox 5"/>
          <p:cNvSpPr txBox="1"/>
          <p:nvPr/>
        </p:nvSpPr>
        <p:spPr>
          <a:xfrm>
            <a:off x="548640" y="4434840"/>
            <a:ext cx="11091672" cy="1188720"/>
          </a:xfrm>
          <a:prstGeom prst="rect">
            <a:avLst/>
          </a:prstGeom>
          <a:noFill/>
        </p:spPr>
        <p:txBody>
          <a:bodyPr wrap="square" anchor="t" lIns="45720" rIns="45720" tIns="27432" bIns="27432">
            <a:noAutofit/>
          </a:bodyPr>
          <a:lstStyle/>
          <a:p>
            <a:pPr algn="l" marL="274320" indent="-274320">
              <a:spcBef>
                <a:spcPts val="300"/>
              </a:spcBef>
              <a:buFont typeface="Arial"/>
              <a:buChar char="•"/>
            </a:pPr>
            <a:r>
              <a:rPr sz="1600" b="0" i="0">
                <a:solidFill>
                  <a:srgbClr val="000000"/>
                </a:solidFill>
                <a:latin typeface="Arial"/>
              </a:rPr>
              <a:t>Runs with a single command: python3 run.py</a:t>
            </a:r>
          </a:p>
          <a:p>
            <a:pPr algn="l" marL="274320" indent="-274320">
              <a:spcBef>
                <a:spcPts val="300"/>
              </a:spcBef>
              <a:buFont typeface="Arial"/>
              <a:buChar char="•"/>
            </a:pPr>
            <a:r>
              <a:rPr sz="1600" b="0" i="0">
                <a:solidFill>
                  <a:srgbClr val="000000"/>
                </a:solidFill>
                <a:latin typeface="Arial"/>
              </a:rPr>
              <a:t>Works offline after the first run</a:t>
            </a:r>
          </a:p>
          <a:p>
            <a:pPr algn="l" marL="274320" indent="-274320">
              <a:spcBef>
                <a:spcPts val="300"/>
              </a:spcBef>
              <a:buFont typeface="Arial"/>
              <a:buChar char="•"/>
            </a:pPr>
            <a:r>
              <a:rPr sz="1600" b="0" i="0">
                <a:solidFill>
                  <a:srgbClr val="000000"/>
                </a:solidFill>
                <a:latin typeface="Arial"/>
              </a:rPr>
              <a:t>No running cost: no paid AI services and no bank login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Problem Statement and Motivation</a:t>
            </a:r>
          </a:p>
        </p:txBody>
      </p:sp>
      <p:sp>
        <p:nvSpPr>
          <p:cNvPr id="3" name="TextBox 2"/>
          <p:cNvSpPr txBox="1"/>
          <p:nvPr/>
        </p:nvSpPr>
        <p:spPr>
          <a:xfrm>
            <a:off x="54864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Problem Statement</a:t>
            </a:r>
          </a:p>
        </p:txBody>
      </p:sp>
      <p:sp>
        <p:nvSpPr>
          <p:cNvPr id="4" name="TextBox 3"/>
          <p:cNvSpPr txBox="1"/>
          <p:nvPr/>
        </p:nvSpPr>
        <p:spPr>
          <a:xfrm>
            <a:off x="548640" y="1572768"/>
            <a:ext cx="5257800" cy="3566160"/>
          </a:xfrm>
          <a:prstGeom prst="rect">
            <a:avLst/>
          </a:prstGeom>
          <a:noFill/>
        </p:spPr>
        <p:txBody>
          <a:bodyPr wrap="square" anchor="t" lIns="45720" rIns="45720" tIns="27432" bIns="27432">
            <a:noAutofit/>
          </a:bodyPr>
          <a:lstStyle/>
          <a:p>
            <a:pPr algn="l">
              <a:spcBef>
                <a:spcPts val="600"/>
              </a:spcBef>
              <a:buNone/>
            </a:pPr>
            <a:r>
              <a:rPr sz="1600" b="0" i="0">
                <a:solidFill>
                  <a:srgbClr val="000000"/>
                </a:solidFill>
                <a:latin typeface="Arial"/>
              </a:rPr>
              <a:t>Every UPI payment, card swipe, bill and salary credit already reaches the user as a bank SMS or e-mail, but this information stays scattered.</a:t>
            </a:r>
          </a:p>
          <a:p>
            <a:pPr algn="l">
              <a:spcBef>
                <a:spcPts val="1000"/>
              </a:spcBef>
              <a:buNone/>
            </a:pPr>
            <a:r>
              <a:rPr sz="1600" b="0" i="0">
                <a:solidFill>
                  <a:srgbClr val="000000"/>
                </a:solidFill>
                <a:latin typeface="Arial"/>
              </a:rPr>
              <a:t>Existing apps make people type in transactions, ask for bank login details, or send personal data to paid cloud AI services. They also only show past spending.</a:t>
            </a:r>
          </a:p>
          <a:p>
            <a:pPr algn="l">
              <a:spcBef>
                <a:spcPts val="1000"/>
              </a:spcBef>
              <a:buNone/>
            </a:pPr>
            <a:r>
              <a:rPr sz="1600" b="0" i="0">
                <a:solidFill>
                  <a:srgbClr val="000000"/>
                </a:solidFill>
                <a:latin typeface="Arial"/>
              </a:rPr>
              <a:t>We want to build a reliable, forward-looking view of a person's money from the messages they already receive, using only the sources they allow, running on their own computer at no cost.</a:t>
            </a:r>
          </a:p>
        </p:txBody>
      </p:sp>
      <p:sp>
        <p:nvSpPr>
          <p:cNvPr id="5" name="TextBox 4"/>
          <p:cNvSpPr txBox="1"/>
          <p:nvPr/>
        </p:nvSpPr>
        <p:spPr>
          <a:xfrm>
            <a:off x="617220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Issues with Current Apps</a:t>
            </a:r>
          </a:p>
        </p:txBody>
      </p:sp>
      <p:sp>
        <p:nvSpPr>
          <p:cNvPr id="6" name="TextBox 5"/>
          <p:cNvSpPr txBox="1"/>
          <p:nvPr/>
        </p:nvSpPr>
        <p:spPr>
          <a:xfrm>
            <a:off x="6172200" y="1572768"/>
            <a:ext cx="5468112" cy="3566160"/>
          </a:xfrm>
          <a:prstGeom prst="rect">
            <a:avLst/>
          </a:prstGeom>
          <a:noFill/>
        </p:spPr>
        <p:txBody>
          <a:bodyPr wrap="square" anchor="t" lIns="45720" rIns="45720" tIns="27432" bIns="27432">
            <a:noAutofit/>
          </a:bodyPr>
          <a:lstStyle/>
          <a:p>
            <a:pPr algn="l" marL="274320" indent="-274320">
              <a:spcBef>
                <a:spcPts val="600"/>
              </a:spcBef>
              <a:buFont typeface="Arial"/>
              <a:buChar char="•"/>
            </a:pPr>
            <a:r>
              <a:rPr sz="1600" b="1" i="0">
                <a:solidFill>
                  <a:srgbClr val="000000"/>
                </a:solidFill>
                <a:latin typeface="Arial"/>
              </a:rPr>
              <a:t>Manual entry: </a:t>
            </a:r>
            <a:r>
              <a:rPr sz="1600" b="0" i="0">
                <a:solidFill>
                  <a:srgbClr val="000000"/>
                </a:solidFill>
                <a:latin typeface="Arial"/>
              </a:rPr>
              <a:t>typing every payment is tedious, so people give up; cash and paper receipts get lost</a:t>
            </a:r>
          </a:p>
          <a:p>
            <a:pPr algn="l" marL="274320" indent="-274320">
              <a:spcBef>
                <a:spcPts val="1000"/>
              </a:spcBef>
              <a:buFont typeface="Arial"/>
              <a:buChar char="•"/>
            </a:pPr>
            <a:r>
              <a:rPr sz="1600" b="1" i="0">
                <a:solidFill>
                  <a:srgbClr val="000000"/>
                </a:solidFill>
                <a:latin typeface="Arial"/>
              </a:rPr>
              <a:t>Only past data: </a:t>
            </a:r>
            <a:r>
              <a:rPr sz="1600" b="0" i="0">
                <a:solidFill>
                  <a:srgbClr val="000000"/>
                </a:solidFill>
                <a:latin typeface="Arial"/>
              </a:rPr>
              <a:t>apps show what was spent, not what the balance will be at the end of the month</a:t>
            </a:r>
          </a:p>
          <a:p>
            <a:pPr algn="l" marL="274320" indent="-274320">
              <a:spcBef>
                <a:spcPts val="1000"/>
              </a:spcBef>
              <a:buFont typeface="Arial"/>
              <a:buChar char="•"/>
            </a:pPr>
            <a:r>
              <a:rPr sz="1600" b="1" i="0">
                <a:solidFill>
                  <a:srgbClr val="000000"/>
                </a:solidFill>
                <a:latin typeface="Arial"/>
              </a:rPr>
              <a:t>Hidden leakage: </a:t>
            </a:r>
            <a:r>
              <a:rPr sz="1600" b="0" i="0">
                <a:solidFill>
                  <a:srgbClr val="000000"/>
                </a:solidFill>
                <a:latin typeface="Arial"/>
              </a:rPr>
              <a:t>price rises, unused subscriptions and duplicate charges get lost in normal spending</a:t>
            </a:r>
          </a:p>
          <a:p>
            <a:pPr algn="l" marL="274320" indent="-274320">
              <a:spcBef>
                <a:spcPts val="1000"/>
              </a:spcBef>
              <a:buFont typeface="Arial"/>
              <a:buChar char="•"/>
            </a:pPr>
            <a:r>
              <a:rPr sz="1600" b="1" i="0">
                <a:solidFill>
                  <a:srgbClr val="000000"/>
                </a:solidFill>
                <a:latin typeface="Arial"/>
              </a:rPr>
              <a:t>Privacy and cost: </a:t>
            </a:r>
            <a:r>
              <a:rPr sz="1600" b="0" i="0">
                <a:solidFill>
                  <a:srgbClr val="000000"/>
                </a:solidFill>
                <a:latin typeface="Arial"/>
              </a:rPr>
              <a:t>aggregator apps need bank credentials and AI features need paid cloud services</a:t>
            </a:r>
          </a:p>
        </p:txBody>
      </p:sp>
      <p:sp>
        <p:nvSpPr>
          <p:cNvPr id="7" name="TextBox 6"/>
          <p:cNvSpPr txBox="1"/>
          <p:nvPr/>
        </p:nvSpPr>
        <p:spPr>
          <a:xfrm>
            <a:off x="548640" y="5029200"/>
            <a:ext cx="11091672" cy="548640"/>
          </a:xfrm>
          <a:prstGeom prst="rect">
            <a:avLst/>
          </a:prstGeom>
          <a:noFill/>
        </p:spPr>
        <p:txBody>
          <a:bodyPr wrap="square" anchor="t" lIns="45720" rIns="45720" tIns="27432" bIns="27432">
            <a:noAutofit/>
          </a:bodyPr>
          <a:lstStyle/>
          <a:p>
            <a:pPr algn="l">
              <a:spcBef>
                <a:spcPts val="600"/>
              </a:spcBef>
              <a:buNone/>
            </a:pPr>
            <a:r>
              <a:rPr sz="1600" b="1" i="0">
                <a:solidFill>
                  <a:srgbClr val="000000"/>
                </a:solidFill>
                <a:latin typeface="Arial"/>
              </a:rPr>
              <a:t>Motivation: </a:t>
            </a:r>
            <a:r>
              <a:rPr sz="1600" b="0" i="0">
                <a:solidFill>
                  <a:srgbClr val="000000"/>
                </a:solidFill>
                <a:latin typeface="Arial"/>
              </a:rPr>
              <a:t>make money management automatic, private and forward-looking, without extra data entry or new privacy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Objectives and Scope</a:t>
            </a:r>
          </a:p>
        </p:txBody>
      </p:sp>
      <p:sp>
        <p:nvSpPr>
          <p:cNvPr id="3" name="TextBox 2"/>
          <p:cNvSpPr txBox="1"/>
          <p:nvPr/>
        </p:nvSpPr>
        <p:spPr>
          <a:xfrm>
            <a:off x="54864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Objectives</a:t>
            </a:r>
          </a:p>
        </p:txBody>
      </p:sp>
      <p:sp>
        <p:nvSpPr>
          <p:cNvPr id="4" name="TextBox 3"/>
          <p:cNvSpPr txBox="1"/>
          <p:nvPr/>
        </p:nvSpPr>
        <p:spPr>
          <a:xfrm>
            <a:off x="548640" y="1572768"/>
            <a:ext cx="5394960" cy="4389120"/>
          </a:xfrm>
          <a:prstGeom prst="rect">
            <a:avLst/>
          </a:prstGeom>
          <a:noFill/>
        </p:spPr>
        <p:txBody>
          <a:bodyPr wrap="square" anchor="t" lIns="45720" rIns="45720" tIns="27432" bIns="27432">
            <a:noAutofit/>
          </a:bodyPr>
          <a:lstStyle/>
          <a:p>
            <a:pPr algn="l" marL="274320" indent="-274320">
              <a:spcBef>
                <a:spcPts val="700"/>
              </a:spcBef>
              <a:buFont typeface="Arial"/>
              <a:buAutoNum type="arabicPeriod"/>
            </a:pPr>
            <a:r>
              <a:rPr sz="1500" b="0" i="0">
                <a:solidFill>
                  <a:srgbClr val="000000"/>
                </a:solidFill>
                <a:latin typeface="Arial"/>
              </a:rPr>
              <a:t>Capture transactions from bank SMS and e-mail with the user's consent (no bank login), plus optional uploads</a:t>
            </a:r>
          </a:p>
          <a:p>
            <a:pPr algn="l" marL="274320" indent="-274320">
              <a:spcBef>
                <a:spcPts val="700"/>
              </a:spcBef>
              <a:buFont typeface="Arial"/>
              <a:buAutoNum type="arabicPeriod"/>
            </a:pPr>
            <a:r>
              <a:rPr sz="1500" b="0" i="0">
                <a:solidFill>
                  <a:srgbClr val="000000"/>
                </a:solidFill>
                <a:latin typeface="Arial"/>
              </a:rPr>
              <a:t>Understand spending reliably: classify, extract, de-duplicate, categorise and flag anomalies</a:t>
            </a:r>
          </a:p>
          <a:p>
            <a:pPr algn="l" marL="274320" indent="-274320">
              <a:spcBef>
                <a:spcPts val="700"/>
              </a:spcBef>
              <a:buFont typeface="Arial"/>
              <a:buAutoNum type="arabicPeriod"/>
            </a:pPr>
            <a:r>
              <a:rPr sz="1500" b="0" i="0">
                <a:solidFill>
                  <a:srgbClr val="000000"/>
                </a:solidFill>
                <a:latin typeface="Arial"/>
              </a:rPr>
              <a:t>Forecast the balance 90 days ahead and measure its accuracy against simple baselines</a:t>
            </a:r>
          </a:p>
          <a:p>
            <a:pPr algn="l" marL="274320" indent="-274320">
              <a:spcBef>
                <a:spcPts val="700"/>
              </a:spcBef>
              <a:buFont typeface="Arial"/>
              <a:buAutoNum type="arabicPeriod"/>
            </a:pPr>
            <a:r>
              <a:rPr sz="1500" b="0" i="0">
                <a:solidFill>
                  <a:srgbClr val="000000"/>
                </a:solidFill>
                <a:latin typeface="Arial"/>
              </a:rPr>
              <a:t>Find subscription leakage and estimate income tax under both regimes</a:t>
            </a:r>
          </a:p>
          <a:p>
            <a:pPr algn="l" marL="274320" indent="-274320">
              <a:spcBef>
                <a:spcPts val="700"/>
              </a:spcBef>
              <a:buFont typeface="Arial"/>
              <a:buAutoNum type="arabicPeriod"/>
            </a:pPr>
            <a:r>
              <a:rPr sz="1500" b="0" i="0">
                <a:solidFill>
                  <a:srgbClr val="000000"/>
                </a:solidFill>
                <a:latin typeface="Arial"/>
              </a:rPr>
              <a:t>Turn the data into decisions: insights, a coach, budgets, goals and affordable Smart Picks</a:t>
            </a:r>
          </a:p>
          <a:p>
            <a:pPr algn="l" marL="274320" indent="-274320">
              <a:spcBef>
                <a:spcPts val="700"/>
              </a:spcBef>
              <a:buFont typeface="Arial"/>
              <a:buAutoNum type="arabicPeriod"/>
            </a:pPr>
            <a:r>
              <a:rPr sz="1500" b="0" i="0">
                <a:solidFill>
                  <a:srgbClr val="000000"/>
                </a:solidFill>
                <a:latin typeface="Arial"/>
              </a:rPr>
              <a:t>Keep users in control: consent per source and purpose, encryption, retention and deletion</a:t>
            </a:r>
          </a:p>
        </p:txBody>
      </p:sp>
      <p:sp>
        <p:nvSpPr>
          <p:cNvPr id="5" name="TextBox 4"/>
          <p:cNvSpPr txBox="1"/>
          <p:nvPr/>
        </p:nvSpPr>
        <p:spPr>
          <a:xfrm>
            <a:off x="621792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Scope</a:t>
            </a:r>
          </a:p>
        </p:txBody>
      </p:sp>
      <p:graphicFrame>
        <p:nvGraphicFramePr>
          <p:cNvPr id="6" name="Table 5"/>
          <p:cNvGraphicFramePr>
            <a:graphicFrameLocks noGrp="1"/>
          </p:cNvGraphicFramePr>
          <p:nvPr/>
        </p:nvGraphicFramePr>
        <p:xfrm>
          <a:off x="6217920" y="1600200"/>
          <a:ext cx="5422392" cy="2212848"/>
        </p:xfrm>
        <a:graphic>
          <a:graphicData uri="http://schemas.openxmlformats.org/drawingml/2006/table">
            <a:tbl>
              <a:tblPr firstRow="1" bandRow="0">
                <a:tableStyleId>{5940675A-B579-460E-94D1-54222C63F5DA}</a:tableStyleId>
              </a:tblPr>
              <a:tblGrid>
                <a:gridCol w="2715768"/>
                <a:gridCol w="2706624"/>
              </a:tblGrid>
              <a:tr h="384048">
                <a:tc>
                  <a:txBody>
                    <a:bodyPr wrap="square"/>
                    <a:lstStyle/>
                    <a:p>
                      <a:pPr algn="l">
                        <a:spcBef>
                          <a:spcPts val="0"/>
                        </a:spcBef>
                        <a:buNone/>
                      </a:pPr>
                      <a:r>
                        <a:rPr sz="1400" b="1" i="0">
                          <a:solidFill>
                            <a:srgbClr val="000000"/>
                          </a:solidFill>
                          <a:latin typeface="Arial"/>
                        </a:rPr>
                        <a:t>In scope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Out of scope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65760">
                <a:tc>
                  <a:txBody>
                    <a:bodyPr wrap="square"/>
                    <a:lstStyle/>
                    <a:p>
                      <a:pPr algn="l">
                        <a:spcBef>
                          <a:spcPts val="0"/>
                        </a:spcBef>
                        <a:buNone/>
                      </a:pPr>
                      <a:r>
                        <a:rPr sz="1400" b="0" i="0">
                          <a:solidFill>
                            <a:srgbClr val="000000"/>
                          </a:solidFill>
                          <a:latin typeface="Arial"/>
                        </a:rPr>
                        <a:t>SMS and e-mail capture with consent per source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Live bank, Account Aggregator or Gmail connections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400" b="0" i="0">
                          <a:solidFill>
                            <a:srgbClr val="000000"/>
                          </a:solidFill>
                          <a:latin typeface="Arial"/>
                        </a:rPr>
                        <a:t>Receipt OCR in the browser, PDF bills, CSV import, manual entry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Real payments or money transfers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400" b="0" i="0">
                          <a:solidFill>
                            <a:srgbClr val="000000"/>
                          </a:solidFill>
                          <a:latin typeface="Arial"/>
                        </a:rPr>
                        <a:t>Forecast, subscriptions, tax, anomalies, insights, coach</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Crawling the live internet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400" b="0" i="0">
                          <a:solidFill>
                            <a:srgbClr val="000000"/>
                          </a:solidFill>
                          <a:latin typeface="Arial"/>
                        </a:rPr>
                        <a:t>Smart Picks over the bundled demo stores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Tax filing or financial advice (estimates only)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400" b="0" i="0">
                          <a:solidFill>
                            <a:srgbClr val="000000"/>
                          </a:solidFill>
                          <a:latin typeface="Arial"/>
                        </a:rPr>
                        <a:t>One-command local install that works offline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Native mobile app (responsive web app instead)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(1/2)</a:t>
            </a:r>
          </a:p>
        </p:txBody>
      </p:sp>
      <p:graphicFrame>
        <p:nvGraphicFramePr>
          <p:cNvPr id="3" name="Table 2"/>
          <p:cNvGraphicFramePr>
            <a:graphicFrameLocks noGrp="1"/>
          </p:cNvGraphicFramePr>
          <p:nvPr/>
        </p:nvGraphicFramePr>
        <p:xfrm>
          <a:off x="548640" y="1234440"/>
          <a:ext cx="11091672" cy="4352544"/>
        </p:xfrm>
        <a:graphic>
          <a:graphicData uri="http://schemas.openxmlformats.org/drawingml/2006/table">
            <a:tbl>
              <a:tblPr firstRow="1" bandRow="0">
                <a:tableStyleId>{5940675A-B579-460E-94D1-54222C63F5DA}</a:tableStyleId>
              </a:tblPr>
              <a:tblGrid>
                <a:gridCol w="822960"/>
                <a:gridCol w="2651760"/>
                <a:gridCol w="7616952"/>
              </a:tblGrid>
              <a:tr h="384048">
                <a:tc>
                  <a:txBody>
                    <a:bodyPr wrap="square"/>
                    <a:lstStyle/>
                    <a:p>
                      <a:pPr algn="ctr">
                        <a:spcBef>
                          <a:spcPts val="0"/>
                        </a:spcBef>
                        <a:buNone/>
                      </a:pPr>
                      <a:r>
                        <a:rPr sz="1400" b="1" i="0">
                          <a:solidFill>
                            <a:srgbClr val="000000"/>
                          </a:solidFill>
                          <a:latin typeface="Arial"/>
                        </a:rPr>
                        <a:t>ID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Requirement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Description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566928">
                <a:tc>
                  <a:txBody>
                    <a:bodyPr wrap="square"/>
                    <a:lstStyle/>
                    <a:p>
                      <a:pPr algn="ctr">
                        <a:spcBef>
                          <a:spcPts val="0"/>
                        </a:spcBef>
                        <a:buNone/>
                      </a:pPr>
                      <a:r>
                        <a:rPr sz="1400" b="0" i="0">
                          <a:solidFill>
                            <a:srgbClr val="000000"/>
                          </a:solidFill>
                          <a:latin typeface="Arial"/>
                        </a:rPr>
                        <a:t>FR1</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Accounts and sessions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Register, sign in, one-click demo login and sign out; sessions are refreshed in the background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FR2</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Consent per source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Allow SMS and e-mail separately with purposes and a backfill window; pause, resume or revoke; delete data; consent history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FR3</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Message capture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Pre-filter, classify 12 message types, extract fields with confidence; handle duplicates, transfers, reversals and refunds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Optional uploads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Receipt OCR in the browser, digital PDF bills, statement CSV import wizard and manual entry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FR5</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Transactions and review</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Search and filter, evidence drawer, recategorise with "apply to all" rules, review queue that learns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FR6</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Dashboard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Balance, safe-to-spend amount, spending, 90-day forecast band, alerts, upcoming bills and anomalies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FR7</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Cash-flow forecast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90-day projection with an 80% band, what-if purchases, upcoming payments and a backtest against baselines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(2/2)</a:t>
            </a:r>
          </a:p>
        </p:txBody>
      </p:sp>
      <p:graphicFrame>
        <p:nvGraphicFramePr>
          <p:cNvPr id="3" name="Table 2"/>
          <p:cNvGraphicFramePr>
            <a:graphicFrameLocks noGrp="1"/>
          </p:cNvGraphicFramePr>
          <p:nvPr/>
        </p:nvGraphicFramePr>
        <p:xfrm>
          <a:off x="548640" y="1234440"/>
          <a:ext cx="11091672" cy="4352544"/>
        </p:xfrm>
        <a:graphic>
          <a:graphicData uri="http://schemas.openxmlformats.org/drawingml/2006/table">
            <a:tbl>
              <a:tblPr firstRow="1" bandRow="0">
                <a:tableStyleId>{5940675A-B579-460E-94D1-54222C63F5DA}</a:tableStyleId>
              </a:tblPr>
              <a:tblGrid>
                <a:gridCol w="822960"/>
                <a:gridCol w="2651760"/>
                <a:gridCol w="7616952"/>
              </a:tblGrid>
              <a:tr h="384048">
                <a:tc>
                  <a:txBody>
                    <a:bodyPr wrap="square"/>
                    <a:lstStyle/>
                    <a:p>
                      <a:pPr algn="ctr">
                        <a:spcBef>
                          <a:spcPts val="0"/>
                        </a:spcBef>
                        <a:buNone/>
                      </a:pPr>
                      <a:r>
                        <a:rPr sz="1400" b="1" i="0">
                          <a:solidFill>
                            <a:srgbClr val="000000"/>
                          </a:solidFill>
                          <a:latin typeface="Arial"/>
                        </a:rPr>
                        <a:t>ID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Requirement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Description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566928">
                <a:tc>
                  <a:txBody>
                    <a:bodyPr wrap="square"/>
                    <a:lstStyle/>
                    <a:p>
                      <a:pPr algn="ctr">
                        <a:spcBef>
                          <a:spcPts val="0"/>
                        </a:spcBef>
                        <a:buNone/>
                      </a:pPr>
                      <a:r>
                        <a:rPr sz="1400" b="0" i="0">
                          <a:solidFill>
                            <a:srgbClr val="000000"/>
                          </a:solidFill>
                          <a:latin typeface="Arial"/>
                        </a:rPr>
                        <a:t>FR8</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Subscriptions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Detect recurring charges; flag price rises, unused plans, trials that became paid and overlaps; keep or cancel</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FR9</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Tax insights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FY 2025-26 and Tax Year 2026-27 under both regimes; deductions found in transactions, headroom, advance tax; CSV/PDF export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FR10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Insights and coach</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Ranked insights that can be dismissed; a coach that answers 13 types of questions from the user's own data</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FR11</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Budgets and goals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Monthly category limits with pace markers; goals with monthly targets and an "add money" option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FR12</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Smart Picks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Polite crawler over demo stores, affordability check, Buy now / For your goals / Save up tiers, wishlist, price check</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FR13</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Settings and data rights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Safety buffer, emergency months, picks per week and retention; export all data; delete account; reset demo</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66928">
                <a:tc>
                  <a:txBody>
                    <a:bodyPr wrap="square"/>
                    <a:lstStyle/>
                    <a:p>
                      <a:pPr algn="ctr">
                        <a:spcBef>
                          <a:spcPts val="0"/>
                        </a:spcBef>
                        <a:buNone/>
                      </a:pPr>
                      <a:r>
                        <a:rPr sz="1400" b="0" i="0">
                          <a:solidFill>
                            <a:srgbClr val="000000"/>
                          </a:solidFill>
                          <a:latin typeface="Arial"/>
                        </a:rPr>
                        <a:t>FR14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System and model quality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Capability checks, measured model metrics and an in-browser OCR benchmark</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Non-Functional Requirements</a:t>
            </a:r>
          </a:p>
        </p:txBody>
      </p:sp>
      <p:graphicFrame>
        <p:nvGraphicFramePr>
          <p:cNvPr id="3" name="Table 2"/>
          <p:cNvGraphicFramePr>
            <a:graphicFrameLocks noGrp="1"/>
          </p:cNvGraphicFramePr>
          <p:nvPr/>
        </p:nvGraphicFramePr>
        <p:xfrm>
          <a:off x="548640" y="1188720"/>
          <a:ext cx="11091672" cy="4553704"/>
        </p:xfrm>
        <a:graphic>
          <a:graphicData uri="http://schemas.openxmlformats.org/drawingml/2006/table">
            <a:tbl>
              <a:tblPr firstRow="1" bandRow="0">
                <a:tableStyleId>{5940675A-B579-460E-94D1-54222C63F5DA}</a:tableStyleId>
              </a:tblPr>
              <a:tblGrid>
                <a:gridCol w="2103120"/>
                <a:gridCol w="8988552"/>
              </a:tblGrid>
              <a:tr h="384048">
                <a:tc>
                  <a:txBody>
                    <a:bodyPr wrap="square"/>
                    <a:lstStyle/>
                    <a:p>
                      <a:pPr algn="l">
                        <a:spcBef>
                          <a:spcPts val="0"/>
                        </a:spcBef>
                        <a:buNone/>
                      </a:pPr>
                      <a:r>
                        <a:rPr sz="1400" b="1" i="0">
                          <a:solidFill>
                            <a:srgbClr val="000000"/>
                          </a:solidFill>
                          <a:latin typeface="Arial"/>
                        </a:rPr>
                        <a:t>Requirement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How it is met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521207">
                <a:tc>
                  <a:txBody>
                    <a:bodyPr wrap="square"/>
                    <a:lstStyle/>
                    <a:p>
                      <a:pPr algn="l">
                        <a:spcBef>
                          <a:spcPts val="0"/>
                        </a:spcBef>
                        <a:buNone/>
                      </a:pPr>
                      <a:r>
                        <a:rPr sz="1400" b="1" i="0">
                          <a:solidFill>
                            <a:srgbClr val="000000"/>
                          </a:solidFill>
                          <a:latin typeface="Arial"/>
                        </a:rPr>
                        <a:t>Security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Passwords hashed with bcrypt (12 rounds); JWT in httpOnly cookies with rotating refresh tokens; CSRF header check; failed-login limit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Privacy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Consent per source and purpose; message text encrypted and deleted after 90 days; append-only consent log; data export and deletion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Reliability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Every request commits or rolls back; analytics stages and jobs are isolated; Prophet falls back to a baseline; crawler retries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Performance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Demo ready about 51 s after a clean start; models train in about 3 s; OCR about 0.5 s per receipt; what-if reuses the stored forecast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Usability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Responsive layout with a mobile menu; every chart also has a table view; plain-language errors and progress messages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Portability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One command (python3 run.py); Python 3.11+; no Docker and no database server; works offline after the first run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Maintainability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Routers -&gt; services -&gt; models structure; Alembic migrations; shared metrics; 59 backend and 14 end-to-end tests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521207">
                <a:tc>
                  <a:txBody>
                    <a:bodyPr wrap="square"/>
                    <a:lstStyle/>
                    <a:p>
                      <a:pPr algn="l">
                        <a:spcBef>
                          <a:spcPts val="0"/>
                        </a:spcBef>
                        <a:buNone/>
                      </a:pPr>
                      <a:r>
                        <a:rPr sz="1400" b="1" i="0">
                          <a:solidFill>
                            <a:srgbClr val="000000"/>
                          </a:solidFill>
                          <a:latin typeface="Arial"/>
                        </a:rPr>
                        <a:t>Accuracy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Money stored as integer paise and handled as Decimal; held-out tests, backtests and WAPE; "estimates, not advice" disclaimers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System Architecture</a:t>
            </a:r>
          </a:p>
        </p:txBody>
      </p:sp>
      <p:sp>
        <p:nvSpPr>
          <p:cNvPr id="3" name="Rectangle 2"/>
          <p:cNvSpPr/>
          <p:nvPr/>
        </p:nvSpPr>
        <p:spPr>
          <a:xfrm>
            <a:off x="548640" y="1234440"/>
            <a:ext cx="2514600" cy="4343400"/>
          </a:xfrm>
          <a:prstGeom prst="rect">
            <a:avLst/>
          </a:prstGeom>
          <a:solidFill>
            <a:srgbClr val="FFFFFF"/>
          </a:solidFill>
          <a:ln w="12700">
            <a:solidFill>
              <a:srgbClr val="000000"/>
            </a:solidFill>
            <a:prstDash val="dash"/>
          </a:ln>
        </p:spPr>
        <p:txBody>
          <a:bodyPr rtlCol="0" anchor="ctr" wrap="square" lIns="73152" rIns="73152" tIns="36576" bIns="36576">
            <a:noAutofit/>
          </a:bodyPr>
          <a:lstStyle/>
          <a:p>
            <a:pPr algn="ctr"/>
          </a:p>
        </p:txBody>
      </p:sp>
      <p:sp>
        <p:nvSpPr>
          <p:cNvPr id="4" name="TextBox 3"/>
          <p:cNvSpPr txBox="1"/>
          <p:nvPr/>
        </p:nvSpPr>
        <p:spPr>
          <a:xfrm>
            <a:off x="640080" y="1280160"/>
            <a:ext cx="2377440" cy="320040"/>
          </a:xfrm>
          <a:prstGeom prst="rect">
            <a:avLst/>
          </a:prstGeom>
          <a:noFill/>
        </p:spPr>
        <p:txBody>
          <a:bodyPr wrap="square" anchor="t" lIns="45720" rIns="45720" tIns="27432" bIns="27432">
            <a:noAutofit/>
          </a:bodyPr>
          <a:lstStyle/>
          <a:p>
            <a:pPr algn="l">
              <a:spcBef>
                <a:spcPts val="600"/>
              </a:spcBef>
              <a:buNone/>
            </a:pPr>
            <a:r>
              <a:rPr sz="1500" b="1" i="0">
                <a:solidFill>
                  <a:srgbClr val="000000"/>
                </a:solidFill>
                <a:latin typeface="Arial"/>
              </a:rPr>
              <a:t>Browser</a:t>
            </a:r>
          </a:p>
        </p:txBody>
      </p:sp>
      <p:sp>
        <p:nvSpPr>
          <p:cNvPr id="5" name="Rectangle 4"/>
          <p:cNvSpPr/>
          <p:nvPr/>
        </p:nvSpPr>
        <p:spPr>
          <a:xfrm>
            <a:off x="658368" y="1691640"/>
            <a:ext cx="2286000" cy="109728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Next.js 16 web app</a:t>
            </a:r>
          </a:p>
          <a:p>
            <a:pPr algn="ctr">
              <a:spcBef>
                <a:spcPts val="0"/>
              </a:spcBef>
              <a:buNone/>
            </a:pPr>
            <a:r>
              <a:rPr sz="1200" b="0" i="0">
                <a:solidFill>
                  <a:srgbClr val="000000"/>
                </a:solidFill>
                <a:latin typeface="Arial"/>
              </a:rPr>
              <a:t>React 19, TypeScript, Tailwind CSS 4, shadcn/ui (static export)</a:t>
            </a:r>
          </a:p>
        </p:txBody>
      </p:sp>
      <p:sp>
        <p:nvSpPr>
          <p:cNvPr id="6" name="Rectangle 5"/>
          <p:cNvSpPr/>
          <p:nvPr/>
        </p:nvSpPr>
        <p:spPr>
          <a:xfrm>
            <a:off x="658368" y="2971800"/>
            <a:ext cx="2286000" cy="109728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TanStack Query + api.ts</a:t>
            </a:r>
          </a:p>
          <a:p>
            <a:pPr algn="ctr">
              <a:spcBef>
                <a:spcPts val="0"/>
              </a:spcBef>
              <a:buNone/>
            </a:pPr>
            <a:r>
              <a:rPr sz="1200" b="0" i="0">
                <a:solidFill>
                  <a:srgbClr val="000000"/>
                </a:solidFill>
                <a:latin typeface="Arial"/>
              </a:rPr>
              <a:t>fetch with session cookies and X-Requested-With header</a:t>
            </a:r>
          </a:p>
        </p:txBody>
      </p:sp>
      <p:sp>
        <p:nvSpPr>
          <p:cNvPr id="7" name="Rectangle 6"/>
          <p:cNvSpPr/>
          <p:nvPr/>
        </p:nvSpPr>
        <p:spPr>
          <a:xfrm>
            <a:off x="658368" y="4251960"/>
            <a:ext cx="2286000" cy="11430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tesseract.js</a:t>
            </a:r>
          </a:p>
          <a:p>
            <a:pPr algn="ctr">
              <a:spcBef>
                <a:spcPts val="0"/>
              </a:spcBef>
              <a:buNone/>
            </a:pPr>
            <a:r>
              <a:rPr sz="1200" b="0" i="0">
                <a:solidFill>
                  <a:srgbClr val="000000"/>
                </a:solidFill>
                <a:latin typeface="Arial"/>
              </a:rPr>
              <a:t>Receipt OCR runs in the browser, so images never go to the server</a:t>
            </a:r>
          </a:p>
        </p:txBody>
      </p:sp>
      <p:sp>
        <p:nvSpPr>
          <p:cNvPr id="8" name="Rectangle 7"/>
          <p:cNvSpPr/>
          <p:nvPr/>
        </p:nvSpPr>
        <p:spPr>
          <a:xfrm>
            <a:off x="4069080" y="1234440"/>
            <a:ext cx="5120640" cy="4343400"/>
          </a:xfrm>
          <a:prstGeom prst="rect">
            <a:avLst/>
          </a:prstGeom>
          <a:solidFill>
            <a:srgbClr val="FFFFFF"/>
          </a:solidFill>
          <a:ln w="12700">
            <a:solidFill>
              <a:srgbClr val="000000"/>
            </a:solidFill>
            <a:prstDash val="dash"/>
          </a:ln>
        </p:spPr>
        <p:txBody>
          <a:bodyPr rtlCol="0" anchor="ctr" wrap="square" lIns="73152" rIns="73152" tIns="36576" bIns="36576">
            <a:noAutofit/>
          </a:bodyPr>
          <a:lstStyle/>
          <a:p>
            <a:pPr algn="ctr"/>
          </a:p>
        </p:txBody>
      </p:sp>
      <p:sp>
        <p:nvSpPr>
          <p:cNvPr id="9" name="TextBox 8"/>
          <p:cNvSpPr txBox="1"/>
          <p:nvPr/>
        </p:nvSpPr>
        <p:spPr>
          <a:xfrm>
            <a:off x="4160520" y="1280160"/>
            <a:ext cx="4937759" cy="320040"/>
          </a:xfrm>
          <a:prstGeom prst="rect">
            <a:avLst/>
          </a:prstGeom>
          <a:noFill/>
        </p:spPr>
        <p:txBody>
          <a:bodyPr wrap="square" anchor="t" lIns="45720" rIns="45720" tIns="27432" bIns="27432">
            <a:noAutofit/>
          </a:bodyPr>
          <a:lstStyle/>
          <a:p>
            <a:pPr algn="l">
              <a:spcBef>
                <a:spcPts val="600"/>
              </a:spcBef>
              <a:buNone/>
            </a:pPr>
            <a:r>
              <a:rPr sz="1500" b="1" i="0">
                <a:solidFill>
                  <a:srgbClr val="000000"/>
                </a:solidFill>
                <a:latin typeface="Arial"/>
              </a:rPr>
              <a:t>Single Python process (started by python3 run.py)</a:t>
            </a:r>
          </a:p>
        </p:txBody>
      </p:sp>
      <p:sp>
        <p:nvSpPr>
          <p:cNvPr id="10" name="Rectangle 9"/>
          <p:cNvSpPr/>
          <p:nvPr/>
        </p:nvSpPr>
        <p:spPr>
          <a:xfrm>
            <a:off x="4178808" y="1691640"/>
            <a:ext cx="4901183" cy="77724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FastAPI app (port 8000)</a:t>
            </a:r>
          </a:p>
          <a:p>
            <a:pPr algn="ctr">
              <a:spcBef>
                <a:spcPts val="0"/>
              </a:spcBef>
              <a:buNone/>
            </a:pPr>
            <a:r>
              <a:rPr sz="1200" b="0" i="0">
                <a:solidFill>
                  <a:srgbClr val="000000"/>
                </a:solidFill>
                <a:latin typeface="Arial"/>
              </a:rPr>
              <a:t>15 routers under /api/v1, CSRF guard, error handler, serves the web app</a:t>
            </a:r>
          </a:p>
        </p:txBody>
      </p:sp>
      <p:sp>
        <p:nvSpPr>
          <p:cNvPr id="11" name="Rectangle 10"/>
          <p:cNvSpPr/>
          <p:nvPr/>
        </p:nvSpPr>
        <p:spPr>
          <a:xfrm>
            <a:off x="4178808" y="2651760"/>
            <a:ext cx="4901183" cy="141732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Services (business logic and ML)</a:t>
            </a:r>
          </a:p>
          <a:p>
            <a:pPr algn="ctr">
              <a:spcBef>
                <a:spcPts val="0"/>
              </a:spcBef>
              <a:buNone/>
            </a:pPr>
            <a:r>
              <a:rPr sz="1200" b="0" i="0">
                <a:solidFill>
                  <a:srgbClr val="000000"/>
                </a:solidFill>
                <a:latin typeface="Arial"/>
              </a:rPr>
              <a:t>Consent and capture, receipts, categories and anomalies, forecasting, subscriptions, tax, insights and coach, Smart Picks and crawler</a:t>
            </a:r>
          </a:p>
          <a:p>
            <a:pPr algn="ctr">
              <a:spcBef>
                <a:spcPts val="400"/>
              </a:spcBef>
              <a:buNone/>
            </a:pPr>
            <a:r>
              <a:rPr sz="1200" b="0" i="0">
                <a:solidFill>
                  <a:srgbClr val="000000"/>
                </a:solidFill>
                <a:latin typeface="Arial"/>
              </a:rPr>
              <a:t>ML runs in-process: scikit-learn (TF-IDF + logistic regression, IsolationForest) and Prophet</a:t>
            </a:r>
          </a:p>
        </p:txBody>
      </p:sp>
      <p:sp>
        <p:nvSpPr>
          <p:cNvPr id="12" name="Rectangle 11"/>
          <p:cNvSpPr/>
          <p:nvPr/>
        </p:nvSpPr>
        <p:spPr>
          <a:xfrm>
            <a:off x="4178808" y="4251960"/>
            <a:ext cx="2377439" cy="11430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Job runner + scheduler</a:t>
            </a:r>
          </a:p>
          <a:p>
            <a:pPr algn="ctr">
              <a:spcBef>
                <a:spcPts val="0"/>
              </a:spcBef>
              <a:buNone/>
            </a:pPr>
            <a:r>
              <a:rPr sz="1200" b="0" i="0">
                <a:solidFill>
                  <a:srgbClr val="000000"/>
                </a:solidFill>
                <a:latin typeface="Arial"/>
              </a:rPr>
              <a:t>Thread pool; crawl every 6 h, nightly analytics, retention purge</a:t>
            </a:r>
          </a:p>
        </p:txBody>
      </p:sp>
      <p:sp>
        <p:nvSpPr>
          <p:cNvPr id="13" name="Rectangle 12"/>
          <p:cNvSpPr/>
          <p:nvPr/>
        </p:nvSpPr>
        <p:spPr>
          <a:xfrm>
            <a:off x="6702552" y="4251960"/>
            <a:ext cx="2377439" cy="11430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Demo stores (port 8090)</a:t>
            </a:r>
          </a:p>
          <a:p>
            <a:pPr algn="ctr">
              <a:spcBef>
                <a:spcPts val="0"/>
              </a:spcBef>
              <a:buNone/>
            </a:pPr>
            <a:r>
              <a:rPr sz="1200" b="0" i="0">
                <a:solidFill>
                  <a:srgbClr val="000000"/>
                </a:solidFill>
                <a:latin typeface="Arial"/>
              </a:rPr>
              <a:t>robots.txt, sitemaps and JSON-LD read by the crawler</a:t>
            </a:r>
          </a:p>
        </p:txBody>
      </p:sp>
      <p:cxnSp>
        <p:nvCxnSpPr>
          <p:cNvPr id="14" name="Connector 13"/>
          <p:cNvCxnSpPr/>
          <p:nvPr/>
        </p:nvCxnSpPr>
        <p:spPr>
          <a:xfrm>
            <a:off x="6629400" y="2468880"/>
            <a:ext cx="0" cy="182880"/>
          </a:xfrm>
          <a:prstGeom prst="line">
            <a:avLst/>
          </a:prstGeom>
          <a:ln w="15875">
            <a:solidFill>
              <a:srgbClr val="000000"/>
            </a:solidFill>
            <a:tailEnd type="triangle" w="med" len="med"/>
          </a:ln>
        </p:spPr>
      </p:cxnSp>
      <p:cxnSp>
        <p:nvCxnSpPr>
          <p:cNvPr id="15" name="Connector 14"/>
          <p:cNvCxnSpPr/>
          <p:nvPr/>
        </p:nvCxnSpPr>
        <p:spPr>
          <a:xfrm>
            <a:off x="5367528" y="4069080"/>
            <a:ext cx="0" cy="182880"/>
          </a:xfrm>
          <a:prstGeom prst="line">
            <a:avLst/>
          </a:prstGeom>
          <a:ln w="15875">
            <a:solidFill>
              <a:srgbClr val="000000"/>
            </a:solidFill>
            <a:tailEnd type="triangle" w="med" len="med"/>
          </a:ln>
        </p:spPr>
      </p:cxnSp>
      <p:sp>
        <p:nvSpPr>
          <p:cNvPr id="16" name="Can 15"/>
          <p:cNvSpPr/>
          <p:nvPr/>
        </p:nvSpPr>
        <p:spPr>
          <a:xfrm>
            <a:off x="9646920" y="1463040"/>
            <a:ext cx="1993392" cy="2103120"/>
          </a:xfrm>
          <a:prstGeom prst="can">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SQLite (WAL)</a:t>
            </a:r>
          </a:p>
          <a:p>
            <a:pPr algn="ctr">
              <a:spcBef>
                <a:spcPts val="0"/>
              </a:spcBef>
              <a:buNone/>
            </a:pPr>
            <a:r>
              <a:rPr sz="1200" b="0" i="0">
                <a:solidFill>
                  <a:srgbClr val="000000"/>
                </a:solidFill>
                <a:latin typeface="Arial"/>
              </a:rPr>
              <a:t>data/finpilot.db</a:t>
            </a:r>
          </a:p>
          <a:p>
            <a:pPr algn="ctr">
              <a:spcBef>
                <a:spcPts val="0"/>
              </a:spcBef>
              <a:buNone/>
            </a:pPr>
            <a:r>
              <a:rPr sz="1200" b="0" i="0">
                <a:solidFill>
                  <a:srgbClr val="000000"/>
                </a:solidFill>
                <a:latin typeface="Arial"/>
              </a:rPr>
              <a:t>33 tables</a:t>
            </a:r>
          </a:p>
          <a:p>
            <a:pPr algn="ctr">
              <a:spcBef>
                <a:spcPts val="0"/>
              </a:spcBef>
              <a:buNone/>
            </a:pPr>
            <a:r>
              <a:rPr sz="1200" b="0" i="0">
                <a:solidFill>
                  <a:srgbClr val="000000"/>
                </a:solidFill>
                <a:latin typeface="Arial"/>
              </a:rPr>
              <a:t>SQLAlchemy + Alembic</a:t>
            </a:r>
          </a:p>
        </p:txBody>
      </p:sp>
      <p:sp>
        <p:nvSpPr>
          <p:cNvPr id="17" name="Rectangle 16"/>
          <p:cNvSpPr/>
          <p:nvPr/>
        </p:nvSpPr>
        <p:spPr>
          <a:xfrm>
            <a:off x="9646920" y="4251960"/>
            <a:ext cx="1993392" cy="11430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data/ folder</a:t>
            </a:r>
          </a:p>
          <a:p>
            <a:pPr algn="ctr">
              <a:spcBef>
                <a:spcPts val="0"/>
              </a:spcBef>
              <a:buNone/>
            </a:pPr>
            <a:r>
              <a:rPr sz="1200" b="0" i="0">
                <a:solidFill>
                  <a:srgbClr val="000000"/>
                </a:solidFill>
                <a:latin typeface="Arial"/>
              </a:rPr>
              <a:t>Uploads, trained models and the generated secret key</a:t>
            </a:r>
          </a:p>
        </p:txBody>
      </p:sp>
      <p:cxnSp>
        <p:nvCxnSpPr>
          <p:cNvPr id="18" name="Connector 17"/>
          <p:cNvCxnSpPr/>
          <p:nvPr/>
        </p:nvCxnSpPr>
        <p:spPr>
          <a:xfrm>
            <a:off x="2944368" y="2103120"/>
            <a:ext cx="1234440" cy="0"/>
          </a:xfrm>
          <a:prstGeom prst="line">
            <a:avLst/>
          </a:prstGeom>
          <a:ln w="15875">
            <a:solidFill>
              <a:srgbClr val="000000"/>
            </a:solidFill>
            <a:headEnd type="triangle"/>
            <a:tailEnd type="triangle" w="med" len="med"/>
          </a:ln>
        </p:spPr>
      </p:cxnSp>
      <p:sp>
        <p:nvSpPr>
          <p:cNvPr id="19" name="TextBox 18"/>
          <p:cNvSpPr txBox="1"/>
          <p:nvPr/>
        </p:nvSpPr>
        <p:spPr>
          <a:xfrm>
            <a:off x="3063240" y="1810512"/>
            <a:ext cx="1005840" cy="274320"/>
          </a:xfrm>
          <a:prstGeom prst="rect">
            <a:avLst/>
          </a:prstGeom>
          <a:noFill/>
        </p:spPr>
        <p:txBody>
          <a:bodyPr wrap="square" anchor="t" lIns="0" rIns="0" tIns="27432" bIns="27432">
            <a:noAutofit/>
          </a:bodyPr>
          <a:lstStyle/>
          <a:p>
            <a:pPr algn="ctr">
              <a:spcBef>
                <a:spcPts val="0"/>
              </a:spcBef>
              <a:buNone/>
            </a:pPr>
            <a:r>
              <a:rPr sz="1000" b="0" i="0">
                <a:solidFill>
                  <a:srgbClr val="000000"/>
                </a:solidFill>
                <a:latin typeface="Arial"/>
              </a:rPr>
              <a:t>HTTP / JSON</a:t>
            </a:r>
          </a:p>
        </p:txBody>
      </p:sp>
      <p:cxnSp>
        <p:nvCxnSpPr>
          <p:cNvPr id="20" name="Connector 19"/>
          <p:cNvCxnSpPr/>
          <p:nvPr/>
        </p:nvCxnSpPr>
        <p:spPr>
          <a:xfrm>
            <a:off x="9079992" y="3017520"/>
            <a:ext cx="566928" cy="0"/>
          </a:xfrm>
          <a:prstGeom prst="line">
            <a:avLst/>
          </a:prstGeom>
          <a:ln w="15875">
            <a:solidFill>
              <a:srgbClr val="000000"/>
            </a:solidFill>
            <a:headEnd type="triangle"/>
            <a:tailEnd type="triangle" w="med" len="med"/>
          </a:ln>
        </p:spPr>
      </p:cxnSp>
      <p:sp>
        <p:nvSpPr>
          <p:cNvPr id="21" name="TextBox 20"/>
          <p:cNvSpPr txBox="1"/>
          <p:nvPr/>
        </p:nvSpPr>
        <p:spPr>
          <a:xfrm>
            <a:off x="9189720" y="2724912"/>
            <a:ext cx="457200" cy="274320"/>
          </a:xfrm>
          <a:prstGeom prst="rect">
            <a:avLst/>
          </a:prstGeom>
          <a:noFill/>
        </p:spPr>
        <p:txBody>
          <a:bodyPr wrap="square" anchor="t" lIns="0" rIns="0" tIns="27432" bIns="27432">
            <a:noAutofit/>
          </a:bodyPr>
          <a:lstStyle/>
          <a:p>
            <a:pPr algn="ctr">
              <a:spcBef>
                <a:spcPts val="0"/>
              </a:spcBef>
              <a:buNone/>
            </a:pPr>
            <a:r>
              <a:rPr sz="1000" b="0" i="0">
                <a:solidFill>
                  <a:srgbClr val="000000"/>
                </a:solidFill>
                <a:latin typeface="Arial"/>
              </a:rPr>
              <a:t>SQL</a:t>
            </a:r>
          </a:p>
        </p:txBody>
      </p:sp>
      <p:sp>
        <p:nvSpPr>
          <p:cNvPr id="22" name="TextBox 21"/>
          <p:cNvSpPr txBox="1"/>
          <p:nvPr/>
        </p:nvSpPr>
        <p:spPr>
          <a:xfrm>
            <a:off x="548640" y="5623560"/>
            <a:ext cx="11091672" cy="320040"/>
          </a:xfrm>
          <a:prstGeom prst="rect">
            <a:avLst/>
          </a:prstGeom>
          <a:noFill/>
        </p:spPr>
        <p:txBody>
          <a:bodyPr wrap="square" anchor="t" lIns="45720" rIns="45720" tIns="27432" bIns="27432">
            <a:noAutofit/>
          </a:bodyPr>
          <a:lstStyle/>
          <a:p>
            <a:pPr algn="l">
              <a:spcBef>
                <a:spcPts val="600"/>
              </a:spcBef>
              <a:buNone/>
            </a:pPr>
            <a:r>
              <a:rPr sz="1300" b="0" i="0">
                <a:solidFill>
                  <a:srgbClr val="000000"/>
                </a:solidFill>
                <a:latin typeface="Arial"/>
              </a:rPr>
              <a:t>The browser loads the site and calls /api/v1 on the same server, so no CORS setup is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Backend Layers and Request Flow</a:t>
            </a:r>
          </a:p>
        </p:txBody>
      </p:sp>
      <p:sp>
        <p:nvSpPr>
          <p:cNvPr id="3" name="TextBox 2"/>
          <p:cNvSpPr txBox="1"/>
          <p:nvPr/>
        </p:nvSpPr>
        <p:spPr>
          <a:xfrm>
            <a:off x="548640" y="1143000"/>
            <a:ext cx="475488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Backend layers</a:t>
            </a:r>
          </a:p>
        </p:txBody>
      </p:sp>
      <p:sp>
        <p:nvSpPr>
          <p:cNvPr id="4" name="Rectangle 3"/>
          <p:cNvSpPr/>
          <p:nvPr/>
        </p:nvSpPr>
        <p:spPr>
          <a:xfrm>
            <a:off x="548640" y="1554480"/>
            <a:ext cx="4663440" cy="621792"/>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Routers (api/v1/*.py)</a:t>
            </a:r>
          </a:p>
          <a:p>
            <a:pPr algn="ctr">
              <a:spcBef>
                <a:spcPts val="0"/>
              </a:spcBef>
              <a:buNone/>
            </a:pPr>
            <a:r>
              <a:rPr sz="1300" b="0" i="0">
                <a:solidFill>
                  <a:srgbClr val="000000"/>
                </a:solidFill>
                <a:latin typeface="Arial"/>
              </a:rPr>
              <a:t>HTTP, Pydantic validation, ownership checks</a:t>
            </a:r>
          </a:p>
        </p:txBody>
      </p:sp>
      <p:cxnSp>
        <p:nvCxnSpPr>
          <p:cNvPr id="5" name="Connector 4"/>
          <p:cNvCxnSpPr/>
          <p:nvPr/>
        </p:nvCxnSpPr>
        <p:spPr>
          <a:xfrm>
            <a:off x="2880360" y="2176272"/>
            <a:ext cx="0" cy="182880"/>
          </a:xfrm>
          <a:prstGeom prst="line">
            <a:avLst/>
          </a:prstGeom>
          <a:ln w="15875">
            <a:solidFill>
              <a:srgbClr val="000000"/>
            </a:solidFill>
            <a:tailEnd type="triangle" w="med" len="med"/>
          </a:ln>
        </p:spPr>
      </p:cxnSp>
      <p:sp>
        <p:nvSpPr>
          <p:cNvPr id="6" name="Rectangle 5"/>
          <p:cNvSpPr/>
          <p:nvPr/>
        </p:nvSpPr>
        <p:spPr>
          <a:xfrm>
            <a:off x="548640" y="2359152"/>
            <a:ext cx="4663440" cy="621792"/>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Dependencies (core/deps.py)</a:t>
            </a:r>
          </a:p>
          <a:p>
            <a:pPr algn="ctr">
              <a:spcBef>
                <a:spcPts val="0"/>
              </a:spcBef>
              <a:buNone/>
            </a:pPr>
            <a:r>
              <a:rPr sz="1300" b="0" i="0">
                <a:solidFill>
                  <a:srgbClr val="000000"/>
                </a:solidFill>
                <a:latin typeface="Arial"/>
              </a:rPr>
              <a:t>Signed-in user from the JWT cookie; one DB session</a:t>
            </a:r>
          </a:p>
        </p:txBody>
      </p:sp>
      <p:cxnSp>
        <p:nvCxnSpPr>
          <p:cNvPr id="7" name="Connector 6"/>
          <p:cNvCxnSpPr/>
          <p:nvPr/>
        </p:nvCxnSpPr>
        <p:spPr>
          <a:xfrm>
            <a:off x="2880360" y="2980944"/>
            <a:ext cx="0" cy="182880"/>
          </a:xfrm>
          <a:prstGeom prst="line">
            <a:avLst/>
          </a:prstGeom>
          <a:ln w="15875">
            <a:solidFill>
              <a:srgbClr val="000000"/>
            </a:solidFill>
            <a:tailEnd type="triangle" w="med" len="med"/>
          </a:ln>
        </p:spPr>
      </p:cxnSp>
      <p:sp>
        <p:nvSpPr>
          <p:cNvPr id="8" name="Rectangle 7"/>
          <p:cNvSpPr/>
          <p:nvPr/>
        </p:nvSpPr>
        <p:spPr>
          <a:xfrm>
            <a:off x="548640" y="3163824"/>
            <a:ext cx="4663440" cy="621792"/>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Services (services/*.py)</a:t>
            </a:r>
          </a:p>
          <a:p>
            <a:pPr algn="ctr">
              <a:spcBef>
                <a:spcPts val="0"/>
              </a:spcBef>
              <a:buNone/>
            </a:pPr>
            <a:r>
              <a:rPr sz="1300" b="0" i="0">
                <a:solidFill>
                  <a:srgbClr val="000000"/>
                </a:solidFill>
                <a:latin typeface="Arial"/>
              </a:rPr>
              <a:t>Business rules: forecasting, tax, picks, consent</a:t>
            </a:r>
          </a:p>
        </p:txBody>
      </p:sp>
      <p:cxnSp>
        <p:nvCxnSpPr>
          <p:cNvPr id="9" name="Connector 8"/>
          <p:cNvCxnSpPr/>
          <p:nvPr/>
        </p:nvCxnSpPr>
        <p:spPr>
          <a:xfrm>
            <a:off x="2880360" y="3785615"/>
            <a:ext cx="0" cy="182881"/>
          </a:xfrm>
          <a:prstGeom prst="line">
            <a:avLst/>
          </a:prstGeom>
          <a:ln w="15875">
            <a:solidFill>
              <a:srgbClr val="000000"/>
            </a:solidFill>
            <a:tailEnd type="triangle" w="med" len="med"/>
          </a:ln>
        </p:spPr>
      </p:cxnSp>
      <p:sp>
        <p:nvSpPr>
          <p:cNvPr id="10" name="Rectangle 9"/>
          <p:cNvSpPr/>
          <p:nvPr/>
        </p:nvSpPr>
        <p:spPr>
          <a:xfrm>
            <a:off x="548640" y="3968496"/>
            <a:ext cx="4663440" cy="621792"/>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Models (models/*.py)</a:t>
            </a:r>
          </a:p>
          <a:p>
            <a:pPr algn="ctr">
              <a:spcBef>
                <a:spcPts val="0"/>
              </a:spcBef>
              <a:buNone/>
            </a:pPr>
            <a:r>
              <a:rPr sz="1300" b="0" i="0">
                <a:solidFill>
                  <a:srgbClr val="000000"/>
                </a:solidFill>
                <a:latin typeface="Arial"/>
              </a:rPr>
              <a:t>SQLAlchemy 2 ORM; money as integer paise</a:t>
            </a:r>
          </a:p>
        </p:txBody>
      </p:sp>
      <p:cxnSp>
        <p:nvCxnSpPr>
          <p:cNvPr id="11" name="Connector 10"/>
          <p:cNvCxnSpPr/>
          <p:nvPr/>
        </p:nvCxnSpPr>
        <p:spPr>
          <a:xfrm>
            <a:off x="2880360" y="4590288"/>
            <a:ext cx="0" cy="182880"/>
          </a:xfrm>
          <a:prstGeom prst="line">
            <a:avLst/>
          </a:prstGeom>
          <a:ln w="15875">
            <a:solidFill>
              <a:srgbClr val="000000"/>
            </a:solidFill>
            <a:tailEnd type="triangle" w="med" len="med"/>
          </a:ln>
        </p:spPr>
      </p:cxnSp>
      <p:sp>
        <p:nvSpPr>
          <p:cNvPr id="12" name="Rectangle 11"/>
          <p:cNvSpPr/>
          <p:nvPr/>
        </p:nvSpPr>
        <p:spPr>
          <a:xfrm>
            <a:off x="548640" y="4773168"/>
            <a:ext cx="4663440" cy="621792"/>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Database (data/finpilot.db)</a:t>
            </a:r>
          </a:p>
          <a:p>
            <a:pPr algn="ctr">
              <a:spcBef>
                <a:spcPts val="0"/>
              </a:spcBef>
              <a:buNone/>
            </a:pPr>
            <a:r>
              <a:rPr sz="1300" b="0" i="0">
                <a:solidFill>
                  <a:srgbClr val="000000"/>
                </a:solidFill>
                <a:latin typeface="Arial"/>
              </a:rPr>
              <a:t>SQLite in WAL mode; Alembic migrations</a:t>
            </a:r>
          </a:p>
        </p:txBody>
      </p:sp>
      <p:sp>
        <p:nvSpPr>
          <p:cNvPr id="13" name="TextBox 12"/>
          <p:cNvSpPr txBox="1"/>
          <p:nvPr/>
        </p:nvSpPr>
        <p:spPr>
          <a:xfrm>
            <a:off x="548640" y="5559552"/>
            <a:ext cx="4663440" cy="411480"/>
          </a:xfrm>
          <a:prstGeom prst="rect">
            <a:avLst/>
          </a:prstGeom>
          <a:noFill/>
        </p:spPr>
        <p:txBody>
          <a:bodyPr wrap="square" anchor="t" lIns="45720" rIns="45720" tIns="27432" bIns="27432">
            <a:noAutofit/>
          </a:bodyPr>
          <a:lstStyle/>
          <a:p>
            <a:pPr algn="l">
              <a:spcBef>
                <a:spcPts val="600"/>
              </a:spcBef>
              <a:buNone/>
            </a:pPr>
            <a:r>
              <a:rPr sz="1200" b="0" i="0">
                <a:solidFill>
                  <a:srgbClr val="000000"/>
                </a:solidFill>
                <a:latin typeface="Arial"/>
              </a:rPr>
              <a:t>Shared code: core/ (config, security, crypto, money) and jobs/ (runner, scheduler)</a:t>
            </a:r>
          </a:p>
        </p:txBody>
      </p:sp>
      <p:sp>
        <p:nvSpPr>
          <p:cNvPr id="14" name="TextBox 13"/>
          <p:cNvSpPr txBox="1"/>
          <p:nvPr/>
        </p:nvSpPr>
        <p:spPr>
          <a:xfrm>
            <a:off x="5669280" y="1143000"/>
            <a:ext cx="594360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Example: a what-if purchase</a:t>
            </a:r>
          </a:p>
        </p:txBody>
      </p:sp>
      <p:sp>
        <p:nvSpPr>
          <p:cNvPr id="15" name="TextBox 14"/>
          <p:cNvSpPr txBox="1"/>
          <p:nvPr/>
        </p:nvSpPr>
        <p:spPr>
          <a:xfrm>
            <a:off x="5669280" y="1554480"/>
            <a:ext cx="5971032" cy="4389120"/>
          </a:xfrm>
          <a:prstGeom prst="rect">
            <a:avLst/>
          </a:prstGeom>
          <a:noFill/>
        </p:spPr>
        <p:txBody>
          <a:bodyPr wrap="square" anchor="t" lIns="45720" rIns="45720" tIns="27432" bIns="27432">
            <a:noAutofit/>
          </a:bodyPr>
          <a:lstStyle/>
          <a:p>
            <a:pPr algn="l" marL="274320" indent="-274320">
              <a:spcBef>
                <a:spcPts val="1400"/>
              </a:spcBef>
              <a:buFont typeface="Arial"/>
              <a:buAutoNum type="arabicPeriod"/>
            </a:pPr>
            <a:r>
              <a:rPr sz="1600" b="0" i="0">
                <a:solidFill>
                  <a:srgbClr val="000000"/>
                </a:solidFill>
                <a:latin typeface="Arial"/>
              </a:rPr>
              <a:t>User enters ₹45,000 under "What if I spend..." on the Forecast page and clicks Check</a:t>
            </a:r>
          </a:p>
          <a:p>
            <a:pPr algn="l" marL="274320" indent="-274320">
              <a:spcBef>
                <a:spcPts val="1400"/>
              </a:spcBef>
              <a:buFont typeface="Arial"/>
              <a:buAutoNum type="arabicPeriod"/>
            </a:pPr>
            <a:r>
              <a:rPr sz="1600" b="0" i="0">
                <a:solidFill>
                  <a:srgbClr val="000000"/>
                </a:solidFill>
                <a:latin typeface="Arial"/>
              </a:rPr>
              <a:t>api.ts sends GET /api/v1/forecast/whatif?amount=45000 with the session cookie</a:t>
            </a:r>
          </a:p>
          <a:p>
            <a:pPr algn="l" marL="274320" indent="-274320">
              <a:spcBef>
                <a:spcPts val="1400"/>
              </a:spcBef>
              <a:buFont typeface="Arial"/>
              <a:buAutoNum type="arabicPeriod"/>
            </a:pPr>
            <a:r>
              <a:rPr sz="1600" b="0" i="0">
                <a:solidFill>
                  <a:srgbClr val="000000"/>
                </a:solidFill>
                <a:latin typeface="Arial"/>
              </a:rPr>
              <a:t>FastAPI checks 0 &lt; amount &lt; ₹1e9 and loads the user from the JWT (otherwise 422 or 401)</a:t>
            </a:r>
          </a:p>
          <a:p>
            <a:pPr algn="l" marL="274320" indent="-274320">
              <a:spcBef>
                <a:spcPts val="1400"/>
              </a:spcBef>
              <a:buFont typeface="Arial"/>
              <a:buAutoNum type="arabicPeriod"/>
            </a:pPr>
            <a:r>
              <a:rPr sz="1600" b="0" i="0">
                <a:solidFill>
                  <a:srgbClr val="000000"/>
                </a:solidFill>
                <a:latin typeface="Arial"/>
              </a:rPr>
              <a:t>The service reads the stored 90-day forecast and lowers p10, p50 and p90 from the purchase date</a:t>
            </a:r>
          </a:p>
          <a:p>
            <a:pPr algn="l" marL="274320" indent="-274320">
              <a:spcBef>
                <a:spcPts val="1400"/>
              </a:spcBef>
              <a:buFont typeface="Arial"/>
              <a:buAutoNum type="arabicPeriod"/>
            </a:pPr>
            <a:r>
              <a:rPr sz="1600" b="0" i="0">
                <a:solidFill>
                  <a:srgbClr val="000000"/>
                </a:solidFill>
                <a:latin typeface="Arial"/>
              </a:rPr>
              <a:t>It compares the new lowest balance in the next 60 days with the safety buffer</a:t>
            </a:r>
          </a:p>
          <a:p>
            <a:pPr algn="l" marL="274320" indent="-274320">
              <a:spcBef>
                <a:spcPts val="1400"/>
              </a:spcBef>
              <a:buFont typeface="Arial"/>
              <a:buAutoNum type="arabicPeriod"/>
            </a:pPr>
            <a:r>
              <a:rPr sz="1600" b="0" i="0">
                <a:solidFill>
                  <a:srgbClr val="000000"/>
                </a:solidFill>
                <a:latin typeface="Arial"/>
              </a:rPr>
              <a:t>TanStack Query redraws the chart and shows a green or red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Technologies Used</a:t>
            </a:r>
          </a:p>
        </p:txBody>
      </p:sp>
      <p:graphicFrame>
        <p:nvGraphicFramePr>
          <p:cNvPr id="3" name="Table 2"/>
          <p:cNvGraphicFramePr>
            <a:graphicFrameLocks noGrp="1"/>
          </p:cNvGraphicFramePr>
          <p:nvPr/>
        </p:nvGraphicFramePr>
        <p:xfrm>
          <a:off x="548640" y="1280160"/>
          <a:ext cx="11091672" cy="4041648"/>
        </p:xfrm>
        <a:graphic>
          <a:graphicData uri="http://schemas.openxmlformats.org/drawingml/2006/table">
            <a:tbl>
              <a:tblPr firstRow="1" bandRow="0">
                <a:tableStyleId>{5940675A-B579-460E-94D1-54222C63F5DA}</a:tableStyleId>
              </a:tblPr>
              <a:tblGrid>
                <a:gridCol w="2651760"/>
                <a:gridCol w="8439912"/>
              </a:tblGrid>
              <a:tr h="384048">
                <a:tc>
                  <a:txBody>
                    <a:bodyPr wrap="square"/>
                    <a:lstStyle/>
                    <a:p>
                      <a:pPr algn="l">
                        <a:spcBef>
                          <a:spcPts val="0"/>
                        </a:spcBef>
                        <a:buNone/>
                      </a:pPr>
                      <a:r>
                        <a:rPr sz="1500" b="1" i="0">
                          <a:solidFill>
                            <a:srgbClr val="000000"/>
                          </a:solidFill>
                          <a:latin typeface="Arial"/>
                        </a:rPr>
                        <a:t>Category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500" b="1" i="0">
                          <a:solidFill>
                            <a:srgbClr val="000000"/>
                          </a:solidFill>
                          <a:latin typeface="Arial"/>
                        </a:rPr>
                        <a:t>Tools and versions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731520">
                <a:tc>
                  <a:txBody>
                    <a:bodyPr wrap="square"/>
                    <a:lstStyle/>
                    <a:p>
                      <a:pPr algn="l">
                        <a:spcBef>
                          <a:spcPts val="0"/>
                        </a:spcBef>
                        <a:buNone/>
                      </a:pPr>
                      <a:r>
                        <a:rPr sz="1500" b="1" i="0">
                          <a:solidFill>
                            <a:srgbClr val="000000"/>
                          </a:solidFill>
                          <a:latin typeface="Arial"/>
                        </a:rPr>
                        <a:t>Frontend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a:rPr>
                        <a:t>Next.js 16.4 (static export), React 19.3, TypeScript 5.9, Tailwind CSS 4.3, shadcn/ui on Base UI, TanStack Query 5, Recharts 3, tesseract.js 7</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a:rPr>
                        <a:t>Backend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a:rPr>
                        <a:t>Python 3.11+ (tested on 3.14), FastAPI 0.143, Uvicorn 0.54, Pydantic 2.14, SQLAlchemy 2.1, Alembic 1.20, PyJWT 2.15, pwdlib (bcrypt), cryptography (Fernet)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a:rPr>
                        <a:t>Data and ML</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a:rPr>
                        <a:t>SQLite (WAL), scikit-learn 1.9, Prophet 1.5, pandas 3.0, NumPy 2.5, RapidFuzz 3.14, dateparser 1.4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a:rPr>
                        <a:t>Documents and crawling</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a:rPr>
                        <a:t>pdfplumber 0.11, ReportLab 5.0, httpx 0.28, Protego 0.7 (robots.txt), BeautifulSoup + lxml, defusedxml</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a:rPr>
                        <a:t>Testing and tools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a:rPr>
                        <a:t>pytest 9.1, Hypothesis 6, Playwright 1.64, Git and GitHub, Node.js / npm (only to build the UI)</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4" name="TextBox 3"/>
          <p:cNvSpPr txBox="1"/>
          <p:nvPr/>
        </p:nvSpPr>
        <p:spPr>
          <a:xfrm>
            <a:off x="548640" y="5486400"/>
            <a:ext cx="11091672" cy="365760"/>
          </a:xfrm>
          <a:prstGeom prst="rect">
            <a:avLst/>
          </a:prstGeom>
          <a:noFill/>
        </p:spPr>
        <p:txBody>
          <a:bodyPr wrap="square" anchor="t" lIns="45720" rIns="45720" tIns="27432" bIns="27432">
            <a:noAutofit/>
          </a:bodyPr>
          <a:lstStyle/>
          <a:p>
            <a:pPr algn="l">
              <a:spcBef>
                <a:spcPts val="600"/>
              </a:spcBef>
              <a:buNone/>
            </a:pPr>
            <a:r>
              <a:rPr sz="1400" b="0" i="0">
                <a:solidFill>
                  <a:srgbClr val="000000"/>
                </a:solidFill>
                <a:latin typeface="Arial"/>
              </a:rPr>
              <a:t>All tools are free and run locally.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Software Development Life Cycle</a:t>
            </a:r>
          </a:p>
        </p:txBody>
      </p:sp>
      <p:sp>
        <p:nvSpPr>
          <p:cNvPr id="3" name="TextBox 2"/>
          <p:cNvSpPr txBox="1"/>
          <p:nvPr/>
        </p:nvSpPr>
        <p:spPr>
          <a:xfrm>
            <a:off x="548640" y="1143000"/>
            <a:ext cx="11091672" cy="411480"/>
          </a:xfrm>
          <a:prstGeom prst="rect">
            <a:avLst/>
          </a:prstGeom>
          <a:noFill/>
        </p:spPr>
        <p:txBody>
          <a:bodyPr wrap="square" anchor="t" lIns="45720" rIns="45720" tIns="27432" bIns="27432">
            <a:noAutofit/>
          </a:bodyPr>
          <a:lstStyle/>
          <a:p>
            <a:pPr algn="l">
              <a:spcBef>
                <a:spcPts val="0"/>
              </a:spcBef>
              <a:buNone/>
            </a:pPr>
            <a:r>
              <a:rPr sz="1600" b="1" i="0">
                <a:solidFill>
                  <a:srgbClr val="000000"/>
                </a:solidFill>
                <a:latin typeface="Arial"/>
              </a:rPr>
              <a:t>Model used: </a:t>
            </a:r>
            <a:r>
              <a:rPr sz="1600" b="0" i="0">
                <a:solidFill>
                  <a:srgbClr val="000000"/>
                </a:solidFill>
                <a:latin typeface="Arial"/>
              </a:rPr>
              <a:t>Iterative and incremental. Every phase ended with a working app and a check we could measure.</a:t>
            </a:r>
          </a:p>
        </p:txBody>
      </p:sp>
      <p:sp>
        <p:nvSpPr>
          <p:cNvPr id="4" name="Rectangle 3"/>
          <p:cNvSpPr/>
          <p:nvPr/>
        </p:nvSpPr>
        <p:spPr>
          <a:xfrm>
            <a:off x="548640"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Requirements</a:t>
            </a:r>
          </a:p>
        </p:txBody>
      </p:sp>
      <p:cxnSp>
        <p:nvCxnSpPr>
          <p:cNvPr id="5" name="Connector 4"/>
          <p:cNvCxnSpPr/>
          <p:nvPr/>
        </p:nvCxnSpPr>
        <p:spPr>
          <a:xfrm>
            <a:off x="2103120" y="1920240"/>
            <a:ext cx="351129" cy="0"/>
          </a:xfrm>
          <a:prstGeom prst="line">
            <a:avLst/>
          </a:prstGeom>
          <a:ln w="15875">
            <a:solidFill>
              <a:srgbClr val="000000"/>
            </a:solidFill>
            <a:tailEnd type="triangle" w="med" len="med"/>
          </a:ln>
        </p:spPr>
      </p:cxnSp>
      <p:sp>
        <p:nvSpPr>
          <p:cNvPr id="6" name="Rectangle 5"/>
          <p:cNvSpPr/>
          <p:nvPr/>
        </p:nvSpPr>
        <p:spPr>
          <a:xfrm>
            <a:off x="2454249"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Design</a:t>
            </a:r>
          </a:p>
        </p:txBody>
      </p:sp>
      <p:cxnSp>
        <p:nvCxnSpPr>
          <p:cNvPr id="7" name="Connector 6"/>
          <p:cNvCxnSpPr/>
          <p:nvPr/>
        </p:nvCxnSpPr>
        <p:spPr>
          <a:xfrm>
            <a:off x="4008729" y="1920240"/>
            <a:ext cx="351130" cy="0"/>
          </a:xfrm>
          <a:prstGeom prst="line">
            <a:avLst/>
          </a:prstGeom>
          <a:ln w="15875">
            <a:solidFill>
              <a:srgbClr val="000000"/>
            </a:solidFill>
            <a:tailEnd type="triangle" w="med" len="med"/>
          </a:ln>
        </p:spPr>
      </p:cxnSp>
      <p:sp>
        <p:nvSpPr>
          <p:cNvPr id="8" name="Rectangle 7"/>
          <p:cNvSpPr/>
          <p:nvPr/>
        </p:nvSpPr>
        <p:spPr>
          <a:xfrm>
            <a:off x="4359859"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Implementation</a:t>
            </a:r>
          </a:p>
        </p:txBody>
      </p:sp>
      <p:cxnSp>
        <p:nvCxnSpPr>
          <p:cNvPr id="9" name="Connector 8"/>
          <p:cNvCxnSpPr/>
          <p:nvPr/>
        </p:nvCxnSpPr>
        <p:spPr>
          <a:xfrm>
            <a:off x="5914339" y="1920240"/>
            <a:ext cx="351129" cy="0"/>
          </a:xfrm>
          <a:prstGeom prst="line">
            <a:avLst/>
          </a:prstGeom>
          <a:ln w="15875">
            <a:solidFill>
              <a:srgbClr val="000000"/>
            </a:solidFill>
            <a:tailEnd type="triangle" w="med" len="med"/>
          </a:ln>
        </p:spPr>
      </p:cxnSp>
      <p:sp>
        <p:nvSpPr>
          <p:cNvPr id="10" name="Rectangle 9"/>
          <p:cNvSpPr/>
          <p:nvPr/>
        </p:nvSpPr>
        <p:spPr>
          <a:xfrm>
            <a:off x="6265468"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Testing</a:t>
            </a:r>
          </a:p>
        </p:txBody>
      </p:sp>
      <p:cxnSp>
        <p:nvCxnSpPr>
          <p:cNvPr id="11" name="Connector 10"/>
          <p:cNvCxnSpPr/>
          <p:nvPr/>
        </p:nvCxnSpPr>
        <p:spPr>
          <a:xfrm>
            <a:off x="7819948" y="1920240"/>
            <a:ext cx="351130" cy="0"/>
          </a:xfrm>
          <a:prstGeom prst="line">
            <a:avLst/>
          </a:prstGeom>
          <a:ln w="15875">
            <a:solidFill>
              <a:srgbClr val="000000"/>
            </a:solidFill>
            <a:tailEnd type="triangle" w="med" len="med"/>
          </a:ln>
        </p:spPr>
      </p:cxnSp>
      <p:sp>
        <p:nvSpPr>
          <p:cNvPr id="12" name="Rectangle 11"/>
          <p:cNvSpPr/>
          <p:nvPr/>
        </p:nvSpPr>
        <p:spPr>
          <a:xfrm>
            <a:off x="8171078"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Deployment</a:t>
            </a:r>
          </a:p>
        </p:txBody>
      </p:sp>
      <p:cxnSp>
        <p:nvCxnSpPr>
          <p:cNvPr id="13" name="Connector 12"/>
          <p:cNvCxnSpPr/>
          <p:nvPr/>
        </p:nvCxnSpPr>
        <p:spPr>
          <a:xfrm>
            <a:off x="9725558" y="1920240"/>
            <a:ext cx="351130" cy="0"/>
          </a:xfrm>
          <a:prstGeom prst="line">
            <a:avLst/>
          </a:prstGeom>
          <a:ln w="15875">
            <a:solidFill>
              <a:srgbClr val="000000"/>
            </a:solidFill>
            <a:tailEnd type="triangle" w="med" len="med"/>
          </a:ln>
        </p:spPr>
      </p:cxnSp>
      <p:sp>
        <p:nvSpPr>
          <p:cNvPr id="14" name="Rectangle 13"/>
          <p:cNvSpPr/>
          <p:nvPr/>
        </p:nvSpPr>
        <p:spPr>
          <a:xfrm>
            <a:off x="10076688" y="169164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Maintenance</a:t>
            </a:r>
          </a:p>
        </p:txBody>
      </p:sp>
      <p:graphicFrame>
        <p:nvGraphicFramePr>
          <p:cNvPr id="15" name="Table 14"/>
          <p:cNvGraphicFramePr>
            <a:graphicFrameLocks noGrp="1"/>
          </p:cNvGraphicFramePr>
          <p:nvPr/>
        </p:nvGraphicFramePr>
        <p:xfrm>
          <a:off x="548640" y="2377440"/>
          <a:ext cx="11091672" cy="3127248"/>
        </p:xfrm>
        <a:graphic>
          <a:graphicData uri="http://schemas.openxmlformats.org/drawingml/2006/table">
            <a:tbl>
              <a:tblPr firstRow="1" bandRow="0">
                <a:tableStyleId>{5940675A-B579-460E-94D1-54222C63F5DA}</a:tableStyleId>
              </a:tblPr>
              <a:tblGrid>
                <a:gridCol w="2103120"/>
                <a:gridCol w="8988552"/>
              </a:tblGrid>
              <a:tr h="384048">
                <a:tc>
                  <a:txBody>
                    <a:bodyPr wrap="square"/>
                    <a:lstStyle/>
                    <a:p>
                      <a:pPr algn="l">
                        <a:spcBef>
                          <a:spcPts val="0"/>
                        </a:spcBef>
                        <a:buNone/>
                      </a:pPr>
                      <a:r>
                        <a:rPr sz="1400" b="1" i="0">
                          <a:solidFill>
                            <a:srgbClr val="000000"/>
                          </a:solidFill>
                          <a:latin typeface="Arial"/>
                        </a:rPr>
                        <a:t>Phase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What we did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57200">
                <a:tc>
                  <a:txBody>
                    <a:bodyPr wrap="square"/>
                    <a:lstStyle/>
                    <a:p>
                      <a:pPr algn="l">
                        <a:spcBef>
                          <a:spcPts val="0"/>
                        </a:spcBef>
                        <a:buNone/>
                      </a:pPr>
                      <a:r>
                        <a:rPr sz="1400" b="1" i="0">
                          <a:solidFill>
                            <a:srgbClr val="000000"/>
                          </a:solidFill>
                          <a:latin typeface="Arial"/>
                        </a:rPr>
                        <a:t>Requirements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Review 0 (July 2026): problem, objectives and modules. Consent-based capture and Smart Picks were added after Review 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a:rPr>
                        <a:t>Design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Single-process architecture; 33-table schema with money in paise; Docker + PostgreSQL replaced by SQLite and run.py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a:rPr>
                        <a:t>Implementation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10 build phases (0 to 9), each one a working increment with API, logic and UI</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a:rPr>
                        <a:t>Testing</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pytest + Hypothesis in every phase; Playwright end-to-end demo script; metrics on held-out data</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a:rPr>
                        <a:t>Deployment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One command (python3 run.py); pre-built web app; works offline after the first run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a:rPr>
                        <a:t>Maintenance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Alembic migrations; demo data refreshes daily; quality report in Settings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Build Phases</a:t>
            </a:r>
          </a:p>
        </p:txBody>
      </p:sp>
      <p:graphicFrame>
        <p:nvGraphicFramePr>
          <p:cNvPr id="3" name="Table 2"/>
          <p:cNvGraphicFramePr>
            <a:graphicFrameLocks noGrp="1"/>
          </p:cNvGraphicFramePr>
          <p:nvPr/>
        </p:nvGraphicFramePr>
        <p:xfrm>
          <a:off x="548640" y="1188720"/>
          <a:ext cx="11091672" cy="4590288"/>
        </p:xfrm>
        <a:graphic>
          <a:graphicData uri="http://schemas.openxmlformats.org/drawingml/2006/table">
            <a:tbl>
              <a:tblPr firstRow="1" bandRow="0">
                <a:tableStyleId>{5940675A-B579-460E-94D1-54222C63F5DA}</a:tableStyleId>
              </a:tblPr>
              <a:tblGrid>
                <a:gridCol w="822960"/>
                <a:gridCol w="2148840"/>
                <a:gridCol w="4206240"/>
                <a:gridCol w="3913632"/>
              </a:tblGrid>
              <a:tr h="384048">
                <a:tc>
                  <a:txBody>
                    <a:bodyPr wrap="square"/>
                    <a:lstStyle/>
                    <a:p>
                      <a:pPr algn="ctr">
                        <a:spcBef>
                          <a:spcPts val="0"/>
                        </a:spcBef>
                        <a:buNone/>
                      </a:pPr>
                      <a:r>
                        <a:rPr sz="1400" b="1" i="0">
                          <a:solidFill>
                            <a:srgbClr val="000000"/>
                          </a:solidFill>
                          <a:latin typeface="Arial"/>
                        </a:rPr>
                        <a:t>Phase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Focus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Work done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Exit check</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20624">
                <a:tc>
                  <a:txBody>
                    <a:bodyPr wrap="square"/>
                    <a:lstStyle/>
                    <a:p>
                      <a:pPr algn="ctr">
                        <a:spcBef>
                          <a:spcPts val="0"/>
                        </a:spcBef>
                        <a:buNone/>
                      </a:pPr>
                      <a:r>
                        <a:rPr sz="1400" b="0" i="0">
                          <a:solidFill>
                            <a:srgbClr val="000000"/>
                          </a:solidFill>
                          <a:latin typeface="Arial"/>
                        </a:rPr>
                        <a:t>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Foundation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run.py, two servers, jobs, SQLite + Alembic</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A clean start renders a page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1</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Data and auth</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Schema, auth, demo persona, model training</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Deterministic data; tests pass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2</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Capture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Consent API, pipeline, imports, simulators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No transactions from OTP or promo messages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3</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Core UI</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App shell, onboarding, dashboard, connections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E2E test: an SMS becomes a transaction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Receipts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In-browser OCR, receipt commit, PDF bills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9/9 sample fields read correctly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5</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Forecasting</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Prophet + known schedule, backtest, what-if</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Backtest against baselines; fallback tested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6</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Subscriptions, tax</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Detection, both tax regimes, export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Planted findings detected; tax tests pass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7</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Insights, coach</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Insights, coach, budgets, goals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Every coach intent answers from data</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8</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Smart Picks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Demo stores, crawler, affordability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BlockedMart skipped; property test passes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a:rPr>
                        <a:t>9</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Hardening</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README, E2E suite, screenshots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Clean start + full E2E suite passes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Major Features and Modules</a:t>
            </a:r>
          </a:p>
        </p:txBody>
      </p:sp>
      <p:sp>
        <p:nvSpPr>
          <p:cNvPr id="3" name="TextBox 2"/>
          <p:cNvSpPr txBox="1"/>
          <p:nvPr/>
        </p:nvSpPr>
        <p:spPr>
          <a:xfrm>
            <a:off x="548640" y="1188720"/>
            <a:ext cx="11091672" cy="4754880"/>
          </a:xfrm>
          <a:prstGeom prst="rect">
            <a:avLst/>
          </a:prstGeom>
          <a:noFill/>
        </p:spPr>
        <p:txBody>
          <a:bodyPr wrap="square" anchor="t" lIns="45720" rIns="45720" tIns="27432" bIns="27432">
            <a:noAutofit/>
          </a:bodyPr>
          <a:lstStyle/>
          <a:p>
            <a:pPr algn="l" marL="274320" indent="-274320">
              <a:spcBef>
                <a:spcPts val="1200"/>
              </a:spcBef>
              <a:buFont typeface="Arial"/>
              <a:buAutoNum type="arabicPeriod"/>
            </a:pPr>
            <a:r>
              <a:rPr sz="1700" b="1" i="0">
                <a:solidFill>
                  <a:srgbClr val="000000"/>
                </a:solidFill>
                <a:latin typeface="Arial"/>
              </a:rPr>
              <a:t>Consent and capture: </a:t>
            </a:r>
            <a:r>
              <a:rPr sz="1700" b="0" i="0">
                <a:solidFill>
                  <a:srgbClr val="000000"/>
                </a:solidFill>
                <a:latin typeface="Arial"/>
              </a:rPr>
              <a:t>SMS and e-mail with consent per source; sample inbox, file import and live simulators</a:t>
            </a:r>
          </a:p>
          <a:p>
            <a:pPr algn="l" marL="274320" indent="-274320">
              <a:spcBef>
                <a:spcPts val="1200"/>
              </a:spcBef>
              <a:buFont typeface="Arial"/>
              <a:buAutoNum type="arabicPeriod"/>
            </a:pPr>
            <a:r>
              <a:rPr sz="1700" b="1" i="0">
                <a:solidFill>
                  <a:srgbClr val="000000"/>
                </a:solidFill>
                <a:latin typeface="Arial"/>
              </a:rPr>
              <a:t>Receipts and bills: </a:t>
            </a:r>
            <a:r>
              <a:rPr sz="1700" b="0" i="0">
                <a:solidFill>
                  <a:srgbClr val="000000"/>
                </a:solidFill>
                <a:latin typeface="Arial"/>
              </a:rPr>
              <a:t>in-browser OCR with confidence boxes; PDF bills; matched to card payments</a:t>
            </a:r>
          </a:p>
          <a:p>
            <a:pPr algn="l" marL="274320" indent="-274320">
              <a:spcBef>
                <a:spcPts val="1200"/>
              </a:spcBef>
              <a:buFont typeface="Arial"/>
              <a:buAutoNum type="arabicPeriod"/>
            </a:pPr>
            <a:r>
              <a:rPr sz="1700" b="1" i="0">
                <a:solidFill>
                  <a:srgbClr val="000000"/>
                </a:solidFill>
                <a:latin typeface="Arial"/>
              </a:rPr>
              <a:t>Transactions and review: </a:t>
            </a:r>
            <a:r>
              <a:rPr sz="1700" b="0" i="0">
                <a:solidFill>
                  <a:srgbClr val="000000"/>
                </a:solidFill>
                <a:latin typeface="Arial"/>
              </a:rPr>
              <a:t>rules, then merchant list, then ML; uncertain items go to Review and become rules</a:t>
            </a:r>
          </a:p>
          <a:p>
            <a:pPr algn="l" marL="274320" indent="-274320">
              <a:spcBef>
                <a:spcPts val="1200"/>
              </a:spcBef>
              <a:buFont typeface="Arial"/>
              <a:buAutoNum type="arabicPeriod"/>
            </a:pPr>
            <a:r>
              <a:rPr sz="1700" b="1" i="0">
                <a:solidFill>
                  <a:srgbClr val="000000"/>
                </a:solidFill>
                <a:latin typeface="Arial"/>
              </a:rPr>
              <a:t>Anomaly detection: </a:t>
            </a:r>
            <a:r>
              <a:rPr sz="1700" b="0" i="0">
                <a:solidFill>
                  <a:srgbClr val="000000"/>
                </a:solidFill>
                <a:latin typeface="Arial"/>
              </a:rPr>
              <a:t>robust z-score, IsolationForest, duplicate charges and new-merchant spikes</a:t>
            </a:r>
          </a:p>
          <a:p>
            <a:pPr algn="l" marL="274320" indent="-274320">
              <a:spcBef>
                <a:spcPts val="1200"/>
              </a:spcBef>
              <a:buFont typeface="Arial"/>
              <a:buAutoNum type="arabicPeriod"/>
            </a:pPr>
            <a:r>
              <a:rPr sz="1700" b="1" i="0">
                <a:solidFill>
                  <a:srgbClr val="000000"/>
                </a:solidFill>
                <a:latin typeface="Arial"/>
              </a:rPr>
              <a:t>Cash-flow forecast: </a:t>
            </a:r>
            <a:r>
              <a:rPr sz="1700" b="0" i="0">
                <a:solidFill>
                  <a:srgbClr val="000000"/>
                </a:solidFill>
                <a:latin typeface="Arial"/>
              </a:rPr>
              <a:t>known schedule + Prophet; 80% band, what-if check and a backtest against baselines</a:t>
            </a:r>
          </a:p>
          <a:p>
            <a:pPr algn="l" marL="274320" indent="-274320">
              <a:spcBef>
                <a:spcPts val="1200"/>
              </a:spcBef>
              <a:buFont typeface="Arial"/>
              <a:buAutoNum type="arabicPeriod"/>
            </a:pPr>
            <a:r>
              <a:rPr sz="1700" b="1" i="0">
                <a:solidFill>
                  <a:srgbClr val="000000"/>
                </a:solidFill>
                <a:latin typeface="Arial"/>
              </a:rPr>
              <a:t>Subscriptions: </a:t>
            </a:r>
            <a:r>
              <a:rPr sz="1700" b="0" i="0">
                <a:solidFill>
                  <a:srgbClr val="000000"/>
                </a:solidFill>
                <a:latin typeface="Arial"/>
              </a:rPr>
              <a:t>price rises, unused plans, trials turned paid and overlaps, ranked by ₹ per year</a:t>
            </a:r>
          </a:p>
          <a:p>
            <a:pPr algn="l" marL="274320" indent="-274320">
              <a:spcBef>
                <a:spcPts val="1200"/>
              </a:spcBef>
              <a:buFont typeface="Arial"/>
              <a:buAutoNum type="arabicPeriod"/>
            </a:pPr>
            <a:r>
              <a:rPr sz="1700" b="1" i="0">
                <a:solidFill>
                  <a:srgbClr val="000000"/>
                </a:solidFill>
                <a:latin typeface="Arial"/>
              </a:rPr>
              <a:t>Tax insights: </a:t>
            </a:r>
            <a:r>
              <a:rPr sz="1700" b="0" i="0">
                <a:solidFill>
                  <a:srgbClr val="000000"/>
                </a:solidFill>
                <a:latin typeface="Arial"/>
              </a:rPr>
              <a:t>two tax years, both regimes, deductions from transactions, CSV/PDF export</a:t>
            </a:r>
          </a:p>
          <a:p>
            <a:pPr algn="l" marL="274320" indent="-274320">
              <a:spcBef>
                <a:spcPts val="1200"/>
              </a:spcBef>
              <a:buFont typeface="Arial"/>
              <a:buAutoNum type="arabicPeriod"/>
            </a:pPr>
            <a:r>
              <a:rPr sz="1700" b="1" i="0">
                <a:solidFill>
                  <a:srgbClr val="000000"/>
                </a:solidFill>
                <a:latin typeface="Arial"/>
              </a:rPr>
              <a:t>Insights, coach and budgets: </a:t>
            </a:r>
            <a:r>
              <a:rPr sz="1700" b="0" i="0">
                <a:solidFill>
                  <a:srgbClr val="000000"/>
                </a:solidFill>
                <a:latin typeface="Arial"/>
              </a:rPr>
              <a:t>ranked insights; a coach with 13 intents; budgets and goals feed affordability</a:t>
            </a:r>
          </a:p>
          <a:p>
            <a:pPr algn="l" marL="274320" indent="-274320">
              <a:spcBef>
                <a:spcPts val="1200"/>
              </a:spcBef>
              <a:buFont typeface="Arial"/>
              <a:buAutoNum type="arabicPeriod"/>
            </a:pPr>
            <a:r>
              <a:rPr sz="1700" b="1" i="0">
                <a:solidFill>
                  <a:srgbClr val="000000"/>
                </a:solidFill>
                <a:latin typeface="Arial"/>
              </a:rPr>
              <a:t>Smart Picks: </a:t>
            </a:r>
            <a:r>
              <a:rPr sz="1700" b="0" i="0">
                <a:solidFill>
                  <a:srgbClr val="000000"/>
                </a:solidFill>
                <a:latin typeface="Arial"/>
              </a:rPr>
              <a:t>polite crawler + affordability check with Buy now, For your goals and Save 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Application Screenshots</a:t>
            </a:r>
          </a:p>
        </p:txBody>
      </p:sp>
      <p:pic>
        <p:nvPicPr>
          <p:cNvPr id="3" name="Picture 2" descr="dashboard.png"/>
          <p:cNvPicPr>
            <a:picLocks noChangeAspect="1"/>
          </p:cNvPicPr>
          <p:nvPr/>
        </p:nvPicPr>
        <p:blipFill>
          <a:blip r:embed="rId3"/>
          <a:stretch>
            <a:fillRect/>
          </a:stretch>
        </p:blipFill>
        <p:spPr>
          <a:xfrm>
            <a:off x="868680" y="1188720"/>
            <a:ext cx="3291840" cy="2057400"/>
          </a:xfrm>
          <a:prstGeom prst="rect">
            <a:avLst/>
          </a:prstGeom>
          <a:ln w="9525">
            <a:solidFill>
              <a:srgbClr val="7F7F7F"/>
            </a:solidFill>
          </a:ln>
        </p:spPr>
      </p:pic>
      <p:pic>
        <p:nvPicPr>
          <p:cNvPr id="5" name="Picture 4" descr="connections.png"/>
          <p:cNvPicPr>
            <a:picLocks noChangeAspect="1"/>
          </p:cNvPicPr>
          <p:nvPr/>
        </p:nvPicPr>
        <p:blipFill>
          <a:blip r:embed="rId4"/>
          <a:stretch>
            <a:fillRect/>
          </a:stretch>
        </p:blipFill>
        <p:spPr>
          <a:xfrm>
            <a:off x="4453128" y="1188720"/>
            <a:ext cx="3291840" cy="2057400"/>
          </a:xfrm>
          <a:prstGeom prst="rect">
            <a:avLst/>
          </a:prstGeom>
          <a:ln w="9525">
            <a:solidFill>
              <a:srgbClr val="7F7F7F"/>
            </a:solidFill>
          </a:ln>
        </p:spPr>
      </p:pic>
      <p:pic>
        <p:nvPicPr>
          <p:cNvPr id="7" name="Picture 6" descr="forecast.png"/>
          <p:cNvPicPr>
            <a:picLocks noChangeAspect="1"/>
          </p:cNvPicPr>
          <p:nvPr/>
        </p:nvPicPr>
        <p:blipFill>
          <a:blip r:embed="rId5"/>
          <a:stretch>
            <a:fillRect/>
          </a:stretch>
        </p:blipFill>
        <p:spPr>
          <a:xfrm>
            <a:off x="8037575" y="1188720"/>
            <a:ext cx="3291840" cy="2057400"/>
          </a:xfrm>
          <a:prstGeom prst="rect">
            <a:avLst/>
          </a:prstGeom>
          <a:ln w="9525">
            <a:solidFill>
              <a:srgbClr val="7F7F7F"/>
            </a:solidFill>
          </a:ln>
        </p:spPr>
      </p:pic>
      <p:pic>
        <p:nvPicPr>
          <p:cNvPr id="9" name="Picture 8" descr="subscriptions.png"/>
          <p:cNvPicPr>
            <a:picLocks noChangeAspect="1"/>
          </p:cNvPicPr>
          <p:nvPr/>
        </p:nvPicPr>
        <p:blipFill>
          <a:blip r:embed="rId6"/>
          <a:stretch>
            <a:fillRect/>
          </a:stretch>
        </p:blipFill>
        <p:spPr>
          <a:xfrm>
            <a:off x="868680" y="3611880"/>
            <a:ext cx="3291840" cy="2057400"/>
          </a:xfrm>
          <a:prstGeom prst="rect">
            <a:avLst/>
          </a:prstGeom>
          <a:ln w="9525">
            <a:solidFill>
              <a:srgbClr val="7F7F7F"/>
            </a:solidFill>
          </a:ln>
        </p:spPr>
      </p:pic>
      <p:pic>
        <p:nvPicPr>
          <p:cNvPr id="11" name="Picture 10" descr="tax.png"/>
          <p:cNvPicPr>
            <a:picLocks noChangeAspect="1"/>
          </p:cNvPicPr>
          <p:nvPr/>
        </p:nvPicPr>
        <p:blipFill>
          <a:blip r:embed="rId7"/>
          <a:stretch>
            <a:fillRect/>
          </a:stretch>
        </p:blipFill>
        <p:spPr>
          <a:xfrm>
            <a:off x="4453128" y="3611880"/>
            <a:ext cx="3291840" cy="2057400"/>
          </a:xfrm>
          <a:prstGeom prst="rect">
            <a:avLst/>
          </a:prstGeom>
          <a:ln w="9525">
            <a:solidFill>
              <a:srgbClr val="7F7F7F"/>
            </a:solidFill>
          </a:ln>
        </p:spPr>
      </p:pic>
      <p:pic>
        <p:nvPicPr>
          <p:cNvPr id="13" name="Picture 12" descr="picks.png"/>
          <p:cNvPicPr>
            <a:picLocks noChangeAspect="1"/>
          </p:cNvPicPr>
          <p:nvPr/>
        </p:nvPicPr>
        <p:blipFill>
          <a:blip r:embed="rId8"/>
          <a:stretch>
            <a:fillRect/>
          </a:stretch>
        </p:blipFill>
        <p:spPr>
          <a:xfrm>
            <a:off x="8037575" y="3611880"/>
            <a:ext cx="3291840" cy="2057400"/>
          </a:xfrm>
          <a:prstGeom prst="rect">
            <a:avLst/>
          </a:prstGeom>
          <a:ln w="9525">
            <a:solidFill>
              <a:srgbClr val="7F7F7F"/>
            </a:solidFill>
          </a:ln>
        </p:spPr>
      </p:pic>
      <p:sp>
        <p:nvSpPr>
          <p:cNvPr id="14" name="TextBox 13"/>
          <p:cNvSpPr txBox="1"/>
          <p:nvPr/>
        </p:nvSpPr>
        <p:spPr>
          <a:xfrm>
            <a:off x="868680" y="328269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1: Dashboard</a:t>
            </a:r>
          </a:p>
        </p:txBody>
      </p:sp>
      <p:sp>
        <p:nvSpPr>
          <p:cNvPr id="15" name="TextBox 14"/>
          <p:cNvSpPr txBox="1"/>
          <p:nvPr/>
        </p:nvSpPr>
        <p:spPr>
          <a:xfrm>
            <a:off x="4453128" y="328269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2: Connections (consent per source)</a:t>
            </a:r>
          </a:p>
        </p:txBody>
      </p:sp>
      <p:sp>
        <p:nvSpPr>
          <p:cNvPr id="16" name="TextBox 15"/>
          <p:cNvSpPr txBox="1"/>
          <p:nvPr/>
        </p:nvSpPr>
        <p:spPr>
          <a:xfrm>
            <a:off x="8037575" y="328269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3: Forecast with what-if check</a:t>
            </a:r>
          </a:p>
        </p:txBody>
      </p:sp>
      <p:sp>
        <p:nvSpPr>
          <p:cNvPr id="17" name="TextBox 16"/>
          <p:cNvSpPr txBox="1"/>
          <p:nvPr/>
        </p:nvSpPr>
        <p:spPr>
          <a:xfrm>
            <a:off x="868680" y="570585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4: Subscriptions (ranked savings)</a:t>
            </a:r>
          </a:p>
        </p:txBody>
      </p:sp>
      <p:sp>
        <p:nvSpPr>
          <p:cNvPr id="18" name="TextBox 17"/>
          <p:cNvSpPr txBox="1"/>
          <p:nvPr/>
        </p:nvSpPr>
        <p:spPr>
          <a:xfrm>
            <a:off x="4453128" y="570585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5: Tax: old vs new regime</a:t>
            </a:r>
          </a:p>
        </p:txBody>
      </p:sp>
      <p:sp>
        <p:nvSpPr>
          <p:cNvPr id="19" name="TextBox 18"/>
          <p:cNvSpPr txBox="1"/>
          <p:nvPr/>
        </p:nvSpPr>
        <p:spPr>
          <a:xfrm>
            <a:off x="8037575" y="5705856"/>
            <a:ext cx="3291840" cy="292608"/>
          </a:xfrm>
          <a:prstGeom prst="rect">
            <a:avLst/>
          </a:prstGeom>
          <a:noFill/>
        </p:spPr>
        <p:txBody>
          <a:bodyPr wrap="square" anchor="t" lIns="45720" rIns="45720" tIns="27432" bIns="27432">
            <a:noAutofit/>
          </a:bodyPr>
          <a:lstStyle/>
          <a:p>
            <a:pPr algn="ctr">
              <a:spcBef>
                <a:spcPts val="0"/>
              </a:spcBef>
              <a:buNone/>
            </a:pPr>
            <a:r>
              <a:rPr sz="1200" b="0" i="0">
                <a:solidFill>
                  <a:srgbClr val="000000"/>
                </a:solidFill>
                <a:latin typeface="Arial"/>
              </a:rPr>
              <a:t>Fig. 6: Smart Picks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 Flow</a:t>
            </a:r>
          </a:p>
        </p:txBody>
      </p:sp>
      <p:sp>
        <p:nvSpPr>
          <p:cNvPr id="3" name="TextBox 2"/>
          <p:cNvSpPr txBox="1"/>
          <p:nvPr/>
        </p:nvSpPr>
        <p:spPr>
          <a:xfrm>
            <a:off x="548640" y="1143000"/>
            <a:ext cx="11091672" cy="365760"/>
          </a:xfrm>
          <a:prstGeom prst="rect">
            <a:avLst/>
          </a:prstGeom>
          <a:noFill/>
        </p:spPr>
        <p:txBody>
          <a:bodyPr wrap="square" anchor="t" lIns="45720" rIns="45720" tIns="27432" bIns="27432">
            <a:noAutofit/>
          </a:bodyPr>
          <a:lstStyle/>
          <a:p>
            <a:pPr algn="l">
              <a:spcBef>
                <a:spcPts val="0"/>
              </a:spcBef>
              <a:buNone/>
            </a:pPr>
            <a:r>
              <a:rPr sz="1500" b="1" i="0">
                <a:solidFill>
                  <a:srgbClr val="000000"/>
                </a:solidFill>
                <a:latin typeface="Arial"/>
              </a:rPr>
              <a:t>Capture pipeline </a:t>
            </a:r>
            <a:r>
              <a:rPr sz="1500" b="0" i="0">
                <a:solidFill>
                  <a:srgbClr val="000000"/>
                </a:solidFill>
                <a:latin typeface="Arial"/>
              </a:rPr>
              <a:t>(same for the sample inbox, file imports and live simulators)</a:t>
            </a:r>
          </a:p>
        </p:txBody>
      </p:sp>
      <p:sp>
        <p:nvSpPr>
          <p:cNvPr id="4" name="Rectangle 3"/>
          <p:cNvSpPr/>
          <p:nvPr/>
        </p:nvSpPr>
        <p:spPr>
          <a:xfrm>
            <a:off x="548640"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Consent gate</a:t>
            </a:r>
          </a:p>
        </p:txBody>
      </p:sp>
      <p:sp>
        <p:nvSpPr>
          <p:cNvPr id="5" name="TextBox 4"/>
          <p:cNvSpPr txBox="1"/>
          <p:nvPr/>
        </p:nvSpPr>
        <p:spPr>
          <a:xfrm>
            <a:off x="502919"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Rejected unless the source is active</a:t>
            </a:r>
          </a:p>
        </p:txBody>
      </p:sp>
      <p:cxnSp>
        <p:nvCxnSpPr>
          <p:cNvPr id="6" name="Connector 5"/>
          <p:cNvCxnSpPr/>
          <p:nvPr/>
        </p:nvCxnSpPr>
        <p:spPr>
          <a:xfrm>
            <a:off x="2103120" y="1828800"/>
            <a:ext cx="351129" cy="0"/>
          </a:xfrm>
          <a:prstGeom prst="line">
            <a:avLst/>
          </a:prstGeom>
          <a:ln w="15875">
            <a:solidFill>
              <a:srgbClr val="000000"/>
            </a:solidFill>
            <a:tailEnd type="triangle" w="med" len="med"/>
          </a:ln>
        </p:spPr>
      </p:cxnSp>
      <p:sp>
        <p:nvSpPr>
          <p:cNvPr id="7" name="Rectangle 6"/>
          <p:cNvSpPr/>
          <p:nvPr/>
        </p:nvSpPr>
        <p:spPr>
          <a:xfrm>
            <a:off x="2454249"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Pre-filter</a:t>
            </a:r>
          </a:p>
        </p:txBody>
      </p:sp>
      <p:sp>
        <p:nvSpPr>
          <p:cNvPr id="8" name="TextBox 7"/>
          <p:cNvSpPr txBox="1"/>
          <p:nvPr/>
        </p:nvSpPr>
        <p:spPr>
          <a:xfrm>
            <a:off x="2408529"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Drops promo (-P) senders, personal numbers and non-allowlisted e-mail</a:t>
            </a:r>
          </a:p>
        </p:txBody>
      </p:sp>
      <p:cxnSp>
        <p:nvCxnSpPr>
          <p:cNvPr id="9" name="Connector 8"/>
          <p:cNvCxnSpPr/>
          <p:nvPr/>
        </p:nvCxnSpPr>
        <p:spPr>
          <a:xfrm>
            <a:off x="4008729" y="1828800"/>
            <a:ext cx="351130" cy="0"/>
          </a:xfrm>
          <a:prstGeom prst="line">
            <a:avLst/>
          </a:prstGeom>
          <a:ln w="15875">
            <a:solidFill>
              <a:srgbClr val="000000"/>
            </a:solidFill>
            <a:tailEnd type="triangle" w="med" len="med"/>
          </a:ln>
        </p:spPr>
      </p:cxnSp>
      <p:sp>
        <p:nvSpPr>
          <p:cNvPr id="10" name="Rectangle 9"/>
          <p:cNvSpPr/>
          <p:nvPr/>
        </p:nvSpPr>
        <p:spPr>
          <a:xfrm>
            <a:off x="4359859"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Classify</a:t>
            </a:r>
          </a:p>
        </p:txBody>
      </p:sp>
      <p:sp>
        <p:nvSpPr>
          <p:cNvPr id="11" name="TextBox 10"/>
          <p:cNvSpPr txBox="1"/>
          <p:nvPr/>
        </p:nvSpPr>
        <p:spPr>
          <a:xfrm>
            <a:off x="4314139"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12 message types (TF-IDF + LR); OTPs are never stored</a:t>
            </a:r>
          </a:p>
        </p:txBody>
      </p:sp>
      <p:cxnSp>
        <p:nvCxnSpPr>
          <p:cNvPr id="12" name="Connector 11"/>
          <p:cNvCxnSpPr/>
          <p:nvPr/>
        </p:nvCxnSpPr>
        <p:spPr>
          <a:xfrm>
            <a:off x="5914339" y="1828800"/>
            <a:ext cx="351129" cy="0"/>
          </a:xfrm>
          <a:prstGeom prst="line">
            <a:avLst/>
          </a:prstGeom>
          <a:ln w="15875">
            <a:solidFill>
              <a:srgbClr val="000000"/>
            </a:solidFill>
            <a:tailEnd type="triangle" w="med" len="med"/>
          </a:ln>
        </p:spPr>
      </p:cxnSp>
      <p:sp>
        <p:nvSpPr>
          <p:cNvPr id="13" name="Rectangle 12"/>
          <p:cNvSpPr/>
          <p:nvPr/>
        </p:nvSpPr>
        <p:spPr>
          <a:xfrm>
            <a:off x="6265468"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Extract</a:t>
            </a:r>
          </a:p>
        </p:txBody>
      </p:sp>
      <p:sp>
        <p:nvSpPr>
          <p:cNvPr id="14" name="TextBox 13"/>
          <p:cNvSpPr txBox="1"/>
          <p:nvPr/>
        </p:nvSpPr>
        <p:spPr>
          <a:xfrm>
            <a:off x="6219748"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Bank templates first, then a generic reader; each field gets a confidence</a:t>
            </a:r>
          </a:p>
        </p:txBody>
      </p:sp>
      <p:cxnSp>
        <p:nvCxnSpPr>
          <p:cNvPr id="15" name="Connector 14"/>
          <p:cNvCxnSpPr/>
          <p:nvPr/>
        </p:nvCxnSpPr>
        <p:spPr>
          <a:xfrm>
            <a:off x="7819948" y="1828800"/>
            <a:ext cx="351130" cy="0"/>
          </a:xfrm>
          <a:prstGeom prst="line">
            <a:avLst/>
          </a:prstGeom>
          <a:ln w="15875">
            <a:solidFill>
              <a:srgbClr val="000000"/>
            </a:solidFill>
            <a:tailEnd type="triangle" w="med" len="med"/>
          </a:ln>
        </p:spPr>
      </p:cxnSp>
      <p:sp>
        <p:nvSpPr>
          <p:cNvPr id="16" name="Rectangle 15"/>
          <p:cNvSpPr/>
          <p:nvPr/>
        </p:nvSpPr>
        <p:spPr>
          <a:xfrm>
            <a:off x="8171078"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Reconcile</a:t>
            </a:r>
          </a:p>
        </p:txBody>
      </p:sp>
      <p:sp>
        <p:nvSpPr>
          <p:cNvPr id="17" name="TextBox 16"/>
          <p:cNvSpPr txBox="1"/>
          <p:nvPr/>
        </p:nvSpPr>
        <p:spPr>
          <a:xfrm>
            <a:off x="8125358"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One transaction per payment across SMS and e-mail; transfers, refunds</a:t>
            </a:r>
          </a:p>
        </p:txBody>
      </p:sp>
      <p:cxnSp>
        <p:nvCxnSpPr>
          <p:cNvPr id="18" name="Connector 17"/>
          <p:cNvCxnSpPr/>
          <p:nvPr/>
        </p:nvCxnSpPr>
        <p:spPr>
          <a:xfrm>
            <a:off x="9725558" y="1828800"/>
            <a:ext cx="351130" cy="0"/>
          </a:xfrm>
          <a:prstGeom prst="line">
            <a:avLst/>
          </a:prstGeom>
          <a:ln w="15875">
            <a:solidFill>
              <a:srgbClr val="000000"/>
            </a:solidFill>
            <a:tailEnd type="triangle" w="med" len="med"/>
          </a:ln>
        </p:spPr>
      </p:cxnSp>
      <p:sp>
        <p:nvSpPr>
          <p:cNvPr id="19" name="Rectangle 18"/>
          <p:cNvSpPr/>
          <p:nvPr/>
        </p:nvSpPr>
        <p:spPr>
          <a:xfrm>
            <a:off x="10076688" y="1600200"/>
            <a:ext cx="15544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Categorise</a:t>
            </a:r>
          </a:p>
        </p:txBody>
      </p:sp>
      <p:sp>
        <p:nvSpPr>
          <p:cNvPr id="20" name="TextBox 19"/>
          <p:cNvSpPr txBox="1"/>
          <p:nvPr/>
        </p:nvSpPr>
        <p:spPr>
          <a:xfrm>
            <a:off x="10030967" y="2121408"/>
            <a:ext cx="1645920" cy="1188720"/>
          </a:xfrm>
          <a:prstGeom prst="rect">
            <a:avLst/>
          </a:prstGeom>
          <a:noFill/>
        </p:spPr>
        <p:txBody>
          <a:bodyPr wrap="square" anchor="t" lIns="45720" rIns="45720" tIns="27432" bIns="27432">
            <a:noAutofit/>
          </a:bodyPr>
          <a:lstStyle/>
          <a:p>
            <a:pPr algn="l">
              <a:spcBef>
                <a:spcPts val="0"/>
              </a:spcBef>
              <a:buNone/>
            </a:pPr>
            <a:r>
              <a:rPr sz="1200" b="0" i="0">
                <a:solidFill>
                  <a:srgbClr val="000000"/>
                </a:solidFill>
                <a:latin typeface="Arial"/>
              </a:rPr>
              <a:t>Rules, merchant list, ML, then the Review queue</a:t>
            </a:r>
          </a:p>
        </p:txBody>
      </p:sp>
      <p:sp>
        <p:nvSpPr>
          <p:cNvPr id="21" name="TextBox 20"/>
          <p:cNvSpPr txBox="1"/>
          <p:nvPr/>
        </p:nvSpPr>
        <p:spPr>
          <a:xfrm>
            <a:off x="548640" y="3429000"/>
            <a:ext cx="11091672" cy="365760"/>
          </a:xfrm>
          <a:prstGeom prst="rect">
            <a:avLst/>
          </a:prstGeom>
          <a:noFill/>
        </p:spPr>
        <p:txBody>
          <a:bodyPr wrap="square" anchor="t" lIns="45720" rIns="45720" tIns="27432" bIns="27432">
            <a:noAutofit/>
          </a:bodyPr>
          <a:lstStyle/>
          <a:p>
            <a:pPr algn="l">
              <a:spcBef>
                <a:spcPts val="0"/>
              </a:spcBef>
              <a:buNone/>
            </a:pPr>
            <a:r>
              <a:rPr sz="1500" b="1" i="0">
                <a:solidFill>
                  <a:srgbClr val="000000"/>
                </a:solidFill>
                <a:latin typeface="Arial"/>
              </a:rPr>
              <a:t>Analytics after new data </a:t>
            </a:r>
            <a:r>
              <a:rPr sz="1500" b="0" i="0">
                <a:solidFill>
                  <a:srgbClr val="000000"/>
                </a:solidFill>
                <a:latin typeface="Arial"/>
              </a:rPr>
              <a:t>(user_analytics background job, also runs nightly)</a:t>
            </a:r>
          </a:p>
        </p:txBody>
      </p:sp>
      <p:sp>
        <p:nvSpPr>
          <p:cNvPr id="22" name="Rectangle 21"/>
          <p:cNvSpPr/>
          <p:nvPr/>
        </p:nvSpPr>
        <p:spPr>
          <a:xfrm>
            <a:off x="548640" y="3886200"/>
            <a:ext cx="13258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Anomalies</a:t>
            </a:r>
          </a:p>
        </p:txBody>
      </p:sp>
      <p:cxnSp>
        <p:nvCxnSpPr>
          <p:cNvPr id="23" name="Connector 22"/>
          <p:cNvCxnSpPr/>
          <p:nvPr/>
        </p:nvCxnSpPr>
        <p:spPr>
          <a:xfrm>
            <a:off x="1874519" y="4114800"/>
            <a:ext cx="274320" cy="0"/>
          </a:xfrm>
          <a:prstGeom prst="line">
            <a:avLst/>
          </a:prstGeom>
          <a:ln w="15875">
            <a:solidFill>
              <a:srgbClr val="000000"/>
            </a:solidFill>
            <a:tailEnd type="triangle" w="med" len="med"/>
          </a:ln>
        </p:spPr>
      </p:cxnSp>
      <p:sp>
        <p:nvSpPr>
          <p:cNvPr id="24" name="Rectangle 23"/>
          <p:cNvSpPr/>
          <p:nvPr/>
        </p:nvSpPr>
        <p:spPr>
          <a:xfrm>
            <a:off x="2148840" y="3886200"/>
            <a:ext cx="13258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Subscriptions</a:t>
            </a:r>
          </a:p>
        </p:txBody>
      </p:sp>
      <p:cxnSp>
        <p:nvCxnSpPr>
          <p:cNvPr id="25" name="Connector 24"/>
          <p:cNvCxnSpPr/>
          <p:nvPr/>
        </p:nvCxnSpPr>
        <p:spPr>
          <a:xfrm>
            <a:off x="3474720" y="4114800"/>
            <a:ext cx="274319" cy="0"/>
          </a:xfrm>
          <a:prstGeom prst="line">
            <a:avLst/>
          </a:prstGeom>
          <a:ln w="15875">
            <a:solidFill>
              <a:srgbClr val="000000"/>
            </a:solidFill>
            <a:tailEnd type="triangle" w="med" len="med"/>
          </a:ln>
        </p:spPr>
      </p:cxnSp>
      <p:sp>
        <p:nvSpPr>
          <p:cNvPr id="26" name="Rectangle 25"/>
          <p:cNvSpPr/>
          <p:nvPr/>
        </p:nvSpPr>
        <p:spPr>
          <a:xfrm>
            <a:off x="3749039" y="3886200"/>
            <a:ext cx="13258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Forecast</a:t>
            </a:r>
          </a:p>
        </p:txBody>
      </p:sp>
      <p:cxnSp>
        <p:nvCxnSpPr>
          <p:cNvPr id="27" name="Connector 26"/>
          <p:cNvCxnSpPr/>
          <p:nvPr/>
        </p:nvCxnSpPr>
        <p:spPr>
          <a:xfrm>
            <a:off x="5074920" y="4114800"/>
            <a:ext cx="274320" cy="0"/>
          </a:xfrm>
          <a:prstGeom prst="line">
            <a:avLst/>
          </a:prstGeom>
          <a:ln w="15875">
            <a:solidFill>
              <a:srgbClr val="000000"/>
            </a:solidFill>
            <a:tailEnd type="triangle" w="med" len="med"/>
          </a:ln>
        </p:spPr>
      </p:cxnSp>
      <p:sp>
        <p:nvSpPr>
          <p:cNvPr id="28" name="Rectangle 27"/>
          <p:cNvSpPr/>
          <p:nvPr/>
        </p:nvSpPr>
        <p:spPr>
          <a:xfrm>
            <a:off x="5349240" y="3886200"/>
            <a:ext cx="13258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Smart Picks</a:t>
            </a:r>
          </a:p>
        </p:txBody>
      </p:sp>
      <p:cxnSp>
        <p:nvCxnSpPr>
          <p:cNvPr id="29" name="Connector 28"/>
          <p:cNvCxnSpPr/>
          <p:nvPr/>
        </p:nvCxnSpPr>
        <p:spPr>
          <a:xfrm>
            <a:off x="6675120" y="4114800"/>
            <a:ext cx="274320" cy="0"/>
          </a:xfrm>
          <a:prstGeom prst="line">
            <a:avLst/>
          </a:prstGeom>
          <a:ln w="15875">
            <a:solidFill>
              <a:srgbClr val="000000"/>
            </a:solidFill>
            <a:tailEnd type="triangle" w="med" len="med"/>
          </a:ln>
        </p:spPr>
      </p:cxnSp>
      <p:sp>
        <p:nvSpPr>
          <p:cNvPr id="30" name="Rectangle 29"/>
          <p:cNvSpPr/>
          <p:nvPr/>
        </p:nvSpPr>
        <p:spPr>
          <a:xfrm>
            <a:off x="6949440" y="3886200"/>
            <a:ext cx="1325880" cy="45720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300" b="1" i="0">
                <a:solidFill>
                  <a:srgbClr val="000000"/>
                </a:solidFill>
                <a:latin typeface="Arial"/>
              </a:rPr>
              <a:t>Insights</a:t>
            </a:r>
          </a:p>
        </p:txBody>
      </p:sp>
      <p:cxnSp>
        <p:nvCxnSpPr>
          <p:cNvPr id="31" name="Connector 30"/>
          <p:cNvCxnSpPr/>
          <p:nvPr/>
        </p:nvCxnSpPr>
        <p:spPr>
          <a:xfrm>
            <a:off x="8275319" y="4114800"/>
            <a:ext cx="274321" cy="0"/>
          </a:xfrm>
          <a:prstGeom prst="line">
            <a:avLst/>
          </a:prstGeom>
          <a:ln w="15875">
            <a:solidFill>
              <a:srgbClr val="000000"/>
            </a:solidFill>
            <a:tailEnd type="triangle" w="med" len="med"/>
          </a:ln>
        </p:spPr>
      </p:cxnSp>
      <p:sp>
        <p:nvSpPr>
          <p:cNvPr id="32" name="Rectangle 31"/>
          <p:cNvSpPr/>
          <p:nvPr/>
        </p:nvSpPr>
        <p:spPr>
          <a:xfrm>
            <a:off x="8549640" y="3749039"/>
            <a:ext cx="3090672" cy="731520"/>
          </a:xfrm>
          <a:prstGeom prst="rect">
            <a:avLst/>
          </a:prstGeom>
          <a:solidFill>
            <a:srgbClr val="FFFFFF"/>
          </a:solidFill>
          <a:ln w="12700">
            <a:solidFill>
              <a:srgbClr val="000000"/>
            </a:solidFill>
          </a:ln>
        </p:spPr>
        <p:txBody>
          <a:bodyPr rtlCol="0" anchor="ctr" wrap="square" lIns="73152" rIns="73152" tIns="36576" bIns="36576">
            <a:noAutofit/>
          </a:bodyPr>
          <a:lstStyle/>
          <a:p>
            <a:pPr algn="ctr">
              <a:spcBef>
                <a:spcPts val="0"/>
              </a:spcBef>
              <a:buNone/>
            </a:pPr>
            <a:r>
              <a:rPr sz="1200" b="1" i="0">
                <a:solidFill>
                  <a:srgbClr val="000000"/>
                </a:solidFill>
                <a:latin typeface="Arial"/>
              </a:rPr>
              <a:t>Pages read the results</a:t>
            </a:r>
          </a:p>
          <a:p>
            <a:pPr algn="ctr">
              <a:spcBef>
                <a:spcPts val="0"/>
              </a:spcBef>
              <a:buNone/>
            </a:pPr>
            <a:r>
              <a:rPr sz="1200" b="0" i="0">
                <a:solidFill>
                  <a:srgbClr val="000000"/>
                </a:solidFill>
                <a:latin typeface="Arial"/>
              </a:rPr>
              <a:t>Dashboard, Forecast, Subscriptions, Picks, Insights</a:t>
            </a:r>
          </a:p>
        </p:txBody>
      </p:sp>
      <p:sp>
        <p:nvSpPr>
          <p:cNvPr id="33" name="TextBox 32"/>
          <p:cNvSpPr txBox="1"/>
          <p:nvPr/>
        </p:nvSpPr>
        <p:spPr>
          <a:xfrm>
            <a:off x="548640" y="4754880"/>
            <a:ext cx="11091672" cy="914400"/>
          </a:xfrm>
          <a:prstGeom prst="rect">
            <a:avLst/>
          </a:prstGeom>
          <a:noFill/>
        </p:spPr>
        <p:txBody>
          <a:bodyPr wrap="square" anchor="t" lIns="45720" rIns="45720" tIns="27432" bIns="27432">
            <a:noAutofit/>
          </a:bodyPr>
          <a:lstStyle/>
          <a:p>
            <a:pPr algn="l">
              <a:spcBef>
                <a:spcPts val="0"/>
              </a:spcBef>
              <a:buNone/>
            </a:pPr>
            <a:r>
              <a:rPr sz="1400" b="0" i="0">
                <a:solidFill>
                  <a:srgbClr val="000000"/>
                </a:solidFill>
                <a:latin typeface="Arial"/>
              </a:rPr>
              <a:t>Results are stored in SQLite (forecasts, subscriptions, product_recommendations, insights). Tax is calculated on each request. Each stage runs in its own try/except block, so one failure does not stop the others.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Database Design</a:t>
            </a:r>
          </a:p>
        </p:txBody>
      </p:sp>
      <p:sp>
        <p:nvSpPr>
          <p:cNvPr id="3" name="TextBox 2"/>
          <p:cNvSpPr txBox="1"/>
          <p:nvPr/>
        </p:nvSpPr>
        <p:spPr>
          <a:xfrm>
            <a:off x="548640" y="1143000"/>
            <a:ext cx="548640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Key design decisions</a:t>
            </a:r>
          </a:p>
        </p:txBody>
      </p:sp>
      <p:sp>
        <p:nvSpPr>
          <p:cNvPr id="4" name="TextBox 3"/>
          <p:cNvSpPr txBox="1"/>
          <p:nvPr/>
        </p:nvSpPr>
        <p:spPr>
          <a:xfrm>
            <a:off x="548640" y="1508760"/>
            <a:ext cx="5486400" cy="1828800"/>
          </a:xfrm>
          <a:prstGeom prst="rect">
            <a:avLst/>
          </a:prstGeom>
          <a:noFill/>
        </p:spPr>
        <p:txBody>
          <a:bodyPr wrap="square" anchor="t" lIns="45720" rIns="45720" tIns="27432" bIns="27432">
            <a:noAutofit/>
          </a:bodyPr>
          <a:lstStyle/>
          <a:p>
            <a:pPr algn="l" marL="274320" indent="-274320">
              <a:spcBef>
                <a:spcPts val="400"/>
              </a:spcBef>
              <a:buFont typeface="Arial"/>
              <a:buChar char="•"/>
            </a:pPr>
            <a:r>
              <a:rPr sz="1400" b="0" i="0">
                <a:solidFill>
                  <a:srgbClr val="000000"/>
                </a:solidFill>
                <a:latin typeface="Arial"/>
              </a:rPr>
              <a:t>33 tables created from one Alembic migration; SQLite in WAL mode</a:t>
            </a:r>
          </a:p>
          <a:p>
            <a:pPr algn="l" marL="274320" indent="-274320">
              <a:spcBef>
                <a:spcPts val="400"/>
              </a:spcBef>
              <a:buFont typeface="Arial"/>
              <a:buChar char="•"/>
            </a:pPr>
            <a:r>
              <a:rPr sz="1400" b="0" i="0">
                <a:solidFill>
                  <a:srgbClr val="000000"/>
                </a:solidFill>
                <a:latin typeface="Arial"/>
              </a:rPr>
              <a:t>Money stored as integer paise and used as Decimal, never as float</a:t>
            </a:r>
          </a:p>
          <a:p>
            <a:pPr algn="l" marL="274320" indent="-274320">
              <a:spcBef>
                <a:spcPts val="400"/>
              </a:spcBef>
              <a:buFont typeface="Arial"/>
              <a:buChar char="•"/>
            </a:pPr>
            <a:r>
              <a:rPr sz="1400" b="0" i="0">
                <a:solidFill>
                  <a:srgbClr val="000000"/>
                </a:solidFill>
                <a:latin typeface="Arial"/>
              </a:rPr>
              <a:t>Every user table has user_id with ON DELETE CASCADE</a:t>
            </a:r>
          </a:p>
        </p:txBody>
      </p:sp>
      <p:sp>
        <p:nvSpPr>
          <p:cNvPr id="5" name="TextBox 4"/>
          <p:cNvSpPr txBox="1"/>
          <p:nvPr/>
        </p:nvSpPr>
        <p:spPr>
          <a:xfrm>
            <a:off x="6172200" y="1508760"/>
            <a:ext cx="5468112" cy="1828800"/>
          </a:xfrm>
          <a:prstGeom prst="rect">
            <a:avLst/>
          </a:prstGeom>
          <a:noFill/>
        </p:spPr>
        <p:txBody>
          <a:bodyPr wrap="square" anchor="t" lIns="45720" rIns="45720" tIns="27432" bIns="27432">
            <a:noAutofit/>
          </a:bodyPr>
          <a:lstStyle/>
          <a:p>
            <a:pPr algn="l" marL="274320" indent="-274320">
              <a:spcBef>
                <a:spcPts val="400"/>
              </a:spcBef>
              <a:buFont typeface="Arial"/>
              <a:buChar char="•"/>
            </a:pPr>
            <a:r>
              <a:rPr sz="1400" b="0" i="0">
                <a:solidFill>
                  <a:srgbClr val="000000"/>
                </a:solidFill>
                <a:latin typeface="Arial"/>
              </a:rPr>
              <a:t>Transactions store origin, is_transfer and category_source with a confidence</a:t>
            </a:r>
          </a:p>
          <a:p>
            <a:pPr algn="l" marL="274320" indent="-274320">
              <a:spcBef>
                <a:spcPts val="400"/>
              </a:spcBef>
              <a:buFont typeface="Arial"/>
              <a:buChar char="•"/>
            </a:pPr>
            <a:r>
              <a:rPr sz="1400" b="0" i="0">
                <a:solidFill>
                  <a:srgbClr val="000000"/>
                </a:solidFill>
                <a:latin typeface="Arial"/>
              </a:rPr>
              <a:t>Message text is Fernet-encrypted and purged after the retention period</a:t>
            </a:r>
          </a:p>
          <a:p>
            <a:pPr algn="l" marL="274320" indent="-274320">
              <a:spcBef>
                <a:spcPts val="400"/>
              </a:spcBef>
              <a:buFont typeface="Arial"/>
              <a:buChar char="•"/>
            </a:pPr>
            <a:r>
              <a:rPr sz="1400" b="0" i="0">
                <a:solidFill>
                  <a:srgbClr val="000000"/>
                </a:solidFill>
                <a:latin typeface="Arial"/>
              </a:rPr>
              <a:t>consent_events is append-only; the product catalogue is shared</a:t>
            </a:r>
          </a:p>
        </p:txBody>
      </p:sp>
      <p:graphicFrame>
        <p:nvGraphicFramePr>
          <p:cNvPr id="6" name="Table 5"/>
          <p:cNvGraphicFramePr>
            <a:graphicFrameLocks noGrp="1"/>
          </p:cNvGraphicFramePr>
          <p:nvPr/>
        </p:nvGraphicFramePr>
        <p:xfrm>
          <a:off x="548640" y="3246120"/>
          <a:ext cx="11091672" cy="1847088"/>
        </p:xfrm>
        <a:graphic>
          <a:graphicData uri="http://schemas.openxmlformats.org/drawingml/2006/table">
            <a:tbl>
              <a:tblPr firstRow="1" bandRow="0">
                <a:tableStyleId>{5940675A-B579-460E-94D1-54222C63F5DA}</a:tableStyleId>
              </a:tblPr>
              <a:tblGrid>
                <a:gridCol w="1554480"/>
                <a:gridCol w="1005840"/>
                <a:gridCol w="8531352"/>
              </a:tblGrid>
              <a:tr h="384048">
                <a:tc>
                  <a:txBody>
                    <a:bodyPr wrap="square"/>
                    <a:lstStyle/>
                    <a:p>
                      <a:pPr algn="l">
                        <a:spcBef>
                          <a:spcPts val="0"/>
                        </a:spcBef>
                        <a:buNone/>
                      </a:pPr>
                      <a:r>
                        <a:rPr sz="1300" b="1" i="0">
                          <a:solidFill>
                            <a:srgbClr val="000000"/>
                          </a:solidFill>
                          <a:latin typeface="Arial"/>
                        </a:rPr>
                        <a:t>Domain</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300" b="1" i="0">
                          <a:solidFill>
                            <a:srgbClr val="000000"/>
                          </a:solidFill>
                          <a:latin typeface="Arial"/>
                        </a:rPr>
                        <a:t>Tables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300" b="1" i="0">
                          <a:solidFill>
                            <a:srgbClr val="000000"/>
                          </a:solidFill>
                          <a:latin typeface="Arial"/>
                        </a:rPr>
                        <a:t>Table names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65760">
                <a:tc>
                  <a:txBody>
                    <a:bodyPr wrap="square"/>
                    <a:lstStyle/>
                    <a:p>
                      <a:pPr algn="l">
                        <a:spcBef>
                          <a:spcPts val="0"/>
                        </a:spcBef>
                        <a:buNone/>
                      </a:pPr>
                      <a:r>
                        <a:rPr sz="1300" b="1" i="0">
                          <a:solidFill>
                            <a:srgbClr val="000000"/>
                          </a:solidFill>
                          <a:latin typeface="Arial"/>
                        </a:rPr>
                        <a:t>Core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users, refresh_tokens, jobs, model_artifacts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a:rPr>
                        <a:t>Capture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5</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data_sources, consent_events, ingested_messages, upcoming_payments, balance_snapshots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a:rPr>
                        <a:t>Finance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17</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accounts, categories, merchants, merchant_aliases, category_rules, transactions, transaction_items, receipts, import_batches, budgets, goals, subscriptions, anomalies, insights, forecasts, forecast_metrics, chat_messages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a:rPr>
                        <a:t>Smart Picks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7</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product_sources, crawl_runs, products, product_price_history, wishlist_items, affordability_snapshots, product_recommendations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Results</a:t>
            </a:r>
          </a:p>
        </p:txBody>
      </p:sp>
      <p:graphicFrame>
        <p:nvGraphicFramePr>
          <p:cNvPr id="3" name="Chart 2"/>
          <p:cNvGraphicFramePr>
            <a:graphicFrameLocks noGrp="1"/>
          </p:cNvGraphicFramePr>
          <p:nvPr/>
        </p:nvGraphicFramePr>
        <p:xfrm>
          <a:off x="548640" y="1188720"/>
          <a:ext cx="5394960" cy="3566160"/>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6263640" y="1188720"/>
          <a:ext cx="5376672" cy="3127248"/>
        </p:xfrm>
        <a:graphic>
          <a:graphicData uri="http://schemas.openxmlformats.org/drawingml/2006/table">
            <a:tbl>
              <a:tblPr firstRow="1" bandRow="0">
                <a:tableStyleId>{5940675A-B579-460E-94D1-54222C63F5DA}</a:tableStyleId>
              </a:tblPr>
              <a:tblGrid>
                <a:gridCol w="3730752"/>
                <a:gridCol w="1645920"/>
              </a:tblGrid>
              <a:tr h="384048">
                <a:tc>
                  <a:txBody>
                    <a:bodyPr wrap="square"/>
                    <a:lstStyle/>
                    <a:p>
                      <a:pPr algn="l">
                        <a:spcBef>
                          <a:spcPts val="0"/>
                        </a:spcBef>
                        <a:buNone/>
                      </a:pPr>
                      <a:r>
                        <a:rPr sz="1300" b="1" i="0">
                          <a:solidFill>
                            <a:srgbClr val="000000"/>
                          </a:solidFill>
                          <a:latin typeface="Arial"/>
                        </a:rPr>
                        <a:t>Metric</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300" b="1" i="0">
                          <a:solidFill>
                            <a:srgbClr val="000000"/>
                          </a:solidFill>
                          <a:latin typeface="Arial"/>
                        </a:rPr>
                        <a:t>Result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57200">
                <a:tc>
                  <a:txBody>
                    <a:bodyPr wrap="square"/>
                    <a:lstStyle/>
                    <a:p>
                      <a:pPr algn="l">
                        <a:spcBef>
                          <a:spcPts val="0"/>
                        </a:spcBef>
                        <a:buNone/>
                      </a:pPr>
                      <a:r>
                        <a:rPr sz="1300" b="0" i="0">
                          <a:solidFill>
                            <a:srgbClr val="000000"/>
                          </a:solidFill>
                          <a:latin typeface="Arial"/>
                        </a:rPr>
                        <a:t>Message-type macro F1 (held-out test split)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100%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a:rPr>
                        <a:t>Type accuracy on hand-written challenge set (amounts: 100%)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96.6%</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a:rPr>
                        <a:t>De-duplication precision / recall (SMS + e-mail)</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100% / 100%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a:rPr>
                        <a:t>Category accuracy on captured payments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99.8%</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a:rPr>
                        <a:t>Coach intent accuracy (held-out paraphrases)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84.6%</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a:rPr>
                        <a:t>Smart Picks precision@10 vs most-reviewed baseline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a:rPr>
                        <a:t>100% vs 80%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5" name="TextBox 4"/>
          <p:cNvSpPr txBox="1"/>
          <p:nvPr/>
        </p:nvSpPr>
        <p:spPr>
          <a:xfrm>
            <a:off x="548640" y="4892040"/>
            <a:ext cx="11091672" cy="1051560"/>
          </a:xfrm>
          <a:prstGeom prst="rect">
            <a:avLst/>
          </a:prstGeom>
          <a:noFill/>
        </p:spPr>
        <p:txBody>
          <a:bodyPr wrap="square" anchor="t" lIns="45720" rIns="45720" tIns="27432" bIns="27432">
            <a:noAutofit/>
          </a:bodyPr>
          <a:lstStyle/>
          <a:p>
            <a:pPr algn="l" marL="274320" indent="-274320">
              <a:spcBef>
                <a:spcPts val="200"/>
              </a:spcBef>
              <a:buFont typeface="Arial"/>
              <a:buChar char="•"/>
            </a:pPr>
            <a:r>
              <a:rPr sz="1300" b="0" i="0">
                <a:solidFill>
                  <a:srgbClr val="000000"/>
                </a:solidFill>
                <a:latin typeface="Arial"/>
              </a:rPr>
              <a:t>Using the known payment schedule cuts forecast error by 85%; Prophet improves it by about 3% more.</a:t>
            </a:r>
          </a:p>
          <a:p>
            <a:pPr algn="l" marL="274320" indent="-274320">
              <a:spcBef>
                <a:spcPts val="200"/>
              </a:spcBef>
              <a:buFont typeface="Arial"/>
              <a:buChar char="•"/>
            </a:pPr>
            <a:r>
              <a:rPr sz="1300" b="0" i="0">
                <a:solidFill>
                  <a:srgbClr val="000000"/>
                </a:solidFill>
                <a:latin typeface="Arial"/>
              </a:rPr>
              <a:t>WAPE is used instead of MAPE because the daily net flow often crosses zero.</a:t>
            </a:r>
          </a:p>
          <a:p>
            <a:pPr algn="l" marL="274320" indent="-274320">
              <a:spcBef>
                <a:spcPts val="200"/>
              </a:spcBef>
              <a:buFont typeface="Arial"/>
              <a:buChar char="•"/>
            </a:pPr>
            <a:r>
              <a:rPr sz="1300" b="0" i="0">
                <a:solidFill>
                  <a:srgbClr val="000000"/>
                </a:solidFill>
                <a:latin typeface="Arial"/>
              </a:rPr>
              <a:t>Measured on 10 Oct 2026 (see README). Demo data is regenerated daily, so the numbers can shift slightly.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Testing and Validation</a:t>
            </a:r>
          </a:p>
        </p:txBody>
      </p:sp>
      <p:graphicFrame>
        <p:nvGraphicFramePr>
          <p:cNvPr id="3" name="Table 2"/>
          <p:cNvGraphicFramePr>
            <a:graphicFrameLocks noGrp="1"/>
          </p:cNvGraphicFramePr>
          <p:nvPr/>
        </p:nvGraphicFramePr>
        <p:xfrm>
          <a:off x="548640" y="1188720"/>
          <a:ext cx="11091672" cy="1920240"/>
        </p:xfrm>
        <a:graphic>
          <a:graphicData uri="http://schemas.openxmlformats.org/drawingml/2006/table">
            <a:tbl>
              <a:tblPr firstRow="1" bandRow="0">
                <a:tableStyleId>{5940675A-B579-460E-94D1-54222C63F5DA}</a:tableStyleId>
              </a:tblPr>
              <a:tblGrid>
                <a:gridCol w="3566160"/>
                <a:gridCol w="1737360"/>
                <a:gridCol w="5788152"/>
              </a:tblGrid>
              <a:tr h="384048">
                <a:tc>
                  <a:txBody>
                    <a:bodyPr wrap="square"/>
                    <a:lstStyle/>
                    <a:p>
                      <a:pPr algn="l">
                        <a:spcBef>
                          <a:spcPts val="0"/>
                        </a:spcBef>
                        <a:buNone/>
                      </a:pPr>
                      <a:r>
                        <a:rPr sz="1400" b="1" i="0">
                          <a:solidFill>
                            <a:srgbClr val="000000"/>
                          </a:solidFill>
                          <a:latin typeface="Arial"/>
                        </a:rPr>
                        <a:t>Test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400" b="1" i="0">
                          <a:solidFill>
                            <a:srgbClr val="000000"/>
                          </a:solidFill>
                          <a:latin typeface="Arial"/>
                        </a:rPr>
                        <a:t>Count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a:rPr>
                        <a:t>Details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84048">
                <a:tc>
                  <a:txBody>
                    <a:bodyPr wrap="square"/>
                    <a:lstStyle/>
                    <a:p>
                      <a:pPr algn="l">
                        <a:spcBef>
                          <a:spcPts val="0"/>
                        </a:spcBef>
                        <a:buNone/>
                      </a:pPr>
                      <a:r>
                        <a:rPr sz="1400" b="0" i="0">
                          <a:solidFill>
                            <a:srgbClr val="000000"/>
                          </a:solidFill>
                          <a:latin typeface="Arial"/>
                        </a:rPr>
                        <a:t>Backend tests (pytest + Hypothesis)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a:rPr>
                        <a:t>59 / 59 pass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Re-run on 14 Oct 2026, took 29.8 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a:rPr>
                        <a:t>End-to-end tests (Playwright)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a:rPr>
                        <a:t>14</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Walk through the full demo script in a real browser</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a:rPr>
                        <a:t>Property-based test cases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a:rPr>
                        <a:t>300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Random cases show Buy now never breaks the safety buffer</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a:rPr>
                        <a:t>Forecast backtest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a:rPr>
                        <a:t>6 x 30 days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a:rPr>
                        <a:t>Rolling-origin backtest windows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4" name="TextBox 3"/>
          <p:cNvSpPr txBox="1"/>
          <p:nvPr/>
        </p:nvSpPr>
        <p:spPr>
          <a:xfrm>
            <a:off x="548640" y="3291840"/>
            <a:ext cx="5486400" cy="365760"/>
          </a:xfrm>
          <a:prstGeom prst="rect">
            <a:avLst/>
          </a:prstGeom>
          <a:noFill/>
        </p:spPr>
        <p:txBody>
          <a:bodyPr wrap="square" anchor="t" lIns="45720" rIns="45720" tIns="27432" bIns="27432">
            <a:noAutofit/>
          </a:bodyPr>
          <a:lstStyle/>
          <a:p>
            <a:pPr algn="l">
              <a:spcBef>
                <a:spcPts val="0"/>
              </a:spcBef>
              <a:buNone/>
            </a:pPr>
            <a:r>
              <a:rPr sz="1600" b="1" i="0">
                <a:solidFill>
                  <a:srgbClr val="002060"/>
                </a:solidFill>
                <a:latin typeface="Arial"/>
              </a:rPr>
              <a:t>Backend tests cover</a:t>
            </a:r>
          </a:p>
        </p:txBody>
      </p:sp>
      <p:sp>
        <p:nvSpPr>
          <p:cNvPr id="5" name="TextBox 4"/>
          <p:cNvSpPr txBox="1"/>
          <p:nvPr/>
        </p:nvSpPr>
        <p:spPr>
          <a:xfrm>
            <a:off x="548640" y="3611880"/>
            <a:ext cx="5440680" cy="2377440"/>
          </a:xfrm>
          <a:prstGeom prst="rect">
            <a:avLst/>
          </a:prstGeom>
          <a:noFill/>
        </p:spPr>
        <p:txBody>
          <a:bodyPr wrap="square" anchor="t" lIns="45720" rIns="45720" tIns="27432" bIns="27432">
            <a:noAutofit/>
          </a:bodyPr>
          <a:lstStyle/>
          <a:p>
            <a:pPr algn="l" marL="274320" indent="-274320">
              <a:spcBef>
                <a:spcPts val="700"/>
              </a:spcBef>
              <a:buFont typeface="Arial"/>
              <a:buChar char="•"/>
            </a:pPr>
            <a:r>
              <a:rPr sz="1500" b="0" i="0">
                <a:solidFill>
                  <a:srgbClr val="000000"/>
                </a:solidFill>
                <a:latin typeface="Arial"/>
              </a:rPr>
              <a:t>Money handling and message parsing (known, unseen and challenge formats)</a:t>
            </a:r>
          </a:p>
          <a:p>
            <a:pPr algn="l" marL="274320" indent="-274320">
              <a:spcBef>
                <a:spcPts val="700"/>
              </a:spcBef>
              <a:buFont typeface="Arial"/>
              <a:buChar char="•"/>
            </a:pPr>
            <a:r>
              <a:rPr sz="1500" b="0" i="0">
                <a:solidFill>
                  <a:srgbClr val="000000"/>
                </a:solidFill>
                <a:latin typeface="Arial"/>
              </a:rPr>
              <a:t>Pipeline accuracy against ground truth: dedup, transfers, categories</a:t>
            </a:r>
          </a:p>
          <a:p>
            <a:pPr algn="l" marL="274320" indent="-274320">
              <a:spcBef>
                <a:spcPts val="700"/>
              </a:spcBef>
              <a:buFont typeface="Arial"/>
              <a:buChar char="•"/>
            </a:pPr>
            <a:r>
              <a:rPr sz="1500" b="0" i="0">
                <a:solidFill>
                  <a:srgbClr val="000000"/>
                </a:solidFill>
                <a:latin typeface="Arial"/>
              </a:rPr>
              <a:t>Consent: nothing is read without it; pause, revoke, delete data</a:t>
            </a:r>
          </a:p>
          <a:p>
            <a:pPr algn="l" marL="274320" indent="-274320">
              <a:spcBef>
                <a:spcPts val="700"/>
              </a:spcBef>
              <a:buFont typeface="Arial"/>
              <a:buChar char="•"/>
            </a:pPr>
            <a:r>
              <a:rPr sz="1500" b="0" i="0">
                <a:solidFill>
                  <a:srgbClr val="000000"/>
                </a:solidFill>
                <a:latin typeface="Arial"/>
              </a:rPr>
              <a:t>API flows: auth, rules, preferences, rate limit, account deletion</a:t>
            </a:r>
          </a:p>
          <a:p>
            <a:pPr algn="l" marL="274320" indent="-274320">
              <a:spcBef>
                <a:spcPts val="700"/>
              </a:spcBef>
              <a:buFont typeface="Arial"/>
              <a:buChar char="•"/>
            </a:pPr>
            <a:r>
              <a:rPr sz="1500" b="0" i="0">
                <a:solidFill>
                  <a:srgbClr val="000000"/>
                </a:solidFill>
                <a:latin typeface="Arial"/>
              </a:rPr>
              <a:t>Tax for both years; forecast backtest and fallback; picks</a:t>
            </a:r>
          </a:p>
        </p:txBody>
      </p:sp>
      <p:sp>
        <p:nvSpPr>
          <p:cNvPr id="6" name="TextBox 5"/>
          <p:cNvSpPr txBox="1"/>
          <p:nvPr/>
        </p:nvSpPr>
        <p:spPr>
          <a:xfrm>
            <a:off x="6172200" y="3291840"/>
            <a:ext cx="5486400" cy="365760"/>
          </a:xfrm>
          <a:prstGeom prst="rect">
            <a:avLst/>
          </a:prstGeom>
          <a:noFill/>
        </p:spPr>
        <p:txBody>
          <a:bodyPr wrap="square" anchor="t" lIns="45720" rIns="45720" tIns="27432" bIns="27432">
            <a:noAutofit/>
          </a:bodyPr>
          <a:lstStyle/>
          <a:p>
            <a:pPr algn="l">
              <a:spcBef>
                <a:spcPts val="0"/>
              </a:spcBef>
              <a:buNone/>
            </a:pPr>
            <a:r>
              <a:rPr sz="1600" b="1" i="0">
                <a:solidFill>
                  <a:srgbClr val="002060"/>
                </a:solidFill>
                <a:latin typeface="Arial"/>
              </a:rPr>
              <a:t>End-to-end and model validation</a:t>
            </a:r>
          </a:p>
        </p:txBody>
      </p:sp>
      <p:sp>
        <p:nvSpPr>
          <p:cNvPr id="7" name="TextBox 6"/>
          <p:cNvSpPr txBox="1"/>
          <p:nvPr/>
        </p:nvSpPr>
        <p:spPr>
          <a:xfrm>
            <a:off x="6172200" y="3611880"/>
            <a:ext cx="5468112" cy="2377440"/>
          </a:xfrm>
          <a:prstGeom prst="rect">
            <a:avLst/>
          </a:prstGeom>
          <a:noFill/>
        </p:spPr>
        <p:txBody>
          <a:bodyPr wrap="square" anchor="t" lIns="45720" rIns="45720" tIns="27432" bIns="27432">
            <a:noAutofit/>
          </a:bodyPr>
          <a:lstStyle/>
          <a:p>
            <a:pPr algn="l" marL="274320" indent="-274320">
              <a:spcBef>
                <a:spcPts val="700"/>
              </a:spcBef>
              <a:buFont typeface="Arial"/>
              <a:buChar char="•"/>
            </a:pPr>
            <a:r>
              <a:rPr sz="1500" b="0" i="0">
                <a:solidFill>
                  <a:srgbClr val="000000"/>
                </a:solidFill>
                <a:latin typeface="Arial"/>
              </a:rPr>
              <a:t>New user: register, consent, sample inbox, onboarding</a:t>
            </a:r>
          </a:p>
          <a:p>
            <a:pPr algn="l" marL="274320" indent="-274320">
              <a:spcBef>
                <a:spcPts val="700"/>
              </a:spcBef>
              <a:buFont typeface="Arial"/>
              <a:buChar char="•"/>
            </a:pPr>
            <a:r>
              <a:rPr sz="1500" b="0" i="0">
                <a:solidFill>
                  <a:srgbClr val="000000"/>
                </a:solidFill>
                <a:latin typeface="Arial"/>
              </a:rPr>
              <a:t>Simulated SMS, OTP and promo; receipt e-mail enrichment; OCR</a:t>
            </a:r>
          </a:p>
          <a:p>
            <a:pPr algn="l" marL="274320" indent="-274320">
              <a:spcBef>
                <a:spcPts val="700"/>
              </a:spcBef>
              <a:buFont typeface="Arial"/>
              <a:buChar char="•"/>
            </a:pPr>
            <a:r>
              <a:rPr sz="1500" b="0" i="0">
                <a:solidFill>
                  <a:srgbClr val="000000"/>
                </a:solidFill>
                <a:latin typeface="Arial"/>
              </a:rPr>
              <a:t>Forecast what-if, subscriptions, tax PDF, coach, picks, crawl</a:t>
            </a:r>
          </a:p>
          <a:p>
            <a:pPr algn="l" marL="274320" indent="-274320">
              <a:spcBef>
                <a:spcPts val="700"/>
              </a:spcBef>
              <a:buFont typeface="Arial"/>
              <a:buChar char="•"/>
            </a:pPr>
            <a:r>
              <a:rPr sz="1500" b="0" i="0">
                <a:solidFill>
                  <a:srgbClr val="000000"/>
                </a:solidFill>
                <a:latin typeface="Arial"/>
              </a:rPr>
              <a:t>Revoke and delete data; reset the demo</a:t>
            </a:r>
          </a:p>
          <a:p>
            <a:pPr algn="l" marL="274320" indent="-274320">
              <a:spcBef>
                <a:spcPts val="700"/>
              </a:spcBef>
              <a:buFont typeface="Arial"/>
              <a:buChar char="•"/>
            </a:pPr>
            <a:r>
              <a:rPr sz="1500" b="0" i="0">
                <a:solidFill>
                  <a:srgbClr val="000000"/>
                </a:solidFill>
                <a:latin typeface="Arial"/>
              </a:rPr>
              <a:t>Models: held-out splits, unseen banks, challenge set, precision@10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Challenges and Possible Improvements</a:t>
            </a:r>
          </a:p>
        </p:txBody>
      </p:sp>
      <p:sp>
        <p:nvSpPr>
          <p:cNvPr id="3" name="TextBox 2"/>
          <p:cNvSpPr txBox="1"/>
          <p:nvPr/>
        </p:nvSpPr>
        <p:spPr>
          <a:xfrm>
            <a:off x="548640" y="1143000"/>
            <a:ext cx="603504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Challenges faced</a:t>
            </a:r>
          </a:p>
        </p:txBody>
      </p:sp>
      <p:graphicFrame>
        <p:nvGraphicFramePr>
          <p:cNvPr id="4" name="Table 3"/>
          <p:cNvGraphicFramePr>
            <a:graphicFrameLocks noGrp="1"/>
          </p:cNvGraphicFramePr>
          <p:nvPr/>
        </p:nvGraphicFramePr>
        <p:xfrm>
          <a:off x="548640" y="1508760"/>
          <a:ext cx="6126480" cy="3813048"/>
        </p:xfrm>
        <a:graphic>
          <a:graphicData uri="http://schemas.openxmlformats.org/drawingml/2006/table">
            <a:tbl>
              <a:tblPr firstRow="1" bandRow="0">
                <a:tableStyleId>{5940675A-B579-460E-94D1-54222C63F5DA}</a:tableStyleId>
              </a:tblPr>
              <a:tblGrid>
                <a:gridCol w="2011680"/>
                <a:gridCol w="4114800"/>
              </a:tblGrid>
              <a:tr h="384048">
                <a:tc>
                  <a:txBody>
                    <a:bodyPr wrap="square"/>
                    <a:lstStyle/>
                    <a:p>
                      <a:pPr algn="l">
                        <a:spcBef>
                          <a:spcPts val="0"/>
                        </a:spcBef>
                        <a:buNone/>
                      </a:pPr>
                      <a:r>
                        <a:rPr sz="1300" b="1" i="0">
                          <a:solidFill>
                            <a:srgbClr val="000000"/>
                          </a:solidFill>
                          <a:latin typeface="Arial"/>
                        </a:rPr>
                        <a:t>Challenge</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300" b="1" i="0">
                          <a:solidFill>
                            <a:srgbClr val="000000"/>
                          </a:solidFill>
                          <a:latin typeface="Arial"/>
                        </a:rPr>
                        <a:t>How we solved it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685800">
                <a:tc>
                  <a:txBody>
                    <a:bodyPr wrap="square"/>
                    <a:lstStyle/>
                    <a:p>
                      <a:pPr algn="l">
                        <a:spcBef>
                          <a:spcPts val="0"/>
                        </a:spcBef>
                        <a:buNone/>
                      </a:pPr>
                      <a:r>
                        <a:rPr sz="1300" b="1" i="0">
                          <a:solidFill>
                            <a:srgbClr val="000000"/>
                          </a:solidFill>
                          <a:latin typeface="Arial"/>
                        </a:rPr>
                        <a:t>Requirements changed after Review 0</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Re-planned around consent-based capture and Smart Picks; one process instead of Docker + PostgreSQL</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a:rPr>
                        <a:t>One payment, two messages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Reference matching and scoring; e-mail receipts add details to the SMS transaction instead of duplicating it</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a:rPr>
                        <a:t>SQLite allows only one writer</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Background jobs join the request's transaction and start after it commits (regression test added)</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a:rPr>
                        <a:t>Judging forecast quality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Rolling backtest against two baselines; WAPE instead of MAPE; automatic fallback</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a:rPr>
                        <a:t>Crawling responsibly</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a:rPr>
                        <a:t>robots.txt and Crawl-delay are followed; demo stores only; no affiliate links</a:t>
                      </a: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5" name="TextBox 4"/>
          <p:cNvSpPr txBox="1"/>
          <p:nvPr/>
        </p:nvSpPr>
        <p:spPr>
          <a:xfrm>
            <a:off x="6949440" y="1143000"/>
            <a:ext cx="4663440" cy="365760"/>
          </a:xfrm>
          <a:prstGeom prst="rect">
            <a:avLst/>
          </a:prstGeom>
          <a:noFill/>
        </p:spPr>
        <p:txBody>
          <a:bodyPr wrap="square" anchor="t" lIns="45720" rIns="45720" tIns="27432" bIns="27432">
            <a:noAutofit/>
          </a:bodyPr>
          <a:lstStyle/>
          <a:p>
            <a:pPr algn="l">
              <a:spcBef>
                <a:spcPts val="0"/>
              </a:spcBef>
              <a:buNone/>
            </a:pPr>
            <a:r>
              <a:rPr sz="1700" b="1" i="0">
                <a:solidFill>
                  <a:srgbClr val="002060"/>
                </a:solidFill>
                <a:latin typeface="Arial"/>
              </a:rPr>
              <a:t>Possible improvements</a:t>
            </a:r>
          </a:p>
        </p:txBody>
      </p:sp>
      <p:sp>
        <p:nvSpPr>
          <p:cNvPr id="6" name="TextBox 5"/>
          <p:cNvSpPr txBox="1"/>
          <p:nvPr/>
        </p:nvSpPr>
        <p:spPr>
          <a:xfrm>
            <a:off x="6949440" y="1508760"/>
            <a:ext cx="4690872" cy="4434840"/>
          </a:xfrm>
          <a:prstGeom prst="rect">
            <a:avLst/>
          </a:prstGeom>
          <a:noFill/>
        </p:spPr>
        <p:txBody>
          <a:bodyPr wrap="square" anchor="t" lIns="45720" rIns="45720" tIns="27432" bIns="27432">
            <a:noAutofit/>
          </a:bodyPr>
          <a:lstStyle/>
          <a:p>
            <a:pPr algn="l" marL="274320" indent="-274320">
              <a:spcBef>
                <a:spcPts val="800"/>
              </a:spcBef>
              <a:buFont typeface="Arial"/>
              <a:buChar char="•"/>
            </a:pPr>
            <a:r>
              <a:rPr sz="1400" b="0" i="0">
                <a:solidFill>
                  <a:srgbClr val="000000"/>
                </a:solidFill>
                <a:latin typeface="Arial"/>
              </a:rPr>
              <a:t>A rotating log file and request IDs (logs only go to the terminal now)</a:t>
            </a:r>
          </a:p>
          <a:p>
            <a:pPr algn="l" marL="274320" indent="-274320">
              <a:spcBef>
                <a:spcPts val="800"/>
              </a:spcBef>
              <a:buFont typeface="Arial"/>
              <a:buChar char="•"/>
            </a:pPr>
            <a:r>
              <a:rPr sz="1400" b="0" i="0">
                <a:solidFill>
                  <a:srgbClr val="000000"/>
                </a:solidFill>
                <a:latin typeface="Arial"/>
              </a:rPr>
              <a:t>Persistent per-account login limits, password reset and Secure cookies over HTTPS</a:t>
            </a:r>
          </a:p>
          <a:p>
            <a:pPr algn="l" marL="274320" indent="-274320">
              <a:spcBef>
                <a:spcPts val="800"/>
              </a:spcBef>
              <a:buFont typeface="Arial"/>
              <a:buChar char="•"/>
            </a:pPr>
            <a:r>
              <a:rPr sz="1400" b="0" i="0">
                <a:solidFill>
                  <a:srgbClr val="000000"/>
                </a:solidFill>
                <a:latin typeface="Arial"/>
              </a:rPr>
              <a:t>Ask users for consent again when the notice text changes</a:t>
            </a:r>
          </a:p>
          <a:p>
            <a:pPr algn="l" marL="274320" indent="-274320">
              <a:spcBef>
                <a:spcPts val="800"/>
              </a:spcBef>
              <a:buFont typeface="Arial"/>
              <a:buChar char="•"/>
            </a:pPr>
            <a:r>
              <a:rPr sz="1400" b="0" i="0">
                <a:solidFill>
                  <a:srgbClr val="000000"/>
                </a:solidFill>
                <a:latin typeface="Arial"/>
              </a:rPr>
              <a:t>Tax: marginal relief on surcharge; allow clearing profile fields</a:t>
            </a:r>
          </a:p>
          <a:p>
            <a:pPr algn="l" marL="274320" indent="-274320">
              <a:spcBef>
                <a:spcPts val="800"/>
              </a:spcBef>
              <a:buFont typeface="Arial"/>
              <a:buChar char="•"/>
            </a:pPr>
            <a:r>
              <a:rPr sz="1400" b="0" i="0">
                <a:solidFill>
                  <a:srgbClr val="000000"/>
                </a:solidFill>
                <a:latin typeface="Arial"/>
              </a:rPr>
              <a:t>UI: fix the subscription status filter; explain an empty backtest</a:t>
            </a:r>
          </a:p>
          <a:p>
            <a:pPr algn="l" marL="274320" indent="-274320">
              <a:spcBef>
                <a:spcPts val="800"/>
              </a:spcBef>
              <a:buFont typeface="Arial"/>
              <a:buChar char="•"/>
            </a:pPr>
            <a:r>
              <a:rPr sz="1400" b="0" i="0">
                <a:solidFill>
                  <a:srgbClr val="000000"/>
                </a:solidFill>
                <a:latin typeface="Arial"/>
              </a:rPr>
              <a:t>Real data sources through Account Aggregator or Gmail with OAuth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Conclusion and Future Scope</a:t>
            </a:r>
          </a:p>
        </p:txBody>
      </p:sp>
      <p:sp>
        <p:nvSpPr>
          <p:cNvPr id="3" name="TextBox 2"/>
          <p:cNvSpPr txBox="1"/>
          <p:nvPr/>
        </p:nvSpPr>
        <p:spPr>
          <a:xfrm>
            <a:off x="54864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Conclusion</a:t>
            </a:r>
          </a:p>
        </p:txBody>
      </p:sp>
      <p:sp>
        <p:nvSpPr>
          <p:cNvPr id="4" name="TextBox 3"/>
          <p:cNvSpPr txBox="1"/>
          <p:nvPr/>
        </p:nvSpPr>
        <p:spPr>
          <a:xfrm>
            <a:off x="548640" y="1600200"/>
            <a:ext cx="5394960" cy="3566160"/>
          </a:xfrm>
          <a:prstGeom prst="rect">
            <a:avLst/>
          </a:prstGeom>
          <a:noFill/>
        </p:spPr>
        <p:txBody>
          <a:bodyPr wrap="square" anchor="t" lIns="45720" rIns="45720" tIns="27432" bIns="27432">
            <a:noAutofit/>
          </a:bodyPr>
          <a:lstStyle/>
          <a:p>
            <a:pPr algn="l" marL="274320" indent="-274320">
              <a:spcBef>
                <a:spcPts val="1000"/>
              </a:spcBef>
              <a:buFont typeface="Arial"/>
              <a:buChar char="•"/>
            </a:pPr>
            <a:r>
              <a:rPr sz="1600" b="0" i="0">
                <a:solidFill>
                  <a:srgbClr val="000000"/>
                </a:solidFill>
                <a:latin typeface="Arial"/>
              </a:rPr>
              <a:t>FinPilot AI turns the messages people already receive into a private, forward-looking view of their money</a:t>
            </a:r>
          </a:p>
          <a:p>
            <a:pPr algn="l" marL="274320" indent="-274320">
              <a:spcBef>
                <a:spcPts val="1000"/>
              </a:spcBef>
              <a:buFont typeface="Arial"/>
              <a:buChar char="•"/>
            </a:pPr>
            <a:r>
              <a:rPr sz="1600" b="0" i="0">
                <a:solidFill>
                  <a:srgbClr val="000000"/>
                </a:solidFill>
                <a:latin typeface="Arial"/>
              </a:rPr>
              <a:t>All nine modules work end to end, offline, from a single command</a:t>
            </a:r>
          </a:p>
          <a:p>
            <a:pPr algn="l" marL="274320" indent="-274320">
              <a:spcBef>
                <a:spcPts val="1000"/>
              </a:spcBef>
              <a:buFont typeface="Arial"/>
              <a:buChar char="•"/>
            </a:pPr>
            <a:r>
              <a:rPr sz="1600" b="0" i="0">
                <a:solidFill>
                  <a:srgbClr val="000000"/>
                </a:solidFill>
                <a:latin typeface="Arial"/>
              </a:rPr>
              <a:t>Consent, purpose limitation, encryption and deletion are built in</a:t>
            </a:r>
          </a:p>
          <a:p>
            <a:pPr algn="l" marL="274320" indent="-274320">
              <a:spcBef>
                <a:spcPts val="1000"/>
              </a:spcBef>
              <a:buFont typeface="Arial"/>
              <a:buChar char="•"/>
            </a:pPr>
            <a:r>
              <a:rPr sz="1600" b="0" i="0">
                <a:solidFill>
                  <a:srgbClr val="000000"/>
                </a:solidFill>
                <a:latin typeface="Arial"/>
              </a:rPr>
              <a:t>Results are measured on test data; 59 backend and 14 end-to-end tests pass</a:t>
            </a:r>
          </a:p>
        </p:txBody>
      </p:sp>
      <p:sp>
        <p:nvSpPr>
          <p:cNvPr id="5" name="TextBox 4"/>
          <p:cNvSpPr txBox="1"/>
          <p:nvPr/>
        </p:nvSpPr>
        <p:spPr>
          <a:xfrm>
            <a:off x="6263640" y="1188720"/>
            <a:ext cx="5486400" cy="365760"/>
          </a:xfrm>
          <a:prstGeom prst="rect">
            <a:avLst/>
          </a:prstGeom>
          <a:noFill/>
        </p:spPr>
        <p:txBody>
          <a:bodyPr wrap="square" anchor="t" lIns="45720" rIns="45720" tIns="27432" bIns="27432">
            <a:noAutofit/>
          </a:bodyPr>
          <a:lstStyle/>
          <a:p>
            <a:pPr algn="l">
              <a:spcBef>
                <a:spcPts val="0"/>
              </a:spcBef>
              <a:buNone/>
            </a:pPr>
            <a:r>
              <a:rPr sz="1800" b="1" i="0">
                <a:solidFill>
                  <a:srgbClr val="002060"/>
                </a:solidFill>
                <a:latin typeface="Arial"/>
              </a:rPr>
              <a:t>Future Scope</a:t>
            </a:r>
          </a:p>
        </p:txBody>
      </p:sp>
      <p:sp>
        <p:nvSpPr>
          <p:cNvPr id="6" name="TextBox 5"/>
          <p:cNvSpPr txBox="1"/>
          <p:nvPr/>
        </p:nvSpPr>
        <p:spPr>
          <a:xfrm>
            <a:off x="6263640" y="1600200"/>
            <a:ext cx="5376672" cy="3566160"/>
          </a:xfrm>
          <a:prstGeom prst="rect">
            <a:avLst/>
          </a:prstGeom>
          <a:noFill/>
        </p:spPr>
        <p:txBody>
          <a:bodyPr wrap="square" anchor="t" lIns="45720" rIns="45720" tIns="27432" bIns="27432">
            <a:noAutofit/>
          </a:bodyPr>
          <a:lstStyle/>
          <a:p>
            <a:pPr algn="l" marL="274320" indent="-274320">
              <a:spcBef>
                <a:spcPts val="1000"/>
              </a:spcBef>
              <a:buFont typeface="Arial"/>
              <a:buChar char="•"/>
            </a:pPr>
            <a:r>
              <a:rPr sz="1600" b="0" i="0">
                <a:solidFill>
                  <a:srgbClr val="000000"/>
                </a:solidFill>
                <a:latin typeface="Arial"/>
              </a:rPr>
              <a:t>Real bank data through India's Account Aggregator framework</a:t>
            </a:r>
          </a:p>
          <a:p>
            <a:pPr algn="l" marL="274320" indent="-274320">
              <a:spcBef>
                <a:spcPts val="1000"/>
              </a:spcBef>
              <a:buFont typeface="Arial"/>
              <a:buChar char="•"/>
            </a:pPr>
            <a:r>
              <a:rPr sz="1600" b="0" i="0">
                <a:solidFill>
                  <a:srgbClr val="000000"/>
                </a:solidFill>
                <a:latin typeface="Arial"/>
              </a:rPr>
              <a:t>An Android companion app that reads SMS with permission</a:t>
            </a:r>
          </a:p>
          <a:p>
            <a:pPr algn="l" marL="274320" indent="-274320">
              <a:spcBef>
                <a:spcPts val="1000"/>
              </a:spcBef>
              <a:buFont typeface="Arial"/>
              <a:buChar char="•"/>
            </a:pPr>
            <a:r>
              <a:rPr sz="1600" b="0" i="0">
                <a:solidFill>
                  <a:srgbClr val="000000"/>
                </a:solidFill>
                <a:latin typeface="Arial"/>
              </a:rPr>
              <a:t>A local LLM for the coach, using the existing ResponseProvider interface</a:t>
            </a:r>
          </a:p>
          <a:p>
            <a:pPr algn="l" marL="274320" indent="-274320">
              <a:spcBef>
                <a:spcPts val="1000"/>
              </a:spcBef>
              <a:buFont typeface="Arial"/>
              <a:buChar char="•"/>
            </a:pPr>
            <a:r>
              <a:rPr sz="1600" b="0" i="0">
                <a:solidFill>
                  <a:srgbClr val="000000"/>
                </a:solidFill>
                <a:latin typeface="Arial"/>
              </a:rPr>
              <a:t>Hosted multi-user version with HTTPS, PostgreSQL and log files</a:t>
            </a:r>
          </a:p>
          <a:p>
            <a:pPr algn="l" marL="274320" indent="-274320">
              <a:spcBef>
                <a:spcPts val="1000"/>
              </a:spcBef>
              <a:buFont typeface="Arial"/>
              <a:buChar char="•"/>
            </a:pPr>
            <a:r>
              <a:rPr sz="1600" b="0" i="0">
                <a:solidFill>
                  <a:srgbClr val="000000"/>
                </a:solidFill>
                <a:latin typeface="Arial"/>
              </a:rPr>
              <a:t>Tie-ups with real stores for Smart Picks; more languages</a:t>
            </a:r>
          </a:p>
        </p:txBody>
      </p:sp>
      <p:sp>
        <p:nvSpPr>
          <p:cNvPr id="7" name="TextBox 6"/>
          <p:cNvSpPr txBox="1"/>
          <p:nvPr/>
        </p:nvSpPr>
        <p:spPr>
          <a:xfrm>
            <a:off x="548640" y="5257800"/>
            <a:ext cx="11091672" cy="548640"/>
          </a:xfrm>
          <a:prstGeom prst="rect">
            <a:avLst/>
          </a:prstGeom>
          <a:noFill/>
        </p:spPr>
        <p:txBody>
          <a:bodyPr wrap="square" anchor="t" lIns="45720" rIns="45720" tIns="27432" bIns="27432">
            <a:noAutofit/>
          </a:bodyPr>
          <a:lstStyle/>
          <a:p>
            <a:pPr algn="ctr">
              <a:spcBef>
                <a:spcPts val="0"/>
              </a:spcBef>
              <a:buNone/>
            </a:pPr>
            <a:r>
              <a:rPr sz="2400" b="1" i="0">
                <a:solidFill>
                  <a:srgbClr val="002060"/>
                </a:solidFill>
                <a:latin typeface="Arial"/>
              </a:rPr>
              <a:t>Thank You! Questions?</a:t>
            </a:r>
          </a:p>
        </p:txBody>
      </p:sp>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4994</Words>
  <Application>WPS Presentation</Application>
  <PresentationFormat>Widescreen</PresentationFormat>
  <Paragraphs>148</Paragraphs>
  <Slides>6</Slides>
  <Notes>27</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0</vt:i4>
      </vt:variant>
      <vt:variant>
        <vt:lpstr>幻灯片标题</vt:lpstr>
      </vt:variant>
      <vt:variant>
        <vt:i4>6</vt:i4>
      </vt:variant>
    </vt:vector>
  </HeadingPairs>
  <TitlesOfParts>
    <vt:vector size="27" baseType="lpstr">
      <vt:lpstr>Arial</vt:lpstr>
      <vt:lpstr>SimSun</vt:lpstr>
      <vt:lpstr>Wingdings</vt:lpstr>
      <vt:lpstr>Verdana</vt:lpstr>
      <vt:lpstr>Aptos Display</vt:lpstr>
      <vt:lpstr>Helvetica Neue</vt:lpstr>
      <vt:lpstr>Times New Roman</vt:lpstr>
      <vt:lpstr>Aptos</vt:lpstr>
      <vt:lpstr>Verdana</vt:lpstr>
      <vt:lpstr>Calibri</vt:lpstr>
      <vt:lpstr>Calibri</vt:lpstr>
      <vt:lpstr>Calibri</vt:lpstr>
      <vt:lpstr>Microsoft YaHei</vt:lpstr>
      <vt:lpstr>汉仪旗黑</vt:lpstr>
      <vt:lpstr>Arial Unicode MS</vt:lpstr>
      <vt:lpstr>Consolas</vt:lpstr>
      <vt:lpstr>Consolas</vt:lpstr>
      <vt:lpstr>Consolas</vt:lpstr>
      <vt:lpstr>苹方-简</vt:lpstr>
      <vt:lpstr>宋体-简</vt:lpstr>
      <vt:lpstr>1_Default Design</vt:lpstr>
      <vt:lpstr>SSN College of Engineering, Kalavakkam - 603110 Department of Information Technology</vt:lpstr>
      <vt:lpstr>Problem Statement</vt:lpstr>
      <vt:lpstr>Proposed Solution</vt:lpstr>
      <vt:lpstr>Block Diagram</vt:lpstr>
      <vt:lpstr>Technology Stack</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FinPilot AI — Project Presentation</dc:title>
  <dc:creator>Jeya Sangavi R, Rahul Akshath Rajendran, Rakshitha S</dc:creator>
  <cp:lastModifiedBy>rahulakshath</cp:lastModifiedBy>
  <cp:revision>110</cp:revision>
  <cp:lastPrinted>2026-07-31T08:58:42Z</cp:lastPrinted>
  <dcterms:created xsi:type="dcterms:W3CDTF">2026-07-31T08:58:42Z</dcterms:created>
  <dcterms:modified xsi:type="dcterms:W3CDTF">2026-07-31T08:58:42Z</dcterms:modified>
  <dc:subject>UIT2739 Full Stack Development Project, SSN College of Engineering</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C74005CF77AE1C8DECF8566A79DFFBB0_42</vt:lpwstr>
  </property>
</Properties>
</file>