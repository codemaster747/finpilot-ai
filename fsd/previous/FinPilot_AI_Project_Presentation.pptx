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
  </p:handoutMasterIdLst>
  <p:sldIdLst>
    <p:sldId id="256" r:id="rId8"/>
    <p:sldId id="257" r:id="rId9"/>
    <p:sldId id="258" r:id="rId7"/>
    <p:sldId id="259" r:id="rId6"/>
    <p:sldId id="260" r:id="rId5"/>
    <p:sldId id="261" r:id="rId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7010400" cy="9296400"/>
  <p:defaultTextStyle>
    <a:defPPr>
      <a:defRPr lang="en-US"/>
    </a:defPPr>
    <a:lvl1pPr algn="l" rtl="0" fontAlgn="base">
      <a:spcBef>
        <a:spcPct val="0"/>
      </a:spcBef>
      <a:spcAft>
        <a:spcPct val="0"/>
      </a:spcAft>
      <a:defRPr sz="20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90204" pitchFamily="34" charset="0"/>
        <a:ea typeface="+mn-ea"/>
        <a:cs typeface="+mn-cs"/>
      </a:defRPr>
    </a:lvl5pPr>
    <a:lvl6pPr marL="2286000" algn="l" defTabSz="914400" rtl="0" eaLnBrk="1" latinLnBrk="0" hangingPunct="1">
      <a:defRPr sz="2000" kern="1200">
        <a:solidFill>
          <a:schemeClr val="tx1"/>
        </a:solidFill>
        <a:latin typeface="Arial" panose="020B0604020202090204" pitchFamily="34" charset="0"/>
        <a:ea typeface="+mn-ea"/>
        <a:cs typeface="+mn-cs"/>
      </a:defRPr>
    </a:lvl6pPr>
    <a:lvl7pPr marL="2743200" algn="l" defTabSz="914400" rtl="0" eaLnBrk="1" latinLnBrk="0" hangingPunct="1">
      <a:defRPr sz="2000" kern="1200">
        <a:solidFill>
          <a:schemeClr val="tx1"/>
        </a:solidFill>
        <a:latin typeface="Arial" panose="020B0604020202090204" pitchFamily="34" charset="0"/>
        <a:ea typeface="+mn-ea"/>
        <a:cs typeface="+mn-cs"/>
      </a:defRPr>
    </a:lvl7pPr>
    <a:lvl8pPr marL="3200400" algn="l" defTabSz="914400" rtl="0" eaLnBrk="1" latinLnBrk="0" hangingPunct="1">
      <a:defRPr sz="2000" kern="1200">
        <a:solidFill>
          <a:schemeClr val="tx1"/>
        </a:solidFill>
        <a:latin typeface="Arial" panose="020B0604020202090204" pitchFamily="34" charset="0"/>
        <a:ea typeface="+mn-ea"/>
        <a:cs typeface="+mn-cs"/>
      </a:defRPr>
    </a:lvl8pPr>
    <a:lvl9pPr marL="3657600" algn="l" defTabSz="914400" rtl="0" eaLnBrk="1" latinLnBrk="0" hangingPunct="1">
      <a:defRPr sz="2000" kern="120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90B0D4"/>
    <a:srgbClr val="B4593C"/>
    <a:srgbClr val="0066CC"/>
    <a:srgbClr val="547B9C"/>
    <a:srgbClr val="C0309A"/>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200"/>
        <p:guide pos="3840"/>
      </p:guideLst>
    </p:cSldViewPr>
  </p:slideViewPr>
  <p:notesViewPr>
    <p:cSldViewPr snapToGrid="0">
      <p:cViewPr>
        <p:scale>
          <a:sx n="1" d="2"/>
          <a:sy n="1" d="2"/>
        </p:scale>
        <p:origin x="0" y="0"/>
      </p:cViewPr>
      <p:guideLst>
        <p:guide orient="horz" pos="2982"/>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54360"/>
                </a:solidFill>
                <a:latin typeface="Arial"/>
              </a:rPr>
              <a:t>Forecast error: mean absolute daily error (₹), 6 rolling 30-day backtests</a:t>
            </a:r>
          </a:p>
        </c:rich>
      </c:tx>
      <c:layout/>
      <c:overlay val="0"/>
    </c:title>
    <c:autoTitleDeleted val="0"/>
    <c:plotArea>
      <c:barChart>
        <c:barDir val="bar"/>
        <c:grouping val="clustered"/>
        <c:ser>
          <c:idx val="0"/>
          <c:order val="0"/>
          <c:tx>
            <c:strRef>
              <c:f>Sheet1!$B$1</c:f>
              <c:strCache>
                <c:ptCount val="1"/>
                <c:pt idx="0">
                  <c:v>Mean absolute daily error (₹)</c:v>
                </c:pt>
              </c:strCache>
            </c:strRef>
          </c:tx>
          <c:spPr>
            <a:solidFill>
              <a:srgbClr val="0079BC"/>
            </a:solidFill>
          </c:spPr>
          <c:dPt>
            <c:idx val="0"/>
            <c:spPr>
              <a:solidFill>
                <a:srgbClr val="9AA5B1"/>
              </a:solidFill>
            </c:spPr>
          </c:dPt>
          <c:dPt>
            <c:idx val="1"/>
            <c:spPr>
              <a:solidFill>
                <a:srgbClr val="5FA3D6"/>
              </a:solidFill>
            </c:spPr>
          </c:dPt>
          <c:dPt>
            <c:idx val="2"/>
            <c:spPr>
              <a:solidFill>
                <a:srgbClr val="154360"/>
              </a:solidFill>
            </c:spPr>
          </c:dPt>
          <c:cat>
            <c:strRef>
              <c:f>Sheet1!$A$2:$A$4</c:f>
              <c:strCache>
                <c:ptCount val="3"/>
                <c:pt idx="0">
                  <c:v>Seasonal naive</c:v>
                </c:pt>
                <c:pt idx="1">
                  <c:v>Naive + known schedule</c:v>
                </c:pt>
                <c:pt idx="2">
                  <c:v>Prophet + known schedule</c:v>
                </c:pt>
              </c:strCache>
            </c:strRef>
          </c:cat>
          <c:val>
            <c:numRef>
              <c:f>Sheet1!$B$2:$B$4</c:f>
              <c:numCache>
                <c:formatCode>General</c:formatCode>
                <c:ptCount val="3"/>
                <c:pt idx="0">
                  <c:v>10067</c:v>
                </c:pt>
                <c:pt idx="1">
                  <c:v>1518</c:v>
                </c:pt>
                <c:pt idx="2">
                  <c:v>1466</c:v>
                </c:pt>
              </c:numCache>
            </c:numRef>
          </c:val>
        </c:ser>
        <c:dLbls>
          <c:numFmt formatCode="&quot;₹&quot;#,##0" sourceLinked="0"/>
          <c:txPr>
            <a:bodyPr/>
            <a:lstStyle/>
            <a:p>
              <a:pPr>
                <a:defRPr sz="1300" b="1">
                  <a:solidFill>
                    <a:srgbClr val="1F29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3E0"/>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13000.0"/>
          <c:min val="0.0"/>
        </c:scaling>
        <c:delete val="0"/>
        <c:axPos val="b"/>
        <c:majorTickMark val="out"/>
        <c:minorTickMark val="none"/>
        <c:tickLblPos val="none"/>
        <c:spPr>
          <a:ln>
            <a:noFill/>
          </a:ln>
        </c:sp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628" cy="464981"/>
          </a:xfrm>
          <a:prstGeom prst="rect">
            <a:avLst/>
          </a:prstGeom>
        </p:spPr>
        <p:txBody>
          <a:bodyPr vert="horz" lIns="92153" tIns="46077" rIns="92153" bIns="46077" rtlCol="0"/>
          <a:lstStyle>
            <a:lvl1pPr algn="l">
              <a:defRPr sz="1200"/>
            </a:lvl1pPr>
          </a:lstStyle>
          <a:p>
            <a:endParaRPr lang="en-US"/>
          </a:p>
        </p:txBody>
      </p:sp>
      <p:sp>
        <p:nvSpPr>
          <p:cNvPr id="3" name="Date Placeholder 2"/>
          <p:cNvSpPr>
            <a:spLocks noGrp="1"/>
          </p:cNvSpPr>
          <p:nvPr>
            <p:ph type="dt" sz="quarter" idx="1"/>
          </p:nvPr>
        </p:nvSpPr>
        <p:spPr>
          <a:xfrm>
            <a:off x="3971173" y="1"/>
            <a:ext cx="3037628" cy="464981"/>
          </a:xfrm>
          <a:prstGeom prst="rect">
            <a:avLst/>
          </a:prstGeom>
        </p:spPr>
        <p:txBody>
          <a:bodyPr vert="horz" lIns="92153" tIns="46077" rIns="92153" bIns="46077" rtlCol="0"/>
          <a:lstStyle>
            <a:lvl1pPr algn="r">
              <a:defRPr sz="1200"/>
            </a:lvl1pPr>
          </a:lstStyle>
          <a:p>
            <a:fld id="{006C233A-9D74-4117-ACA8-060D36B7D83A}" type="datetimeFigureOut">
              <a:rPr lang="en-US" smtClean="0"/>
            </a:fld>
            <a:endParaRPr lang="en-US"/>
          </a:p>
        </p:txBody>
      </p:sp>
      <p:sp>
        <p:nvSpPr>
          <p:cNvPr id="4" name="Footer Placeholder 3"/>
          <p:cNvSpPr>
            <a:spLocks noGrp="1"/>
          </p:cNvSpPr>
          <p:nvPr>
            <p:ph type="ftr" sz="quarter" idx="2"/>
          </p:nvPr>
        </p:nvSpPr>
        <p:spPr>
          <a:xfrm>
            <a:off x="0" y="8829824"/>
            <a:ext cx="3037628" cy="464981"/>
          </a:xfrm>
          <a:prstGeom prst="rect">
            <a:avLst/>
          </a:prstGeom>
        </p:spPr>
        <p:txBody>
          <a:bodyPr vert="horz" lIns="92153" tIns="46077" rIns="92153" bIns="46077" rtlCol="0" anchor="b"/>
          <a:lstStyle>
            <a:lvl1pPr algn="l">
              <a:defRPr sz="1200"/>
            </a:lvl1pPr>
          </a:lstStyle>
          <a:p>
            <a:endParaRPr lang="en-US"/>
          </a:p>
        </p:txBody>
      </p:sp>
      <p:sp>
        <p:nvSpPr>
          <p:cNvPr id="5" name="Slide Number Placeholder 4"/>
          <p:cNvSpPr>
            <a:spLocks noGrp="1"/>
          </p:cNvSpPr>
          <p:nvPr>
            <p:ph type="sldNum" sz="quarter" idx="3"/>
          </p:nvPr>
        </p:nvSpPr>
        <p:spPr>
          <a:xfrm>
            <a:off x="3971173" y="8829824"/>
            <a:ext cx="3037628" cy="464981"/>
          </a:xfrm>
          <a:prstGeom prst="rect">
            <a:avLst/>
          </a:prstGeom>
        </p:spPr>
        <p:txBody>
          <a:bodyPr vert="horz" lIns="92153" tIns="46077" rIns="92153" bIns="46077" rtlCol="0" anchor="b"/>
          <a:lstStyle>
            <a:lvl1pPr algn="r">
              <a:defRPr sz="1200"/>
            </a:lvl1pPr>
          </a:lstStyle>
          <a:p>
            <a:fld id="{A28E399E-F7B0-4ADD-938A-755F22AEF96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840" cy="464821"/>
          </a:xfrm>
          <a:prstGeom prst="rect">
            <a:avLst/>
          </a:prstGeom>
          <a:noFill/>
          <a:ln w="9525">
            <a:noFill/>
            <a:miter lim="800000"/>
          </a:ln>
          <a:effectLst/>
        </p:spPr>
        <p:txBody>
          <a:bodyPr vert="horz" wrap="square" lIns="93205" tIns="46603" rIns="93205" bIns="46603" numCol="1" anchor="t" anchorCtr="0" compatLnSpc="1"/>
          <a:lstStyle>
            <a:lvl1pPr>
              <a:defRPr sz="1200"/>
            </a:lvl1pPr>
          </a:lstStyle>
          <a:p>
            <a:endParaRPr lang="en-US"/>
          </a:p>
        </p:txBody>
      </p:sp>
      <p:sp>
        <p:nvSpPr>
          <p:cNvPr id="4099" name="Rectangle 3"/>
          <p:cNvSpPr>
            <a:spLocks noGrp="1" noChangeArrowheads="1"/>
          </p:cNvSpPr>
          <p:nvPr>
            <p:ph type="dt" idx="1"/>
          </p:nvPr>
        </p:nvSpPr>
        <p:spPr bwMode="auto">
          <a:xfrm>
            <a:off x="3972563" y="0"/>
            <a:ext cx="3037840" cy="464821"/>
          </a:xfrm>
          <a:prstGeom prst="rect">
            <a:avLst/>
          </a:prstGeom>
          <a:noFill/>
          <a:ln w="9525">
            <a:noFill/>
            <a:miter lim="800000"/>
          </a:ln>
          <a:effectLst/>
        </p:spPr>
        <p:txBody>
          <a:bodyPr vert="horz" wrap="square" lIns="93205" tIns="46603" rIns="93205" bIns="46603" numCol="1" anchor="t" anchorCtr="0" compatLnSpc="1"/>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406400" y="698500"/>
            <a:ext cx="6197600" cy="34861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34721" y="4415792"/>
            <a:ext cx="5140960" cy="4183380"/>
          </a:xfrm>
          <a:prstGeom prst="rect">
            <a:avLst/>
          </a:prstGeom>
          <a:noFill/>
          <a:ln w="9525">
            <a:noFill/>
            <a:miter lim="800000"/>
          </a:ln>
          <a:effectLst/>
        </p:spPr>
        <p:txBody>
          <a:bodyPr vert="horz" wrap="square" lIns="93205" tIns="46603" rIns="93205" bIns="46603"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102" name="Rectangle 6"/>
          <p:cNvSpPr>
            <a:spLocks noGrp="1" noChangeArrowheads="1"/>
          </p:cNvSpPr>
          <p:nvPr>
            <p:ph type="ftr" sz="quarter" idx="4"/>
          </p:nvPr>
        </p:nvSpPr>
        <p:spPr bwMode="auto">
          <a:xfrm>
            <a:off x="1" y="8831581"/>
            <a:ext cx="3037840" cy="464821"/>
          </a:xfrm>
          <a:prstGeom prst="rect">
            <a:avLst/>
          </a:prstGeom>
          <a:noFill/>
          <a:ln w="9525">
            <a:noFill/>
            <a:miter lim="800000"/>
          </a:ln>
          <a:effectLst/>
        </p:spPr>
        <p:txBody>
          <a:bodyPr vert="horz" wrap="square" lIns="93205" tIns="46603" rIns="93205" bIns="46603" numCol="1" anchor="b" anchorCtr="0" compatLnSpc="1"/>
          <a:lstStyle>
            <a:lvl1pPr>
              <a:defRPr sz="1200"/>
            </a:lvl1pPr>
          </a:lstStyle>
          <a:p>
            <a:endParaRPr lang="en-US"/>
          </a:p>
        </p:txBody>
      </p:sp>
      <p:sp>
        <p:nvSpPr>
          <p:cNvPr id="4103" name="Rectangle 7"/>
          <p:cNvSpPr>
            <a:spLocks noGrp="1" noChangeArrowheads="1"/>
          </p:cNvSpPr>
          <p:nvPr>
            <p:ph type="sldNum" sz="quarter" idx="5"/>
          </p:nvPr>
        </p:nvSpPr>
        <p:spPr bwMode="auto">
          <a:xfrm>
            <a:off x="3972563" y="8831581"/>
            <a:ext cx="3037840" cy="464821"/>
          </a:xfrm>
          <a:prstGeom prst="rect">
            <a:avLst/>
          </a:prstGeom>
          <a:noFill/>
          <a:ln w="9525">
            <a:noFill/>
            <a:miter lim="800000"/>
          </a:ln>
          <a:effectLst/>
        </p:spPr>
        <p:txBody>
          <a:bodyPr vert="horz" wrap="square" lIns="93205" tIns="46603" rIns="93205" bIns="46603" numCol="1" anchor="b" anchorCtr="0" compatLnSpc="1"/>
          <a:lstStyle>
            <a:lvl1pPr algn="r">
              <a:defRPr sz="1200"/>
            </a:lvl1pPr>
          </a:lstStyle>
          <a:p>
            <a:fld id="{848BB432-97C3-4B7D-8D6F-1BA494990EB4}"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FinPilot AI, our UIT2739 full-stack project. It is a personal-finance assistant that builds a user's financial picture from the bank SMS and e-mails they already receive, but only after the user allows each source. This common part covers the problem, requirements, architecture, SDLC, modules, database, testing and lessons learnt; each of us then demonstrates our own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FinPilot AI is a full-stack web app. Capture: bank SMS and e-mails, each behind its own consent, plus optional uploads. Understand: every message is classified, its fields extracted, duplicates reconciled and the payment categorised. Predict: a 90-day cash-flow forecast, subscription analysis and tax estimates. Act: insights, a coach, budgets, goals and Smart Picks that never touch the safety buffer. It runs with one command, works offline after the first run and costs nothing to operate.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already exists: every UPI payment, card swipe and bill produces an SMS or e-mail. The problem is that it stays scattered and existing tools fall short in four ways shown on the right. Our statement: build a reliable, forward-looking picture of a person's money from the messages they already receive, only with their consent, running on their own computer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each mapped to modules we built. On the right is the scope we committed to. The out-of-scope items are the limits stated in our README: no live bank or Gmail connections, no payments, only the bundled demo stores for crawling, and tax figures are estimates, not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FR1 to FR7 cover accounts, consent, capture, uploads, transactions, the dashboard and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FR8 to FR14 cover subscriptions, tax, insights and coach, budgets and goals, Smart Picks, settings and data rights, and the system quality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qualities are visible in the code. Security: bcrypt, JWT in httpOnly cookies, rotating refresh tokens, a CSRF header and a login rate limit. Privacy: consent per source and purpose, Fernet encryption and a 90-day retention purge. Reliability: transactions roll back, analytics stages are isolated, and Prophet falls back to a baseline. Performance figures come from our measured cold start. Portability: one command, no Docker.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in one Python process started by run.py. FastAPI on port 8000 serves both the JSON API under /api/v1 and the pre-built Next.js site, so the browser talks to one origin and no CORS is needed. Services hold the business logic and ML; a job runner and scheduler do background work; a second Uvicorn server on port 8090 hosts the demo stores that the Smart Picks crawler visits. Data lives in SQLite in WAL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layered. Routers handle HTTP and validation; dependencies give each request the signed-in user and a database session; services hold the rules; models map to SQLite. On the right is one real request: a what-if purchase on the Forecast page. It only reads the stored forecast, so it answers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tools are free and run locally. The frontend is a Next.js static export served by FastAPI, so Node.js is only needed to rebuild the UI. The backend uses FastAPI with SQLAlchemy and SQLite. ML uses scikit-learn and Prophet. The versions shown are the ones installed in our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followed an iterative and incremental model. Requirements were set at Review 0 in July; afterwards they changed to add consent-based SMS and e-mail capture and Smart Picks, so we revised the design: one process, SQLite and a one-command launcher instead of Docker and PostgreSQL. Implementation ran in ten phases, each ending with a working app and a measurable gate, followed by testing, packaging and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ten phases as executed, taken from our project plan. Each one ended with a check we could demonstrate, for example: no transactions created from OTP or promotional messages, the BlockedMart store skipped because robots.txt forbids it, and the property test showing Buy now never breaks the buffer.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modules, all working end to end. Capture and receipts bring data in; transactions, review and anomaly detection make it trustworthy; forecasting, subscriptions and tax look ahead; insights, the coach, budgets and Smart Picks turn it into decisions. Each team member will demonstrate their own modules.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screenshots from the running app with the demo persona, Aarav Sharma: the dashboard, the consent centre, the forecast with a what-if check, subscriptions, the tax comparison and Smart Picks. The live demonstration follows after this common part.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whatever its source, goes through the same pipeline. First the source must be active; then the pre-filter drops promotions and personal messages before anything is stored. A classifier recognises 12 kinds of message, the extractor reads the fields, and reconciliation makes sure one payment becomes one transaction even when it arrives by SMS and by e-mail. After new data, a background job refreshes the analytics that the pages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SQLite with 33 tables, created by one Alembic migration and grouped into four domains. Key decisions: money as integer paise, every user table cascades on delete so removing an account removes everything, transactions record where they came from and how they were categorised, message text is encrypted and purged, and the consent log is append-only.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everything on data with known answers. The chart is the forecast backtest: knowing the user's schedule cuts the error by 85 percent against the seasonal-naive baseline, and Prophet improves it by about 3 percent more, which we report honestly. The tiles show message understanding, de-duplication, categorisation, the coach and Smart Picks.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ran at three levels. 59 backend tests with pytest and Hypothesis; we re-ran them on 14 October and all 59 passed in about 30 seconds. 14 Playwright end-to-end tests walk the whole demo script in a real browser. Models are validated on held-out data, unseen bank formats, a hand-written challenge set and rolling backtests. Settings shows a live quality report and an in-browser OCR benchmark.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main challenges and how we solved them. Right: improvements we identified while reviewing our own code, for example there is no log file yet because logs go to the terminal, the login rate limit lives in memory, and the UI does not yet ask for consent again when the notice changes.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FinPilot AI turns messages people already receive into a private, forward-looking view of their money; every module works end to end from one command; privacy is built in; and our results are measured and tested. In future it could connect to real bank data through the Account Aggregator framework, gain an Android companion app, and use a local language model behind the coach's provider interface.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11988800" cy="1268412"/>
          </a:xfrm>
          <a:prstGeom prst="rect">
            <a:avLst/>
          </a:prstGeom>
          <a:noFill/>
        </p:spPr>
      </p:pic>
      <p:sp>
        <p:nvSpPr>
          <p:cNvPr id="11267" name="Rectangle 3"/>
          <p:cNvSpPr>
            <a:spLocks noGrp="1" noChangeArrowheads="1"/>
          </p:cNvSpPr>
          <p:nvPr>
            <p:ph type="ctrTitle"/>
          </p:nvPr>
        </p:nvSpPr>
        <p:spPr>
          <a:xfrm>
            <a:off x="914400" y="2286000"/>
            <a:ext cx="10363200" cy="1143000"/>
          </a:xfrm>
        </p:spPr>
        <p:txBody>
          <a:bodyPr/>
          <a:lstStyle>
            <a:lvl1pPr>
              <a:defRPr>
                <a:solidFill>
                  <a:srgbClr val="1B57B5"/>
                </a:solidFill>
              </a:defRPr>
            </a:lvl1pPr>
          </a:lstStyle>
          <a:p>
            <a:r>
              <a:rPr lang="en-US"/>
              <a:t>Click to edit Master title style</a:t>
            </a:r>
            <a:endParaRPr lang="en-US"/>
          </a:p>
        </p:txBody>
      </p:sp>
      <p:sp>
        <p:nvSpPr>
          <p:cNvPr id="11268" name="Rectangle 4"/>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r>
              <a:rPr lang="en-US"/>
              <a:t>Click to edit Master subtitle style</a:t>
            </a:r>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E765331A-FB16-4349-BB1E-9292E7905A34}" type="slidenum">
              <a:rPr lang="en-US"/>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Slide Number Placeholder 2"/>
          <p:cNvSpPr>
            <a:spLocks noGrp="1"/>
          </p:cNvSpPr>
          <p:nvPr>
            <p:ph type="sldNum" sz="quarter" idx="10"/>
          </p:nvPr>
        </p:nvSpPr>
        <p:spPr>
          <a:xfrm>
            <a:off x="0" y="6321425"/>
            <a:ext cx="12192000" cy="476250"/>
          </a:xfrm>
        </p:spPr>
        <p:txBody>
          <a:bodyPr/>
          <a:lstStyle>
            <a:lvl1pPr>
              <a:defRPr/>
            </a:lvl1pPr>
          </a:lstStyle>
          <a:p>
            <a:fld id="{CA127EDD-5AE7-4F7E-A3D2-120782799796}" type="slidenum">
              <a:rPr lang="en-US"/>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50D1D595-6F66-4A04-B04D-68C711B5071F}"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oleObject" Target="../embeddings/oleObject1.bin"/><Relationship Id="rId16" Type="http://schemas.openxmlformats.org/officeDocument/2006/relationships/image" Target="../media/image2.emf"/><Relationship Id="rId17" Type="http://schemas.openxmlformats.org/officeDocument/2006/relationships/vmlDrawing" Target="../drawings/vmlDrawing1.v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09600" y="274638"/>
            <a:ext cx="10972800" cy="1143000"/>
          </a:xfrm>
          <a:prstGeom prst="rect">
            <a:avLst/>
          </a:prstGeom>
          <a:noFill/>
          <a:ln w="9525">
            <a:noFill/>
            <a:miter lim="800000"/>
          </a:ln>
          <a:effectLst/>
        </p:spPr>
        <p:txBody>
          <a:bodyPr vert="horz" wrap="square" lIns="91440" tIns="45720" rIns="91440" bIns="45720" numCol="1" anchor="ctr" anchorCtr="0" compatLnSpc="1"/>
          <a:lstStyle/>
          <a:p>
            <a:pPr lvl="0"/>
            <a:r>
              <a:rPr lang="en-US"/>
              <a:t>Click to edit Master title style</a:t>
            </a:r>
            <a:endParaRPr lang="en-US"/>
          </a:p>
        </p:txBody>
      </p:sp>
      <p:sp>
        <p:nvSpPr>
          <p:cNvPr id="10243" name="Rectangle 3"/>
          <p:cNvSpPr>
            <a:spLocks noGrp="1" noChangeArrowheads="1"/>
          </p:cNvSpPr>
          <p:nvPr>
            <p:ph type="body" idx="1"/>
          </p:nvPr>
        </p:nvSpPr>
        <p:spPr bwMode="auto">
          <a:xfrm>
            <a:off x="609600" y="1600201"/>
            <a:ext cx="10972800" cy="4525963"/>
          </a:xfrm>
          <a:prstGeom prst="rect">
            <a:avLst/>
          </a:prstGeom>
          <a:noFill/>
          <a:ln w="9525">
            <a:noFill/>
            <a:miter lim="800000"/>
          </a:ln>
          <a:effec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aphicFrame>
        <p:nvGraphicFramePr>
          <p:cNvPr id="10244" name="Object 4"/>
          <p:cNvGraphicFramePr>
            <a:graphicFrameLocks noChangeAspect="1"/>
          </p:cNvGraphicFramePr>
          <p:nvPr/>
        </p:nvGraphicFramePr>
        <p:xfrm>
          <a:off x="0" y="6117455"/>
          <a:ext cx="12191999" cy="788671"/>
        </p:xfrm>
        <a:graphic>
          <a:graphicData uri="http://schemas.openxmlformats.org/presentationml/2006/ole">
            <mc:AlternateContent xmlns:mc="http://schemas.openxmlformats.org/markup-compatibility/2006">
              <mc:Choice xmlns:v="urn:schemas-microsoft-com:vml" Requires="v">
                <p:oleObj spid="_x0000_s2" name="CorelDRAW" r:id="rId15" imgW="9529445" imgH="654685" progId="">
                  <p:embed/>
                </p:oleObj>
              </mc:Choice>
              <mc:Fallback>
                <p:oleObj name="CorelDRAW" r:id="rId15" imgW="9529445" imgH="654685" progId="">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117455"/>
                        <a:ext cx="12191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121920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fld id="{8AFEF79D-0508-431A-9382-43A6F8BABA35}"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hdr="0" ftr="0" dt="0"/>
  <p:txStyles>
    <p:titleStyle>
      <a:lvl1pPr algn="ctr" rtl="0" fontAlgn="base">
        <a:spcBef>
          <a:spcPct val="0"/>
        </a:spcBef>
        <a:spcAft>
          <a:spcPct val="0"/>
        </a:spcAft>
        <a:defRPr sz="40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804030504040204" pitchFamily="34" charset="0"/>
        </a:defRPr>
      </a:lvl2pPr>
      <a:lvl3pPr algn="ctr" rtl="0" fontAlgn="base">
        <a:spcBef>
          <a:spcPct val="0"/>
        </a:spcBef>
        <a:spcAft>
          <a:spcPct val="0"/>
        </a:spcAft>
        <a:defRPr sz="4000">
          <a:solidFill>
            <a:schemeClr val="tx2"/>
          </a:solidFill>
          <a:latin typeface="Verdana" panose="020B0804030504040204" pitchFamily="34" charset="0"/>
        </a:defRPr>
      </a:lvl3pPr>
      <a:lvl4pPr algn="ctr" rtl="0" fontAlgn="base">
        <a:spcBef>
          <a:spcPct val="0"/>
        </a:spcBef>
        <a:spcAft>
          <a:spcPct val="0"/>
        </a:spcAft>
        <a:defRPr sz="4000">
          <a:solidFill>
            <a:schemeClr val="tx2"/>
          </a:solidFill>
          <a:latin typeface="Verdana" panose="020B0804030504040204" pitchFamily="34" charset="0"/>
        </a:defRPr>
      </a:lvl4pPr>
      <a:lvl5pPr algn="ctr" rtl="0" fontAlgn="base">
        <a:spcBef>
          <a:spcPct val="0"/>
        </a:spcBef>
        <a:spcAft>
          <a:spcPct val="0"/>
        </a:spcAft>
        <a:defRPr sz="4000">
          <a:solidFill>
            <a:schemeClr val="tx2"/>
          </a:solidFill>
          <a:latin typeface="Verdana" panose="020B0804030504040204" pitchFamily="34" charset="0"/>
        </a:defRPr>
      </a:lvl5pPr>
      <a:lvl6pPr marL="457200" algn="ctr" rtl="0" fontAlgn="base">
        <a:spcBef>
          <a:spcPct val="0"/>
        </a:spcBef>
        <a:spcAft>
          <a:spcPct val="0"/>
        </a:spcAft>
        <a:defRPr sz="4000">
          <a:solidFill>
            <a:schemeClr val="tx2"/>
          </a:solidFill>
          <a:latin typeface="Verdana" panose="020B0804030504040204" pitchFamily="34" charset="0"/>
        </a:defRPr>
      </a:lvl6pPr>
      <a:lvl7pPr marL="914400" algn="ctr" rtl="0" fontAlgn="base">
        <a:spcBef>
          <a:spcPct val="0"/>
        </a:spcBef>
        <a:spcAft>
          <a:spcPct val="0"/>
        </a:spcAft>
        <a:defRPr sz="4000">
          <a:solidFill>
            <a:schemeClr val="tx2"/>
          </a:solidFill>
          <a:latin typeface="Verdana" panose="020B0804030504040204" pitchFamily="34" charset="0"/>
        </a:defRPr>
      </a:lvl7pPr>
      <a:lvl8pPr marL="1371600" algn="ctr" rtl="0" fontAlgn="base">
        <a:spcBef>
          <a:spcPct val="0"/>
        </a:spcBef>
        <a:spcAft>
          <a:spcPct val="0"/>
        </a:spcAft>
        <a:defRPr sz="4000">
          <a:solidFill>
            <a:schemeClr val="tx2"/>
          </a:solidFill>
          <a:latin typeface="Verdana" panose="020B0804030504040204" pitchFamily="34" charset="0"/>
        </a:defRPr>
      </a:lvl8pPr>
      <a:lvl9pPr marL="1828800" algn="ctr" rtl="0" fontAlgn="base">
        <a:spcBef>
          <a:spcPct val="0"/>
        </a:spcBef>
        <a:spcAft>
          <a:spcPct val="0"/>
        </a:spcAft>
        <a:defRPr sz="4000">
          <a:solidFill>
            <a:schemeClr val="tx2"/>
          </a:solidFill>
          <a:latin typeface="Verdana" panose="020B0804030504040204"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1984248"/>
          </a:xfrm>
          <a:solidFill>
            <a:srgbClr val="0079BC"/>
          </a:solidFill>
          <a:ln>
            <a:noFill/>
          </a:ln>
        </p:spPr>
        <p:txBody>
          <a:bodyPr anchor="ctr" wrap="square">
            <a:noAutofit/>
          </a:bodyPr>
          <a:lstStyle/>
          <a:p>
            <a:pPr algn="ctr">
              <a:spcAft>
                <a:spcPts val="200"/>
              </a:spcAft>
              <a:buNone/>
            </a:pPr>
            <a:r>
              <a:rPr sz="3600" b="1" i="0">
                <a:solidFill>
                  <a:srgbClr val="FFFFFF"/>
                </a:solidFill>
                <a:latin typeface="Times New Roman"/>
              </a:rPr>
              <a:t>SSN College of Engineering, Kalavakkam - 603110</a:t>
            </a:r>
          </a:p>
          <a:p>
            <a:pPr algn="ctr">
              <a:spcAft>
                <a:spcPts val="0"/>
              </a:spcAft>
              <a:buNone/>
            </a:pPr>
            <a:r>
              <a:rPr sz="2800" b="1" i="0">
                <a:solidFill>
                  <a:srgbClr val="FFFFFF"/>
                </a:solidFill>
                <a:latin typeface="Times New Roman"/>
              </a:rPr>
              <a:t>Department of Information Technology</a:t>
            </a:r>
          </a:p>
        </p:txBody>
      </p:sp>
      <p:sp>
        <p:nvSpPr>
          <p:cNvPr id="3" name="TextBox 2"/>
          <p:cNvSpPr txBox="1"/>
          <p:nvPr/>
        </p:nvSpPr>
        <p:spPr>
          <a:xfrm>
            <a:off x="731520" y="2240280"/>
            <a:ext cx="10725912" cy="502920"/>
          </a:xfrm>
          <a:prstGeom prst="rect">
            <a:avLst/>
          </a:prstGeom>
          <a:noFill/>
        </p:spPr>
        <p:txBody>
          <a:bodyPr wrap="square" lIns="36576" tIns="18288" rIns="36576" bIns="18288" anchor="t">
            <a:noAutofit/>
          </a:bodyPr>
          <a:lstStyle/>
          <a:p>
            <a:pPr algn="ctr">
              <a:spcAft>
                <a:spcPts val="400"/>
              </a:spcAft>
              <a:buNone/>
            </a:pPr>
            <a:r>
              <a:rPr sz="2600" b="1" i="0">
                <a:solidFill>
                  <a:srgbClr val="0066CC"/>
                </a:solidFill>
                <a:latin typeface="Times New Roman"/>
              </a:rPr>
              <a:t>UIT2739 - Full Stack Development Project</a:t>
            </a:r>
          </a:p>
        </p:txBody>
      </p:sp>
      <p:sp>
        <p:nvSpPr>
          <p:cNvPr id="4" name="TextBox 3"/>
          <p:cNvSpPr txBox="1"/>
          <p:nvPr/>
        </p:nvSpPr>
        <p:spPr>
          <a:xfrm>
            <a:off x="731520" y="2852928"/>
            <a:ext cx="10725912" cy="731520"/>
          </a:xfrm>
          <a:prstGeom prst="rect">
            <a:avLst/>
          </a:prstGeom>
          <a:noFill/>
        </p:spPr>
        <p:txBody>
          <a:bodyPr wrap="square" lIns="36576" tIns="18288" rIns="36576" bIns="18288" anchor="t">
            <a:noAutofit/>
          </a:bodyPr>
          <a:lstStyle/>
          <a:p>
            <a:pPr algn="ctr">
              <a:spcAft>
                <a:spcPts val="400"/>
              </a:spcAft>
              <a:buNone/>
            </a:pPr>
            <a:r>
              <a:rPr sz="4400" b="1" i="0">
                <a:solidFill>
                  <a:srgbClr val="154360"/>
                </a:solidFill>
                <a:latin typeface="Times New Roman"/>
              </a:rPr>
              <a:t>FinPilot AI</a:t>
            </a:r>
          </a:p>
        </p:txBody>
      </p:sp>
      <p:sp>
        <p:nvSpPr>
          <p:cNvPr id="5" name="TextBox 4"/>
          <p:cNvSpPr txBox="1"/>
          <p:nvPr/>
        </p:nvSpPr>
        <p:spPr>
          <a:xfrm>
            <a:off x="731520" y="3584448"/>
            <a:ext cx="10725912" cy="502920"/>
          </a:xfrm>
          <a:prstGeom prst="rect">
            <a:avLst/>
          </a:prstGeom>
          <a:noFill/>
        </p:spPr>
        <p:txBody>
          <a:bodyPr wrap="square" lIns="36576" tIns="18288" rIns="36576" bIns="18288" anchor="t">
            <a:noAutofit/>
          </a:bodyPr>
          <a:lstStyle/>
          <a:p>
            <a:pPr algn="ctr">
              <a:spcAft>
                <a:spcPts val="400"/>
              </a:spcAft>
              <a:buNone/>
            </a:pPr>
            <a:r>
              <a:rPr sz="2400" b="0" i="0">
                <a:solidFill>
                  <a:srgbClr val="154360"/>
                </a:solidFill>
                <a:latin typeface="Times New Roman"/>
              </a:rPr>
              <a:t>A privacy-first personal finance assistant for India</a:t>
            </a:r>
          </a:p>
        </p:txBody>
      </p:sp>
      <p:sp>
        <p:nvSpPr>
          <p:cNvPr id="6" name="TextBox 5"/>
          <p:cNvSpPr txBox="1"/>
          <p:nvPr/>
        </p:nvSpPr>
        <p:spPr>
          <a:xfrm>
            <a:off x="1828800" y="4343400"/>
            <a:ext cx="8531352" cy="1143000"/>
          </a:xfrm>
          <a:prstGeom prst="rect">
            <a:avLst/>
          </a:prstGeom>
          <a:noFill/>
        </p:spPr>
        <p:txBody>
          <a:bodyPr wrap="square" lIns="36576" tIns="18288" rIns="36576" bIns="18288" anchor="t">
            <a:noAutofit/>
          </a:bodyPr>
          <a:lstStyle/>
          <a:p>
            <a:pPr algn="ctr">
              <a:spcAft>
                <a:spcPts val="200"/>
              </a:spcAft>
              <a:buNone/>
            </a:pPr>
            <a:r>
              <a:rPr sz="1800" b="1" i="0">
                <a:solidFill>
                  <a:srgbClr val="0066CC"/>
                </a:solidFill>
                <a:latin typeface="Times New Roman"/>
              </a:rPr>
              <a:t>Jeya Sangavi R - 3122235002054</a:t>
            </a:r>
          </a:p>
          <a:p>
            <a:pPr algn="ctr">
              <a:spcAft>
                <a:spcPts val="200"/>
              </a:spcAft>
              <a:buNone/>
            </a:pPr>
            <a:r>
              <a:rPr sz="1800" b="1" i="0">
                <a:solidFill>
                  <a:srgbClr val="0066CC"/>
                </a:solidFill>
                <a:latin typeface="Times New Roman"/>
              </a:rPr>
              <a:t>Rahul Akshath Rajendran - 3122235002095</a:t>
            </a:r>
          </a:p>
          <a:p>
            <a:pPr algn="ctr">
              <a:spcAft>
                <a:spcPts val="200"/>
              </a:spcAft>
              <a:buNone/>
            </a:pPr>
            <a:r>
              <a:rPr sz="1800" b="1" i="0">
                <a:solidFill>
                  <a:srgbClr val="0066CC"/>
                </a:solidFill>
                <a:latin typeface="Times New Roman"/>
              </a:rPr>
              <a:t>Rakshitha S - 3122235002098</a:t>
            </a:r>
          </a:p>
        </p:txBody>
      </p:sp>
      <p:sp>
        <p:nvSpPr>
          <p:cNvPr id="7" name="TextBox 6"/>
          <p:cNvSpPr txBox="1"/>
          <p:nvPr/>
        </p:nvSpPr>
        <p:spPr>
          <a:xfrm>
            <a:off x="1828800" y="5559552"/>
            <a:ext cx="8531352" cy="320040"/>
          </a:xfrm>
          <a:prstGeom prst="rect">
            <a:avLst/>
          </a:prstGeom>
          <a:noFill/>
        </p:spPr>
        <p:txBody>
          <a:bodyPr wrap="square" lIns="36576" tIns="18288" rIns="36576" bIns="18288" anchor="t">
            <a:noAutofit/>
          </a:bodyPr>
          <a:lstStyle/>
          <a:p>
            <a:pPr algn="ctr">
              <a:spcAft>
                <a:spcPts val="400"/>
              </a:spcAft>
              <a:buNone/>
            </a:pPr>
            <a:r>
              <a:rPr sz="1300" b="0" i="0">
                <a:solidFill>
                  <a:srgbClr val="5B6573"/>
                </a:solidFill>
                <a:latin typeface="Arial"/>
              </a:rPr>
              <a:t>Project evaluation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FinPilot AI at a glance</a:t>
            </a:r>
          </a:p>
        </p:txBody>
      </p:sp>
      <p:sp>
        <p:nvSpPr>
          <p:cNvPr id="3" name="TextBox 2"/>
          <p:cNvSpPr txBox="1"/>
          <p:nvPr/>
        </p:nvSpPr>
        <p:spPr>
          <a:xfrm>
            <a:off x="548640" y="1188720"/>
            <a:ext cx="11094415" cy="914400"/>
          </a:xfrm>
          <a:prstGeom prst="rect">
            <a:avLst/>
          </a:prstGeom>
          <a:noFill/>
        </p:spPr>
        <p:txBody>
          <a:bodyPr wrap="square" lIns="36576" tIns="18288" rIns="36576" bIns="18288" anchor="ctr">
            <a:noAutofit/>
          </a:bodyPr>
          <a:lstStyle/>
          <a:p>
            <a:pPr algn="l">
              <a:spcAft>
                <a:spcPts val="400"/>
              </a:spcAft>
              <a:buNone/>
            </a:pPr>
            <a:r>
              <a:rPr sz="1800" b="0" i="0">
                <a:solidFill>
                  <a:srgbClr val="1F2937"/>
                </a:solidFill>
                <a:latin typeface="Arial"/>
              </a:rPr>
              <a:t>A personal-finance assistant for India that builds your financial picture from the </a:t>
            </a:r>
            <a:r>
              <a:rPr sz="1800" b="1" i="0">
                <a:solidFill>
                  <a:srgbClr val="154360"/>
                </a:solidFill>
                <a:latin typeface="Arial"/>
              </a:rPr>
              <a:t>bank SMS and e-mails you already receive</a:t>
            </a:r>
            <a:r>
              <a:rPr sz="1800" b="0" i="0">
                <a:solidFill>
                  <a:srgbClr val="1F2937"/>
                </a:solidFill>
                <a:latin typeface="Arial"/>
              </a:rPr>
              <a:t> — but only after you allow each source, one at a time, for the purposes you choose.</a:t>
            </a:r>
          </a:p>
        </p:txBody>
      </p:sp>
      <p:sp>
        <p:nvSpPr>
          <p:cNvPr id="4" name="Rounded Rectangle 3"/>
          <p:cNvSpPr/>
          <p:nvPr/>
        </p:nvSpPr>
        <p:spPr>
          <a:xfrm>
            <a:off x="548640"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1</a:t>
            </a:r>
          </a:p>
        </p:txBody>
      </p:sp>
      <p:sp>
        <p:nvSpPr>
          <p:cNvPr id="6" name="TextBox 5"/>
          <p:cNvSpPr txBox="1"/>
          <p:nvPr/>
        </p:nvSpPr>
        <p:spPr>
          <a:xfrm>
            <a:off x="1325880"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Capture</a:t>
            </a:r>
          </a:p>
        </p:txBody>
      </p:sp>
      <p:sp>
        <p:nvSpPr>
          <p:cNvPr id="7" name="TextBox 6"/>
          <p:cNvSpPr txBox="1"/>
          <p:nvPr/>
        </p:nvSpPr>
        <p:spPr>
          <a:xfrm>
            <a:off x="731520"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Bank SMS and e-mail, each with its own consent</a:t>
            </a:r>
          </a:p>
          <a:p>
            <a:pPr algn="l" marL="201168" indent="-201168">
              <a:spcAft>
                <a:spcPts val="800"/>
              </a:spcAft>
              <a:buFont typeface="Arial"/>
              <a:buChar char="•"/>
            </a:pPr>
            <a:r>
              <a:rPr sz="1400" b="0" i="0">
                <a:solidFill>
                  <a:srgbClr val="1F2937"/>
                </a:solidFill>
                <a:latin typeface="Arial"/>
              </a:rPr>
              <a:t>Optional: receipt OCR, PDF bills, statement CSV, manual entry</a:t>
            </a:r>
          </a:p>
        </p:txBody>
      </p:sp>
      <p:sp>
        <p:nvSpPr>
          <p:cNvPr id="8" name="Chevron 7"/>
          <p:cNvSpPr/>
          <p:nvPr/>
        </p:nvSpPr>
        <p:spPr>
          <a:xfrm>
            <a:off x="3127248"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7112"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99992"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2</a:t>
            </a:r>
          </a:p>
        </p:txBody>
      </p:sp>
      <p:sp>
        <p:nvSpPr>
          <p:cNvPr id="11" name="TextBox 10"/>
          <p:cNvSpPr txBox="1"/>
          <p:nvPr/>
        </p:nvSpPr>
        <p:spPr>
          <a:xfrm>
            <a:off x="4194352"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Understand</a:t>
            </a:r>
          </a:p>
        </p:txBody>
      </p:sp>
      <p:sp>
        <p:nvSpPr>
          <p:cNvPr id="12" name="TextBox 11"/>
          <p:cNvSpPr txBox="1"/>
          <p:nvPr/>
        </p:nvSpPr>
        <p:spPr>
          <a:xfrm>
            <a:off x="3599992"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Classify, extract and de-duplicate every message</a:t>
            </a:r>
          </a:p>
          <a:p>
            <a:pPr algn="l" marL="201168" indent="-201168">
              <a:spcAft>
                <a:spcPts val="800"/>
              </a:spcAft>
              <a:buFont typeface="Arial"/>
              <a:buChar char="•"/>
            </a:pPr>
            <a:r>
              <a:rPr sz="1400" b="0" i="0">
                <a:solidFill>
                  <a:srgbClr val="1F2937"/>
                </a:solidFill>
                <a:latin typeface="Arial"/>
              </a:rPr>
              <a:t>Categorise payments and flag unusual ones</a:t>
            </a:r>
          </a:p>
        </p:txBody>
      </p:sp>
      <p:sp>
        <p:nvSpPr>
          <p:cNvPr id="13" name="Chevron 12"/>
          <p:cNvSpPr/>
          <p:nvPr/>
        </p:nvSpPr>
        <p:spPr>
          <a:xfrm>
            <a:off x="5995720"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5585"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8465"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3</a:t>
            </a:r>
          </a:p>
        </p:txBody>
      </p:sp>
      <p:sp>
        <p:nvSpPr>
          <p:cNvPr id="16" name="TextBox 15"/>
          <p:cNvSpPr txBox="1"/>
          <p:nvPr/>
        </p:nvSpPr>
        <p:spPr>
          <a:xfrm>
            <a:off x="7062825"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Predict</a:t>
            </a:r>
          </a:p>
        </p:txBody>
      </p:sp>
      <p:sp>
        <p:nvSpPr>
          <p:cNvPr id="17" name="TextBox 16"/>
          <p:cNvSpPr txBox="1"/>
          <p:nvPr/>
        </p:nvSpPr>
        <p:spPr>
          <a:xfrm>
            <a:off x="6468465"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90-day cash-flow forecast with an 80% range</a:t>
            </a:r>
          </a:p>
          <a:p>
            <a:pPr algn="l" marL="201168" indent="-201168">
              <a:spcAft>
                <a:spcPts val="800"/>
              </a:spcAft>
              <a:buFont typeface="Arial"/>
              <a:buChar char="•"/>
            </a:pPr>
            <a:r>
              <a:rPr sz="1400" b="0" i="0">
                <a:solidFill>
                  <a:srgbClr val="1F2937"/>
                </a:solidFill>
                <a:latin typeface="Arial"/>
              </a:rPr>
              <a:t>Subscriptions and income tax for two years</a:t>
            </a:r>
          </a:p>
        </p:txBody>
      </p:sp>
      <p:sp>
        <p:nvSpPr>
          <p:cNvPr id="18" name="Chevron 17"/>
          <p:cNvSpPr/>
          <p:nvPr/>
        </p:nvSpPr>
        <p:spPr>
          <a:xfrm>
            <a:off x="8864193"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4058"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36938"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4</a:t>
            </a:r>
          </a:p>
        </p:txBody>
      </p:sp>
      <p:sp>
        <p:nvSpPr>
          <p:cNvPr id="21" name="TextBox 20"/>
          <p:cNvSpPr txBox="1"/>
          <p:nvPr/>
        </p:nvSpPr>
        <p:spPr>
          <a:xfrm>
            <a:off x="9931298"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Act</a:t>
            </a:r>
          </a:p>
        </p:txBody>
      </p:sp>
      <p:sp>
        <p:nvSpPr>
          <p:cNvPr id="22" name="TextBox 21"/>
          <p:cNvSpPr txBox="1"/>
          <p:nvPr/>
        </p:nvSpPr>
        <p:spPr>
          <a:xfrm>
            <a:off x="9336938"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Ranked insights and a coach</a:t>
            </a:r>
          </a:p>
          <a:p>
            <a:pPr algn="l" marL="201168" indent="-201168">
              <a:spcAft>
                <a:spcPts val="800"/>
              </a:spcAft>
              <a:buFont typeface="Arial"/>
              <a:buChar char="•"/>
            </a:pPr>
            <a:r>
              <a:rPr sz="1400" b="0" i="0">
                <a:solidFill>
                  <a:srgbClr val="1F2937"/>
                </a:solidFill>
                <a:latin typeface="Arial"/>
              </a:rPr>
              <a:t>Budgets, goals and Smart Picks you can afford</a:t>
            </a:r>
          </a:p>
        </p:txBody>
      </p:sp>
      <p:sp>
        <p:nvSpPr>
          <p:cNvPr id="23" name="Rounded Rectangle 22"/>
          <p:cNvSpPr/>
          <p:nvPr/>
        </p:nvSpPr>
        <p:spPr>
          <a:xfrm>
            <a:off x="548640"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One command: </a:t>
            </a:r>
            <a:r>
              <a:rPr sz="1500" b="0" i="0">
                <a:solidFill>
                  <a:srgbClr val="1F2937"/>
                </a:solidFill>
                <a:latin typeface="Arial"/>
              </a:rPr>
              <a:t>python3 run.py</a:t>
            </a:r>
          </a:p>
        </p:txBody>
      </p:sp>
      <p:sp>
        <p:nvSpPr>
          <p:cNvPr id="24" name="Rounded Rectangle 23"/>
          <p:cNvSpPr/>
          <p:nvPr/>
        </p:nvSpPr>
        <p:spPr>
          <a:xfrm>
            <a:off x="4338218"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Offline: </a:t>
            </a:r>
            <a:r>
              <a:rPr sz="1500" b="0" i="0">
                <a:solidFill>
                  <a:srgbClr val="1F2937"/>
                </a:solidFill>
                <a:latin typeface="Arial"/>
              </a:rPr>
              <a:t>after the first run</a:t>
            </a:r>
          </a:p>
        </p:txBody>
      </p:sp>
      <p:sp>
        <p:nvSpPr>
          <p:cNvPr id="25" name="Rounded Rectangle 24"/>
          <p:cNvSpPr/>
          <p:nvPr/>
        </p:nvSpPr>
        <p:spPr>
          <a:xfrm>
            <a:off x="8127796"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₹0 cost: </a:t>
            </a:r>
            <a:r>
              <a:rPr sz="1500" b="0" i="0">
                <a:solidFill>
                  <a:srgbClr val="1F2937"/>
                </a:solidFill>
                <a:latin typeface="Arial"/>
              </a:rPr>
              <a:t>no paid AI, no bank login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Problem statement and motivation</a:t>
            </a:r>
          </a:p>
        </p:txBody>
      </p:sp>
      <p:sp>
        <p:nvSpPr>
          <p:cNvPr id="3" name="Rounded Rectangle 2"/>
          <p:cNvSpPr/>
          <p:nvPr/>
        </p:nvSpPr>
        <p:spPr>
          <a:xfrm>
            <a:off x="548640" y="1234440"/>
            <a:ext cx="5074920" cy="4069080"/>
          </a:xfrm>
          <a:prstGeom prst="roundRect">
            <a:avLst>
              <a:gd name="adj" fmla="val 4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tIns="228600" rIns="274320" bIns="182880" wrap="square">
            <a:noAutofit/>
          </a:bodyPr>
          <a:lstStyle/>
          <a:p>
            <a:pPr algn="l">
              <a:spcAft>
                <a:spcPts val="1000"/>
              </a:spcAft>
              <a:buNone/>
            </a:pPr>
            <a:r>
              <a:rPr sz="2100" b="1" i="0">
                <a:solidFill>
                  <a:srgbClr val="FFFFFF"/>
                </a:solidFill>
                <a:latin typeface="Arial"/>
              </a:rPr>
              <a:t>Problem statement</a:t>
            </a:r>
          </a:p>
          <a:p>
            <a:pPr algn="l">
              <a:spcAft>
                <a:spcPts val="1200"/>
              </a:spcAft>
              <a:buNone/>
            </a:pPr>
            <a:r>
              <a:rPr sz="1600" b="0" i="0">
                <a:solidFill>
                  <a:srgbClr val="FFFFFF"/>
                </a:solidFill>
                <a:latin typeface="Arial"/>
              </a:rPr>
              <a:t>Every UPI payment, card swipe, bill and salary credit already arrives as a bank SMS or e-mail, yet the information stays scattered. Existing apps make people type transactions, ask for bank credentials, or send personal data to paid cloud AI — and they only describe the past.</a:t>
            </a:r>
          </a:p>
          <a:p>
            <a:pPr algn="l">
              <a:spcAft>
                <a:spcPts val="0"/>
              </a:spcAft>
              <a:buNone/>
            </a:pPr>
            <a:r>
              <a:rPr sz="1600" b="0" i="0">
                <a:solidFill>
                  <a:srgbClr val="FFFFFF"/>
                </a:solidFill>
                <a:latin typeface="Arial"/>
              </a:rPr>
              <a:t>FinPilot AI builds a reliable, forward-looking picture of a person's money from the messages they already receive: only from sources they allow, only for purposes they choose, running on their own computer at zero cost.</a:t>
            </a:r>
          </a:p>
        </p:txBody>
      </p:sp>
      <p:sp>
        <p:nvSpPr>
          <p:cNvPr id="4" name="Rounded Rectangle 3"/>
          <p:cNvSpPr/>
          <p:nvPr/>
        </p:nvSpPr>
        <p:spPr>
          <a:xfrm>
            <a:off x="5897880" y="123444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62472" y="141732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1</a:t>
            </a:r>
          </a:p>
        </p:txBody>
      </p:sp>
      <p:sp>
        <p:nvSpPr>
          <p:cNvPr id="6" name="TextBox 5"/>
          <p:cNvSpPr txBox="1"/>
          <p:nvPr/>
        </p:nvSpPr>
        <p:spPr>
          <a:xfrm>
            <a:off x="6583680" y="139903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Capture is manual</a:t>
            </a:r>
          </a:p>
        </p:txBody>
      </p:sp>
      <p:sp>
        <p:nvSpPr>
          <p:cNvPr id="7" name="TextBox 6"/>
          <p:cNvSpPr txBox="1"/>
          <p:nvPr/>
        </p:nvSpPr>
        <p:spPr>
          <a:xfrm>
            <a:off x="6062472" y="196596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Typing in every payment is tedious, so people give up; cash and paper receipts are lost.</a:t>
            </a:r>
          </a:p>
        </p:txBody>
      </p:sp>
      <p:sp>
        <p:nvSpPr>
          <p:cNvPr id="8" name="Rounded Rectangle 7"/>
          <p:cNvSpPr/>
          <p:nvPr/>
        </p:nvSpPr>
        <p:spPr>
          <a:xfrm>
            <a:off x="8796528" y="123444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0" y="141732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2</a:t>
            </a:r>
          </a:p>
        </p:txBody>
      </p:sp>
      <p:sp>
        <p:nvSpPr>
          <p:cNvPr id="10" name="TextBox 9"/>
          <p:cNvSpPr txBox="1"/>
          <p:nvPr/>
        </p:nvSpPr>
        <p:spPr>
          <a:xfrm>
            <a:off x="9482328" y="139903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Insight looks backwards</a:t>
            </a:r>
          </a:p>
        </p:txBody>
      </p:sp>
      <p:sp>
        <p:nvSpPr>
          <p:cNvPr id="11" name="TextBox 10"/>
          <p:cNvSpPr txBox="1"/>
          <p:nvPr/>
        </p:nvSpPr>
        <p:spPr>
          <a:xfrm>
            <a:off x="8961120" y="196596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Apps show what was spent, not what the balance will be at month end.</a:t>
            </a:r>
          </a:p>
        </p:txBody>
      </p:sp>
      <p:sp>
        <p:nvSpPr>
          <p:cNvPr id="12" name="Rounded Rectangle 11"/>
          <p:cNvSpPr/>
          <p:nvPr/>
        </p:nvSpPr>
        <p:spPr>
          <a:xfrm>
            <a:off x="5897880" y="333756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62472" y="352044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3</a:t>
            </a:r>
          </a:p>
        </p:txBody>
      </p:sp>
      <p:sp>
        <p:nvSpPr>
          <p:cNvPr id="14" name="TextBox 13"/>
          <p:cNvSpPr txBox="1"/>
          <p:nvPr/>
        </p:nvSpPr>
        <p:spPr>
          <a:xfrm>
            <a:off x="6583680" y="350215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Leakage stays hidden</a:t>
            </a:r>
          </a:p>
        </p:txBody>
      </p:sp>
      <p:sp>
        <p:nvSpPr>
          <p:cNvPr id="15" name="TextBox 14"/>
          <p:cNvSpPr txBox="1"/>
          <p:nvPr/>
        </p:nvSpPr>
        <p:spPr>
          <a:xfrm>
            <a:off x="6062472" y="406908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Price rises, unused subscriptions and duplicate charges hide in normal spending.</a:t>
            </a:r>
          </a:p>
        </p:txBody>
      </p:sp>
      <p:sp>
        <p:nvSpPr>
          <p:cNvPr id="16" name="Rounded Rectangle 15"/>
          <p:cNvSpPr/>
          <p:nvPr/>
        </p:nvSpPr>
        <p:spPr>
          <a:xfrm>
            <a:off x="8796528" y="333756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61120" y="352044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4</a:t>
            </a:r>
          </a:p>
        </p:txBody>
      </p:sp>
      <p:sp>
        <p:nvSpPr>
          <p:cNvPr id="18" name="TextBox 17"/>
          <p:cNvSpPr txBox="1"/>
          <p:nvPr/>
        </p:nvSpPr>
        <p:spPr>
          <a:xfrm>
            <a:off x="9482328" y="350215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Privacy and cost</a:t>
            </a:r>
          </a:p>
        </p:txBody>
      </p:sp>
      <p:sp>
        <p:nvSpPr>
          <p:cNvPr id="19" name="TextBox 18"/>
          <p:cNvSpPr txBox="1"/>
          <p:nvPr/>
        </p:nvSpPr>
        <p:spPr>
          <a:xfrm>
            <a:off x="8961120" y="406908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Aggregator apps want bank credentials; AI features need paid cloud services.</a:t>
            </a:r>
          </a:p>
        </p:txBody>
      </p:sp>
      <p:sp>
        <p:nvSpPr>
          <p:cNvPr id="20" name="TextBox 19"/>
          <p:cNvSpPr txBox="1"/>
          <p:nvPr/>
        </p:nvSpPr>
        <p:spPr>
          <a:xfrm>
            <a:off x="548640" y="5486400"/>
            <a:ext cx="11094415" cy="411480"/>
          </a:xfrm>
          <a:prstGeom prst="rect">
            <a:avLst/>
          </a:prstGeom>
          <a:noFill/>
        </p:spPr>
        <p:txBody>
          <a:bodyPr wrap="square" lIns="36576" tIns="18288" rIns="36576" bIns="18288" anchor="t">
            <a:noAutofit/>
          </a:bodyPr>
          <a:lstStyle/>
          <a:p>
            <a:pPr algn="ctr">
              <a:spcAft>
                <a:spcPts val="400"/>
              </a:spcAft>
              <a:buNone/>
            </a:pPr>
            <a:r>
              <a:rPr sz="1600" b="1" i="0">
                <a:solidFill>
                  <a:srgbClr val="154360"/>
                </a:solidFill>
                <a:latin typeface="Arial"/>
              </a:rPr>
              <a:t>Motivation: </a:t>
            </a:r>
            <a:r>
              <a:rPr sz="1600" b="0" i="1">
                <a:solidFill>
                  <a:srgbClr val="154360"/>
                </a:solidFill>
                <a:latin typeface="Arial"/>
              </a:rPr>
              <a:t>make money management automatic, private and forward-looking — with no new data entry and no new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Objectives and scope</a:t>
            </a:r>
          </a:p>
        </p:txBody>
      </p:sp>
      <p:sp>
        <p:nvSpPr>
          <p:cNvPr id="3" name="TextBox 2"/>
          <p:cNvSpPr txBox="1"/>
          <p:nvPr/>
        </p:nvSpPr>
        <p:spPr>
          <a:xfrm>
            <a:off x="548640" y="1188720"/>
            <a:ext cx="6309360" cy="411480"/>
          </a:xfrm>
          <a:prstGeom prst="rect">
            <a:avLst/>
          </a:prstGeom>
          <a:noFill/>
        </p:spPr>
        <p:txBody>
          <a:bodyPr wrap="square" lIns="36576" tIns="18288" rIns="36576" bIns="18288" anchor="t">
            <a:noAutofit/>
          </a:bodyPr>
          <a:lstStyle/>
          <a:p>
            <a:pPr algn="l">
              <a:spcAft>
                <a:spcPts val="400"/>
              </a:spcAft>
              <a:buNone/>
            </a:pPr>
            <a:r>
              <a:rPr sz="2000" b="1" i="0">
                <a:solidFill>
                  <a:srgbClr val="154360"/>
                </a:solidFill>
                <a:latin typeface="Arial"/>
              </a:rPr>
              <a:t>Objectives</a:t>
            </a:r>
          </a:p>
        </p:txBody>
      </p:sp>
      <p:sp>
        <p:nvSpPr>
          <p:cNvPr id="4" name="Oval 3"/>
          <p:cNvSpPr/>
          <p:nvPr/>
        </p:nvSpPr>
        <p:spPr>
          <a:xfrm>
            <a:off x="548640" y="17647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1</a:t>
            </a:r>
          </a:p>
        </p:txBody>
      </p:sp>
      <p:sp>
        <p:nvSpPr>
          <p:cNvPr id="5" name="TextBox 4"/>
          <p:cNvSpPr txBox="1"/>
          <p:nvPr/>
        </p:nvSpPr>
        <p:spPr>
          <a:xfrm>
            <a:off x="1078992" y="16916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Capture transactions from consented bank SMS and e-mail — no bank login — plus optional uploads.</a:t>
            </a:r>
          </a:p>
        </p:txBody>
      </p:sp>
      <p:sp>
        <p:nvSpPr>
          <p:cNvPr id="6" name="Oval 5"/>
          <p:cNvSpPr/>
          <p:nvPr/>
        </p:nvSpPr>
        <p:spPr>
          <a:xfrm>
            <a:off x="548640" y="24505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2</a:t>
            </a:r>
          </a:p>
        </p:txBody>
      </p:sp>
      <p:sp>
        <p:nvSpPr>
          <p:cNvPr id="7" name="TextBox 6"/>
          <p:cNvSpPr txBox="1"/>
          <p:nvPr/>
        </p:nvSpPr>
        <p:spPr>
          <a:xfrm>
            <a:off x="1078992" y="23774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Understand spending reliably: classify, extract, de-duplicate, categorise and flag anomalies.</a:t>
            </a:r>
          </a:p>
        </p:txBody>
      </p:sp>
      <p:sp>
        <p:nvSpPr>
          <p:cNvPr id="8" name="Oval 7"/>
          <p:cNvSpPr/>
          <p:nvPr/>
        </p:nvSpPr>
        <p:spPr>
          <a:xfrm>
            <a:off x="548640" y="31363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3</a:t>
            </a:r>
          </a:p>
        </p:txBody>
      </p:sp>
      <p:sp>
        <p:nvSpPr>
          <p:cNvPr id="9" name="TextBox 8"/>
          <p:cNvSpPr txBox="1"/>
          <p:nvPr/>
        </p:nvSpPr>
        <p:spPr>
          <a:xfrm>
            <a:off x="1078992" y="30632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Forecast the balance 90 days ahead and report its accuracy honestly against baselines.</a:t>
            </a:r>
          </a:p>
        </p:txBody>
      </p:sp>
      <p:sp>
        <p:nvSpPr>
          <p:cNvPr id="10" name="Oval 9"/>
          <p:cNvSpPr/>
          <p:nvPr/>
        </p:nvSpPr>
        <p:spPr>
          <a:xfrm>
            <a:off x="548640" y="3822191"/>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4</a:t>
            </a:r>
          </a:p>
        </p:txBody>
      </p:sp>
      <p:sp>
        <p:nvSpPr>
          <p:cNvPr id="11" name="TextBox 10"/>
          <p:cNvSpPr txBox="1"/>
          <p:nvPr/>
        </p:nvSpPr>
        <p:spPr>
          <a:xfrm>
            <a:off x="1078992" y="3749039"/>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Find subscription leakage and estimate income tax under both regimes, with evidence.</a:t>
            </a:r>
          </a:p>
        </p:txBody>
      </p:sp>
      <p:sp>
        <p:nvSpPr>
          <p:cNvPr id="12" name="Oval 11"/>
          <p:cNvSpPr/>
          <p:nvPr/>
        </p:nvSpPr>
        <p:spPr>
          <a:xfrm>
            <a:off x="548640" y="45079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5</a:t>
            </a:r>
          </a:p>
        </p:txBody>
      </p:sp>
      <p:sp>
        <p:nvSpPr>
          <p:cNvPr id="13" name="TextBox 12"/>
          <p:cNvSpPr txBox="1"/>
          <p:nvPr/>
        </p:nvSpPr>
        <p:spPr>
          <a:xfrm>
            <a:off x="1078992" y="44348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Turn data into decisions: insights, a coach, budgets, goals and affordable Smart Picks.</a:t>
            </a:r>
          </a:p>
        </p:txBody>
      </p:sp>
      <p:sp>
        <p:nvSpPr>
          <p:cNvPr id="14" name="Oval 13"/>
          <p:cNvSpPr/>
          <p:nvPr/>
        </p:nvSpPr>
        <p:spPr>
          <a:xfrm>
            <a:off x="548640" y="51937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6</a:t>
            </a:r>
          </a:p>
        </p:txBody>
      </p:sp>
      <p:sp>
        <p:nvSpPr>
          <p:cNvPr id="15" name="TextBox 14"/>
          <p:cNvSpPr txBox="1"/>
          <p:nvPr/>
        </p:nvSpPr>
        <p:spPr>
          <a:xfrm>
            <a:off x="1078992" y="51206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Keep users in control: consent per source and purpose, encryption, retention and deletion.</a:t>
            </a:r>
          </a:p>
        </p:txBody>
      </p:sp>
      <p:sp>
        <p:nvSpPr>
          <p:cNvPr id="16" name="Rounded Rectangle 15"/>
          <p:cNvSpPr/>
          <p:nvPr/>
        </p:nvSpPr>
        <p:spPr>
          <a:xfrm>
            <a:off x="7086600" y="1234440"/>
            <a:ext cx="4553712" cy="2240280"/>
          </a:xfrm>
          <a:prstGeom prst="roundRect">
            <a:avLst>
              <a:gd name="adj" fmla="val 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325880"/>
            <a:ext cx="4187952" cy="411480"/>
          </a:xfrm>
          <a:prstGeom prst="rect">
            <a:avLst/>
          </a:prstGeom>
          <a:noFill/>
        </p:spPr>
        <p:txBody>
          <a:bodyPr wrap="square" lIns="36576" tIns="18288" rIns="36576" bIns="18288" anchor="t">
            <a:noAutofit/>
          </a:bodyPr>
          <a:lstStyle/>
          <a:p>
            <a:pPr algn="l">
              <a:spcAft>
                <a:spcPts val="400"/>
              </a:spcAft>
              <a:buNone/>
            </a:pPr>
            <a:r>
              <a:rPr sz="1700" b="1" i="0">
                <a:solidFill>
                  <a:srgbClr val="1E7B4F"/>
                </a:solidFill>
                <a:latin typeface="Arial"/>
              </a:rPr>
              <a:t>In scope</a:t>
            </a:r>
          </a:p>
        </p:txBody>
      </p:sp>
      <p:sp>
        <p:nvSpPr>
          <p:cNvPr id="18" name="TextBox 17"/>
          <p:cNvSpPr txBox="1"/>
          <p:nvPr/>
        </p:nvSpPr>
        <p:spPr>
          <a:xfrm>
            <a:off x="7315200" y="1755648"/>
            <a:ext cx="4142232" cy="1691640"/>
          </a:xfrm>
          <a:prstGeom prst="rect">
            <a:avLst/>
          </a:prstGeom>
          <a:noFill/>
        </p:spPr>
        <p:txBody>
          <a:bodyPr wrap="square" lIns="36576" tIns="18288" rIns="36576" bIns="18288" anchor="t">
            <a:noAutofit/>
          </a:bodyPr>
          <a:lstStyle/>
          <a:p>
            <a:pPr algn="l" marL="201168" indent="-201168">
              <a:spcAft>
                <a:spcPts val="300"/>
              </a:spcAft>
              <a:buFont typeface="Arial"/>
              <a:buChar char="•"/>
            </a:pPr>
            <a:r>
              <a:rPr sz="1400" b="0" i="0">
                <a:solidFill>
                  <a:srgbClr val="1F2937"/>
                </a:solidFill>
                <a:latin typeface="Arial"/>
              </a:rPr>
              <a:t>SMS and e-mail capture with per-source consent</a:t>
            </a:r>
          </a:p>
          <a:p>
            <a:pPr algn="l" marL="201168" indent="-201168">
              <a:spcAft>
                <a:spcPts val="300"/>
              </a:spcAft>
              <a:buFont typeface="Arial"/>
              <a:buChar char="•"/>
            </a:pPr>
            <a:r>
              <a:rPr sz="1400" b="0" i="0">
                <a:solidFill>
                  <a:srgbClr val="1F2937"/>
                </a:solidFill>
                <a:latin typeface="Arial"/>
              </a:rPr>
              <a:t>Receipts (in-browser OCR), PDF bills, CSV, manual entry</a:t>
            </a:r>
          </a:p>
          <a:p>
            <a:pPr algn="l" marL="201168" indent="-201168">
              <a:spcAft>
                <a:spcPts val="300"/>
              </a:spcAft>
              <a:buFont typeface="Arial"/>
              <a:buChar char="•"/>
            </a:pPr>
            <a:r>
              <a:rPr sz="1400" b="0" i="0">
                <a:solidFill>
                  <a:srgbClr val="1F2937"/>
                </a:solidFill>
                <a:latin typeface="Arial"/>
              </a:rPr>
              <a:t>Forecast, subscriptions, tax, anomalies, insights, coach</a:t>
            </a:r>
          </a:p>
          <a:p>
            <a:pPr algn="l" marL="201168" indent="-201168">
              <a:spcAft>
                <a:spcPts val="300"/>
              </a:spcAft>
              <a:buFont typeface="Arial"/>
              <a:buChar char="•"/>
            </a:pPr>
            <a:r>
              <a:rPr sz="1400" b="0" i="0">
                <a:solidFill>
                  <a:srgbClr val="1F2937"/>
                </a:solidFill>
                <a:latin typeface="Arial"/>
              </a:rPr>
              <a:t>Smart Picks over the bundled demo stores</a:t>
            </a:r>
          </a:p>
          <a:p>
            <a:pPr algn="l" marL="201168" indent="-201168">
              <a:spcAft>
                <a:spcPts val="300"/>
              </a:spcAft>
              <a:buFont typeface="Arial"/>
              <a:buChar char="•"/>
            </a:pPr>
            <a:r>
              <a:rPr sz="1400" b="0" i="0">
                <a:solidFill>
                  <a:srgbClr val="1F2937"/>
                </a:solidFill>
                <a:latin typeface="Arial"/>
              </a:rPr>
              <a:t>One-command local install that works offline</a:t>
            </a:r>
          </a:p>
        </p:txBody>
      </p:sp>
      <p:sp>
        <p:nvSpPr>
          <p:cNvPr id="19" name="Rounded Rectangle 18"/>
          <p:cNvSpPr/>
          <p:nvPr/>
        </p:nvSpPr>
        <p:spPr>
          <a:xfrm>
            <a:off x="7086600" y="3639312"/>
            <a:ext cx="4553712" cy="2240280"/>
          </a:xfrm>
          <a:prstGeom prst="roundRect">
            <a:avLst>
              <a:gd name="adj" fmla="val 5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730752"/>
            <a:ext cx="4187952"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Out of scope (stated limits)</a:t>
            </a:r>
          </a:p>
        </p:txBody>
      </p:sp>
      <p:sp>
        <p:nvSpPr>
          <p:cNvPr id="21" name="TextBox 20"/>
          <p:cNvSpPr txBox="1"/>
          <p:nvPr/>
        </p:nvSpPr>
        <p:spPr>
          <a:xfrm>
            <a:off x="7315200" y="4160520"/>
            <a:ext cx="4142232" cy="1691640"/>
          </a:xfrm>
          <a:prstGeom prst="rect">
            <a:avLst/>
          </a:prstGeom>
          <a:noFill/>
        </p:spPr>
        <p:txBody>
          <a:bodyPr wrap="square" lIns="36576" tIns="18288" rIns="36576" bIns="18288" anchor="t">
            <a:noAutofit/>
          </a:bodyPr>
          <a:lstStyle/>
          <a:p>
            <a:pPr algn="l" marL="201168" indent="-201168">
              <a:spcAft>
                <a:spcPts val="300"/>
              </a:spcAft>
              <a:buFont typeface="Arial"/>
              <a:buChar char="•"/>
            </a:pPr>
            <a:r>
              <a:rPr sz="1400" b="0" i="0">
                <a:solidFill>
                  <a:srgbClr val="1F2937"/>
                </a:solidFill>
                <a:latin typeface="Arial"/>
              </a:rPr>
              <a:t>Live bank, account-aggregator or Gmail connections</a:t>
            </a:r>
          </a:p>
          <a:p>
            <a:pPr algn="l" marL="201168" indent="-201168">
              <a:spcAft>
                <a:spcPts val="300"/>
              </a:spcAft>
              <a:buFont typeface="Arial"/>
              <a:buChar char="•"/>
            </a:pPr>
            <a:r>
              <a:rPr sz="1400" b="0" i="0">
                <a:solidFill>
                  <a:srgbClr val="1F2937"/>
                </a:solidFill>
                <a:latin typeface="Arial"/>
              </a:rPr>
              <a:t>Real payments or money transfers</a:t>
            </a:r>
          </a:p>
          <a:p>
            <a:pPr algn="l" marL="201168" indent="-201168">
              <a:spcAft>
                <a:spcPts val="300"/>
              </a:spcAft>
              <a:buFont typeface="Arial"/>
              <a:buChar char="•"/>
            </a:pPr>
            <a:r>
              <a:rPr sz="1400" b="0" i="0">
                <a:solidFill>
                  <a:srgbClr val="1F2937"/>
                </a:solidFill>
                <a:latin typeface="Arial"/>
              </a:rPr>
              <a:t>Crawling the live internet</a:t>
            </a:r>
          </a:p>
          <a:p>
            <a:pPr algn="l" marL="201168" indent="-201168">
              <a:spcAft>
                <a:spcPts val="300"/>
              </a:spcAft>
              <a:buFont typeface="Arial"/>
              <a:buChar char="•"/>
            </a:pPr>
            <a:r>
              <a:rPr sz="1400" b="0" i="0">
                <a:solidFill>
                  <a:srgbClr val="1F2937"/>
                </a:solidFill>
                <a:latin typeface="Arial"/>
              </a:rPr>
              <a:t>Tax filing or financial advice (estimates only)</a:t>
            </a:r>
          </a:p>
          <a:p>
            <a:pPr algn="l" marL="201168" indent="-201168">
              <a:spcAft>
                <a:spcPts val="300"/>
              </a:spcAft>
              <a:buFont typeface="Arial"/>
              <a:buChar char="•"/>
            </a:pPr>
            <a:r>
              <a:rPr sz="1400" b="0" i="0">
                <a:solidFill>
                  <a:srgbClr val="1F2937"/>
                </a:solidFill>
                <a:latin typeface="Arial"/>
              </a:rPr>
              <a:t>A native mobile app (responsive web instead)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(1/2)</a:t>
            </a:r>
          </a:p>
        </p:txBody>
      </p:sp>
      <p:sp>
        <p:nvSpPr>
          <p:cNvPr id="3" name="Rounded Rectangle 2"/>
          <p:cNvSpPr/>
          <p:nvPr/>
        </p:nvSpPr>
        <p:spPr>
          <a:xfrm>
            <a:off x="548640" y="1234439"/>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371600"/>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a:t>
            </a:r>
          </a:p>
        </p:txBody>
      </p:sp>
      <p:sp>
        <p:nvSpPr>
          <p:cNvPr id="5" name="TextBox 4"/>
          <p:cNvSpPr txBox="1"/>
          <p:nvPr/>
        </p:nvSpPr>
        <p:spPr>
          <a:xfrm>
            <a:off x="1554480" y="1261872"/>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Accounts and sessions</a:t>
            </a:r>
          </a:p>
        </p:txBody>
      </p:sp>
      <p:sp>
        <p:nvSpPr>
          <p:cNvPr id="6" name="TextBox 5"/>
          <p:cNvSpPr txBox="1"/>
          <p:nvPr/>
        </p:nvSpPr>
        <p:spPr>
          <a:xfrm>
            <a:off x="4343400" y="1261872"/>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Register, sign in, one-click demo, sign out; sessions refresh silently in the background.</a:t>
            </a:r>
          </a:p>
        </p:txBody>
      </p:sp>
      <p:sp>
        <p:nvSpPr>
          <p:cNvPr id="7" name="Rounded Rectangle 6"/>
          <p:cNvSpPr/>
          <p:nvPr/>
        </p:nvSpPr>
        <p:spPr>
          <a:xfrm>
            <a:off x="658368" y="203911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FR2</a:t>
            </a:r>
          </a:p>
        </p:txBody>
      </p:sp>
      <p:sp>
        <p:nvSpPr>
          <p:cNvPr id="8" name="TextBox 7"/>
          <p:cNvSpPr txBox="1"/>
          <p:nvPr/>
        </p:nvSpPr>
        <p:spPr>
          <a:xfrm>
            <a:off x="1554480" y="192938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Consent per source</a:t>
            </a:r>
          </a:p>
        </p:txBody>
      </p:sp>
      <p:sp>
        <p:nvSpPr>
          <p:cNvPr id="9" name="TextBox 8"/>
          <p:cNvSpPr txBox="1"/>
          <p:nvPr/>
        </p:nvSpPr>
        <p:spPr>
          <a:xfrm>
            <a:off x="4343400" y="192938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Allow SMS and e-mail separately, with purposes and a backfill window; pause, resume, revoke, delete data; consent history.</a:t>
            </a:r>
          </a:p>
        </p:txBody>
      </p:sp>
      <p:sp>
        <p:nvSpPr>
          <p:cNvPr id="10" name="Rounded Rectangle 9"/>
          <p:cNvSpPr/>
          <p:nvPr/>
        </p:nvSpPr>
        <p:spPr>
          <a:xfrm>
            <a:off x="548640" y="2569464"/>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706624"/>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FR3</a:t>
            </a:r>
          </a:p>
        </p:txBody>
      </p:sp>
      <p:sp>
        <p:nvSpPr>
          <p:cNvPr id="12" name="TextBox 11"/>
          <p:cNvSpPr txBox="1"/>
          <p:nvPr/>
        </p:nvSpPr>
        <p:spPr>
          <a:xfrm>
            <a:off x="1554480" y="2596896"/>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Message capture</a:t>
            </a:r>
          </a:p>
        </p:txBody>
      </p:sp>
      <p:sp>
        <p:nvSpPr>
          <p:cNvPr id="13" name="TextBox 12"/>
          <p:cNvSpPr txBox="1"/>
          <p:nvPr/>
        </p:nvSpPr>
        <p:spPr>
          <a:xfrm>
            <a:off x="4343400" y="2596896"/>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Pre-filter, classify 12 message kinds, extract fields with confidence, reconcile duplicates, transfers, reversals and refunds.</a:t>
            </a:r>
          </a:p>
        </p:txBody>
      </p:sp>
      <p:sp>
        <p:nvSpPr>
          <p:cNvPr id="14" name="Rounded Rectangle 13"/>
          <p:cNvSpPr/>
          <p:nvPr/>
        </p:nvSpPr>
        <p:spPr>
          <a:xfrm>
            <a:off x="658368" y="3374136"/>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FR4</a:t>
            </a:r>
          </a:p>
        </p:txBody>
      </p:sp>
      <p:sp>
        <p:nvSpPr>
          <p:cNvPr id="15" name="TextBox 14"/>
          <p:cNvSpPr txBox="1"/>
          <p:nvPr/>
        </p:nvSpPr>
        <p:spPr>
          <a:xfrm>
            <a:off x="1554480" y="3264408"/>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Optional uploads</a:t>
            </a:r>
          </a:p>
        </p:txBody>
      </p:sp>
      <p:sp>
        <p:nvSpPr>
          <p:cNvPr id="16" name="TextBox 15"/>
          <p:cNvSpPr txBox="1"/>
          <p:nvPr/>
        </p:nvSpPr>
        <p:spPr>
          <a:xfrm>
            <a:off x="4343400" y="3264408"/>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Receipt OCR in the browser, digital PDF bills, a statement CSV wizard and manual entry.</a:t>
            </a:r>
          </a:p>
        </p:txBody>
      </p:sp>
      <p:sp>
        <p:nvSpPr>
          <p:cNvPr id="17" name="Rounded Rectangle 16"/>
          <p:cNvSpPr/>
          <p:nvPr/>
        </p:nvSpPr>
        <p:spPr>
          <a:xfrm>
            <a:off x="548640" y="3904487"/>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041648"/>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FR5</a:t>
            </a:r>
          </a:p>
        </p:txBody>
      </p:sp>
      <p:sp>
        <p:nvSpPr>
          <p:cNvPr id="19" name="TextBox 18"/>
          <p:cNvSpPr txBox="1"/>
          <p:nvPr/>
        </p:nvSpPr>
        <p:spPr>
          <a:xfrm>
            <a:off x="1554480" y="3931920"/>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Transactions and review</a:t>
            </a:r>
          </a:p>
        </p:txBody>
      </p:sp>
      <p:sp>
        <p:nvSpPr>
          <p:cNvPr id="20" name="TextBox 19"/>
          <p:cNvSpPr txBox="1"/>
          <p:nvPr/>
        </p:nvSpPr>
        <p:spPr>
          <a:xfrm>
            <a:off x="4343400" y="3931920"/>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Search and filter, evidence drawer, recategorise with “apply to all” rules, a review queue that learns.</a:t>
            </a:r>
          </a:p>
        </p:txBody>
      </p:sp>
      <p:sp>
        <p:nvSpPr>
          <p:cNvPr id="21" name="Rounded Rectangle 20"/>
          <p:cNvSpPr/>
          <p:nvPr/>
        </p:nvSpPr>
        <p:spPr>
          <a:xfrm>
            <a:off x="658368" y="4709159"/>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FR6</a:t>
            </a:r>
          </a:p>
        </p:txBody>
      </p:sp>
      <p:sp>
        <p:nvSpPr>
          <p:cNvPr id="22" name="TextBox 21"/>
          <p:cNvSpPr txBox="1"/>
          <p:nvPr/>
        </p:nvSpPr>
        <p:spPr>
          <a:xfrm>
            <a:off x="1554480" y="4599431"/>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Dashboard</a:t>
            </a:r>
          </a:p>
        </p:txBody>
      </p:sp>
      <p:sp>
        <p:nvSpPr>
          <p:cNvPr id="23" name="TextBox 22"/>
          <p:cNvSpPr txBox="1"/>
          <p:nvPr/>
        </p:nvSpPr>
        <p:spPr>
          <a:xfrm>
            <a:off x="4343400" y="4599431"/>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Balance, safe to spend, spending, the 90-day forecast band, attention feed, bills due and anomalies.</a:t>
            </a:r>
          </a:p>
        </p:txBody>
      </p:sp>
      <p:sp>
        <p:nvSpPr>
          <p:cNvPr id="24" name="Rounded Rectangle 23"/>
          <p:cNvSpPr/>
          <p:nvPr/>
        </p:nvSpPr>
        <p:spPr>
          <a:xfrm>
            <a:off x="548640" y="5239512"/>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537667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FR7</a:t>
            </a:r>
          </a:p>
        </p:txBody>
      </p:sp>
      <p:sp>
        <p:nvSpPr>
          <p:cNvPr id="26" name="TextBox 25"/>
          <p:cNvSpPr txBox="1"/>
          <p:nvPr/>
        </p:nvSpPr>
        <p:spPr>
          <a:xfrm>
            <a:off x="1554480" y="526694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Cash-flow forecast</a:t>
            </a:r>
          </a:p>
        </p:txBody>
      </p:sp>
      <p:sp>
        <p:nvSpPr>
          <p:cNvPr id="27" name="TextBox 26"/>
          <p:cNvSpPr txBox="1"/>
          <p:nvPr/>
        </p:nvSpPr>
        <p:spPr>
          <a:xfrm>
            <a:off x="4343400" y="526694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90-day projection with an 80% band, what-if purchases, upcoming payments and a backtest against baselines.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(2/2)</a:t>
            </a:r>
          </a:p>
        </p:txBody>
      </p:sp>
      <p:sp>
        <p:nvSpPr>
          <p:cNvPr id="3" name="Rounded Rectangle 2"/>
          <p:cNvSpPr/>
          <p:nvPr/>
        </p:nvSpPr>
        <p:spPr>
          <a:xfrm>
            <a:off x="548640" y="1234439"/>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371600"/>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FR8</a:t>
            </a:r>
          </a:p>
        </p:txBody>
      </p:sp>
      <p:sp>
        <p:nvSpPr>
          <p:cNvPr id="5" name="TextBox 4"/>
          <p:cNvSpPr txBox="1"/>
          <p:nvPr/>
        </p:nvSpPr>
        <p:spPr>
          <a:xfrm>
            <a:off x="1554480" y="1261872"/>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Subscriptions</a:t>
            </a:r>
          </a:p>
        </p:txBody>
      </p:sp>
      <p:sp>
        <p:nvSpPr>
          <p:cNvPr id="6" name="TextBox 5"/>
          <p:cNvSpPr txBox="1"/>
          <p:nvPr/>
        </p:nvSpPr>
        <p:spPr>
          <a:xfrm>
            <a:off x="4343400" y="1261872"/>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Detect recurring charges; flag price rises, unused plans, trials that became paid and overlaps; keep or cancel.</a:t>
            </a:r>
          </a:p>
        </p:txBody>
      </p:sp>
      <p:sp>
        <p:nvSpPr>
          <p:cNvPr id="7" name="Rounded Rectangle 6"/>
          <p:cNvSpPr/>
          <p:nvPr/>
        </p:nvSpPr>
        <p:spPr>
          <a:xfrm>
            <a:off x="658368" y="203911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FR9</a:t>
            </a:r>
          </a:p>
        </p:txBody>
      </p:sp>
      <p:sp>
        <p:nvSpPr>
          <p:cNvPr id="8" name="TextBox 7"/>
          <p:cNvSpPr txBox="1"/>
          <p:nvPr/>
        </p:nvSpPr>
        <p:spPr>
          <a:xfrm>
            <a:off x="1554480" y="192938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Tax insights</a:t>
            </a:r>
          </a:p>
        </p:txBody>
      </p:sp>
      <p:sp>
        <p:nvSpPr>
          <p:cNvPr id="9" name="TextBox 8"/>
          <p:cNvSpPr txBox="1"/>
          <p:nvPr/>
        </p:nvSpPr>
        <p:spPr>
          <a:xfrm>
            <a:off x="4343400" y="192938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FY 2025-26 and Tax Year 2026-27, both regimes, deductions found in transactions, headroom, advance tax, CSV/PDF.</a:t>
            </a:r>
          </a:p>
        </p:txBody>
      </p:sp>
      <p:sp>
        <p:nvSpPr>
          <p:cNvPr id="10" name="Rounded Rectangle 9"/>
          <p:cNvSpPr/>
          <p:nvPr/>
        </p:nvSpPr>
        <p:spPr>
          <a:xfrm>
            <a:off x="548640" y="2569464"/>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706624"/>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FR10</a:t>
            </a:r>
          </a:p>
        </p:txBody>
      </p:sp>
      <p:sp>
        <p:nvSpPr>
          <p:cNvPr id="12" name="TextBox 11"/>
          <p:cNvSpPr txBox="1"/>
          <p:nvPr/>
        </p:nvSpPr>
        <p:spPr>
          <a:xfrm>
            <a:off x="1554480" y="2596896"/>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Insights and coach</a:t>
            </a:r>
          </a:p>
        </p:txBody>
      </p:sp>
      <p:sp>
        <p:nvSpPr>
          <p:cNvPr id="13" name="TextBox 12"/>
          <p:cNvSpPr txBox="1"/>
          <p:nvPr/>
        </p:nvSpPr>
        <p:spPr>
          <a:xfrm>
            <a:off x="4343400" y="2596896"/>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Ranked, dismissible insights; a coach that answers 13 kinds of question from the user's own data.</a:t>
            </a:r>
          </a:p>
        </p:txBody>
      </p:sp>
      <p:sp>
        <p:nvSpPr>
          <p:cNvPr id="14" name="Rounded Rectangle 13"/>
          <p:cNvSpPr/>
          <p:nvPr/>
        </p:nvSpPr>
        <p:spPr>
          <a:xfrm>
            <a:off x="658368" y="3374136"/>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FR11</a:t>
            </a:r>
          </a:p>
        </p:txBody>
      </p:sp>
      <p:sp>
        <p:nvSpPr>
          <p:cNvPr id="15" name="TextBox 14"/>
          <p:cNvSpPr txBox="1"/>
          <p:nvPr/>
        </p:nvSpPr>
        <p:spPr>
          <a:xfrm>
            <a:off x="1554480" y="3264408"/>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Budgets and goals</a:t>
            </a:r>
          </a:p>
        </p:txBody>
      </p:sp>
      <p:sp>
        <p:nvSpPr>
          <p:cNvPr id="16" name="TextBox 15"/>
          <p:cNvSpPr txBox="1"/>
          <p:nvPr/>
        </p:nvSpPr>
        <p:spPr>
          <a:xfrm>
            <a:off x="4343400" y="3264408"/>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Monthly category limits with pace markers; goals with monthly targets and “add money”.</a:t>
            </a:r>
          </a:p>
        </p:txBody>
      </p:sp>
      <p:sp>
        <p:nvSpPr>
          <p:cNvPr id="17" name="Rounded Rectangle 16"/>
          <p:cNvSpPr/>
          <p:nvPr/>
        </p:nvSpPr>
        <p:spPr>
          <a:xfrm>
            <a:off x="548640" y="3904487"/>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041648"/>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FR12</a:t>
            </a:r>
          </a:p>
        </p:txBody>
      </p:sp>
      <p:sp>
        <p:nvSpPr>
          <p:cNvPr id="19" name="TextBox 18"/>
          <p:cNvSpPr txBox="1"/>
          <p:nvPr/>
        </p:nvSpPr>
        <p:spPr>
          <a:xfrm>
            <a:off x="1554480" y="3931920"/>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Smart Picks</a:t>
            </a:r>
          </a:p>
        </p:txBody>
      </p:sp>
      <p:sp>
        <p:nvSpPr>
          <p:cNvPr id="20" name="TextBox 19"/>
          <p:cNvSpPr txBox="1"/>
          <p:nvPr/>
        </p:nvSpPr>
        <p:spPr>
          <a:xfrm>
            <a:off x="4343400" y="3931920"/>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Polite crawler over demo stores, affordability snapshot, Buy now / For your goals / Save up tiers, wishlist, price check.</a:t>
            </a:r>
          </a:p>
        </p:txBody>
      </p:sp>
      <p:sp>
        <p:nvSpPr>
          <p:cNvPr id="21" name="Rounded Rectangle 20"/>
          <p:cNvSpPr/>
          <p:nvPr/>
        </p:nvSpPr>
        <p:spPr>
          <a:xfrm>
            <a:off x="658368" y="4709159"/>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FR13</a:t>
            </a:r>
          </a:p>
        </p:txBody>
      </p:sp>
      <p:sp>
        <p:nvSpPr>
          <p:cNvPr id="22" name="TextBox 21"/>
          <p:cNvSpPr txBox="1"/>
          <p:nvPr/>
        </p:nvSpPr>
        <p:spPr>
          <a:xfrm>
            <a:off x="1554480" y="4599431"/>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Settings and data rights</a:t>
            </a:r>
          </a:p>
        </p:txBody>
      </p:sp>
      <p:sp>
        <p:nvSpPr>
          <p:cNvPr id="23" name="TextBox 22"/>
          <p:cNvSpPr txBox="1"/>
          <p:nvPr/>
        </p:nvSpPr>
        <p:spPr>
          <a:xfrm>
            <a:off x="4343400" y="4599431"/>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Buffer, emergency months, picks per week and retention; export all data; delete account; reset demo.</a:t>
            </a:r>
          </a:p>
        </p:txBody>
      </p:sp>
      <p:sp>
        <p:nvSpPr>
          <p:cNvPr id="24" name="Rounded Rectangle 23"/>
          <p:cNvSpPr/>
          <p:nvPr/>
        </p:nvSpPr>
        <p:spPr>
          <a:xfrm>
            <a:off x="548640" y="5239512"/>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537667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FR14</a:t>
            </a:r>
          </a:p>
        </p:txBody>
      </p:sp>
      <p:sp>
        <p:nvSpPr>
          <p:cNvPr id="26" name="TextBox 25"/>
          <p:cNvSpPr txBox="1"/>
          <p:nvPr/>
        </p:nvSpPr>
        <p:spPr>
          <a:xfrm>
            <a:off x="1554480" y="526694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System and model quality</a:t>
            </a:r>
          </a:p>
        </p:txBody>
      </p:sp>
      <p:sp>
        <p:nvSpPr>
          <p:cNvPr id="27" name="TextBox 26"/>
          <p:cNvSpPr txBox="1"/>
          <p:nvPr/>
        </p:nvSpPr>
        <p:spPr>
          <a:xfrm>
            <a:off x="4343400" y="526694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Capability checks, measured model metrics and an in-browser OCR benchmark.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Non-functional requirements</a:t>
            </a:r>
          </a:p>
        </p:txBody>
      </p:sp>
      <p:sp>
        <p:nvSpPr>
          <p:cNvPr id="3" name="Rounded Rectangle 2"/>
          <p:cNvSpPr/>
          <p:nvPr/>
        </p:nvSpPr>
        <p:spPr>
          <a:xfrm>
            <a:off x="54864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Security</a:t>
            </a:r>
          </a:p>
        </p:txBody>
      </p:sp>
      <p:sp>
        <p:nvSpPr>
          <p:cNvPr id="5" name="TextBox 4"/>
          <p:cNvSpPr txBox="1"/>
          <p:nvPr/>
        </p:nvSpPr>
        <p:spPr>
          <a:xfrm>
            <a:off x="73152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bcrypt passwords (12 rounds)</a:t>
            </a:r>
          </a:p>
          <a:p>
            <a:pPr algn="l" marL="201168" indent="-201168">
              <a:spcAft>
                <a:spcPts val="600"/>
              </a:spcAft>
              <a:buFont typeface="Arial"/>
              <a:buChar char="•"/>
            </a:pPr>
            <a:r>
              <a:rPr sz="1400" b="0" i="0">
                <a:solidFill>
                  <a:srgbClr val="1F2937"/>
                </a:solidFill>
                <a:latin typeface="Arial"/>
              </a:rPr>
              <a:t>JWT in httpOnly cookies; rotating refresh tokens</a:t>
            </a:r>
          </a:p>
          <a:p>
            <a:pPr algn="l" marL="201168" indent="-201168">
              <a:spcAft>
                <a:spcPts val="600"/>
              </a:spcAft>
              <a:buFont typeface="Arial"/>
              <a:buChar char="•"/>
            </a:pPr>
            <a:r>
              <a:rPr sz="1400" b="0" i="0">
                <a:solidFill>
                  <a:srgbClr val="1F2937"/>
                </a:solidFill>
                <a:latin typeface="Arial"/>
              </a:rPr>
              <a:t>CSRF header check; failed-login limit</a:t>
            </a:r>
          </a:p>
        </p:txBody>
      </p:sp>
      <p:sp>
        <p:nvSpPr>
          <p:cNvPr id="6" name="Rounded Rectangle 5"/>
          <p:cNvSpPr/>
          <p:nvPr/>
        </p:nvSpPr>
        <p:spPr>
          <a:xfrm>
            <a:off x="337505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793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Privacy</a:t>
            </a:r>
          </a:p>
        </p:txBody>
      </p:sp>
      <p:sp>
        <p:nvSpPr>
          <p:cNvPr id="8" name="TextBox 7"/>
          <p:cNvSpPr txBox="1"/>
          <p:nvPr/>
        </p:nvSpPr>
        <p:spPr>
          <a:xfrm>
            <a:off x="355793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Consent per source and purpose</a:t>
            </a:r>
          </a:p>
          <a:p>
            <a:pPr algn="l" marL="201168" indent="-201168">
              <a:spcAft>
                <a:spcPts val="600"/>
              </a:spcAft>
              <a:buFont typeface="Arial"/>
              <a:buChar char="•"/>
            </a:pPr>
            <a:r>
              <a:rPr sz="1400" b="0" i="0">
                <a:solidFill>
                  <a:srgbClr val="1F2937"/>
                </a:solidFill>
                <a:latin typeface="Arial"/>
              </a:rPr>
              <a:t>Message text encrypted, deleted after 90 days</a:t>
            </a:r>
          </a:p>
          <a:p>
            <a:pPr algn="l" marL="201168" indent="-201168">
              <a:spcAft>
                <a:spcPts val="600"/>
              </a:spcAft>
              <a:buFont typeface="Arial"/>
              <a:buChar char="•"/>
            </a:pPr>
            <a:r>
              <a:rPr sz="1400" b="0" i="0">
                <a:solidFill>
                  <a:srgbClr val="1F2937"/>
                </a:solidFill>
                <a:latin typeface="Arial"/>
              </a:rPr>
              <a:t>Append-only consent log; export, delete</a:t>
            </a:r>
          </a:p>
        </p:txBody>
      </p:sp>
      <p:sp>
        <p:nvSpPr>
          <p:cNvPr id="9" name="Rounded Rectangle 8"/>
          <p:cNvSpPr/>
          <p:nvPr/>
        </p:nvSpPr>
        <p:spPr>
          <a:xfrm>
            <a:off x="620146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434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Reliability</a:t>
            </a:r>
          </a:p>
        </p:txBody>
      </p:sp>
      <p:sp>
        <p:nvSpPr>
          <p:cNvPr id="11" name="TextBox 10"/>
          <p:cNvSpPr txBox="1"/>
          <p:nvPr/>
        </p:nvSpPr>
        <p:spPr>
          <a:xfrm>
            <a:off x="638434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Every request commits or rolls back</a:t>
            </a:r>
          </a:p>
          <a:p>
            <a:pPr algn="l" marL="201168" indent="-201168">
              <a:spcAft>
                <a:spcPts val="600"/>
              </a:spcAft>
              <a:buFont typeface="Arial"/>
              <a:buChar char="•"/>
            </a:pPr>
            <a:r>
              <a:rPr sz="1400" b="0" i="0">
                <a:solidFill>
                  <a:srgbClr val="1F2937"/>
                </a:solidFill>
                <a:latin typeface="Arial"/>
              </a:rPr>
              <a:t>Isolated analytics stages and jobs</a:t>
            </a:r>
          </a:p>
          <a:p>
            <a:pPr algn="l" marL="201168" indent="-201168">
              <a:spcAft>
                <a:spcPts val="600"/>
              </a:spcAft>
              <a:buFont typeface="Arial"/>
              <a:buChar char="•"/>
            </a:pPr>
            <a:r>
              <a:rPr sz="1400" b="0" i="0">
                <a:solidFill>
                  <a:srgbClr val="1F2937"/>
                </a:solidFill>
                <a:latin typeface="Arial"/>
              </a:rPr>
              <a:t>Prophet → baseline fallback; crawler retries</a:t>
            </a:r>
          </a:p>
        </p:txBody>
      </p:sp>
      <p:sp>
        <p:nvSpPr>
          <p:cNvPr id="12" name="Rounded Rectangle 11"/>
          <p:cNvSpPr/>
          <p:nvPr/>
        </p:nvSpPr>
        <p:spPr>
          <a:xfrm>
            <a:off x="9027871"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10751"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Performance</a:t>
            </a:r>
          </a:p>
        </p:txBody>
      </p:sp>
      <p:sp>
        <p:nvSpPr>
          <p:cNvPr id="14" name="TextBox 13"/>
          <p:cNvSpPr txBox="1"/>
          <p:nvPr/>
        </p:nvSpPr>
        <p:spPr>
          <a:xfrm>
            <a:off x="9210751"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Demo ready ≈51 s after a clean start</a:t>
            </a:r>
          </a:p>
          <a:p>
            <a:pPr algn="l" marL="201168" indent="-201168">
              <a:spcAft>
                <a:spcPts val="600"/>
              </a:spcAft>
              <a:buFont typeface="Arial"/>
              <a:buChar char="•"/>
            </a:pPr>
            <a:r>
              <a:rPr sz="1400" b="0" i="0">
                <a:solidFill>
                  <a:srgbClr val="1F2937"/>
                </a:solidFill>
                <a:latin typeface="Arial"/>
              </a:rPr>
              <a:t>Models train in ≈3 s; OCR ≈0.5 s/receipt</a:t>
            </a:r>
          </a:p>
          <a:p>
            <a:pPr algn="l" marL="201168" indent="-201168">
              <a:spcAft>
                <a:spcPts val="600"/>
              </a:spcAft>
              <a:buFont typeface="Arial"/>
              <a:buChar char="•"/>
            </a:pPr>
            <a:r>
              <a:rPr sz="1400" b="0" i="0">
                <a:solidFill>
                  <a:srgbClr val="1F2937"/>
                </a:solidFill>
                <a:latin typeface="Arial"/>
              </a:rPr>
              <a:t>What-if reuses the stored forecast</a:t>
            </a:r>
          </a:p>
        </p:txBody>
      </p:sp>
      <p:sp>
        <p:nvSpPr>
          <p:cNvPr id="15" name="Rounded Rectangle 14"/>
          <p:cNvSpPr/>
          <p:nvPr/>
        </p:nvSpPr>
        <p:spPr>
          <a:xfrm>
            <a:off x="54864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Usability</a:t>
            </a:r>
          </a:p>
        </p:txBody>
      </p:sp>
      <p:sp>
        <p:nvSpPr>
          <p:cNvPr id="17" name="TextBox 16"/>
          <p:cNvSpPr txBox="1"/>
          <p:nvPr/>
        </p:nvSpPr>
        <p:spPr>
          <a:xfrm>
            <a:off x="73152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Responsive, with a mobile drawer</a:t>
            </a:r>
          </a:p>
          <a:p>
            <a:pPr algn="l" marL="201168" indent="-201168">
              <a:spcAft>
                <a:spcPts val="600"/>
              </a:spcAft>
              <a:buFont typeface="Arial"/>
              <a:buChar char="•"/>
            </a:pPr>
            <a:r>
              <a:rPr sz="1400" b="0" i="0">
                <a:solidFill>
                  <a:srgbClr val="1F2937"/>
                </a:solidFill>
                <a:latin typeface="Arial"/>
              </a:rPr>
              <a:t>Every chart has a table view</a:t>
            </a:r>
          </a:p>
          <a:p>
            <a:pPr algn="l" marL="201168" indent="-201168">
              <a:spcAft>
                <a:spcPts val="600"/>
              </a:spcAft>
              <a:buFont typeface="Arial"/>
              <a:buChar char="•"/>
            </a:pPr>
            <a:r>
              <a:rPr sz="1400" b="0" i="0">
                <a:solidFill>
                  <a:srgbClr val="1F2937"/>
                </a:solidFill>
                <a:latin typeface="Arial"/>
              </a:rPr>
              <a:t>Plain-language errors and progress</a:t>
            </a:r>
          </a:p>
        </p:txBody>
      </p:sp>
      <p:sp>
        <p:nvSpPr>
          <p:cNvPr id="18" name="Rounded Rectangle 17"/>
          <p:cNvSpPr/>
          <p:nvPr/>
        </p:nvSpPr>
        <p:spPr>
          <a:xfrm>
            <a:off x="337505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93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Portability</a:t>
            </a:r>
          </a:p>
        </p:txBody>
      </p:sp>
      <p:sp>
        <p:nvSpPr>
          <p:cNvPr id="20" name="TextBox 19"/>
          <p:cNvSpPr txBox="1"/>
          <p:nvPr/>
        </p:nvSpPr>
        <p:spPr>
          <a:xfrm>
            <a:off x="355793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One command: python3 run.py</a:t>
            </a:r>
          </a:p>
          <a:p>
            <a:pPr algn="l" marL="201168" indent="-201168">
              <a:spcAft>
                <a:spcPts val="600"/>
              </a:spcAft>
              <a:buFont typeface="Arial"/>
              <a:buChar char="•"/>
            </a:pPr>
            <a:r>
              <a:rPr sz="1400" b="0" i="0">
                <a:solidFill>
                  <a:srgbClr val="1F2937"/>
                </a:solidFill>
                <a:latin typeface="Arial"/>
              </a:rPr>
              <a:t>Python 3.11+; no Docker, no DB server</a:t>
            </a:r>
          </a:p>
          <a:p>
            <a:pPr algn="l" marL="201168" indent="-201168">
              <a:spcAft>
                <a:spcPts val="600"/>
              </a:spcAft>
              <a:buFont typeface="Arial"/>
              <a:buChar char="•"/>
            </a:pPr>
            <a:r>
              <a:rPr sz="1400" b="0" i="0">
                <a:solidFill>
                  <a:srgbClr val="1F2937"/>
                </a:solidFill>
                <a:latin typeface="Arial"/>
              </a:rPr>
              <a:t>Works offline after the first run</a:t>
            </a:r>
          </a:p>
        </p:txBody>
      </p:sp>
      <p:sp>
        <p:nvSpPr>
          <p:cNvPr id="21" name="Rounded Rectangle 20"/>
          <p:cNvSpPr/>
          <p:nvPr/>
        </p:nvSpPr>
        <p:spPr>
          <a:xfrm>
            <a:off x="620146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434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Maintainability</a:t>
            </a:r>
          </a:p>
        </p:txBody>
      </p:sp>
      <p:sp>
        <p:nvSpPr>
          <p:cNvPr id="23" name="TextBox 22"/>
          <p:cNvSpPr txBox="1"/>
          <p:nvPr/>
        </p:nvSpPr>
        <p:spPr>
          <a:xfrm>
            <a:off x="638434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Routers → services → models</a:t>
            </a:r>
          </a:p>
          <a:p>
            <a:pPr algn="l" marL="201168" indent="-201168">
              <a:spcAft>
                <a:spcPts val="600"/>
              </a:spcAft>
              <a:buFont typeface="Arial"/>
              <a:buChar char="•"/>
            </a:pPr>
            <a:r>
              <a:rPr sz="1400" b="0" i="0">
                <a:solidFill>
                  <a:srgbClr val="1F2937"/>
                </a:solidFill>
                <a:latin typeface="Arial"/>
              </a:rPr>
              <a:t>Alembic migrations; shared metrics</a:t>
            </a:r>
          </a:p>
          <a:p>
            <a:pPr algn="l" marL="201168" indent="-201168">
              <a:spcAft>
                <a:spcPts val="600"/>
              </a:spcAft>
              <a:buFont typeface="Arial"/>
              <a:buChar char="•"/>
            </a:pPr>
            <a:r>
              <a:rPr sz="1400" b="0" i="0">
                <a:solidFill>
                  <a:srgbClr val="1F2937"/>
                </a:solidFill>
                <a:latin typeface="Arial"/>
              </a:rPr>
              <a:t>59 backend + 14 end-to-end tests</a:t>
            </a:r>
          </a:p>
        </p:txBody>
      </p:sp>
      <p:sp>
        <p:nvSpPr>
          <p:cNvPr id="24" name="Rounded Rectangle 23"/>
          <p:cNvSpPr/>
          <p:nvPr/>
        </p:nvSpPr>
        <p:spPr>
          <a:xfrm>
            <a:off x="9027871"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0751"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Accuracy</a:t>
            </a:r>
          </a:p>
        </p:txBody>
      </p:sp>
      <p:sp>
        <p:nvSpPr>
          <p:cNvPr id="26" name="TextBox 25"/>
          <p:cNvSpPr txBox="1"/>
          <p:nvPr/>
        </p:nvSpPr>
        <p:spPr>
          <a:xfrm>
            <a:off x="9210751"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Money as integer paise and Decimal</a:t>
            </a:r>
          </a:p>
          <a:p>
            <a:pPr algn="l" marL="201168" indent="-201168">
              <a:spcAft>
                <a:spcPts val="600"/>
              </a:spcAft>
              <a:buFont typeface="Arial"/>
              <a:buChar char="•"/>
            </a:pPr>
            <a:r>
              <a:rPr sz="1400" b="0" i="0">
                <a:solidFill>
                  <a:srgbClr val="1F2937"/>
                </a:solidFill>
                <a:latin typeface="Arial"/>
              </a:rPr>
              <a:t>Held-out tests, backtests, WAPE</a:t>
            </a:r>
          </a:p>
          <a:p>
            <a:pPr algn="l" marL="201168" indent="-201168">
              <a:spcAft>
                <a:spcPts val="600"/>
              </a:spcAft>
              <a:buFont typeface="Arial"/>
              <a:buChar char="•"/>
            </a:pPr>
            <a:r>
              <a:rPr sz="1400" b="0" i="0">
                <a:solidFill>
                  <a:srgbClr val="1F2937"/>
                </a:solidFill>
                <a:latin typeface="Arial"/>
              </a:rPr>
              <a:t>“Estimates, not advice” disclaimers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System architecture</a:t>
            </a:r>
          </a:p>
        </p:txBody>
      </p:sp>
      <p:sp>
        <p:nvSpPr>
          <p:cNvPr id="3" name="Rounded Rectangle 2"/>
          <p:cNvSpPr/>
          <p:nvPr/>
        </p:nvSpPr>
        <p:spPr>
          <a:xfrm>
            <a:off x="548640" y="1234440"/>
            <a:ext cx="2788920" cy="4526280"/>
          </a:xfrm>
          <a:prstGeom prst="roundRect">
            <a:avLst>
              <a:gd name="adj" fmla="val 4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25880"/>
            <a:ext cx="2560320"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Browser</a:t>
            </a:r>
          </a:p>
        </p:txBody>
      </p:sp>
      <p:sp>
        <p:nvSpPr>
          <p:cNvPr id="5" name="Rounded Rectangle 4"/>
          <p:cNvSpPr/>
          <p:nvPr/>
        </p:nvSpPr>
        <p:spPr>
          <a:xfrm>
            <a:off x="685800" y="182880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Next.js 16 web app</a:t>
            </a:r>
          </a:p>
          <a:p>
            <a:pPr algn="l">
              <a:spcAft>
                <a:spcPts val="0"/>
              </a:spcAft>
              <a:buNone/>
            </a:pPr>
            <a:r>
              <a:rPr sz="1200" b="0" i="0">
                <a:solidFill>
                  <a:srgbClr val="1F2937"/>
                </a:solidFill>
                <a:latin typeface="Arial"/>
              </a:rPr>
              <a:t>React 19 · TypeScript · Tailwind CSS 4 · shadcn/ui · static export</a:t>
            </a:r>
          </a:p>
        </p:txBody>
      </p:sp>
      <p:sp>
        <p:nvSpPr>
          <p:cNvPr id="6" name="Rounded Rectangle 5"/>
          <p:cNvSpPr/>
          <p:nvPr/>
        </p:nvSpPr>
        <p:spPr>
          <a:xfrm>
            <a:off x="685800" y="310896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TanStack Query + api.ts</a:t>
            </a:r>
          </a:p>
          <a:p>
            <a:pPr algn="l">
              <a:spcAft>
                <a:spcPts val="0"/>
              </a:spcAft>
              <a:buNone/>
            </a:pPr>
            <a:r>
              <a:rPr sz="1200" b="0" i="0">
                <a:solidFill>
                  <a:srgbClr val="1F2937"/>
                </a:solidFill>
                <a:latin typeface="Arial"/>
              </a:rPr>
              <a:t>fetch with session cookies and the X-Requested-With header</a:t>
            </a:r>
          </a:p>
        </p:txBody>
      </p:sp>
      <p:sp>
        <p:nvSpPr>
          <p:cNvPr id="7" name="Rounded Rectangle 6"/>
          <p:cNvSpPr/>
          <p:nvPr/>
        </p:nvSpPr>
        <p:spPr>
          <a:xfrm>
            <a:off x="685800" y="438912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tesseract.js</a:t>
            </a:r>
          </a:p>
          <a:p>
            <a:pPr algn="l">
              <a:spcAft>
                <a:spcPts val="0"/>
              </a:spcAft>
              <a:buNone/>
            </a:pPr>
            <a:r>
              <a:rPr sz="1200" b="0" i="0">
                <a:solidFill>
                  <a:srgbClr val="1F2937"/>
                </a:solidFill>
                <a:latin typeface="Arial"/>
              </a:rPr>
              <a:t>Receipt OCR runs in the browser; images never need a server</a:t>
            </a:r>
          </a:p>
        </p:txBody>
      </p:sp>
      <p:sp>
        <p:nvSpPr>
          <p:cNvPr id="8" name="Rounded Rectangle 7"/>
          <p:cNvSpPr/>
          <p:nvPr/>
        </p:nvSpPr>
        <p:spPr>
          <a:xfrm>
            <a:off x="3794760" y="1234440"/>
            <a:ext cx="5440680" cy="4526280"/>
          </a:xfrm>
          <a:prstGeom prst="roundRect">
            <a:avLst>
              <a:gd name="adj" fmla="val 3000"/>
            </a:avLst>
          </a:prstGeom>
          <a:solidFill>
            <a:srgbClr val="FFFFFF"/>
          </a:solidFill>
          <a:ln w="19050">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59352" y="1325880"/>
            <a:ext cx="5166360"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One Python process</a:t>
            </a:r>
            <a:r>
              <a:rPr sz="1400" b="0" i="0">
                <a:solidFill>
                  <a:srgbClr val="5B6573"/>
                </a:solidFill>
                <a:latin typeface="Arial"/>
              </a:rPr>
              <a:t>  ·  started by python3 run.py</a:t>
            </a:r>
          </a:p>
        </p:txBody>
      </p:sp>
      <p:sp>
        <p:nvSpPr>
          <p:cNvPr id="10" name="Rounded Rectangle 9"/>
          <p:cNvSpPr/>
          <p:nvPr/>
        </p:nvSpPr>
        <p:spPr>
          <a:xfrm>
            <a:off x="3959352" y="1828800"/>
            <a:ext cx="5111496" cy="86868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883664"/>
            <a:ext cx="4754880" cy="777240"/>
          </a:xfrm>
          <a:prstGeom prst="rect">
            <a:avLst/>
          </a:prstGeom>
          <a:noFill/>
        </p:spPr>
        <p:txBody>
          <a:bodyPr wrap="square" lIns="36576" tIns="18288" rIns="36576" bIns="18288" anchor="ctr">
            <a:noAutofit/>
          </a:bodyPr>
          <a:lstStyle/>
          <a:p>
            <a:pPr algn="l">
              <a:spcAft>
                <a:spcPts val="200"/>
              </a:spcAft>
              <a:buNone/>
            </a:pPr>
            <a:r>
              <a:rPr sz="1500" b="1" i="0">
                <a:solidFill>
                  <a:srgbClr val="FFFFFF"/>
                </a:solidFill>
                <a:latin typeface="Arial"/>
              </a:rPr>
              <a:t>FastAPI app on port 8000</a:t>
            </a:r>
          </a:p>
          <a:p>
            <a:pPr algn="l">
              <a:spcAft>
                <a:spcPts val="0"/>
              </a:spcAft>
              <a:buNone/>
            </a:pPr>
            <a:r>
              <a:rPr sz="1200" b="0" i="0">
                <a:solidFill>
                  <a:srgbClr val="FFFFFF"/>
                </a:solidFill>
                <a:latin typeface="Arial"/>
              </a:rPr>
              <a:t>15 routers under /api/v1 · CSRF guard · error handler · serves the web app</a:t>
            </a:r>
          </a:p>
        </p:txBody>
      </p:sp>
      <p:sp>
        <p:nvSpPr>
          <p:cNvPr id="12" name="Rounded Rectangle 11"/>
          <p:cNvSpPr/>
          <p:nvPr/>
        </p:nvSpPr>
        <p:spPr>
          <a:xfrm>
            <a:off x="3959352" y="2834640"/>
            <a:ext cx="5111496" cy="1691640"/>
          </a:xfrm>
          <a:prstGeom prst="roundRect">
            <a:avLst>
              <a:gd name="adj" fmla="val 4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87368" y="2880360"/>
            <a:ext cx="4892040" cy="365760"/>
          </a:xfrm>
          <a:prstGeom prst="rect">
            <a:avLst/>
          </a:prstGeom>
          <a:noFill/>
        </p:spPr>
        <p:txBody>
          <a:bodyPr wrap="square" lIns="36576" tIns="18288" rIns="36576" bIns="18288" anchor="t">
            <a:noAutofit/>
          </a:bodyPr>
          <a:lstStyle/>
          <a:p>
            <a:pPr algn="l">
              <a:spcAft>
                <a:spcPts val="400"/>
              </a:spcAft>
              <a:buNone/>
            </a:pPr>
            <a:r>
              <a:rPr sz="1400" b="1" i="0">
                <a:solidFill>
                  <a:srgbClr val="154360"/>
                </a:solidFill>
                <a:latin typeface="Arial"/>
              </a:rPr>
              <a:t>Services (business logic and ML)</a:t>
            </a:r>
          </a:p>
        </p:txBody>
      </p:sp>
      <p:sp>
        <p:nvSpPr>
          <p:cNvPr id="14" name="Rounded Rectangle 13"/>
          <p:cNvSpPr/>
          <p:nvPr/>
        </p:nvSpPr>
        <p:spPr>
          <a:xfrm>
            <a:off x="4087368"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Consent and capture</a:t>
            </a:r>
          </a:p>
        </p:txBody>
      </p:sp>
      <p:sp>
        <p:nvSpPr>
          <p:cNvPr id="15" name="Rounded Rectangle 14"/>
          <p:cNvSpPr/>
          <p:nvPr/>
        </p:nvSpPr>
        <p:spPr>
          <a:xfrm>
            <a:off x="5340096"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Receipts</a:t>
            </a:r>
          </a:p>
        </p:txBody>
      </p:sp>
      <p:sp>
        <p:nvSpPr>
          <p:cNvPr id="16" name="Rounded Rectangle 15"/>
          <p:cNvSpPr/>
          <p:nvPr/>
        </p:nvSpPr>
        <p:spPr>
          <a:xfrm>
            <a:off x="6592824"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Categories, anomalies</a:t>
            </a:r>
          </a:p>
        </p:txBody>
      </p:sp>
      <p:sp>
        <p:nvSpPr>
          <p:cNvPr id="17" name="Rounded Rectangle 16"/>
          <p:cNvSpPr/>
          <p:nvPr/>
        </p:nvSpPr>
        <p:spPr>
          <a:xfrm>
            <a:off x="7845552"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Forecasting</a:t>
            </a:r>
          </a:p>
        </p:txBody>
      </p:sp>
      <p:sp>
        <p:nvSpPr>
          <p:cNvPr id="18" name="Rounded Rectangle 17"/>
          <p:cNvSpPr/>
          <p:nvPr/>
        </p:nvSpPr>
        <p:spPr>
          <a:xfrm>
            <a:off x="4087368"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Subscriptions</a:t>
            </a:r>
          </a:p>
        </p:txBody>
      </p:sp>
      <p:sp>
        <p:nvSpPr>
          <p:cNvPr id="19" name="Rounded Rectangle 18"/>
          <p:cNvSpPr/>
          <p:nvPr/>
        </p:nvSpPr>
        <p:spPr>
          <a:xfrm>
            <a:off x="5340096"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Tax</a:t>
            </a:r>
          </a:p>
        </p:txBody>
      </p:sp>
      <p:sp>
        <p:nvSpPr>
          <p:cNvPr id="20" name="Rounded Rectangle 19"/>
          <p:cNvSpPr/>
          <p:nvPr/>
        </p:nvSpPr>
        <p:spPr>
          <a:xfrm>
            <a:off x="6592824"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Insights and coach</a:t>
            </a:r>
          </a:p>
        </p:txBody>
      </p:sp>
      <p:sp>
        <p:nvSpPr>
          <p:cNvPr id="21" name="Rounded Rectangle 20"/>
          <p:cNvSpPr/>
          <p:nvPr/>
        </p:nvSpPr>
        <p:spPr>
          <a:xfrm>
            <a:off x="7845552"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Smart Picks, crawler</a:t>
            </a:r>
          </a:p>
        </p:txBody>
      </p:sp>
      <p:sp>
        <p:nvSpPr>
          <p:cNvPr id="22" name="TextBox 21"/>
          <p:cNvSpPr txBox="1"/>
          <p:nvPr/>
        </p:nvSpPr>
        <p:spPr>
          <a:xfrm>
            <a:off x="4087368" y="4279392"/>
            <a:ext cx="4892040" cy="246888"/>
          </a:xfrm>
          <a:prstGeom prst="rect">
            <a:avLst/>
          </a:prstGeom>
          <a:noFill/>
        </p:spPr>
        <p:txBody>
          <a:bodyPr wrap="square" lIns="36576" tIns="18288" rIns="36576" bIns="18288" anchor="t">
            <a:noAutofit/>
          </a:bodyPr>
          <a:lstStyle/>
          <a:p>
            <a:pPr algn="l">
              <a:spcAft>
                <a:spcPts val="400"/>
              </a:spcAft>
              <a:buNone/>
            </a:pPr>
            <a:r>
              <a:rPr sz="1050" b="0" i="0">
                <a:solidFill>
                  <a:srgbClr val="5B6573"/>
                </a:solidFill>
                <a:latin typeface="Arial"/>
              </a:rPr>
              <a:t>ML in-process: scikit-learn (TF-IDF + logistic regression, IsolationForest) and Prophet</a:t>
            </a:r>
          </a:p>
        </p:txBody>
      </p:sp>
      <p:sp>
        <p:nvSpPr>
          <p:cNvPr id="23" name="Rounded Rectangle 22"/>
          <p:cNvSpPr/>
          <p:nvPr/>
        </p:nvSpPr>
        <p:spPr>
          <a:xfrm>
            <a:off x="3959352" y="4681728"/>
            <a:ext cx="2491740" cy="96012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tIns="27432" rIns="73152" bIns="27432" wrap="square">
            <a:noAutofit/>
          </a:bodyPr>
          <a:lstStyle/>
          <a:p>
            <a:pPr algn="l">
              <a:spcAft>
                <a:spcPts val="200"/>
              </a:spcAft>
              <a:buNone/>
            </a:pPr>
            <a:r>
              <a:rPr sz="1300" b="1" i="0">
                <a:solidFill>
                  <a:srgbClr val="154360"/>
                </a:solidFill>
                <a:latin typeface="Arial"/>
              </a:rPr>
              <a:t>Job runner + scheduler</a:t>
            </a:r>
          </a:p>
          <a:p>
            <a:pPr algn="l">
              <a:spcAft>
                <a:spcPts val="0"/>
              </a:spcAft>
              <a:buNone/>
            </a:pPr>
            <a:r>
              <a:rPr sz="1100" b="0" i="0">
                <a:solidFill>
                  <a:srgbClr val="1F2937"/>
                </a:solidFill>
                <a:latin typeface="Arial"/>
              </a:rPr>
              <a:t>Thread pool; crawl every 6 h, nightly analytics, retention purge</a:t>
            </a:r>
          </a:p>
        </p:txBody>
      </p:sp>
      <p:sp>
        <p:nvSpPr>
          <p:cNvPr id="24" name="Rounded Rectangle 23"/>
          <p:cNvSpPr/>
          <p:nvPr/>
        </p:nvSpPr>
        <p:spPr>
          <a:xfrm>
            <a:off x="6579108" y="4681728"/>
            <a:ext cx="2491740" cy="96012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tIns="27432" rIns="73152" bIns="27432" wrap="square">
            <a:noAutofit/>
          </a:bodyPr>
          <a:lstStyle/>
          <a:p>
            <a:pPr algn="l">
              <a:spcAft>
                <a:spcPts val="200"/>
              </a:spcAft>
              <a:buNone/>
            </a:pPr>
            <a:r>
              <a:rPr sz="1300" b="1" i="0">
                <a:solidFill>
                  <a:srgbClr val="154360"/>
                </a:solidFill>
                <a:latin typeface="Arial"/>
              </a:rPr>
              <a:t>Demo stores on port 8090</a:t>
            </a:r>
          </a:p>
          <a:p>
            <a:pPr algn="l">
              <a:spcAft>
                <a:spcPts val="0"/>
              </a:spcAft>
              <a:buNone/>
            </a:pPr>
            <a:r>
              <a:rPr sz="1100" b="0" i="0">
                <a:solidFill>
                  <a:srgbClr val="1F2937"/>
                </a:solidFill>
                <a:latin typeface="Arial"/>
              </a:rPr>
              <a:t>robots.txt, sitemaps and JSON-LD, read by the crawler</a:t>
            </a:r>
          </a:p>
        </p:txBody>
      </p:sp>
      <p:sp>
        <p:nvSpPr>
          <p:cNvPr id="25" name="Can 24"/>
          <p:cNvSpPr/>
          <p:nvPr/>
        </p:nvSpPr>
        <p:spPr>
          <a:xfrm>
            <a:off x="9646920" y="1600200"/>
            <a:ext cx="1993392" cy="2286000"/>
          </a:xfrm>
          <a:prstGeom prst="ca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56648" y="2240280"/>
            <a:ext cx="1773936" cy="1508760"/>
          </a:xfrm>
          <a:prstGeom prst="rect">
            <a:avLst/>
          </a:prstGeom>
          <a:noFill/>
        </p:spPr>
        <p:txBody>
          <a:bodyPr wrap="square" lIns="36576" tIns="18288" rIns="36576" bIns="18288" anchor="ctr">
            <a:noAutofit/>
          </a:bodyPr>
          <a:lstStyle/>
          <a:p>
            <a:pPr algn="ctr">
              <a:spcAft>
                <a:spcPts val="400"/>
              </a:spcAft>
              <a:buNone/>
            </a:pPr>
            <a:r>
              <a:rPr sz="1600" b="1" i="0">
                <a:solidFill>
                  <a:srgbClr val="FFFFFF"/>
                </a:solidFill>
                <a:latin typeface="Arial"/>
              </a:rPr>
              <a:t>SQLite (WAL)</a:t>
            </a:r>
          </a:p>
          <a:p>
            <a:pPr algn="ctr">
              <a:spcAft>
                <a:spcPts val="200"/>
              </a:spcAft>
              <a:buNone/>
            </a:pPr>
            <a:r>
              <a:rPr sz="1200" b="0" i="0">
                <a:solidFill>
                  <a:srgbClr val="FFFFFF"/>
                </a:solidFill>
                <a:latin typeface="Arial"/>
              </a:rPr>
              <a:t>data/finpilot.db</a:t>
            </a:r>
          </a:p>
          <a:p>
            <a:pPr algn="ctr">
              <a:spcAft>
                <a:spcPts val="200"/>
              </a:spcAft>
              <a:buNone/>
            </a:pPr>
            <a:r>
              <a:rPr sz="1200" b="0" i="0">
                <a:solidFill>
                  <a:srgbClr val="FFFFFF"/>
                </a:solidFill>
                <a:latin typeface="Arial"/>
              </a:rPr>
              <a:t>33 tables</a:t>
            </a:r>
          </a:p>
          <a:p>
            <a:pPr algn="ctr">
              <a:spcAft>
                <a:spcPts val="0"/>
              </a:spcAft>
              <a:buNone/>
            </a:pPr>
            <a:r>
              <a:rPr sz="1150" b="0" i="0">
                <a:solidFill>
                  <a:srgbClr val="FFFFFF"/>
                </a:solidFill>
                <a:latin typeface="Arial"/>
              </a:rPr>
              <a:t>SQLAlchemy + Alembic</a:t>
            </a:r>
          </a:p>
        </p:txBody>
      </p:sp>
      <p:sp>
        <p:nvSpPr>
          <p:cNvPr id="27" name="Rounded Rectangle 26"/>
          <p:cNvSpPr/>
          <p:nvPr/>
        </p:nvSpPr>
        <p:spPr>
          <a:xfrm>
            <a:off x="9646920" y="4160520"/>
            <a:ext cx="1993392" cy="1463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data/ folder</a:t>
            </a:r>
          </a:p>
          <a:p>
            <a:pPr algn="l">
              <a:spcAft>
                <a:spcPts val="0"/>
              </a:spcAft>
              <a:buNone/>
            </a:pPr>
            <a:r>
              <a:rPr sz="1200" b="0" i="0">
                <a:solidFill>
                  <a:srgbClr val="1F2937"/>
                </a:solidFill>
                <a:latin typeface="Arial"/>
              </a:rPr>
              <a:t>Uploads, trained models and the generated secret key</a:t>
            </a:r>
          </a:p>
        </p:txBody>
      </p:sp>
      <p:cxnSp>
        <p:nvCxnSpPr>
          <p:cNvPr id="28" name="Connector 27"/>
          <p:cNvCxnSpPr/>
          <p:nvPr/>
        </p:nvCxnSpPr>
        <p:spPr>
          <a:xfrm>
            <a:off x="3337560" y="2331720"/>
            <a:ext cx="621792"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35440" y="2743200"/>
            <a:ext cx="411480"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217152" y="2377440"/>
            <a:ext cx="457200" cy="320040"/>
          </a:xfrm>
          <a:prstGeom prst="rect">
            <a:avLst/>
          </a:prstGeom>
          <a:noFill/>
        </p:spPr>
        <p:txBody>
          <a:bodyPr wrap="square" lIns="36576" tIns="18288" rIns="36576" bIns="18288" anchor="t">
            <a:noAutofit/>
          </a:bodyPr>
          <a:lstStyle/>
          <a:p>
            <a:pPr algn="ctr">
              <a:spcAft>
                <a:spcPts val="400"/>
              </a:spcAft>
              <a:buNone/>
            </a:pPr>
            <a:r>
              <a:rPr sz="1000" b="0" i="0">
                <a:solidFill>
                  <a:srgbClr val="5B6573"/>
                </a:solidFill>
                <a:latin typeface="Arial"/>
              </a:rPr>
              <a:t>SQL</a:t>
            </a:r>
          </a:p>
        </p:txBody>
      </p:sp>
      <p:sp>
        <p:nvSpPr>
          <p:cNvPr id="31" name="TextBox 30"/>
          <p:cNvSpPr txBox="1"/>
          <p:nvPr/>
        </p:nvSpPr>
        <p:spPr>
          <a:xfrm>
            <a:off x="548640" y="5788152"/>
            <a:ext cx="11094415" cy="274320"/>
          </a:xfrm>
          <a:prstGeom prst="rect">
            <a:avLst/>
          </a:prstGeom>
          <a:noFill/>
        </p:spPr>
        <p:txBody>
          <a:bodyPr wrap="square" lIns="36576" tIns="18288" rIns="36576" bIns="18288" anchor="t">
            <a:noAutofit/>
          </a:bodyPr>
          <a:lstStyle/>
          <a:p>
            <a:pPr algn="ctr">
              <a:spcAft>
                <a:spcPts val="400"/>
              </a:spcAft>
              <a:buNone/>
            </a:pPr>
            <a:r>
              <a:rPr sz="1100" b="0" i="0">
                <a:solidFill>
                  <a:srgbClr val="5B6573"/>
                </a:solidFill>
                <a:latin typeface="Arial"/>
              </a:rPr>
              <a:t>The browser loads the site and calls /api/v1 (JSON with session cookies) on the same server, so no CORS is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Backend layers and the life of one request</a:t>
            </a:r>
          </a:p>
        </p:txBody>
      </p:sp>
      <p:sp>
        <p:nvSpPr>
          <p:cNvPr id="3" name="Rounded Rectangle 2"/>
          <p:cNvSpPr/>
          <p:nvPr/>
        </p:nvSpPr>
        <p:spPr>
          <a:xfrm>
            <a:off x="548640" y="1261872"/>
            <a:ext cx="4663440" cy="73152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FFFFFF"/>
                </a:solidFill>
                <a:latin typeface="Arial"/>
              </a:rPr>
              <a:t>Routers  </a:t>
            </a:r>
            <a:r>
              <a:rPr sz="1200" b="0" i="0">
                <a:solidFill>
                  <a:srgbClr val="FFFFFF"/>
                </a:solidFill>
                <a:latin typeface="Courier New"/>
              </a:rPr>
              <a:t>api/v1/*.py</a:t>
            </a:r>
          </a:p>
        </p:txBody>
      </p:sp>
      <p:sp>
        <p:nvSpPr>
          <p:cNvPr id="5" name="TextBox 4"/>
          <p:cNvSpPr txBox="1"/>
          <p:nvPr/>
        </p:nvSpPr>
        <p:spPr>
          <a:xfrm>
            <a:off x="685800" y="1627631"/>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FFFFFF"/>
                </a:solidFill>
                <a:latin typeface="Arial"/>
              </a:rPr>
              <a:t>HTTP, Pydantic validation, ownership checks</a:t>
            </a:r>
          </a:p>
        </p:txBody>
      </p:sp>
      <p:cxnSp>
        <p:nvCxnSpPr>
          <p:cNvPr id="6" name="Connector 5"/>
          <p:cNvCxnSpPr/>
          <p:nvPr/>
        </p:nvCxnSpPr>
        <p:spPr>
          <a:xfrm>
            <a:off x="2880360" y="1993391"/>
            <a:ext cx="0" cy="118873"/>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8640" y="2112264"/>
            <a:ext cx="4663440" cy="731520"/>
          </a:xfrm>
          <a:prstGeom prst="roundRect">
            <a:avLst>
              <a:gd name="adj" fmla="val 8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48840"/>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Dependencies  </a:t>
            </a:r>
            <a:r>
              <a:rPr sz="1200" b="0" i="0">
                <a:solidFill>
                  <a:srgbClr val="5B6573"/>
                </a:solidFill>
                <a:latin typeface="Courier New"/>
              </a:rPr>
              <a:t>core/deps.py</a:t>
            </a:r>
          </a:p>
        </p:txBody>
      </p:sp>
      <p:sp>
        <p:nvSpPr>
          <p:cNvPr id="9" name="TextBox 8"/>
          <p:cNvSpPr txBox="1"/>
          <p:nvPr/>
        </p:nvSpPr>
        <p:spPr>
          <a:xfrm>
            <a:off x="685800" y="2478024"/>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Signed-in user from the JWT cookie; one DB session</a:t>
            </a:r>
          </a:p>
        </p:txBody>
      </p:sp>
      <p:cxnSp>
        <p:nvCxnSpPr>
          <p:cNvPr id="10" name="Connector 9"/>
          <p:cNvCxnSpPr/>
          <p:nvPr/>
        </p:nvCxnSpPr>
        <p:spPr>
          <a:xfrm>
            <a:off x="2880360" y="2843784"/>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962656"/>
            <a:ext cx="4663440" cy="731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99232"/>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Services  </a:t>
            </a:r>
            <a:r>
              <a:rPr sz="1200" b="0" i="0">
                <a:solidFill>
                  <a:srgbClr val="5B6573"/>
                </a:solidFill>
                <a:latin typeface="Courier New"/>
              </a:rPr>
              <a:t>services/*.py</a:t>
            </a:r>
          </a:p>
        </p:txBody>
      </p:sp>
      <p:sp>
        <p:nvSpPr>
          <p:cNvPr id="13" name="TextBox 12"/>
          <p:cNvSpPr txBox="1"/>
          <p:nvPr/>
        </p:nvSpPr>
        <p:spPr>
          <a:xfrm>
            <a:off x="685800" y="3328416"/>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Business rules: forecasting, tax, picks, consent…</a:t>
            </a:r>
          </a:p>
        </p:txBody>
      </p:sp>
      <p:cxnSp>
        <p:nvCxnSpPr>
          <p:cNvPr id="14" name="Connector 13"/>
          <p:cNvCxnSpPr/>
          <p:nvPr/>
        </p:nvCxnSpPr>
        <p:spPr>
          <a:xfrm>
            <a:off x="2880360" y="3694176"/>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813048"/>
            <a:ext cx="4663440" cy="731520"/>
          </a:xfrm>
          <a:prstGeom prst="roundRect">
            <a:avLst>
              <a:gd name="adj" fmla="val 8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49624"/>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Models  </a:t>
            </a:r>
            <a:r>
              <a:rPr sz="1200" b="0" i="0">
                <a:solidFill>
                  <a:srgbClr val="5B6573"/>
                </a:solidFill>
                <a:latin typeface="Courier New"/>
              </a:rPr>
              <a:t>models/*.py</a:t>
            </a:r>
          </a:p>
        </p:txBody>
      </p:sp>
      <p:sp>
        <p:nvSpPr>
          <p:cNvPr id="17" name="TextBox 16"/>
          <p:cNvSpPr txBox="1"/>
          <p:nvPr/>
        </p:nvSpPr>
        <p:spPr>
          <a:xfrm>
            <a:off x="685800" y="4178808"/>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SQLAlchemy 2 ORM; money as integer paise</a:t>
            </a:r>
          </a:p>
        </p:txBody>
      </p:sp>
      <p:cxnSp>
        <p:nvCxnSpPr>
          <p:cNvPr id="18" name="Connector 17"/>
          <p:cNvCxnSpPr/>
          <p:nvPr/>
        </p:nvCxnSpPr>
        <p:spPr>
          <a:xfrm>
            <a:off x="2880360" y="4544568"/>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4663440"/>
            <a:ext cx="4663440" cy="731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700016"/>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Database  </a:t>
            </a:r>
            <a:r>
              <a:rPr sz="1200" b="0" i="0">
                <a:solidFill>
                  <a:srgbClr val="5B6573"/>
                </a:solidFill>
                <a:latin typeface="Courier New"/>
              </a:rPr>
              <a:t>data/finpilot.db</a:t>
            </a:r>
          </a:p>
        </p:txBody>
      </p:sp>
      <p:sp>
        <p:nvSpPr>
          <p:cNvPr id="21" name="TextBox 20"/>
          <p:cNvSpPr txBox="1"/>
          <p:nvPr/>
        </p:nvSpPr>
        <p:spPr>
          <a:xfrm>
            <a:off x="685800" y="5029200"/>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SQLite in WAL mode; Alembic migrations</a:t>
            </a:r>
          </a:p>
        </p:txBody>
      </p:sp>
      <p:sp>
        <p:nvSpPr>
          <p:cNvPr id="22" name="TextBox 21"/>
          <p:cNvSpPr txBox="1"/>
          <p:nvPr/>
        </p:nvSpPr>
        <p:spPr>
          <a:xfrm>
            <a:off x="548640" y="5532120"/>
            <a:ext cx="4663440" cy="411480"/>
          </a:xfrm>
          <a:prstGeom prst="rect">
            <a:avLst/>
          </a:prstGeom>
          <a:noFill/>
        </p:spPr>
        <p:txBody>
          <a:bodyPr wrap="square" lIns="36576" tIns="18288" rIns="36576" bIns="18288" anchor="t">
            <a:noAutofit/>
          </a:bodyPr>
          <a:lstStyle/>
          <a:p>
            <a:pPr algn="l">
              <a:spcAft>
                <a:spcPts val="400"/>
              </a:spcAft>
              <a:buNone/>
            </a:pPr>
            <a:r>
              <a:rPr sz="1200" b="1" i="0">
                <a:solidFill>
                  <a:srgbClr val="154360"/>
                </a:solidFill>
                <a:latin typeface="Arial"/>
              </a:rPr>
              <a:t>Cross-cutting: </a:t>
            </a:r>
            <a:r>
              <a:rPr sz="1200" b="0" i="0">
                <a:solidFill>
                  <a:srgbClr val="1F2937"/>
                </a:solidFill>
                <a:latin typeface="Arial"/>
              </a:rPr>
              <a:t>core/ (config, security, crypto, money) and jobs/ (runner, scheduler)</a:t>
            </a:r>
          </a:p>
        </p:txBody>
      </p:sp>
      <p:sp>
        <p:nvSpPr>
          <p:cNvPr id="23" name="TextBox 22"/>
          <p:cNvSpPr txBox="1"/>
          <p:nvPr/>
        </p:nvSpPr>
        <p:spPr>
          <a:xfrm>
            <a:off x="5623560" y="1188720"/>
            <a:ext cx="6035040"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Example: a what-if purchase</a:t>
            </a:r>
          </a:p>
        </p:txBody>
      </p:sp>
      <p:sp>
        <p:nvSpPr>
          <p:cNvPr id="24" name="Oval 23"/>
          <p:cNvSpPr/>
          <p:nvPr/>
        </p:nvSpPr>
        <p:spPr>
          <a:xfrm>
            <a:off x="5623560" y="17647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1</a:t>
            </a:r>
          </a:p>
        </p:txBody>
      </p:sp>
      <p:sp>
        <p:nvSpPr>
          <p:cNvPr id="25" name="TextBox 24"/>
          <p:cNvSpPr txBox="1"/>
          <p:nvPr/>
        </p:nvSpPr>
        <p:spPr>
          <a:xfrm>
            <a:off x="6172200" y="16916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User </a:t>
            </a:r>
            <a:r>
              <a:rPr sz="1400" b="0" i="0">
                <a:solidFill>
                  <a:srgbClr val="1F2937"/>
                </a:solidFill>
                <a:latin typeface="Arial"/>
              </a:rPr>
              <a:t>types ₹45,000 under “What if I spend…” on Forecast and clicks Check.</a:t>
            </a:r>
          </a:p>
        </p:txBody>
      </p:sp>
      <p:sp>
        <p:nvSpPr>
          <p:cNvPr id="26" name="Oval 25"/>
          <p:cNvSpPr/>
          <p:nvPr/>
        </p:nvSpPr>
        <p:spPr>
          <a:xfrm>
            <a:off x="5623560" y="24505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2</a:t>
            </a:r>
          </a:p>
        </p:txBody>
      </p:sp>
      <p:sp>
        <p:nvSpPr>
          <p:cNvPr id="27" name="TextBox 26"/>
          <p:cNvSpPr txBox="1"/>
          <p:nvPr/>
        </p:nvSpPr>
        <p:spPr>
          <a:xfrm>
            <a:off x="6172200" y="23774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api.ts </a:t>
            </a:r>
            <a:r>
              <a:rPr sz="1400" b="0" i="0">
                <a:solidFill>
                  <a:srgbClr val="1F2937"/>
                </a:solidFill>
                <a:latin typeface="Arial"/>
              </a:rPr>
              <a:t>sends GET /api/v1/forecast/whatif?amount=45000 with the session cookie.</a:t>
            </a:r>
          </a:p>
        </p:txBody>
      </p:sp>
      <p:sp>
        <p:nvSpPr>
          <p:cNvPr id="28" name="Oval 27"/>
          <p:cNvSpPr/>
          <p:nvPr/>
        </p:nvSpPr>
        <p:spPr>
          <a:xfrm>
            <a:off x="5623560" y="31363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3</a:t>
            </a:r>
          </a:p>
        </p:txBody>
      </p:sp>
      <p:sp>
        <p:nvSpPr>
          <p:cNvPr id="29" name="TextBox 28"/>
          <p:cNvSpPr txBox="1"/>
          <p:nvPr/>
        </p:nvSpPr>
        <p:spPr>
          <a:xfrm>
            <a:off x="6172200" y="30632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FastAPI </a:t>
            </a:r>
            <a:r>
              <a:rPr sz="1400" b="0" i="0">
                <a:solidFill>
                  <a:srgbClr val="1F2937"/>
                </a:solidFill>
                <a:latin typeface="Arial"/>
              </a:rPr>
              <a:t>checks 0 &lt; amount &lt; ₹1e9 and loads the user from the JWT; otherwise 422 or 401.</a:t>
            </a:r>
          </a:p>
        </p:txBody>
      </p:sp>
      <p:sp>
        <p:nvSpPr>
          <p:cNvPr id="30" name="Oval 29"/>
          <p:cNvSpPr/>
          <p:nvPr/>
        </p:nvSpPr>
        <p:spPr>
          <a:xfrm>
            <a:off x="5623560" y="3822191"/>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4</a:t>
            </a:r>
          </a:p>
        </p:txBody>
      </p:sp>
      <p:sp>
        <p:nvSpPr>
          <p:cNvPr id="31" name="TextBox 30"/>
          <p:cNvSpPr txBox="1"/>
          <p:nvPr/>
        </p:nvSpPr>
        <p:spPr>
          <a:xfrm>
            <a:off x="6172200" y="3749039"/>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Service </a:t>
            </a:r>
            <a:r>
              <a:rPr sz="1400" b="0" i="0">
                <a:solidFill>
                  <a:srgbClr val="1F2937"/>
                </a:solidFill>
                <a:latin typeface="Arial"/>
              </a:rPr>
              <a:t>reads the stored 90-day forecast and lowers p10, p50 and p90 from the purchase date.</a:t>
            </a:r>
          </a:p>
        </p:txBody>
      </p:sp>
      <p:sp>
        <p:nvSpPr>
          <p:cNvPr id="32" name="Oval 31"/>
          <p:cNvSpPr/>
          <p:nvPr/>
        </p:nvSpPr>
        <p:spPr>
          <a:xfrm>
            <a:off x="5623560" y="45079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5</a:t>
            </a:r>
          </a:p>
        </p:txBody>
      </p:sp>
      <p:sp>
        <p:nvSpPr>
          <p:cNvPr id="33" name="TextBox 32"/>
          <p:cNvSpPr txBox="1"/>
          <p:nvPr/>
        </p:nvSpPr>
        <p:spPr>
          <a:xfrm>
            <a:off x="6172200" y="44348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Rule </a:t>
            </a:r>
            <a:r>
              <a:rPr sz="1400" b="0" i="0">
                <a:solidFill>
                  <a:srgbClr val="1F2937"/>
                </a:solidFill>
                <a:latin typeface="Arial"/>
              </a:rPr>
              <a:t>compares the new lowest balance in the next 60 days with the safety buffer.</a:t>
            </a:r>
          </a:p>
        </p:txBody>
      </p:sp>
      <p:sp>
        <p:nvSpPr>
          <p:cNvPr id="34" name="Oval 33"/>
          <p:cNvSpPr/>
          <p:nvPr/>
        </p:nvSpPr>
        <p:spPr>
          <a:xfrm>
            <a:off x="5623560" y="51937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6</a:t>
            </a:r>
          </a:p>
        </p:txBody>
      </p:sp>
      <p:sp>
        <p:nvSpPr>
          <p:cNvPr id="35" name="TextBox 34"/>
          <p:cNvSpPr txBox="1"/>
          <p:nvPr/>
        </p:nvSpPr>
        <p:spPr>
          <a:xfrm>
            <a:off x="6172200" y="51206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UI </a:t>
            </a:r>
            <a:r>
              <a:rPr sz="1400" b="0" i="0">
                <a:solidFill>
                  <a:srgbClr val="1F2937"/>
                </a:solidFill>
                <a:latin typeface="Arial"/>
              </a:rPr>
              <a:t>TanStack Query redraws the chart and shows a green or red verdict.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Technologies, frameworks and tools</a:t>
            </a:r>
          </a:p>
        </p:txBody>
      </p:sp>
      <p:sp>
        <p:nvSpPr>
          <p:cNvPr id="3" name="Rounded Rectangle 2"/>
          <p:cNvSpPr/>
          <p:nvPr/>
        </p:nvSpPr>
        <p:spPr>
          <a:xfrm>
            <a:off x="548640" y="1234440"/>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Frontend</a:t>
            </a:r>
          </a:p>
        </p:txBody>
      </p:sp>
      <p:sp>
        <p:nvSpPr>
          <p:cNvPr id="4" name="Rounded Rectangle 3"/>
          <p:cNvSpPr/>
          <p:nvPr/>
        </p:nvSpPr>
        <p:spPr>
          <a:xfrm>
            <a:off x="2880360" y="1252728"/>
            <a:ext cx="247253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Next.js 16.4 (static export)</a:t>
            </a:r>
          </a:p>
        </p:txBody>
      </p:sp>
      <p:sp>
        <p:nvSpPr>
          <p:cNvPr id="5" name="Rounded Rectangle 4"/>
          <p:cNvSpPr/>
          <p:nvPr/>
        </p:nvSpPr>
        <p:spPr>
          <a:xfrm>
            <a:off x="5444337" y="1252728"/>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React 19.3</a:t>
            </a:r>
          </a:p>
        </p:txBody>
      </p:sp>
      <p:sp>
        <p:nvSpPr>
          <p:cNvPr id="6" name="Rounded Rectangle 5"/>
          <p:cNvSpPr/>
          <p:nvPr/>
        </p:nvSpPr>
        <p:spPr>
          <a:xfrm>
            <a:off x="6559905" y="1252728"/>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TypeScript 5.9</a:t>
            </a:r>
          </a:p>
        </p:txBody>
      </p:sp>
      <p:sp>
        <p:nvSpPr>
          <p:cNvPr id="7" name="Rounded Rectangle 6"/>
          <p:cNvSpPr/>
          <p:nvPr/>
        </p:nvSpPr>
        <p:spPr>
          <a:xfrm>
            <a:off x="7997342" y="1252728"/>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Tailwind CSS 4.3</a:t>
            </a:r>
          </a:p>
        </p:txBody>
      </p:sp>
      <p:sp>
        <p:nvSpPr>
          <p:cNvPr id="8" name="Rounded Rectangle 7"/>
          <p:cNvSpPr/>
          <p:nvPr/>
        </p:nvSpPr>
        <p:spPr>
          <a:xfrm>
            <a:off x="9595713" y="1252728"/>
            <a:ext cx="182879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shadcn/ui on Base UI</a:t>
            </a:r>
          </a:p>
        </p:txBody>
      </p:sp>
      <p:sp>
        <p:nvSpPr>
          <p:cNvPr id="9" name="Rounded Rectangle 8"/>
          <p:cNvSpPr/>
          <p:nvPr/>
        </p:nvSpPr>
        <p:spPr>
          <a:xfrm>
            <a:off x="2880360" y="1673352"/>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TanStack Query 5</a:t>
            </a:r>
          </a:p>
        </p:txBody>
      </p:sp>
      <p:sp>
        <p:nvSpPr>
          <p:cNvPr id="10" name="Rounded Rectangle 9"/>
          <p:cNvSpPr/>
          <p:nvPr/>
        </p:nvSpPr>
        <p:spPr>
          <a:xfrm>
            <a:off x="4478731" y="1673352"/>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Recharts 3</a:t>
            </a:r>
          </a:p>
        </p:txBody>
      </p:sp>
      <p:sp>
        <p:nvSpPr>
          <p:cNvPr id="11" name="Rounded Rectangle 10"/>
          <p:cNvSpPr/>
          <p:nvPr/>
        </p:nvSpPr>
        <p:spPr>
          <a:xfrm>
            <a:off x="5594299" y="1673352"/>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tesseract.js 7</a:t>
            </a:r>
          </a:p>
        </p:txBody>
      </p:sp>
      <p:sp>
        <p:nvSpPr>
          <p:cNvPr id="12" name="Rounded Rectangle 11"/>
          <p:cNvSpPr/>
          <p:nvPr/>
        </p:nvSpPr>
        <p:spPr>
          <a:xfrm>
            <a:off x="548640" y="2176272"/>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Backend</a:t>
            </a:r>
          </a:p>
        </p:txBody>
      </p:sp>
      <p:sp>
        <p:nvSpPr>
          <p:cNvPr id="13" name="Rounded Rectangle 12"/>
          <p:cNvSpPr/>
          <p:nvPr/>
        </p:nvSpPr>
        <p:spPr>
          <a:xfrm>
            <a:off x="2880360" y="2194560"/>
            <a:ext cx="231160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Python 3.11+ (3.14 tested)</a:t>
            </a:r>
          </a:p>
        </p:txBody>
      </p:sp>
      <p:sp>
        <p:nvSpPr>
          <p:cNvPr id="14" name="Rounded Rectangle 13"/>
          <p:cNvSpPr/>
          <p:nvPr/>
        </p:nvSpPr>
        <p:spPr>
          <a:xfrm>
            <a:off x="5283403" y="2194560"/>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FastAPI 0.143</a:t>
            </a:r>
          </a:p>
        </p:txBody>
      </p:sp>
      <p:sp>
        <p:nvSpPr>
          <p:cNvPr id="15" name="Rounded Rectangle 14"/>
          <p:cNvSpPr/>
          <p:nvPr/>
        </p:nvSpPr>
        <p:spPr>
          <a:xfrm>
            <a:off x="6640372" y="2194560"/>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Uvicorn 0.54</a:t>
            </a:r>
          </a:p>
        </p:txBody>
      </p:sp>
      <p:sp>
        <p:nvSpPr>
          <p:cNvPr id="16" name="Rounded Rectangle 15"/>
          <p:cNvSpPr/>
          <p:nvPr/>
        </p:nvSpPr>
        <p:spPr>
          <a:xfrm>
            <a:off x="7916875" y="2194560"/>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Pydantic 2.14</a:t>
            </a:r>
          </a:p>
        </p:txBody>
      </p:sp>
      <p:sp>
        <p:nvSpPr>
          <p:cNvPr id="17" name="Rounded Rectangle 16"/>
          <p:cNvSpPr/>
          <p:nvPr/>
        </p:nvSpPr>
        <p:spPr>
          <a:xfrm>
            <a:off x="9273844" y="2194560"/>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SQLAlchemy 2.1</a:t>
            </a:r>
          </a:p>
        </p:txBody>
      </p:sp>
      <p:sp>
        <p:nvSpPr>
          <p:cNvPr id="18" name="Rounded Rectangle 17"/>
          <p:cNvSpPr/>
          <p:nvPr/>
        </p:nvSpPr>
        <p:spPr>
          <a:xfrm>
            <a:off x="2880360" y="2615184"/>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Alembic 1.20</a:t>
            </a:r>
          </a:p>
        </p:txBody>
      </p:sp>
      <p:sp>
        <p:nvSpPr>
          <p:cNvPr id="19" name="Rounded Rectangle 18"/>
          <p:cNvSpPr/>
          <p:nvPr/>
        </p:nvSpPr>
        <p:spPr>
          <a:xfrm>
            <a:off x="4156862" y="2615184"/>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PyJWT 2.15</a:t>
            </a:r>
          </a:p>
        </p:txBody>
      </p:sp>
      <p:sp>
        <p:nvSpPr>
          <p:cNvPr id="20" name="Rounded Rectangle 19"/>
          <p:cNvSpPr/>
          <p:nvPr/>
        </p:nvSpPr>
        <p:spPr>
          <a:xfrm>
            <a:off x="5272430" y="2615184"/>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pwdlib (bcrypt)</a:t>
            </a:r>
          </a:p>
        </p:txBody>
      </p:sp>
      <p:sp>
        <p:nvSpPr>
          <p:cNvPr id="21" name="Rounded Rectangle 20"/>
          <p:cNvSpPr/>
          <p:nvPr/>
        </p:nvSpPr>
        <p:spPr>
          <a:xfrm>
            <a:off x="6790334" y="2615184"/>
            <a:ext cx="190926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cryptography (Fernet)</a:t>
            </a:r>
          </a:p>
        </p:txBody>
      </p:sp>
      <p:sp>
        <p:nvSpPr>
          <p:cNvPr id="22" name="Rounded Rectangle 21"/>
          <p:cNvSpPr/>
          <p:nvPr/>
        </p:nvSpPr>
        <p:spPr>
          <a:xfrm>
            <a:off x="548640" y="3118104"/>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Data and ML</a:t>
            </a:r>
          </a:p>
        </p:txBody>
      </p:sp>
      <p:sp>
        <p:nvSpPr>
          <p:cNvPr id="23" name="Rounded Rectangle 22"/>
          <p:cNvSpPr/>
          <p:nvPr/>
        </p:nvSpPr>
        <p:spPr>
          <a:xfrm>
            <a:off x="2880360" y="3136392"/>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SQLite (WAL)</a:t>
            </a:r>
          </a:p>
        </p:txBody>
      </p:sp>
      <p:sp>
        <p:nvSpPr>
          <p:cNvPr id="24" name="Rounded Rectangle 23"/>
          <p:cNvSpPr/>
          <p:nvPr/>
        </p:nvSpPr>
        <p:spPr>
          <a:xfrm>
            <a:off x="4156862" y="3136392"/>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scikit-learn 1.9</a:t>
            </a:r>
          </a:p>
        </p:txBody>
      </p:sp>
      <p:sp>
        <p:nvSpPr>
          <p:cNvPr id="25" name="Rounded Rectangle 24"/>
          <p:cNvSpPr/>
          <p:nvPr/>
        </p:nvSpPr>
        <p:spPr>
          <a:xfrm>
            <a:off x="5755233" y="3136392"/>
            <a:ext cx="1104595"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Prophet 1.5</a:t>
            </a:r>
          </a:p>
        </p:txBody>
      </p:sp>
      <p:sp>
        <p:nvSpPr>
          <p:cNvPr id="26" name="Rounded Rectangle 25"/>
          <p:cNvSpPr/>
          <p:nvPr/>
        </p:nvSpPr>
        <p:spPr>
          <a:xfrm>
            <a:off x="6951268" y="3136392"/>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pandas 3.0</a:t>
            </a:r>
          </a:p>
        </p:txBody>
      </p:sp>
      <p:sp>
        <p:nvSpPr>
          <p:cNvPr id="27" name="Rounded Rectangle 26"/>
          <p:cNvSpPr/>
          <p:nvPr/>
        </p:nvSpPr>
        <p:spPr>
          <a:xfrm>
            <a:off x="8066836" y="3136392"/>
            <a:ext cx="943660"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NumPy 2.5</a:t>
            </a:r>
          </a:p>
        </p:txBody>
      </p:sp>
      <p:sp>
        <p:nvSpPr>
          <p:cNvPr id="28" name="Rounded Rectangle 27"/>
          <p:cNvSpPr/>
          <p:nvPr/>
        </p:nvSpPr>
        <p:spPr>
          <a:xfrm>
            <a:off x="9101937" y="3136392"/>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RapidFuzz 3.14</a:t>
            </a:r>
          </a:p>
        </p:txBody>
      </p:sp>
      <p:sp>
        <p:nvSpPr>
          <p:cNvPr id="29" name="Rounded Rectangle 28"/>
          <p:cNvSpPr/>
          <p:nvPr/>
        </p:nvSpPr>
        <p:spPr>
          <a:xfrm>
            <a:off x="2880360" y="3557016"/>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dateparser 1.4</a:t>
            </a:r>
          </a:p>
        </p:txBody>
      </p:sp>
      <p:sp>
        <p:nvSpPr>
          <p:cNvPr id="30" name="Rounded Rectangle 29"/>
          <p:cNvSpPr/>
          <p:nvPr/>
        </p:nvSpPr>
        <p:spPr>
          <a:xfrm>
            <a:off x="548640" y="4059935"/>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Documents and crawling</a:t>
            </a:r>
          </a:p>
        </p:txBody>
      </p:sp>
      <p:sp>
        <p:nvSpPr>
          <p:cNvPr id="31" name="Rounded Rectangle 30"/>
          <p:cNvSpPr/>
          <p:nvPr/>
        </p:nvSpPr>
        <p:spPr>
          <a:xfrm>
            <a:off x="2880360" y="4078223"/>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pdfplumber 0.11</a:t>
            </a:r>
          </a:p>
        </p:txBody>
      </p:sp>
      <p:sp>
        <p:nvSpPr>
          <p:cNvPr id="32" name="Rounded Rectangle 31"/>
          <p:cNvSpPr/>
          <p:nvPr/>
        </p:nvSpPr>
        <p:spPr>
          <a:xfrm>
            <a:off x="4398264" y="4078223"/>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ReportLab 5.0</a:t>
            </a:r>
          </a:p>
        </p:txBody>
      </p:sp>
      <p:sp>
        <p:nvSpPr>
          <p:cNvPr id="33" name="Rounded Rectangle 32"/>
          <p:cNvSpPr/>
          <p:nvPr/>
        </p:nvSpPr>
        <p:spPr>
          <a:xfrm>
            <a:off x="5755233" y="4078223"/>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httpx 0.28</a:t>
            </a:r>
          </a:p>
        </p:txBody>
      </p:sp>
      <p:sp>
        <p:nvSpPr>
          <p:cNvPr id="34" name="Rounded Rectangle 33"/>
          <p:cNvSpPr/>
          <p:nvPr/>
        </p:nvSpPr>
        <p:spPr>
          <a:xfrm>
            <a:off x="6870801" y="4078223"/>
            <a:ext cx="2150668"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Protego 0.7 (robots.txt)</a:t>
            </a:r>
          </a:p>
        </p:txBody>
      </p:sp>
      <p:sp>
        <p:nvSpPr>
          <p:cNvPr id="35" name="Rounded Rectangle 34"/>
          <p:cNvSpPr/>
          <p:nvPr/>
        </p:nvSpPr>
        <p:spPr>
          <a:xfrm>
            <a:off x="9112910" y="4078223"/>
            <a:ext cx="182879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BeautifulSoup + lxml</a:t>
            </a:r>
          </a:p>
        </p:txBody>
      </p:sp>
      <p:sp>
        <p:nvSpPr>
          <p:cNvPr id="36" name="Rounded Rectangle 35"/>
          <p:cNvSpPr/>
          <p:nvPr/>
        </p:nvSpPr>
        <p:spPr>
          <a:xfrm>
            <a:off x="2880360" y="4498847"/>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defusedxml</a:t>
            </a:r>
          </a:p>
        </p:txBody>
      </p:sp>
      <p:sp>
        <p:nvSpPr>
          <p:cNvPr id="37" name="Rounded Rectangle 36"/>
          <p:cNvSpPr/>
          <p:nvPr/>
        </p:nvSpPr>
        <p:spPr>
          <a:xfrm>
            <a:off x="548640" y="5001768"/>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Testing and tools</a:t>
            </a:r>
          </a:p>
        </p:txBody>
      </p:sp>
      <p:sp>
        <p:nvSpPr>
          <p:cNvPr id="38" name="Rounded Rectangle 37"/>
          <p:cNvSpPr/>
          <p:nvPr/>
        </p:nvSpPr>
        <p:spPr>
          <a:xfrm>
            <a:off x="2880360" y="5020056"/>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pytest 9.1</a:t>
            </a:r>
          </a:p>
        </p:txBody>
      </p:sp>
      <p:sp>
        <p:nvSpPr>
          <p:cNvPr id="39" name="Rounded Rectangle 38"/>
          <p:cNvSpPr/>
          <p:nvPr/>
        </p:nvSpPr>
        <p:spPr>
          <a:xfrm>
            <a:off x="3995928" y="5020056"/>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Hypothesis 6</a:t>
            </a:r>
          </a:p>
        </p:txBody>
      </p:sp>
      <p:sp>
        <p:nvSpPr>
          <p:cNvPr id="40" name="Rounded Rectangle 39"/>
          <p:cNvSpPr/>
          <p:nvPr/>
        </p:nvSpPr>
        <p:spPr>
          <a:xfrm>
            <a:off x="5272430" y="5020056"/>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Playwright 1.64</a:t>
            </a:r>
          </a:p>
        </p:txBody>
      </p:sp>
      <p:sp>
        <p:nvSpPr>
          <p:cNvPr id="41" name="Rounded Rectangle 40"/>
          <p:cNvSpPr/>
          <p:nvPr/>
        </p:nvSpPr>
        <p:spPr>
          <a:xfrm>
            <a:off x="6790334" y="5020056"/>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Git + GitHub</a:t>
            </a:r>
          </a:p>
        </p:txBody>
      </p:sp>
      <p:sp>
        <p:nvSpPr>
          <p:cNvPr id="42" name="Rounded Rectangle 41"/>
          <p:cNvSpPr/>
          <p:nvPr/>
        </p:nvSpPr>
        <p:spPr>
          <a:xfrm>
            <a:off x="8066836" y="5020056"/>
            <a:ext cx="2553004"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Node.js / npm (UI build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Software development life cycle</a:t>
            </a:r>
          </a:p>
        </p:txBody>
      </p:sp>
      <p:sp>
        <p:nvSpPr>
          <p:cNvPr id="3" name="TextBox 2"/>
          <p:cNvSpPr txBox="1"/>
          <p:nvPr/>
        </p:nvSpPr>
        <p:spPr>
          <a:xfrm>
            <a:off x="548640" y="1188720"/>
            <a:ext cx="11094415" cy="45720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Model: iterative and incremental, </a:t>
            </a:r>
            <a:r>
              <a:rPr sz="1700" b="0" i="0">
                <a:solidFill>
                  <a:srgbClr val="1F2937"/>
                </a:solidFill>
                <a:latin typeface="Arial"/>
              </a:rPr>
              <a:t>with a working app and a measurable gate at the end of every phase</a:t>
            </a:r>
          </a:p>
        </p:txBody>
      </p:sp>
      <p:sp>
        <p:nvSpPr>
          <p:cNvPr id="4" name="Pentagon 3"/>
          <p:cNvSpPr/>
          <p:nvPr/>
        </p:nvSpPr>
        <p:spPr>
          <a:xfrm>
            <a:off x="548640" y="1783080"/>
            <a:ext cx="1865376" cy="658368"/>
          </a:xfrm>
          <a:prstGeom prst="homePlat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tIns="0" rIns="109728" bIns="0" wrap="square">
            <a:noAutofit/>
          </a:bodyPr>
          <a:lstStyle/>
          <a:p>
            <a:pPr algn="ctr">
              <a:spcAft>
                <a:spcPts val="0"/>
              </a:spcAft>
              <a:buNone/>
            </a:pPr>
            <a:r>
              <a:rPr sz="1300" b="1" i="0">
                <a:solidFill>
                  <a:srgbClr val="FFFFFF"/>
                </a:solidFill>
                <a:latin typeface="Arial"/>
              </a:rPr>
              <a:t>Requirements</a:t>
            </a:r>
          </a:p>
        </p:txBody>
      </p:sp>
      <p:sp>
        <p:nvSpPr>
          <p:cNvPr id="5" name="Rounded Rectangle 4"/>
          <p:cNvSpPr/>
          <p:nvPr/>
        </p:nvSpPr>
        <p:spPr>
          <a:xfrm>
            <a:off x="548640"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Review 0 (July 2026): problem, objectives, modules</a:t>
            </a:r>
          </a:p>
          <a:p>
            <a:pPr algn="l" marL="201168" indent="-201168">
              <a:spcAft>
                <a:spcPts val="700"/>
              </a:spcAft>
              <a:buFont typeface="Arial"/>
              <a:buChar char="•"/>
            </a:pPr>
            <a:r>
              <a:rPr sz="1300" b="0" i="0">
                <a:solidFill>
                  <a:srgbClr val="1F2937"/>
                </a:solidFill>
                <a:latin typeface="Arial"/>
              </a:rPr>
              <a:t>After Review 0: consent-based capture and Smart Picks added</a:t>
            </a:r>
          </a:p>
        </p:txBody>
      </p:sp>
      <p:sp>
        <p:nvSpPr>
          <p:cNvPr id="7" name="Chevron 6"/>
          <p:cNvSpPr/>
          <p:nvPr/>
        </p:nvSpPr>
        <p:spPr>
          <a:xfrm>
            <a:off x="2416759"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Design</a:t>
            </a:r>
          </a:p>
        </p:txBody>
      </p:sp>
      <p:sp>
        <p:nvSpPr>
          <p:cNvPr id="8" name="Rounded Rectangle 7"/>
          <p:cNvSpPr/>
          <p:nvPr/>
        </p:nvSpPr>
        <p:spPr>
          <a:xfrm>
            <a:off x="2416759"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08199"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One-process architecture</a:t>
            </a:r>
          </a:p>
          <a:p>
            <a:pPr algn="l" marL="201168" indent="-201168">
              <a:spcAft>
                <a:spcPts val="700"/>
              </a:spcAft>
              <a:buFont typeface="Arial"/>
              <a:buChar char="•"/>
            </a:pPr>
            <a:r>
              <a:rPr sz="1300" b="0" i="0">
                <a:solidFill>
                  <a:srgbClr val="1F2937"/>
                </a:solidFill>
                <a:latin typeface="Arial"/>
              </a:rPr>
              <a:t>33-table schema; money in paise</a:t>
            </a:r>
          </a:p>
          <a:p>
            <a:pPr algn="l" marL="201168" indent="-201168">
              <a:spcAft>
                <a:spcPts val="700"/>
              </a:spcAft>
              <a:buFont typeface="Arial"/>
              <a:buChar char="•"/>
            </a:pPr>
            <a:r>
              <a:rPr sz="1300" b="0" i="0">
                <a:solidFill>
                  <a:srgbClr val="1F2937"/>
                </a:solidFill>
                <a:latin typeface="Arial"/>
              </a:rPr>
              <a:t>Docker + PostgreSQL replaced by SQLite and run.py</a:t>
            </a:r>
          </a:p>
        </p:txBody>
      </p:sp>
      <p:sp>
        <p:nvSpPr>
          <p:cNvPr id="10" name="Chevron 9"/>
          <p:cNvSpPr/>
          <p:nvPr/>
        </p:nvSpPr>
        <p:spPr>
          <a:xfrm>
            <a:off x="4284878" y="1783080"/>
            <a:ext cx="1865376" cy="65836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Implementation</a:t>
            </a:r>
          </a:p>
        </p:txBody>
      </p:sp>
      <p:sp>
        <p:nvSpPr>
          <p:cNvPr id="11" name="Rounded Rectangle 10"/>
          <p:cNvSpPr/>
          <p:nvPr/>
        </p:nvSpPr>
        <p:spPr>
          <a:xfrm>
            <a:off x="4284878"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318"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10 build phases (0–9)</a:t>
            </a:r>
          </a:p>
          <a:p>
            <a:pPr algn="l" marL="201168" indent="-201168">
              <a:spcAft>
                <a:spcPts val="700"/>
              </a:spcAft>
              <a:buFont typeface="Arial"/>
              <a:buChar char="•"/>
            </a:pPr>
            <a:r>
              <a:rPr sz="1300" b="0" i="0">
                <a:solidFill>
                  <a:srgbClr val="1F2937"/>
                </a:solidFill>
                <a:latin typeface="Arial"/>
              </a:rPr>
              <a:t>Each phase a working increment: API, logic, UI</a:t>
            </a:r>
          </a:p>
        </p:txBody>
      </p:sp>
      <p:sp>
        <p:nvSpPr>
          <p:cNvPr id="13" name="Chevron 12"/>
          <p:cNvSpPr/>
          <p:nvPr/>
        </p:nvSpPr>
        <p:spPr>
          <a:xfrm>
            <a:off x="6152997"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Testing</a:t>
            </a:r>
          </a:p>
        </p:txBody>
      </p:sp>
      <p:sp>
        <p:nvSpPr>
          <p:cNvPr id="14" name="Rounded Rectangle 13"/>
          <p:cNvSpPr/>
          <p:nvPr/>
        </p:nvSpPr>
        <p:spPr>
          <a:xfrm>
            <a:off x="6152997"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4437"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pytest + Hypothesis every phase</a:t>
            </a:r>
          </a:p>
          <a:p>
            <a:pPr algn="l" marL="201168" indent="-201168">
              <a:spcAft>
                <a:spcPts val="700"/>
              </a:spcAft>
              <a:buFont typeface="Arial"/>
              <a:buChar char="•"/>
            </a:pPr>
            <a:r>
              <a:rPr sz="1300" b="0" i="0">
                <a:solidFill>
                  <a:srgbClr val="1F2937"/>
                </a:solidFill>
                <a:latin typeface="Arial"/>
              </a:rPr>
              <a:t>Playwright E2E demo script</a:t>
            </a:r>
          </a:p>
          <a:p>
            <a:pPr algn="l" marL="201168" indent="-201168">
              <a:spcAft>
                <a:spcPts val="700"/>
              </a:spcAft>
              <a:buFont typeface="Arial"/>
              <a:buChar char="•"/>
            </a:pPr>
            <a:r>
              <a:rPr sz="1300" b="0" i="0">
                <a:solidFill>
                  <a:srgbClr val="1F2937"/>
                </a:solidFill>
                <a:latin typeface="Arial"/>
              </a:rPr>
              <a:t>Metrics on held-out data</a:t>
            </a:r>
          </a:p>
        </p:txBody>
      </p:sp>
      <p:sp>
        <p:nvSpPr>
          <p:cNvPr id="16" name="Chevron 15"/>
          <p:cNvSpPr/>
          <p:nvPr/>
        </p:nvSpPr>
        <p:spPr>
          <a:xfrm>
            <a:off x="8021116" y="1783080"/>
            <a:ext cx="1865376" cy="65836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Deployment</a:t>
            </a:r>
          </a:p>
        </p:txBody>
      </p:sp>
      <p:sp>
        <p:nvSpPr>
          <p:cNvPr id="17" name="Rounded Rectangle 16"/>
          <p:cNvSpPr/>
          <p:nvPr/>
        </p:nvSpPr>
        <p:spPr>
          <a:xfrm>
            <a:off x="8021116"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2556"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One command: python3 run.py</a:t>
            </a:r>
          </a:p>
          <a:p>
            <a:pPr algn="l" marL="201168" indent="-201168">
              <a:spcAft>
                <a:spcPts val="700"/>
              </a:spcAft>
              <a:buFont typeface="Arial"/>
              <a:buChar char="•"/>
            </a:pPr>
            <a:r>
              <a:rPr sz="1300" b="0" i="0">
                <a:solidFill>
                  <a:srgbClr val="1F2937"/>
                </a:solidFill>
                <a:latin typeface="Arial"/>
              </a:rPr>
              <a:t>Pre-built web app</a:t>
            </a:r>
          </a:p>
          <a:p>
            <a:pPr algn="l" marL="201168" indent="-201168">
              <a:spcAft>
                <a:spcPts val="700"/>
              </a:spcAft>
              <a:buFont typeface="Arial"/>
              <a:buChar char="•"/>
            </a:pPr>
            <a:r>
              <a:rPr sz="1300" b="0" i="0">
                <a:solidFill>
                  <a:srgbClr val="1F2937"/>
                </a:solidFill>
                <a:latin typeface="Arial"/>
              </a:rPr>
              <a:t>Offline after the first run</a:t>
            </a:r>
          </a:p>
        </p:txBody>
      </p:sp>
      <p:sp>
        <p:nvSpPr>
          <p:cNvPr id="19" name="Chevron 18"/>
          <p:cNvSpPr/>
          <p:nvPr/>
        </p:nvSpPr>
        <p:spPr>
          <a:xfrm>
            <a:off x="9889236"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Maintenance</a:t>
            </a:r>
          </a:p>
        </p:txBody>
      </p:sp>
      <p:sp>
        <p:nvSpPr>
          <p:cNvPr id="20" name="Rounded Rectangle 19"/>
          <p:cNvSpPr/>
          <p:nvPr/>
        </p:nvSpPr>
        <p:spPr>
          <a:xfrm>
            <a:off x="9889236"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80676"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Alembic migrations</a:t>
            </a:r>
          </a:p>
          <a:p>
            <a:pPr algn="l" marL="201168" indent="-201168">
              <a:spcAft>
                <a:spcPts val="700"/>
              </a:spcAft>
              <a:buFont typeface="Arial"/>
              <a:buChar char="•"/>
            </a:pPr>
            <a:r>
              <a:rPr sz="1300" b="0" i="0">
                <a:solidFill>
                  <a:srgbClr val="1F2937"/>
                </a:solidFill>
                <a:latin typeface="Arial"/>
              </a:rPr>
              <a:t>Demo data refreshes daily</a:t>
            </a:r>
          </a:p>
          <a:p>
            <a:pPr algn="l" marL="201168" indent="-201168">
              <a:spcAft>
                <a:spcPts val="700"/>
              </a:spcAft>
              <a:buFont typeface="Arial"/>
              <a:buChar char="•"/>
            </a:pPr>
            <a:r>
              <a:rPr sz="1300" b="0" i="0">
                <a:solidFill>
                  <a:srgbClr val="1F2937"/>
                </a:solidFill>
                <a:latin typeface="Arial"/>
              </a:rPr>
              <a:t>Quality report in Settings</a:t>
            </a:r>
          </a:p>
        </p:txBody>
      </p:sp>
      <p:sp>
        <p:nvSpPr>
          <p:cNvPr id="22" name="Rounded Rectangle 21"/>
          <p:cNvSpPr/>
          <p:nvPr/>
        </p:nvSpPr>
        <p:spPr>
          <a:xfrm>
            <a:off x="548640"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Jul 2026  </a:t>
            </a:r>
            <a:r>
              <a:rPr sz="1250" b="0" i="0">
                <a:solidFill>
                  <a:srgbClr val="1F2937"/>
                </a:solidFill>
                <a:latin typeface="Arial"/>
              </a:rPr>
              <a:t>Review 0</a:t>
            </a:r>
          </a:p>
        </p:txBody>
      </p:sp>
      <p:cxnSp>
        <p:nvCxnSpPr>
          <p:cNvPr id="23" name="Connector 22"/>
          <p:cNvCxnSpPr/>
          <p:nvPr/>
        </p:nvCxnSpPr>
        <p:spPr>
          <a:xfrm>
            <a:off x="2548067"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831531"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After Review 0  </a:t>
            </a:r>
            <a:r>
              <a:rPr sz="1250" b="0" i="0">
                <a:solidFill>
                  <a:srgbClr val="1F2937"/>
                </a:solidFill>
                <a:latin typeface="Arial"/>
              </a:rPr>
              <a:t>requirements change</a:t>
            </a:r>
          </a:p>
        </p:txBody>
      </p:sp>
      <p:cxnSp>
        <p:nvCxnSpPr>
          <p:cNvPr id="25" name="Connector 24"/>
          <p:cNvCxnSpPr/>
          <p:nvPr/>
        </p:nvCxnSpPr>
        <p:spPr>
          <a:xfrm>
            <a:off x="4830958"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114422"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Phases 0–9  </a:t>
            </a:r>
            <a:r>
              <a:rPr sz="1250" b="0" i="0">
                <a:solidFill>
                  <a:srgbClr val="1F2937"/>
                </a:solidFill>
                <a:latin typeface="Arial"/>
              </a:rPr>
              <a:t>built and gated</a:t>
            </a:r>
          </a:p>
        </p:txBody>
      </p:sp>
      <p:cxnSp>
        <p:nvCxnSpPr>
          <p:cNvPr id="27" name="Connector 26"/>
          <p:cNvCxnSpPr/>
          <p:nvPr/>
        </p:nvCxnSpPr>
        <p:spPr>
          <a:xfrm>
            <a:off x="7113849"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97313"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10 Oct 2026  </a:t>
            </a:r>
            <a:r>
              <a:rPr sz="1250" b="0" i="0">
                <a:solidFill>
                  <a:srgbClr val="1F2937"/>
                </a:solidFill>
                <a:latin typeface="Arial"/>
              </a:rPr>
              <a:t>measured results</a:t>
            </a:r>
          </a:p>
        </p:txBody>
      </p:sp>
      <p:cxnSp>
        <p:nvCxnSpPr>
          <p:cNvPr id="29" name="Connector 28"/>
          <p:cNvCxnSpPr/>
          <p:nvPr/>
        </p:nvCxnSpPr>
        <p:spPr>
          <a:xfrm>
            <a:off x="9396740"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80204"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Oct 2026  </a:t>
            </a:r>
            <a:r>
              <a:rPr sz="1250" b="0" i="0">
                <a:solidFill>
                  <a:srgbClr val="1F2937"/>
                </a:solidFill>
                <a:latin typeface="Arial"/>
              </a:rPr>
              <a:t>evaluation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Build phases and their gates</a:t>
            </a:r>
          </a:p>
        </p:txBody>
      </p:sp>
      <p:sp>
        <p:nvSpPr>
          <p:cNvPr id="3" name="Rounded Rectangle 2"/>
          <p:cNvSpPr/>
          <p:nvPr/>
        </p:nvSpPr>
        <p:spPr>
          <a:xfrm>
            <a:off x="548640"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0</a:t>
            </a:r>
          </a:p>
        </p:txBody>
      </p:sp>
      <p:sp>
        <p:nvSpPr>
          <p:cNvPr id="5" name="TextBox 4"/>
          <p:cNvSpPr txBox="1"/>
          <p:nvPr/>
        </p:nvSpPr>
        <p:spPr>
          <a:xfrm>
            <a:off x="1234440"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Foundation</a:t>
            </a:r>
          </a:p>
        </p:txBody>
      </p:sp>
      <p:sp>
        <p:nvSpPr>
          <p:cNvPr id="6" name="TextBox 5"/>
          <p:cNvSpPr txBox="1"/>
          <p:nvPr/>
        </p:nvSpPr>
        <p:spPr>
          <a:xfrm>
            <a:off x="685800"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run.py, two servers, jobs, SQLite + Alembic</a:t>
            </a:r>
          </a:p>
        </p:txBody>
      </p:sp>
      <p:sp>
        <p:nvSpPr>
          <p:cNvPr id="7" name="Rounded Rectangle 6"/>
          <p:cNvSpPr/>
          <p:nvPr/>
        </p:nvSpPr>
        <p:spPr>
          <a:xfrm>
            <a:off x="658368"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a clean start renders a page</a:t>
            </a:r>
          </a:p>
        </p:txBody>
      </p:sp>
      <p:sp>
        <p:nvSpPr>
          <p:cNvPr id="8" name="Rounded Rectangle 7"/>
          <p:cNvSpPr/>
          <p:nvPr/>
        </p:nvSpPr>
        <p:spPr>
          <a:xfrm>
            <a:off x="2807208"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944368" y="137160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1</a:t>
            </a:r>
          </a:p>
        </p:txBody>
      </p:sp>
      <p:sp>
        <p:nvSpPr>
          <p:cNvPr id="10" name="TextBox 9"/>
          <p:cNvSpPr txBox="1"/>
          <p:nvPr/>
        </p:nvSpPr>
        <p:spPr>
          <a:xfrm>
            <a:off x="3493008"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Data and auth</a:t>
            </a:r>
          </a:p>
        </p:txBody>
      </p:sp>
      <p:sp>
        <p:nvSpPr>
          <p:cNvPr id="11" name="TextBox 10"/>
          <p:cNvSpPr txBox="1"/>
          <p:nvPr/>
        </p:nvSpPr>
        <p:spPr>
          <a:xfrm>
            <a:off x="2944368"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schema, auth, demo persona, model training</a:t>
            </a:r>
          </a:p>
        </p:txBody>
      </p:sp>
      <p:sp>
        <p:nvSpPr>
          <p:cNvPr id="12" name="Rounded Rectangle 11"/>
          <p:cNvSpPr/>
          <p:nvPr/>
        </p:nvSpPr>
        <p:spPr>
          <a:xfrm>
            <a:off x="2916936"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deterministic data; tests green</a:t>
            </a:r>
          </a:p>
        </p:txBody>
      </p:sp>
      <p:sp>
        <p:nvSpPr>
          <p:cNvPr id="13" name="Rounded Rectangle 12"/>
          <p:cNvSpPr/>
          <p:nvPr/>
        </p:nvSpPr>
        <p:spPr>
          <a:xfrm>
            <a:off x="5065776"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02936"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2</a:t>
            </a:r>
          </a:p>
        </p:txBody>
      </p:sp>
      <p:sp>
        <p:nvSpPr>
          <p:cNvPr id="15" name="TextBox 14"/>
          <p:cNvSpPr txBox="1"/>
          <p:nvPr/>
        </p:nvSpPr>
        <p:spPr>
          <a:xfrm>
            <a:off x="5751576"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Capture</a:t>
            </a:r>
          </a:p>
        </p:txBody>
      </p:sp>
      <p:sp>
        <p:nvSpPr>
          <p:cNvPr id="16" name="TextBox 15"/>
          <p:cNvSpPr txBox="1"/>
          <p:nvPr/>
        </p:nvSpPr>
        <p:spPr>
          <a:xfrm>
            <a:off x="5202936"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consent API, pipeline, imports, simulators</a:t>
            </a:r>
          </a:p>
        </p:txBody>
      </p:sp>
      <p:sp>
        <p:nvSpPr>
          <p:cNvPr id="17" name="Rounded Rectangle 16"/>
          <p:cNvSpPr/>
          <p:nvPr/>
        </p:nvSpPr>
        <p:spPr>
          <a:xfrm>
            <a:off x="5175504"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no transactions from OTP/promos</a:t>
            </a:r>
          </a:p>
        </p:txBody>
      </p:sp>
      <p:sp>
        <p:nvSpPr>
          <p:cNvPr id="18" name="Rounded Rectangle 17"/>
          <p:cNvSpPr/>
          <p:nvPr/>
        </p:nvSpPr>
        <p:spPr>
          <a:xfrm>
            <a:off x="7324344"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61504" y="137160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3</a:t>
            </a:r>
          </a:p>
        </p:txBody>
      </p:sp>
      <p:sp>
        <p:nvSpPr>
          <p:cNvPr id="20" name="TextBox 19"/>
          <p:cNvSpPr txBox="1"/>
          <p:nvPr/>
        </p:nvSpPr>
        <p:spPr>
          <a:xfrm>
            <a:off x="8010144"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Core UI</a:t>
            </a:r>
          </a:p>
        </p:txBody>
      </p:sp>
      <p:sp>
        <p:nvSpPr>
          <p:cNvPr id="21" name="TextBox 20"/>
          <p:cNvSpPr txBox="1"/>
          <p:nvPr/>
        </p:nvSpPr>
        <p:spPr>
          <a:xfrm>
            <a:off x="7461504"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shell, onboarding, dashboard, connections</a:t>
            </a:r>
          </a:p>
        </p:txBody>
      </p:sp>
      <p:sp>
        <p:nvSpPr>
          <p:cNvPr id="22" name="Rounded Rectangle 21"/>
          <p:cNvSpPr/>
          <p:nvPr/>
        </p:nvSpPr>
        <p:spPr>
          <a:xfrm>
            <a:off x="7434071"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E2E: SMS becomes a transaction</a:t>
            </a:r>
          </a:p>
        </p:txBody>
      </p:sp>
      <p:sp>
        <p:nvSpPr>
          <p:cNvPr id="23" name="Rounded Rectangle 22"/>
          <p:cNvSpPr/>
          <p:nvPr/>
        </p:nvSpPr>
        <p:spPr>
          <a:xfrm>
            <a:off x="9582912"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20072"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4</a:t>
            </a:r>
          </a:p>
        </p:txBody>
      </p:sp>
      <p:sp>
        <p:nvSpPr>
          <p:cNvPr id="25" name="TextBox 24"/>
          <p:cNvSpPr txBox="1"/>
          <p:nvPr/>
        </p:nvSpPr>
        <p:spPr>
          <a:xfrm>
            <a:off x="10268712"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Receipts</a:t>
            </a:r>
          </a:p>
        </p:txBody>
      </p:sp>
      <p:sp>
        <p:nvSpPr>
          <p:cNvPr id="26" name="TextBox 25"/>
          <p:cNvSpPr txBox="1"/>
          <p:nvPr/>
        </p:nvSpPr>
        <p:spPr>
          <a:xfrm>
            <a:off x="9720072"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in-browser OCR, receipt commit, PDF bills</a:t>
            </a:r>
          </a:p>
        </p:txBody>
      </p:sp>
      <p:sp>
        <p:nvSpPr>
          <p:cNvPr id="27" name="Rounded Rectangle 26"/>
          <p:cNvSpPr/>
          <p:nvPr/>
        </p:nvSpPr>
        <p:spPr>
          <a:xfrm>
            <a:off x="9692640"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9/9 sample fields read</a:t>
            </a:r>
          </a:p>
        </p:txBody>
      </p:sp>
      <p:sp>
        <p:nvSpPr>
          <p:cNvPr id="28" name="Rounded Rectangle 27"/>
          <p:cNvSpPr/>
          <p:nvPr/>
        </p:nvSpPr>
        <p:spPr>
          <a:xfrm>
            <a:off x="548640"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5800"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5</a:t>
            </a:r>
          </a:p>
        </p:txBody>
      </p:sp>
      <p:sp>
        <p:nvSpPr>
          <p:cNvPr id="30" name="TextBox 29"/>
          <p:cNvSpPr txBox="1"/>
          <p:nvPr/>
        </p:nvSpPr>
        <p:spPr>
          <a:xfrm>
            <a:off x="1234440"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Forecasting</a:t>
            </a:r>
          </a:p>
        </p:txBody>
      </p:sp>
      <p:sp>
        <p:nvSpPr>
          <p:cNvPr id="31" name="TextBox 30"/>
          <p:cNvSpPr txBox="1"/>
          <p:nvPr/>
        </p:nvSpPr>
        <p:spPr>
          <a:xfrm>
            <a:off x="685800"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Prophet + schedule, backtest, what-if</a:t>
            </a:r>
          </a:p>
        </p:txBody>
      </p:sp>
      <p:sp>
        <p:nvSpPr>
          <p:cNvPr id="32" name="Rounded Rectangle 31"/>
          <p:cNvSpPr/>
          <p:nvPr/>
        </p:nvSpPr>
        <p:spPr>
          <a:xfrm>
            <a:off x="658368"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honest backtest; fallback tested</a:t>
            </a:r>
          </a:p>
        </p:txBody>
      </p:sp>
      <p:sp>
        <p:nvSpPr>
          <p:cNvPr id="33" name="Rounded Rectangle 32"/>
          <p:cNvSpPr/>
          <p:nvPr/>
        </p:nvSpPr>
        <p:spPr>
          <a:xfrm>
            <a:off x="2807208"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44368" y="374904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6</a:t>
            </a:r>
          </a:p>
        </p:txBody>
      </p:sp>
      <p:sp>
        <p:nvSpPr>
          <p:cNvPr id="35" name="TextBox 34"/>
          <p:cNvSpPr txBox="1"/>
          <p:nvPr/>
        </p:nvSpPr>
        <p:spPr>
          <a:xfrm>
            <a:off x="3493008"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Subscriptions, tax</a:t>
            </a:r>
          </a:p>
        </p:txBody>
      </p:sp>
      <p:sp>
        <p:nvSpPr>
          <p:cNvPr id="36" name="TextBox 35"/>
          <p:cNvSpPr txBox="1"/>
          <p:nvPr/>
        </p:nvSpPr>
        <p:spPr>
          <a:xfrm>
            <a:off x="2944368"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detection, both regimes, export</a:t>
            </a:r>
          </a:p>
        </p:txBody>
      </p:sp>
      <p:sp>
        <p:nvSpPr>
          <p:cNvPr id="37" name="Rounded Rectangle 36"/>
          <p:cNvSpPr/>
          <p:nvPr/>
        </p:nvSpPr>
        <p:spPr>
          <a:xfrm>
            <a:off x="2916936"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planted findings; tax tests</a:t>
            </a:r>
          </a:p>
        </p:txBody>
      </p:sp>
      <p:sp>
        <p:nvSpPr>
          <p:cNvPr id="38" name="Rounded Rectangle 37"/>
          <p:cNvSpPr/>
          <p:nvPr/>
        </p:nvSpPr>
        <p:spPr>
          <a:xfrm>
            <a:off x="5065776"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202936"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7</a:t>
            </a:r>
          </a:p>
        </p:txBody>
      </p:sp>
      <p:sp>
        <p:nvSpPr>
          <p:cNvPr id="40" name="TextBox 39"/>
          <p:cNvSpPr txBox="1"/>
          <p:nvPr/>
        </p:nvSpPr>
        <p:spPr>
          <a:xfrm>
            <a:off x="5751576"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Insights, coach</a:t>
            </a:r>
          </a:p>
        </p:txBody>
      </p:sp>
      <p:sp>
        <p:nvSpPr>
          <p:cNvPr id="41" name="TextBox 40"/>
          <p:cNvSpPr txBox="1"/>
          <p:nvPr/>
        </p:nvSpPr>
        <p:spPr>
          <a:xfrm>
            <a:off x="5202936"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insights, coach, budgets, goals</a:t>
            </a:r>
          </a:p>
        </p:txBody>
      </p:sp>
      <p:sp>
        <p:nvSpPr>
          <p:cNvPr id="42" name="Rounded Rectangle 41"/>
          <p:cNvSpPr/>
          <p:nvPr/>
        </p:nvSpPr>
        <p:spPr>
          <a:xfrm>
            <a:off x="5175504"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every intent answers from data</a:t>
            </a:r>
          </a:p>
        </p:txBody>
      </p:sp>
      <p:sp>
        <p:nvSpPr>
          <p:cNvPr id="43" name="Rounded Rectangle 42"/>
          <p:cNvSpPr/>
          <p:nvPr/>
        </p:nvSpPr>
        <p:spPr>
          <a:xfrm>
            <a:off x="7324344"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461504" y="374904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8</a:t>
            </a:r>
          </a:p>
        </p:txBody>
      </p:sp>
      <p:sp>
        <p:nvSpPr>
          <p:cNvPr id="45" name="TextBox 44"/>
          <p:cNvSpPr txBox="1"/>
          <p:nvPr/>
        </p:nvSpPr>
        <p:spPr>
          <a:xfrm>
            <a:off x="8010144"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Smart Picks</a:t>
            </a:r>
          </a:p>
        </p:txBody>
      </p:sp>
      <p:sp>
        <p:nvSpPr>
          <p:cNvPr id="46" name="TextBox 45"/>
          <p:cNvSpPr txBox="1"/>
          <p:nvPr/>
        </p:nvSpPr>
        <p:spPr>
          <a:xfrm>
            <a:off x="7461504"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demo stores, crawler, affordability</a:t>
            </a:r>
          </a:p>
        </p:txBody>
      </p:sp>
      <p:sp>
        <p:nvSpPr>
          <p:cNvPr id="47" name="Rounded Rectangle 46"/>
          <p:cNvSpPr/>
          <p:nvPr/>
        </p:nvSpPr>
        <p:spPr>
          <a:xfrm>
            <a:off x="7434071"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BlockedMart skipped; property test</a:t>
            </a:r>
          </a:p>
        </p:txBody>
      </p:sp>
      <p:sp>
        <p:nvSpPr>
          <p:cNvPr id="48" name="Rounded Rectangle 47"/>
          <p:cNvSpPr/>
          <p:nvPr/>
        </p:nvSpPr>
        <p:spPr>
          <a:xfrm>
            <a:off x="9582912"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20072"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9</a:t>
            </a:r>
          </a:p>
        </p:txBody>
      </p:sp>
      <p:sp>
        <p:nvSpPr>
          <p:cNvPr id="50" name="TextBox 49"/>
          <p:cNvSpPr txBox="1"/>
          <p:nvPr/>
        </p:nvSpPr>
        <p:spPr>
          <a:xfrm>
            <a:off x="10268712"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Hardening</a:t>
            </a:r>
          </a:p>
        </p:txBody>
      </p:sp>
      <p:sp>
        <p:nvSpPr>
          <p:cNvPr id="51" name="TextBox 50"/>
          <p:cNvSpPr txBox="1"/>
          <p:nvPr/>
        </p:nvSpPr>
        <p:spPr>
          <a:xfrm>
            <a:off x="9720072"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README, E2E suite, screenshots</a:t>
            </a:r>
          </a:p>
        </p:txBody>
      </p:sp>
      <p:sp>
        <p:nvSpPr>
          <p:cNvPr id="52" name="Rounded Rectangle 51"/>
          <p:cNvSpPr/>
          <p:nvPr/>
        </p:nvSpPr>
        <p:spPr>
          <a:xfrm>
            <a:off x="9692640"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clean start + full E2E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Major features and modules</a:t>
            </a:r>
          </a:p>
        </p:txBody>
      </p:sp>
      <p:sp>
        <p:nvSpPr>
          <p:cNvPr id="3" name="Rounded Rectangle 2"/>
          <p:cNvSpPr/>
          <p:nvPr/>
        </p:nvSpPr>
        <p:spPr>
          <a:xfrm>
            <a:off x="54864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1389888"/>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1</a:t>
            </a:r>
          </a:p>
        </p:txBody>
      </p:sp>
      <p:sp>
        <p:nvSpPr>
          <p:cNvPr id="5" name="TextBox 4"/>
          <p:cNvSpPr txBox="1"/>
          <p:nvPr/>
        </p:nvSpPr>
        <p:spPr>
          <a:xfrm>
            <a:off x="126187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Consent and capture</a:t>
            </a:r>
          </a:p>
        </p:txBody>
      </p:sp>
      <p:sp>
        <p:nvSpPr>
          <p:cNvPr id="6" name="TextBox 5"/>
          <p:cNvSpPr txBox="1"/>
          <p:nvPr/>
        </p:nvSpPr>
        <p:spPr>
          <a:xfrm>
            <a:off x="70408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SMS and e-mail per source; sample inbox, file import and live simulators</a:t>
            </a:r>
          </a:p>
        </p:txBody>
      </p:sp>
      <p:sp>
        <p:nvSpPr>
          <p:cNvPr id="7" name="Rounded Rectangle 6"/>
          <p:cNvSpPr/>
          <p:nvPr/>
        </p:nvSpPr>
        <p:spPr>
          <a:xfrm>
            <a:off x="431231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467758" y="1389888"/>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2</a:t>
            </a:r>
          </a:p>
        </p:txBody>
      </p:sp>
      <p:sp>
        <p:nvSpPr>
          <p:cNvPr id="9" name="TextBox 8"/>
          <p:cNvSpPr txBox="1"/>
          <p:nvPr/>
        </p:nvSpPr>
        <p:spPr>
          <a:xfrm>
            <a:off x="502554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Receipts and bills</a:t>
            </a:r>
          </a:p>
        </p:txBody>
      </p:sp>
      <p:sp>
        <p:nvSpPr>
          <p:cNvPr id="10" name="TextBox 9"/>
          <p:cNvSpPr txBox="1"/>
          <p:nvPr/>
        </p:nvSpPr>
        <p:spPr>
          <a:xfrm>
            <a:off x="446775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In-browser OCR with confidence boxes; PDF bills; matched to card payments</a:t>
            </a:r>
          </a:p>
        </p:txBody>
      </p:sp>
      <p:sp>
        <p:nvSpPr>
          <p:cNvPr id="11" name="Rounded Rectangle 10"/>
          <p:cNvSpPr/>
          <p:nvPr/>
        </p:nvSpPr>
        <p:spPr>
          <a:xfrm>
            <a:off x="807598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31428" y="1389888"/>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3</a:t>
            </a:r>
          </a:p>
        </p:txBody>
      </p:sp>
      <p:sp>
        <p:nvSpPr>
          <p:cNvPr id="13" name="TextBox 12"/>
          <p:cNvSpPr txBox="1"/>
          <p:nvPr/>
        </p:nvSpPr>
        <p:spPr>
          <a:xfrm>
            <a:off x="878921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Transactions and review</a:t>
            </a:r>
          </a:p>
        </p:txBody>
      </p:sp>
      <p:sp>
        <p:nvSpPr>
          <p:cNvPr id="14" name="TextBox 13"/>
          <p:cNvSpPr txBox="1"/>
          <p:nvPr/>
        </p:nvSpPr>
        <p:spPr>
          <a:xfrm>
            <a:off x="823142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Rules → merchant list → ML; uncertain items go to Review and become rules</a:t>
            </a:r>
          </a:p>
        </p:txBody>
      </p:sp>
      <p:sp>
        <p:nvSpPr>
          <p:cNvPr id="15" name="Rounded Rectangle 14"/>
          <p:cNvSpPr/>
          <p:nvPr/>
        </p:nvSpPr>
        <p:spPr>
          <a:xfrm>
            <a:off x="54864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04088" y="2962656"/>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4</a:t>
            </a:r>
          </a:p>
        </p:txBody>
      </p:sp>
      <p:sp>
        <p:nvSpPr>
          <p:cNvPr id="17" name="TextBox 16"/>
          <p:cNvSpPr txBox="1"/>
          <p:nvPr/>
        </p:nvSpPr>
        <p:spPr>
          <a:xfrm>
            <a:off x="126187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Anomaly detection</a:t>
            </a:r>
          </a:p>
        </p:txBody>
      </p:sp>
      <p:sp>
        <p:nvSpPr>
          <p:cNvPr id="18" name="TextBox 17"/>
          <p:cNvSpPr txBox="1"/>
          <p:nvPr/>
        </p:nvSpPr>
        <p:spPr>
          <a:xfrm>
            <a:off x="70408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Robust z-score, IsolationForest, duplicate charges and new-merchant spikes</a:t>
            </a:r>
          </a:p>
        </p:txBody>
      </p:sp>
      <p:sp>
        <p:nvSpPr>
          <p:cNvPr id="19" name="Rounded Rectangle 18"/>
          <p:cNvSpPr/>
          <p:nvPr/>
        </p:nvSpPr>
        <p:spPr>
          <a:xfrm>
            <a:off x="431231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67758" y="2962656"/>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5</a:t>
            </a:r>
          </a:p>
        </p:txBody>
      </p:sp>
      <p:sp>
        <p:nvSpPr>
          <p:cNvPr id="21" name="TextBox 20"/>
          <p:cNvSpPr txBox="1"/>
          <p:nvPr/>
        </p:nvSpPr>
        <p:spPr>
          <a:xfrm>
            <a:off x="502554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Cash-flow forecast</a:t>
            </a:r>
          </a:p>
        </p:txBody>
      </p:sp>
      <p:sp>
        <p:nvSpPr>
          <p:cNvPr id="22" name="TextBox 21"/>
          <p:cNvSpPr txBox="1"/>
          <p:nvPr/>
        </p:nvSpPr>
        <p:spPr>
          <a:xfrm>
            <a:off x="446775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Known schedule + Prophet; 80% band, what-if and a backtest against baselines</a:t>
            </a:r>
          </a:p>
        </p:txBody>
      </p:sp>
      <p:sp>
        <p:nvSpPr>
          <p:cNvPr id="23" name="Rounded Rectangle 22"/>
          <p:cNvSpPr/>
          <p:nvPr/>
        </p:nvSpPr>
        <p:spPr>
          <a:xfrm>
            <a:off x="807598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31428" y="2962656"/>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6</a:t>
            </a:r>
          </a:p>
        </p:txBody>
      </p:sp>
      <p:sp>
        <p:nvSpPr>
          <p:cNvPr id="25" name="TextBox 24"/>
          <p:cNvSpPr txBox="1"/>
          <p:nvPr/>
        </p:nvSpPr>
        <p:spPr>
          <a:xfrm>
            <a:off x="878921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Subscriptions</a:t>
            </a:r>
          </a:p>
        </p:txBody>
      </p:sp>
      <p:sp>
        <p:nvSpPr>
          <p:cNvPr id="26" name="TextBox 25"/>
          <p:cNvSpPr txBox="1"/>
          <p:nvPr/>
        </p:nvSpPr>
        <p:spPr>
          <a:xfrm>
            <a:off x="823142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Price rises, unused plans, trials turned paid and overlaps, ranked by ₹ per year</a:t>
            </a:r>
          </a:p>
        </p:txBody>
      </p:sp>
      <p:sp>
        <p:nvSpPr>
          <p:cNvPr id="27" name="Rounded Rectangle 26"/>
          <p:cNvSpPr/>
          <p:nvPr/>
        </p:nvSpPr>
        <p:spPr>
          <a:xfrm>
            <a:off x="54864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04088" y="4535424"/>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7</a:t>
            </a:r>
          </a:p>
        </p:txBody>
      </p:sp>
      <p:sp>
        <p:nvSpPr>
          <p:cNvPr id="29" name="TextBox 28"/>
          <p:cNvSpPr txBox="1"/>
          <p:nvPr/>
        </p:nvSpPr>
        <p:spPr>
          <a:xfrm>
            <a:off x="126187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Tax insights</a:t>
            </a:r>
          </a:p>
        </p:txBody>
      </p:sp>
      <p:sp>
        <p:nvSpPr>
          <p:cNvPr id="30" name="TextBox 29"/>
          <p:cNvSpPr txBox="1"/>
          <p:nvPr/>
        </p:nvSpPr>
        <p:spPr>
          <a:xfrm>
            <a:off x="70408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Two tax years, both regimes, deductions from transactions, CSV/PDF export</a:t>
            </a:r>
          </a:p>
        </p:txBody>
      </p:sp>
      <p:sp>
        <p:nvSpPr>
          <p:cNvPr id="31" name="Rounded Rectangle 30"/>
          <p:cNvSpPr/>
          <p:nvPr/>
        </p:nvSpPr>
        <p:spPr>
          <a:xfrm>
            <a:off x="431231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67758" y="4535424"/>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8</a:t>
            </a:r>
          </a:p>
        </p:txBody>
      </p:sp>
      <p:sp>
        <p:nvSpPr>
          <p:cNvPr id="33" name="TextBox 32"/>
          <p:cNvSpPr txBox="1"/>
          <p:nvPr/>
        </p:nvSpPr>
        <p:spPr>
          <a:xfrm>
            <a:off x="502554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Insights, coach, budgets</a:t>
            </a:r>
          </a:p>
        </p:txBody>
      </p:sp>
      <p:sp>
        <p:nvSpPr>
          <p:cNvPr id="34" name="TextBox 33"/>
          <p:cNvSpPr txBox="1"/>
          <p:nvPr/>
        </p:nvSpPr>
        <p:spPr>
          <a:xfrm>
            <a:off x="446775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Ranked insights; a 13-intent coach; budgets and goals feed affordability</a:t>
            </a:r>
          </a:p>
        </p:txBody>
      </p:sp>
      <p:sp>
        <p:nvSpPr>
          <p:cNvPr id="35" name="Rounded Rectangle 34"/>
          <p:cNvSpPr/>
          <p:nvPr/>
        </p:nvSpPr>
        <p:spPr>
          <a:xfrm>
            <a:off x="807598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31428" y="4535424"/>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9</a:t>
            </a:r>
          </a:p>
        </p:txBody>
      </p:sp>
      <p:sp>
        <p:nvSpPr>
          <p:cNvPr id="37" name="TextBox 36"/>
          <p:cNvSpPr txBox="1"/>
          <p:nvPr/>
        </p:nvSpPr>
        <p:spPr>
          <a:xfrm>
            <a:off x="878921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Smart Picks</a:t>
            </a:r>
          </a:p>
        </p:txBody>
      </p:sp>
      <p:sp>
        <p:nvSpPr>
          <p:cNvPr id="38" name="TextBox 37"/>
          <p:cNvSpPr txBox="1"/>
          <p:nvPr/>
        </p:nvSpPr>
        <p:spPr>
          <a:xfrm>
            <a:off x="823142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Polite crawler + affordability: Buy now, For your goals, Save 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The application in action</a:t>
            </a:r>
          </a:p>
        </p:txBody>
      </p:sp>
      <p:pic>
        <p:nvPicPr>
          <p:cNvPr id="3" name="Picture 2" descr="dashboard.png"/>
          <p:cNvPicPr>
            <a:picLocks noChangeAspect="1"/>
          </p:cNvPicPr>
          <p:nvPr/>
        </p:nvPicPr>
        <p:blipFill>
          <a:blip r:embed="rId3"/>
          <a:stretch>
            <a:fillRect/>
          </a:stretch>
        </p:blipFill>
        <p:spPr>
          <a:xfrm>
            <a:off x="1002639" y="1207008"/>
            <a:ext cx="3218688" cy="2011680"/>
          </a:xfrm>
          <a:prstGeom prst="rect">
            <a:avLst/>
          </a:prstGeom>
          <a:ln w="9525">
            <a:solidFill>
              <a:srgbClr val="C9D3E0"/>
            </a:solidFill>
          </a:ln>
        </p:spPr>
      </p:pic>
      <p:sp>
        <p:nvSpPr>
          <p:cNvPr id="4" name="TextBox 3"/>
          <p:cNvSpPr txBox="1"/>
          <p:nvPr/>
        </p:nvSpPr>
        <p:spPr>
          <a:xfrm>
            <a:off x="1002639"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Dashboard</a:t>
            </a:r>
          </a:p>
        </p:txBody>
      </p:sp>
      <p:pic>
        <p:nvPicPr>
          <p:cNvPr id="5" name="Picture 4" descr="connections.png"/>
          <p:cNvPicPr>
            <a:picLocks noChangeAspect="1"/>
          </p:cNvPicPr>
          <p:nvPr/>
        </p:nvPicPr>
        <p:blipFill>
          <a:blip r:embed="rId4"/>
          <a:stretch>
            <a:fillRect/>
          </a:stretch>
        </p:blipFill>
        <p:spPr>
          <a:xfrm>
            <a:off x="4486503" y="1207008"/>
            <a:ext cx="3218688" cy="2011680"/>
          </a:xfrm>
          <a:prstGeom prst="rect">
            <a:avLst/>
          </a:prstGeom>
          <a:ln w="9525">
            <a:solidFill>
              <a:srgbClr val="C9D3E0"/>
            </a:solidFill>
          </a:ln>
        </p:spPr>
      </p:pic>
      <p:sp>
        <p:nvSpPr>
          <p:cNvPr id="6" name="TextBox 5"/>
          <p:cNvSpPr txBox="1"/>
          <p:nvPr/>
        </p:nvSpPr>
        <p:spPr>
          <a:xfrm>
            <a:off x="4486503"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Connections: consent per source</a:t>
            </a:r>
          </a:p>
        </p:txBody>
      </p:sp>
      <p:pic>
        <p:nvPicPr>
          <p:cNvPr id="7" name="Picture 6" descr="forecast.png"/>
          <p:cNvPicPr>
            <a:picLocks noChangeAspect="1"/>
          </p:cNvPicPr>
          <p:nvPr/>
        </p:nvPicPr>
        <p:blipFill>
          <a:blip r:embed="rId5"/>
          <a:stretch>
            <a:fillRect/>
          </a:stretch>
        </p:blipFill>
        <p:spPr>
          <a:xfrm>
            <a:off x="7970367" y="1207008"/>
            <a:ext cx="3218688" cy="2011680"/>
          </a:xfrm>
          <a:prstGeom prst="rect">
            <a:avLst/>
          </a:prstGeom>
          <a:ln w="9525">
            <a:solidFill>
              <a:srgbClr val="C9D3E0"/>
            </a:solidFill>
          </a:ln>
        </p:spPr>
      </p:pic>
      <p:sp>
        <p:nvSpPr>
          <p:cNvPr id="8" name="TextBox 7"/>
          <p:cNvSpPr txBox="1"/>
          <p:nvPr/>
        </p:nvSpPr>
        <p:spPr>
          <a:xfrm>
            <a:off x="7970367"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Forecast with a what-if check</a:t>
            </a:r>
          </a:p>
        </p:txBody>
      </p:sp>
      <p:pic>
        <p:nvPicPr>
          <p:cNvPr id="9" name="Picture 8" descr="subscriptions.png"/>
          <p:cNvPicPr>
            <a:picLocks noChangeAspect="1"/>
          </p:cNvPicPr>
          <p:nvPr/>
        </p:nvPicPr>
        <p:blipFill>
          <a:blip r:embed="rId6"/>
          <a:stretch>
            <a:fillRect/>
          </a:stretch>
        </p:blipFill>
        <p:spPr>
          <a:xfrm>
            <a:off x="1002639" y="3602736"/>
            <a:ext cx="3218688" cy="2011680"/>
          </a:xfrm>
          <a:prstGeom prst="rect">
            <a:avLst/>
          </a:prstGeom>
          <a:ln w="9525">
            <a:solidFill>
              <a:srgbClr val="C9D3E0"/>
            </a:solidFill>
          </a:ln>
        </p:spPr>
      </p:pic>
      <p:sp>
        <p:nvSpPr>
          <p:cNvPr id="10" name="TextBox 9"/>
          <p:cNvSpPr txBox="1"/>
          <p:nvPr/>
        </p:nvSpPr>
        <p:spPr>
          <a:xfrm>
            <a:off x="1002639"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Subscriptions: ranked savings</a:t>
            </a:r>
          </a:p>
        </p:txBody>
      </p:sp>
      <p:pic>
        <p:nvPicPr>
          <p:cNvPr id="11" name="Picture 10" descr="tax.png"/>
          <p:cNvPicPr>
            <a:picLocks noChangeAspect="1"/>
          </p:cNvPicPr>
          <p:nvPr/>
        </p:nvPicPr>
        <p:blipFill>
          <a:blip r:embed="rId7"/>
          <a:stretch>
            <a:fillRect/>
          </a:stretch>
        </p:blipFill>
        <p:spPr>
          <a:xfrm>
            <a:off x="4486503" y="3602736"/>
            <a:ext cx="3218688" cy="2011680"/>
          </a:xfrm>
          <a:prstGeom prst="rect">
            <a:avLst/>
          </a:prstGeom>
          <a:ln w="9525">
            <a:solidFill>
              <a:srgbClr val="C9D3E0"/>
            </a:solidFill>
          </a:ln>
        </p:spPr>
      </p:pic>
      <p:sp>
        <p:nvSpPr>
          <p:cNvPr id="12" name="TextBox 11"/>
          <p:cNvSpPr txBox="1"/>
          <p:nvPr/>
        </p:nvSpPr>
        <p:spPr>
          <a:xfrm>
            <a:off x="4486503"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Tax: old vs new regime</a:t>
            </a:r>
          </a:p>
        </p:txBody>
      </p:sp>
      <p:pic>
        <p:nvPicPr>
          <p:cNvPr id="13" name="Picture 12" descr="picks.png"/>
          <p:cNvPicPr>
            <a:picLocks noChangeAspect="1"/>
          </p:cNvPicPr>
          <p:nvPr/>
        </p:nvPicPr>
        <p:blipFill>
          <a:blip r:embed="rId8"/>
          <a:stretch>
            <a:fillRect/>
          </a:stretch>
        </p:blipFill>
        <p:spPr>
          <a:xfrm>
            <a:off x="7970367" y="3602736"/>
            <a:ext cx="3218688" cy="2011680"/>
          </a:xfrm>
          <a:prstGeom prst="rect">
            <a:avLst/>
          </a:prstGeom>
          <a:ln w="9525">
            <a:solidFill>
              <a:srgbClr val="C9D3E0"/>
            </a:solidFill>
          </a:ln>
        </p:spPr>
      </p:pic>
      <p:sp>
        <p:nvSpPr>
          <p:cNvPr id="14" name="TextBox 13"/>
          <p:cNvSpPr txBox="1"/>
          <p:nvPr/>
        </p:nvSpPr>
        <p:spPr>
          <a:xfrm>
            <a:off x="7970367"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Smart Picks: affordability first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 flow: from a message to a decision</a:t>
            </a:r>
          </a:p>
        </p:txBody>
      </p:sp>
      <p:sp>
        <p:nvSpPr>
          <p:cNvPr id="3" name="TextBox 2"/>
          <p:cNvSpPr txBox="1"/>
          <p:nvPr/>
        </p:nvSpPr>
        <p:spPr>
          <a:xfrm>
            <a:off x="548640" y="1170432"/>
            <a:ext cx="11094415" cy="365760"/>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Capture pipeline — the same for the sample inbox, file imports and the live simulators</a:t>
            </a:r>
          </a:p>
        </p:txBody>
      </p:sp>
      <p:sp>
        <p:nvSpPr>
          <p:cNvPr id="4" name="Pentagon 3"/>
          <p:cNvSpPr/>
          <p:nvPr/>
        </p:nvSpPr>
        <p:spPr>
          <a:xfrm>
            <a:off x="548640" y="1600200"/>
            <a:ext cx="1938528" cy="566928"/>
          </a:xfrm>
          <a:prstGeom prst="homePlat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0" rIns="137160" bIns="0" wrap="square">
            <a:noAutofit/>
          </a:bodyPr>
          <a:lstStyle/>
          <a:p>
            <a:pPr algn="ctr">
              <a:spcAft>
                <a:spcPts val="0"/>
              </a:spcAft>
              <a:buNone/>
            </a:pPr>
            <a:r>
              <a:rPr sz="1400" b="1" i="0">
                <a:solidFill>
                  <a:srgbClr val="FFFFFF"/>
                </a:solidFill>
                <a:latin typeface="Arial"/>
              </a:rPr>
              <a:t>Consent gate</a:t>
            </a:r>
          </a:p>
        </p:txBody>
      </p:sp>
      <p:sp>
        <p:nvSpPr>
          <p:cNvPr id="5" name="Rounded Rectangle 4"/>
          <p:cNvSpPr/>
          <p:nvPr/>
        </p:nvSpPr>
        <p:spPr>
          <a:xfrm>
            <a:off x="594360"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Refused unless the source is active</a:t>
            </a:r>
          </a:p>
        </p:txBody>
      </p:sp>
      <p:sp>
        <p:nvSpPr>
          <p:cNvPr id="6" name="Chevron 5"/>
          <p:cNvSpPr/>
          <p:nvPr/>
        </p:nvSpPr>
        <p:spPr>
          <a:xfrm>
            <a:off x="2395728"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Pre-filter</a:t>
            </a:r>
          </a:p>
        </p:txBody>
      </p:sp>
      <p:sp>
        <p:nvSpPr>
          <p:cNvPr id="7" name="Rounded Rectangle 6"/>
          <p:cNvSpPr/>
          <p:nvPr/>
        </p:nvSpPr>
        <p:spPr>
          <a:xfrm>
            <a:off x="2441448"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Drops promo (-P) senders, personal numbers, non-allowlisted e-mail</a:t>
            </a:r>
          </a:p>
        </p:txBody>
      </p:sp>
      <p:sp>
        <p:nvSpPr>
          <p:cNvPr id="8" name="Chevron 7"/>
          <p:cNvSpPr/>
          <p:nvPr/>
        </p:nvSpPr>
        <p:spPr>
          <a:xfrm>
            <a:off x="4242816"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Classify</a:t>
            </a:r>
          </a:p>
        </p:txBody>
      </p:sp>
      <p:sp>
        <p:nvSpPr>
          <p:cNvPr id="9" name="Rounded Rectangle 8"/>
          <p:cNvSpPr/>
          <p:nvPr/>
        </p:nvSpPr>
        <p:spPr>
          <a:xfrm>
            <a:off x="4288536"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12 message kinds (TF-IDF + LR); OTPs never stored</a:t>
            </a:r>
          </a:p>
        </p:txBody>
      </p:sp>
      <p:sp>
        <p:nvSpPr>
          <p:cNvPr id="10" name="Chevron 9"/>
          <p:cNvSpPr/>
          <p:nvPr/>
        </p:nvSpPr>
        <p:spPr>
          <a:xfrm>
            <a:off x="6089904"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Extract</a:t>
            </a:r>
          </a:p>
        </p:txBody>
      </p:sp>
      <p:sp>
        <p:nvSpPr>
          <p:cNvPr id="11" name="Rounded Rectangle 10"/>
          <p:cNvSpPr/>
          <p:nvPr/>
        </p:nvSpPr>
        <p:spPr>
          <a:xfrm>
            <a:off x="6135624"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Bank templates, then a generic reader; each field has a confidence</a:t>
            </a:r>
          </a:p>
        </p:txBody>
      </p:sp>
      <p:sp>
        <p:nvSpPr>
          <p:cNvPr id="12" name="Chevron 11"/>
          <p:cNvSpPr/>
          <p:nvPr/>
        </p:nvSpPr>
        <p:spPr>
          <a:xfrm>
            <a:off x="7936992"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Reconcile</a:t>
            </a:r>
          </a:p>
        </p:txBody>
      </p:sp>
      <p:sp>
        <p:nvSpPr>
          <p:cNvPr id="13" name="Rounded Rectangle 12"/>
          <p:cNvSpPr/>
          <p:nvPr/>
        </p:nvSpPr>
        <p:spPr>
          <a:xfrm>
            <a:off x="7982712"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One transaction per payment across SMS + e-mail; transfers, refunds</a:t>
            </a:r>
          </a:p>
        </p:txBody>
      </p:sp>
      <p:sp>
        <p:nvSpPr>
          <p:cNvPr id="14" name="Chevron 13"/>
          <p:cNvSpPr/>
          <p:nvPr/>
        </p:nvSpPr>
        <p:spPr>
          <a:xfrm>
            <a:off x="9784080"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Categorise</a:t>
            </a:r>
          </a:p>
        </p:txBody>
      </p:sp>
      <p:sp>
        <p:nvSpPr>
          <p:cNvPr id="15" name="Rounded Rectangle 14"/>
          <p:cNvSpPr/>
          <p:nvPr/>
        </p:nvSpPr>
        <p:spPr>
          <a:xfrm>
            <a:off x="9829800"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Rules → merchant list → ML → Review queue</a:t>
            </a:r>
          </a:p>
        </p:txBody>
      </p:sp>
      <p:sp>
        <p:nvSpPr>
          <p:cNvPr id="16" name="TextBox 15"/>
          <p:cNvSpPr txBox="1"/>
          <p:nvPr/>
        </p:nvSpPr>
        <p:spPr>
          <a:xfrm>
            <a:off x="548640" y="3767328"/>
            <a:ext cx="11094415" cy="365760"/>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Analytics after new data — the user_analytics background job (also nightly)</a:t>
            </a:r>
          </a:p>
        </p:txBody>
      </p:sp>
      <p:sp>
        <p:nvSpPr>
          <p:cNvPr id="17" name="Rounded Rectangle 16"/>
          <p:cNvSpPr/>
          <p:nvPr/>
        </p:nvSpPr>
        <p:spPr>
          <a:xfrm>
            <a:off x="54864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Anomalies</a:t>
            </a:r>
          </a:p>
        </p:txBody>
      </p:sp>
      <p:cxnSp>
        <p:nvCxnSpPr>
          <p:cNvPr id="18" name="Connector 17"/>
          <p:cNvCxnSpPr/>
          <p:nvPr/>
        </p:nvCxnSpPr>
        <p:spPr>
          <a:xfrm>
            <a:off x="194767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19456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Subscriptions</a:t>
            </a:r>
          </a:p>
        </p:txBody>
      </p:sp>
      <p:cxnSp>
        <p:nvCxnSpPr>
          <p:cNvPr id="20" name="Connector 19"/>
          <p:cNvCxnSpPr/>
          <p:nvPr/>
        </p:nvCxnSpPr>
        <p:spPr>
          <a:xfrm>
            <a:off x="3593591" y="4489704"/>
            <a:ext cx="219457"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84048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Forecast</a:t>
            </a:r>
          </a:p>
        </p:txBody>
      </p:sp>
      <p:cxnSp>
        <p:nvCxnSpPr>
          <p:cNvPr id="22" name="Connector 21"/>
          <p:cNvCxnSpPr/>
          <p:nvPr/>
        </p:nvCxnSpPr>
        <p:spPr>
          <a:xfrm>
            <a:off x="523951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Smart Picks</a:t>
            </a:r>
          </a:p>
        </p:txBody>
      </p:sp>
      <p:cxnSp>
        <p:nvCxnSpPr>
          <p:cNvPr id="24" name="Connector 23"/>
          <p:cNvCxnSpPr/>
          <p:nvPr/>
        </p:nvCxnSpPr>
        <p:spPr>
          <a:xfrm>
            <a:off x="688543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3232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Insights</a:t>
            </a:r>
          </a:p>
        </p:txBody>
      </p:sp>
      <p:cxnSp>
        <p:nvCxnSpPr>
          <p:cNvPr id="26" name="Connector 25"/>
          <p:cNvCxnSpPr/>
          <p:nvPr/>
        </p:nvCxnSpPr>
        <p:spPr>
          <a:xfrm>
            <a:off x="853135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778240" y="4050791"/>
            <a:ext cx="2864815" cy="877824"/>
          </a:xfrm>
          <a:prstGeom prst="roundRect">
            <a:avLst>
              <a:gd name="adj" fmla="val 12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tIns="27432" rIns="109728" bIns="27432" wrap="square">
            <a:noAutofit/>
          </a:bodyPr>
          <a:lstStyle/>
          <a:p>
            <a:pPr algn="l">
              <a:spcAft>
                <a:spcPts val="200"/>
              </a:spcAft>
              <a:buNone/>
            </a:pPr>
            <a:r>
              <a:rPr sz="1400" b="1" i="0">
                <a:solidFill>
                  <a:srgbClr val="1E7B4F"/>
                </a:solidFill>
                <a:latin typeface="Arial"/>
              </a:rPr>
              <a:t>Pages read the results</a:t>
            </a:r>
          </a:p>
          <a:p>
            <a:pPr algn="l">
              <a:spcAft>
                <a:spcPts val="0"/>
              </a:spcAft>
              <a:buNone/>
            </a:pPr>
            <a:r>
              <a:rPr sz="1200" b="0" i="0">
                <a:solidFill>
                  <a:srgbClr val="1F2937"/>
                </a:solidFill>
                <a:latin typeface="Arial"/>
              </a:rPr>
              <a:t>Dashboard · Forecast · Subscriptions · Picks · Insights</a:t>
            </a:r>
          </a:p>
        </p:txBody>
      </p:sp>
      <p:sp>
        <p:nvSpPr>
          <p:cNvPr id="28" name="TextBox 27"/>
          <p:cNvSpPr txBox="1"/>
          <p:nvPr/>
        </p:nvSpPr>
        <p:spPr>
          <a:xfrm>
            <a:off x="548640" y="5074920"/>
            <a:ext cx="11094415" cy="777240"/>
          </a:xfrm>
          <a:prstGeom prst="rect">
            <a:avLst/>
          </a:prstGeom>
          <a:noFill/>
        </p:spPr>
        <p:txBody>
          <a:bodyPr wrap="square" lIns="36576" tIns="18288" rIns="36576" bIns="18288" anchor="t">
            <a:noAutofit/>
          </a:bodyPr>
          <a:lstStyle/>
          <a:p>
            <a:pPr algn="l">
              <a:spcAft>
                <a:spcPts val="0"/>
              </a:spcAft>
              <a:buNone/>
            </a:pPr>
            <a:r>
              <a:rPr sz="1300" b="0" i="0">
                <a:solidFill>
                  <a:srgbClr val="1F2937"/>
                </a:solidFill>
                <a:latin typeface="Arial"/>
              </a:rPr>
              <a:t>Results are stored in SQLite (forecasts, subscriptions, product_recommendations, insights). Tax is computed on each request. Each stage runs in its own try/except, so one failure never blocks the others.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Database design</a:t>
            </a:r>
          </a:p>
        </p:txBody>
      </p:sp>
      <p:sp>
        <p:nvSpPr>
          <p:cNvPr id="3" name="Rounded Rectangle 2"/>
          <p:cNvSpPr/>
          <p:nvPr/>
        </p:nvSpPr>
        <p:spPr>
          <a:xfrm>
            <a:off x="548640" y="123444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344168"/>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Core</a:t>
            </a:r>
          </a:p>
        </p:txBody>
      </p:sp>
      <p:sp>
        <p:nvSpPr>
          <p:cNvPr id="5" name="Rounded Rectangle 4"/>
          <p:cNvSpPr/>
          <p:nvPr/>
        </p:nvSpPr>
        <p:spPr>
          <a:xfrm>
            <a:off x="2898648" y="137160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4 tables</a:t>
            </a:r>
          </a:p>
        </p:txBody>
      </p:sp>
      <p:sp>
        <p:nvSpPr>
          <p:cNvPr id="6" name="TextBox 5"/>
          <p:cNvSpPr txBox="1"/>
          <p:nvPr/>
        </p:nvSpPr>
        <p:spPr>
          <a:xfrm>
            <a:off x="713232" y="1801368"/>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users, refresh_tokens, jobs, model_artifacts</a:t>
            </a:r>
          </a:p>
        </p:txBody>
      </p:sp>
      <p:sp>
        <p:nvSpPr>
          <p:cNvPr id="7" name="Rounded Rectangle 6"/>
          <p:cNvSpPr/>
          <p:nvPr/>
        </p:nvSpPr>
        <p:spPr>
          <a:xfrm>
            <a:off x="4041648" y="123444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344168"/>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Capture</a:t>
            </a:r>
          </a:p>
        </p:txBody>
      </p:sp>
      <p:sp>
        <p:nvSpPr>
          <p:cNvPr id="9" name="Rounded Rectangle 8"/>
          <p:cNvSpPr/>
          <p:nvPr/>
        </p:nvSpPr>
        <p:spPr>
          <a:xfrm>
            <a:off x="6391655" y="137160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5 tables</a:t>
            </a:r>
          </a:p>
        </p:txBody>
      </p:sp>
      <p:sp>
        <p:nvSpPr>
          <p:cNvPr id="10" name="TextBox 9"/>
          <p:cNvSpPr txBox="1"/>
          <p:nvPr/>
        </p:nvSpPr>
        <p:spPr>
          <a:xfrm>
            <a:off x="4206240" y="1801368"/>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data_sources, consent_events, ingested_messages, upcoming_payments, balance_snapshots</a:t>
            </a:r>
          </a:p>
        </p:txBody>
      </p:sp>
      <p:sp>
        <p:nvSpPr>
          <p:cNvPr id="11" name="Rounded Rectangle 10"/>
          <p:cNvSpPr/>
          <p:nvPr/>
        </p:nvSpPr>
        <p:spPr>
          <a:xfrm>
            <a:off x="548640" y="356616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675887"/>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Finance</a:t>
            </a:r>
          </a:p>
        </p:txBody>
      </p:sp>
      <p:sp>
        <p:nvSpPr>
          <p:cNvPr id="13" name="Rounded Rectangle 12"/>
          <p:cNvSpPr/>
          <p:nvPr/>
        </p:nvSpPr>
        <p:spPr>
          <a:xfrm>
            <a:off x="2898648" y="370332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17 tables</a:t>
            </a:r>
          </a:p>
        </p:txBody>
      </p:sp>
      <p:sp>
        <p:nvSpPr>
          <p:cNvPr id="14" name="TextBox 13"/>
          <p:cNvSpPr txBox="1"/>
          <p:nvPr/>
        </p:nvSpPr>
        <p:spPr>
          <a:xfrm>
            <a:off x="713232" y="4133087"/>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accounts, categories, merchants, merchant_aliases, category_rules, transactions, transaction_items, receipts, import_batches, budgets, goals, subscriptions, anomalies, insights, forecasts, forecast_metrics, chat_messages</a:t>
            </a:r>
          </a:p>
        </p:txBody>
      </p:sp>
      <p:sp>
        <p:nvSpPr>
          <p:cNvPr id="15" name="Rounded Rectangle 14"/>
          <p:cNvSpPr/>
          <p:nvPr/>
        </p:nvSpPr>
        <p:spPr>
          <a:xfrm>
            <a:off x="4041648" y="356616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3675887"/>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Smart Picks</a:t>
            </a:r>
          </a:p>
        </p:txBody>
      </p:sp>
      <p:sp>
        <p:nvSpPr>
          <p:cNvPr id="17" name="Rounded Rectangle 16"/>
          <p:cNvSpPr/>
          <p:nvPr/>
        </p:nvSpPr>
        <p:spPr>
          <a:xfrm>
            <a:off x="6391655" y="370332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7 tables</a:t>
            </a:r>
          </a:p>
        </p:txBody>
      </p:sp>
      <p:sp>
        <p:nvSpPr>
          <p:cNvPr id="18" name="TextBox 17"/>
          <p:cNvSpPr txBox="1"/>
          <p:nvPr/>
        </p:nvSpPr>
        <p:spPr>
          <a:xfrm>
            <a:off x="4206240" y="4133087"/>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product_sources, crawl_runs, products, product_price_history, wishlist_items, affordability_snapshots, product_recommendations</a:t>
            </a:r>
          </a:p>
        </p:txBody>
      </p:sp>
      <p:sp>
        <p:nvSpPr>
          <p:cNvPr id="19" name="TextBox 18"/>
          <p:cNvSpPr txBox="1"/>
          <p:nvPr/>
        </p:nvSpPr>
        <p:spPr>
          <a:xfrm>
            <a:off x="7671816" y="1188720"/>
            <a:ext cx="3971239"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Key design decisions</a:t>
            </a:r>
          </a:p>
        </p:txBody>
      </p:sp>
      <p:sp>
        <p:nvSpPr>
          <p:cNvPr id="20" name="TextBox 19"/>
          <p:cNvSpPr txBox="1"/>
          <p:nvPr/>
        </p:nvSpPr>
        <p:spPr>
          <a:xfrm>
            <a:off x="7671816" y="1664208"/>
            <a:ext cx="3971239" cy="4206240"/>
          </a:xfrm>
          <a:prstGeom prst="rect">
            <a:avLst/>
          </a:prstGeom>
          <a:noFill/>
        </p:spPr>
        <p:txBody>
          <a:bodyPr wrap="square" lIns="36576" tIns="18288" rIns="36576" bIns="18288" anchor="t">
            <a:noAutofit/>
          </a:bodyPr>
          <a:lstStyle/>
          <a:p>
            <a:pPr algn="l" marL="201168" indent="-201168">
              <a:spcAft>
                <a:spcPts val="900"/>
              </a:spcAft>
              <a:buFont typeface="Arial"/>
              <a:buChar char="•"/>
            </a:pPr>
            <a:r>
              <a:rPr sz="1400" b="0" i="0">
                <a:solidFill>
                  <a:srgbClr val="1F2937"/>
                </a:solidFill>
                <a:latin typeface="Arial"/>
              </a:rPr>
              <a:t>33 tables from one Alembic migration; SQLite in WAL mode</a:t>
            </a:r>
          </a:p>
          <a:p>
            <a:pPr algn="l" marL="201168" indent="-201168">
              <a:spcAft>
                <a:spcPts val="900"/>
              </a:spcAft>
              <a:buFont typeface="Arial"/>
              <a:buChar char="•"/>
            </a:pPr>
            <a:r>
              <a:rPr sz="1400" b="0" i="0">
                <a:solidFill>
                  <a:srgbClr val="1F2937"/>
                </a:solidFill>
                <a:latin typeface="Arial"/>
              </a:rPr>
              <a:t>Money stored as integer paise and used as Decimal, never as floats</a:t>
            </a:r>
          </a:p>
          <a:p>
            <a:pPr algn="l" marL="201168" indent="-201168">
              <a:spcAft>
                <a:spcPts val="900"/>
              </a:spcAft>
              <a:buFont typeface="Arial"/>
              <a:buChar char="•"/>
            </a:pPr>
            <a:r>
              <a:rPr sz="1400" b="0" i="0">
                <a:solidFill>
                  <a:srgbClr val="1F2937"/>
                </a:solidFill>
                <a:latin typeface="Arial"/>
              </a:rPr>
              <a:t>Every user table has user_id … ON DELETE CASCADE</a:t>
            </a:r>
          </a:p>
          <a:p>
            <a:pPr algn="l" marL="201168" indent="-201168">
              <a:spcAft>
                <a:spcPts val="900"/>
              </a:spcAft>
              <a:buFont typeface="Arial"/>
              <a:buChar char="•"/>
            </a:pPr>
            <a:r>
              <a:rPr sz="1400" b="0" i="0">
                <a:solidFill>
                  <a:srgbClr val="1F2937"/>
                </a:solidFill>
                <a:latin typeface="Arial"/>
              </a:rPr>
              <a:t>transactions record origin, is_transfer and category_source with a confidence</a:t>
            </a:r>
          </a:p>
          <a:p>
            <a:pPr algn="l" marL="201168" indent="-201168">
              <a:spcAft>
                <a:spcPts val="900"/>
              </a:spcAft>
              <a:buFont typeface="Arial"/>
              <a:buChar char="•"/>
            </a:pPr>
            <a:r>
              <a:rPr sz="1400" b="0" i="0">
                <a:solidFill>
                  <a:srgbClr val="1F2937"/>
                </a:solidFill>
                <a:latin typeface="Arial"/>
              </a:rPr>
              <a:t>Message text Fernet-encrypted and purged after the retention period</a:t>
            </a:r>
          </a:p>
          <a:p>
            <a:pPr algn="l" marL="201168" indent="-201168">
              <a:spcAft>
                <a:spcPts val="900"/>
              </a:spcAft>
              <a:buFont typeface="Arial"/>
              <a:buChar char="•"/>
            </a:pPr>
            <a:r>
              <a:rPr sz="1400" b="0" i="0">
                <a:solidFill>
                  <a:srgbClr val="1F2937"/>
                </a:solidFill>
                <a:latin typeface="Arial"/>
              </a:rPr>
              <a:t>consent_events is append-only; the product catalogue is shared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Measured results</a:t>
            </a:r>
          </a:p>
        </p:txBody>
      </p:sp>
      <p:graphicFrame>
        <p:nvGraphicFramePr>
          <p:cNvPr id="3" name="Chart 2"/>
          <p:cNvGraphicFramePr>
            <a:graphicFrameLocks noGrp="1"/>
          </p:cNvGraphicFramePr>
          <p:nvPr/>
        </p:nvGraphicFramePr>
        <p:xfrm>
          <a:off x="548640" y="1234440"/>
          <a:ext cx="5760720" cy="3886200"/>
        </p:xfrm>
        <a:graphic>
          <a:graphicData uri="http://schemas.openxmlformats.org/drawingml/2006/chart">
            <c:chart xmlns:c="http://schemas.openxmlformats.org/drawingml/2006/chart" r:id="rId3"/>
          </a:graphicData>
        </a:graphic>
      </p:graphicFrame>
      <p:sp>
        <p:nvSpPr>
          <p:cNvPr id="4" name="TextBox 3"/>
          <p:cNvSpPr txBox="1"/>
          <p:nvPr/>
        </p:nvSpPr>
        <p:spPr>
          <a:xfrm>
            <a:off x="548640" y="5193792"/>
            <a:ext cx="5760720" cy="685800"/>
          </a:xfrm>
          <a:prstGeom prst="rect">
            <a:avLst/>
          </a:prstGeom>
          <a:noFill/>
        </p:spPr>
        <p:txBody>
          <a:bodyPr wrap="square" lIns="36576" tIns="18288" rIns="36576" bIns="18288" anchor="t">
            <a:noAutofit/>
          </a:bodyPr>
          <a:lstStyle/>
          <a:p>
            <a:pPr algn="l">
              <a:spcAft>
                <a:spcPts val="0"/>
              </a:spcAft>
              <a:buNone/>
            </a:pPr>
            <a:r>
              <a:rPr sz="1200" b="0" i="0">
                <a:solidFill>
                  <a:srgbClr val="5B6573"/>
                </a:solidFill>
                <a:latin typeface="Arial"/>
              </a:rPr>
              <a:t>The known schedule cuts the error by 85%; Prophet adds ≈3% on top. WAPE is reported instead of MAPE because daily net flow often crosses zero.</a:t>
            </a:r>
          </a:p>
        </p:txBody>
      </p:sp>
      <p:sp>
        <p:nvSpPr>
          <p:cNvPr id="5" name="Rounded Rectangle 4"/>
          <p:cNvSpPr/>
          <p:nvPr/>
        </p:nvSpPr>
        <p:spPr>
          <a:xfrm>
            <a:off x="6629400" y="1234440"/>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39128" y="1325880"/>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100%</a:t>
            </a:r>
          </a:p>
        </p:txBody>
      </p:sp>
      <p:sp>
        <p:nvSpPr>
          <p:cNvPr id="7" name="TextBox 6"/>
          <p:cNvSpPr txBox="1"/>
          <p:nvPr/>
        </p:nvSpPr>
        <p:spPr>
          <a:xfrm>
            <a:off x="6739128" y="1892808"/>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message-type macro F1 on the held-out test split</a:t>
            </a:r>
          </a:p>
        </p:txBody>
      </p:sp>
      <p:sp>
        <p:nvSpPr>
          <p:cNvPr id="8" name="Rounded Rectangle 7"/>
          <p:cNvSpPr/>
          <p:nvPr/>
        </p:nvSpPr>
        <p:spPr>
          <a:xfrm>
            <a:off x="9180576" y="1234440"/>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90303" y="1325880"/>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96.6%</a:t>
            </a:r>
          </a:p>
        </p:txBody>
      </p:sp>
      <p:sp>
        <p:nvSpPr>
          <p:cNvPr id="10" name="TextBox 9"/>
          <p:cNvSpPr txBox="1"/>
          <p:nvPr/>
        </p:nvSpPr>
        <p:spPr>
          <a:xfrm>
            <a:off x="9290303" y="1892808"/>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type accuracy on a hand-written challenge set; amounts 100%</a:t>
            </a:r>
          </a:p>
        </p:txBody>
      </p:sp>
      <p:sp>
        <p:nvSpPr>
          <p:cNvPr id="11" name="Rounded Rectangle 10"/>
          <p:cNvSpPr/>
          <p:nvPr/>
        </p:nvSpPr>
        <p:spPr>
          <a:xfrm>
            <a:off x="6629400" y="2715768"/>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9128" y="2807208"/>
            <a:ext cx="2240280" cy="548640"/>
          </a:xfrm>
          <a:prstGeom prst="rect">
            <a:avLst/>
          </a:prstGeom>
          <a:noFill/>
        </p:spPr>
        <p:txBody>
          <a:bodyPr wrap="square" lIns="36576" tIns="18288" rIns="36576" bIns="18288" anchor="ctr">
            <a:noAutofit/>
          </a:bodyPr>
          <a:lstStyle/>
          <a:p>
            <a:pPr algn="l">
              <a:spcAft>
                <a:spcPts val="400"/>
              </a:spcAft>
              <a:buNone/>
            </a:pPr>
            <a:r>
              <a:rPr sz="2200" b="1" i="0">
                <a:solidFill>
                  <a:srgbClr val="0079BC"/>
                </a:solidFill>
                <a:latin typeface="Arial"/>
              </a:rPr>
              <a:t>100% / 100%</a:t>
            </a:r>
          </a:p>
        </p:txBody>
      </p:sp>
      <p:sp>
        <p:nvSpPr>
          <p:cNvPr id="13" name="TextBox 12"/>
          <p:cNvSpPr txBox="1"/>
          <p:nvPr/>
        </p:nvSpPr>
        <p:spPr>
          <a:xfrm>
            <a:off x="6739128" y="3374136"/>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de-duplication precision / recall across SMS and e-mail</a:t>
            </a:r>
          </a:p>
        </p:txBody>
      </p:sp>
      <p:sp>
        <p:nvSpPr>
          <p:cNvPr id="14" name="Rounded Rectangle 13"/>
          <p:cNvSpPr/>
          <p:nvPr/>
        </p:nvSpPr>
        <p:spPr>
          <a:xfrm>
            <a:off x="9180576" y="2715768"/>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0303" y="2807208"/>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99.8%</a:t>
            </a:r>
          </a:p>
        </p:txBody>
      </p:sp>
      <p:sp>
        <p:nvSpPr>
          <p:cNvPr id="16" name="TextBox 15"/>
          <p:cNvSpPr txBox="1"/>
          <p:nvPr/>
        </p:nvSpPr>
        <p:spPr>
          <a:xfrm>
            <a:off x="9290303" y="3374136"/>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category accuracy on captured payments</a:t>
            </a:r>
          </a:p>
        </p:txBody>
      </p:sp>
      <p:sp>
        <p:nvSpPr>
          <p:cNvPr id="17" name="Rounded Rectangle 16"/>
          <p:cNvSpPr/>
          <p:nvPr/>
        </p:nvSpPr>
        <p:spPr>
          <a:xfrm>
            <a:off x="6629400" y="4197096"/>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9128" y="4288536"/>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84.6%</a:t>
            </a:r>
          </a:p>
        </p:txBody>
      </p:sp>
      <p:sp>
        <p:nvSpPr>
          <p:cNvPr id="19" name="TextBox 18"/>
          <p:cNvSpPr txBox="1"/>
          <p:nvPr/>
        </p:nvSpPr>
        <p:spPr>
          <a:xfrm>
            <a:off x="6739128" y="4855464"/>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coach intent accuracy on held-out paraphrases</a:t>
            </a:r>
          </a:p>
        </p:txBody>
      </p:sp>
      <p:sp>
        <p:nvSpPr>
          <p:cNvPr id="20" name="Rounded Rectangle 19"/>
          <p:cNvSpPr/>
          <p:nvPr/>
        </p:nvSpPr>
        <p:spPr>
          <a:xfrm>
            <a:off x="9180576" y="4197096"/>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0303" y="4288536"/>
            <a:ext cx="2240280" cy="548640"/>
          </a:xfrm>
          <a:prstGeom prst="rect">
            <a:avLst/>
          </a:prstGeom>
          <a:noFill/>
        </p:spPr>
        <p:txBody>
          <a:bodyPr wrap="square" lIns="36576" tIns="18288" rIns="36576" bIns="18288" anchor="ctr">
            <a:noAutofit/>
          </a:bodyPr>
          <a:lstStyle/>
          <a:p>
            <a:pPr algn="l">
              <a:spcAft>
                <a:spcPts val="400"/>
              </a:spcAft>
              <a:buNone/>
            </a:pPr>
            <a:r>
              <a:rPr sz="2200" b="1" i="0">
                <a:solidFill>
                  <a:srgbClr val="0079BC"/>
                </a:solidFill>
                <a:latin typeface="Arial"/>
              </a:rPr>
              <a:t>100% vs 80%</a:t>
            </a:r>
          </a:p>
        </p:txBody>
      </p:sp>
      <p:sp>
        <p:nvSpPr>
          <p:cNvPr id="22" name="TextBox 21"/>
          <p:cNvSpPr txBox="1"/>
          <p:nvPr/>
        </p:nvSpPr>
        <p:spPr>
          <a:xfrm>
            <a:off x="9290303" y="4855464"/>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Smart Picks precision@10 vs a most-reviewed baseline</a:t>
            </a:r>
          </a:p>
        </p:txBody>
      </p:sp>
      <p:sp>
        <p:nvSpPr>
          <p:cNvPr id="23" name="TextBox 22"/>
          <p:cNvSpPr txBox="1"/>
          <p:nvPr/>
        </p:nvSpPr>
        <p:spPr>
          <a:xfrm>
            <a:off x="6629400" y="5715000"/>
            <a:ext cx="4983480" cy="274320"/>
          </a:xfrm>
          <a:prstGeom prst="rect">
            <a:avLst/>
          </a:prstGeom>
          <a:noFill/>
        </p:spPr>
        <p:txBody>
          <a:bodyPr wrap="square" lIns="36576" tIns="18288" rIns="36576" bIns="18288" anchor="t">
            <a:noAutofit/>
          </a:bodyPr>
          <a:lstStyle/>
          <a:p>
            <a:pPr algn="l">
              <a:spcAft>
                <a:spcPts val="400"/>
              </a:spcAft>
              <a:buNone/>
            </a:pPr>
            <a:r>
              <a:rPr sz="1050" b="0" i="0">
                <a:solidFill>
                  <a:srgbClr val="5B6573"/>
                </a:solidFill>
                <a:latin typeface="Arial"/>
              </a:rPr>
              <a:t>Measured 10 Oct 2026 (README). The demo regenerates daily, so figures shift slightly.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Testing and validation</a:t>
            </a:r>
          </a:p>
        </p:txBody>
      </p:sp>
      <p:sp>
        <p:nvSpPr>
          <p:cNvPr id="3" name="Rounded Rectangle 2"/>
          <p:cNvSpPr/>
          <p:nvPr/>
        </p:nvSpPr>
        <p:spPr>
          <a:xfrm>
            <a:off x="54864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59 / 59</a:t>
            </a:r>
          </a:p>
        </p:txBody>
      </p:sp>
      <p:sp>
        <p:nvSpPr>
          <p:cNvPr id="5" name="TextBox 4"/>
          <p:cNvSpPr txBox="1"/>
          <p:nvPr/>
        </p:nvSpPr>
        <p:spPr>
          <a:xfrm>
            <a:off x="68580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backend tests pass (pytest + Hypothesis), re-run 14 Oct 2026 in 29.8 s</a:t>
            </a:r>
          </a:p>
        </p:txBody>
      </p:sp>
      <p:sp>
        <p:nvSpPr>
          <p:cNvPr id="6" name="Rounded Rectangle 5"/>
          <p:cNvSpPr/>
          <p:nvPr/>
        </p:nvSpPr>
        <p:spPr>
          <a:xfrm>
            <a:off x="337505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1221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14</a:t>
            </a:r>
          </a:p>
        </p:txBody>
      </p:sp>
      <p:sp>
        <p:nvSpPr>
          <p:cNvPr id="8" name="TextBox 7"/>
          <p:cNvSpPr txBox="1"/>
          <p:nvPr/>
        </p:nvSpPr>
        <p:spPr>
          <a:xfrm>
            <a:off x="351221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end-to-end tests (Playwright) walk the full demo script</a:t>
            </a:r>
          </a:p>
        </p:txBody>
      </p:sp>
      <p:sp>
        <p:nvSpPr>
          <p:cNvPr id="9" name="Rounded Rectangle 8"/>
          <p:cNvSpPr/>
          <p:nvPr/>
        </p:nvSpPr>
        <p:spPr>
          <a:xfrm>
            <a:off x="620146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862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300</a:t>
            </a:r>
          </a:p>
        </p:txBody>
      </p:sp>
      <p:sp>
        <p:nvSpPr>
          <p:cNvPr id="11" name="TextBox 10"/>
          <p:cNvSpPr txBox="1"/>
          <p:nvPr/>
        </p:nvSpPr>
        <p:spPr>
          <a:xfrm>
            <a:off x="633862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random cases prove Buy now never breaks the safety buffer</a:t>
            </a:r>
          </a:p>
        </p:txBody>
      </p:sp>
      <p:sp>
        <p:nvSpPr>
          <p:cNvPr id="12" name="Rounded Rectangle 11"/>
          <p:cNvSpPr/>
          <p:nvPr/>
        </p:nvSpPr>
        <p:spPr>
          <a:xfrm>
            <a:off x="9027871"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5031"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6 × 30 days</a:t>
            </a:r>
          </a:p>
        </p:txBody>
      </p:sp>
      <p:sp>
        <p:nvSpPr>
          <p:cNvPr id="14" name="TextBox 13"/>
          <p:cNvSpPr txBox="1"/>
          <p:nvPr/>
        </p:nvSpPr>
        <p:spPr>
          <a:xfrm>
            <a:off x="9165031"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rolling-origin backtest windows for the forecast</a:t>
            </a:r>
          </a:p>
        </p:txBody>
      </p:sp>
      <p:sp>
        <p:nvSpPr>
          <p:cNvPr id="15" name="TextBox 14"/>
          <p:cNvSpPr txBox="1"/>
          <p:nvPr/>
        </p:nvSpPr>
        <p:spPr>
          <a:xfrm>
            <a:off x="548640" y="2852928"/>
            <a:ext cx="5440680" cy="384048"/>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What the backend tests cover</a:t>
            </a:r>
          </a:p>
        </p:txBody>
      </p:sp>
      <p:sp>
        <p:nvSpPr>
          <p:cNvPr id="16" name="TextBox 15"/>
          <p:cNvSpPr txBox="1"/>
          <p:nvPr/>
        </p:nvSpPr>
        <p:spPr>
          <a:xfrm>
            <a:off x="548640" y="3273552"/>
            <a:ext cx="5440680" cy="265176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400" b="0" i="0">
                <a:solidFill>
                  <a:srgbClr val="1F2937"/>
                </a:solidFill>
                <a:latin typeface="Arial"/>
              </a:rPr>
              <a:t>Money handling and message parsing (known, unseen and challenge formats)</a:t>
            </a:r>
          </a:p>
          <a:p>
            <a:pPr algn="l" marL="201168" indent="-201168">
              <a:spcAft>
                <a:spcPts val="700"/>
              </a:spcAft>
              <a:buFont typeface="Arial"/>
              <a:buChar char="•"/>
            </a:pPr>
            <a:r>
              <a:rPr sz="1400" b="0" i="0">
                <a:solidFill>
                  <a:srgbClr val="1F2937"/>
                </a:solidFill>
                <a:latin typeface="Arial"/>
              </a:rPr>
              <a:t>Pipeline accuracy against ground truth: dedup, transfers, categories</a:t>
            </a:r>
          </a:p>
          <a:p>
            <a:pPr algn="l" marL="201168" indent="-201168">
              <a:spcAft>
                <a:spcPts val="700"/>
              </a:spcAft>
              <a:buFont typeface="Arial"/>
              <a:buChar char="•"/>
            </a:pPr>
            <a:r>
              <a:rPr sz="1400" b="0" i="0">
                <a:solidFill>
                  <a:srgbClr val="1F2937"/>
                </a:solidFill>
                <a:latin typeface="Arial"/>
              </a:rPr>
              <a:t>Consent: nothing read without it; pause, revoke, delete data</a:t>
            </a:r>
          </a:p>
          <a:p>
            <a:pPr algn="l" marL="201168" indent="-201168">
              <a:spcAft>
                <a:spcPts val="700"/>
              </a:spcAft>
              <a:buFont typeface="Arial"/>
              <a:buChar char="•"/>
            </a:pPr>
            <a:r>
              <a:rPr sz="1400" b="0" i="0">
                <a:solidFill>
                  <a:srgbClr val="1F2937"/>
                </a:solidFill>
                <a:latin typeface="Arial"/>
              </a:rPr>
              <a:t>API flows: auth, rules, preferences, rate limit, account deletion</a:t>
            </a:r>
          </a:p>
          <a:p>
            <a:pPr algn="l" marL="201168" indent="-201168">
              <a:spcAft>
                <a:spcPts val="700"/>
              </a:spcAft>
              <a:buFont typeface="Arial"/>
              <a:buChar char="•"/>
            </a:pPr>
            <a:r>
              <a:rPr sz="1400" b="0" i="0">
                <a:solidFill>
                  <a:srgbClr val="1F2937"/>
                </a:solidFill>
                <a:latin typeface="Arial"/>
              </a:rPr>
              <a:t>Tax for both years; forecast backtest and fallback; picks</a:t>
            </a:r>
          </a:p>
        </p:txBody>
      </p:sp>
      <p:sp>
        <p:nvSpPr>
          <p:cNvPr id="17" name="TextBox 16"/>
          <p:cNvSpPr txBox="1"/>
          <p:nvPr/>
        </p:nvSpPr>
        <p:spPr>
          <a:xfrm>
            <a:off x="6190488" y="2852928"/>
            <a:ext cx="5440680" cy="384048"/>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End-to-end and model validation</a:t>
            </a:r>
          </a:p>
        </p:txBody>
      </p:sp>
      <p:sp>
        <p:nvSpPr>
          <p:cNvPr id="18" name="TextBox 17"/>
          <p:cNvSpPr txBox="1"/>
          <p:nvPr/>
        </p:nvSpPr>
        <p:spPr>
          <a:xfrm>
            <a:off x="6190488" y="3273552"/>
            <a:ext cx="5440680" cy="265176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400" b="0" i="0">
                <a:solidFill>
                  <a:srgbClr val="1F2937"/>
                </a:solidFill>
                <a:latin typeface="Arial"/>
              </a:rPr>
              <a:t>New user: register, consent, sample inbox, onboarding</a:t>
            </a:r>
          </a:p>
          <a:p>
            <a:pPr algn="l" marL="201168" indent="-201168">
              <a:spcAft>
                <a:spcPts val="700"/>
              </a:spcAft>
              <a:buFont typeface="Arial"/>
              <a:buChar char="•"/>
            </a:pPr>
            <a:r>
              <a:rPr sz="1400" b="0" i="0">
                <a:solidFill>
                  <a:srgbClr val="1F2937"/>
                </a:solidFill>
                <a:latin typeface="Arial"/>
              </a:rPr>
              <a:t>Simulated SMS, OTP and promo; receipt e-mail enrichment; OCR</a:t>
            </a:r>
          </a:p>
          <a:p>
            <a:pPr algn="l" marL="201168" indent="-201168">
              <a:spcAft>
                <a:spcPts val="700"/>
              </a:spcAft>
              <a:buFont typeface="Arial"/>
              <a:buChar char="•"/>
            </a:pPr>
            <a:r>
              <a:rPr sz="1400" b="0" i="0">
                <a:solidFill>
                  <a:srgbClr val="1F2937"/>
                </a:solidFill>
                <a:latin typeface="Arial"/>
              </a:rPr>
              <a:t>Forecast what-if, subscriptions, tax PDF, coach, picks, crawl</a:t>
            </a:r>
          </a:p>
          <a:p>
            <a:pPr algn="l" marL="201168" indent="-201168">
              <a:spcAft>
                <a:spcPts val="700"/>
              </a:spcAft>
              <a:buFont typeface="Arial"/>
              <a:buChar char="•"/>
            </a:pPr>
            <a:r>
              <a:rPr sz="1400" b="0" i="0">
                <a:solidFill>
                  <a:srgbClr val="1F2937"/>
                </a:solidFill>
                <a:latin typeface="Arial"/>
              </a:rPr>
              <a:t>Revoke and delete data; reset the demo</a:t>
            </a:r>
          </a:p>
          <a:p>
            <a:pPr algn="l" marL="201168" indent="-201168">
              <a:spcAft>
                <a:spcPts val="700"/>
              </a:spcAft>
              <a:buFont typeface="Arial"/>
              <a:buChar char="•"/>
            </a:pPr>
            <a:r>
              <a:rPr sz="1400" b="0" i="0">
                <a:solidFill>
                  <a:srgbClr val="1F2937"/>
                </a:solidFill>
                <a:latin typeface="Arial"/>
              </a:rPr>
              <a:t>Held-out splits, unseen banks, challenge set, precision@10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Challenges and possible improvements</a:t>
            </a:r>
          </a:p>
        </p:txBody>
      </p:sp>
      <p:sp>
        <p:nvSpPr>
          <p:cNvPr id="3" name="TextBox 2"/>
          <p:cNvSpPr txBox="1"/>
          <p:nvPr/>
        </p:nvSpPr>
        <p:spPr>
          <a:xfrm>
            <a:off x="548640" y="1170432"/>
            <a:ext cx="6035040"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Challenges and how we solved them</a:t>
            </a:r>
          </a:p>
        </p:txBody>
      </p:sp>
      <p:sp>
        <p:nvSpPr>
          <p:cNvPr id="4" name="Rounded Rectangle 3"/>
          <p:cNvSpPr/>
          <p:nvPr/>
        </p:nvSpPr>
        <p:spPr>
          <a:xfrm>
            <a:off x="548640" y="1645920"/>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73352"/>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Requirements changed after Review 0</a:t>
            </a:r>
          </a:p>
          <a:p>
            <a:pPr algn="l">
              <a:spcAft>
                <a:spcPts val="0"/>
              </a:spcAft>
              <a:buNone/>
            </a:pPr>
            <a:r>
              <a:rPr sz="1250" b="0" i="0">
                <a:solidFill>
                  <a:srgbClr val="1F2937"/>
                </a:solidFill>
                <a:latin typeface="Arial"/>
              </a:rPr>
              <a:t>Re-planned around consented capture and Smart Picks; one process instead of Docker + PostgreSQL.</a:t>
            </a:r>
          </a:p>
        </p:txBody>
      </p:sp>
      <p:sp>
        <p:nvSpPr>
          <p:cNvPr id="6" name="Rounded Rectangle 5"/>
          <p:cNvSpPr/>
          <p:nvPr/>
        </p:nvSpPr>
        <p:spPr>
          <a:xfrm>
            <a:off x="548640" y="2487168"/>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One payment, two messages</a:t>
            </a:r>
          </a:p>
          <a:p>
            <a:pPr algn="l">
              <a:spcAft>
                <a:spcPts val="0"/>
              </a:spcAft>
              <a:buNone/>
            </a:pPr>
            <a:r>
              <a:rPr sz="1250" b="0" i="0">
                <a:solidFill>
                  <a:srgbClr val="1F2937"/>
                </a:solidFill>
                <a:latin typeface="Arial"/>
              </a:rPr>
              <a:t>Reference matching and scoring; e-mail receipts enrich the SMS transaction instead of duplicating it.</a:t>
            </a:r>
          </a:p>
        </p:txBody>
      </p:sp>
      <p:sp>
        <p:nvSpPr>
          <p:cNvPr id="8" name="Rounded Rectangle 7"/>
          <p:cNvSpPr/>
          <p:nvPr/>
        </p:nvSpPr>
        <p:spPr>
          <a:xfrm>
            <a:off x="548640" y="3328416"/>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355848"/>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SQLite allows one writer</a:t>
            </a:r>
          </a:p>
          <a:p>
            <a:pPr algn="l">
              <a:spcAft>
                <a:spcPts val="0"/>
              </a:spcAft>
              <a:buNone/>
            </a:pPr>
            <a:r>
              <a:rPr sz="1250" b="0" i="0">
                <a:solidFill>
                  <a:srgbClr val="1F2937"/>
                </a:solidFill>
                <a:latin typeface="Arial"/>
              </a:rPr>
              <a:t>Background jobs join the request's transaction and start after it commits (regression test).</a:t>
            </a:r>
          </a:p>
        </p:txBody>
      </p:sp>
      <p:sp>
        <p:nvSpPr>
          <p:cNvPr id="10" name="Rounded Rectangle 9"/>
          <p:cNvSpPr/>
          <p:nvPr/>
        </p:nvSpPr>
        <p:spPr>
          <a:xfrm>
            <a:off x="548640" y="4169664"/>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197096"/>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Judging forecast quality</a:t>
            </a:r>
          </a:p>
          <a:p>
            <a:pPr algn="l">
              <a:spcAft>
                <a:spcPts val="0"/>
              </a:spcAft>
              <a:buNone/>
            </a:pPr>
            <a:r>
              <a:rPr sz="1250" b="0" i="0">
                <a:solidFill>
                  <a:srgbClr val="1F2937"/>
                </a:solidFill>
                <a:latin typeface="Arial"/>
              </a:rPr>
              <a:t>Rolling backtest against two baselines; WAPE instead of MAPE; automatic fallback.</a:t>
            </a:r>
          </a:p>
        </p:txBody>
      </p:sp>
      <p:sp>
        <p:nvSpPr>
          <p:cNvPr id="12" name="Rounded Rectangle 11"/>
          <p:cNvSpPr/>
          <p:nvPr/>
        </p:nvSpPr>
        <p:spPr>
          <a:xfrm>
            <a:off x="548640" y="5010912"/>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038344"/>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Crawling responsibly</a:t>
            </a:r>
          </a:p>
          <a:p>
            <a:pPr algn="l">
              <a:spcAft>
                <a:spcPts val="0"/>
              </a:spcAft>
              <a:buNone/>
            </a:pPr>
            <a:r>
              <a:rPr sz="1250" b="0" i="0">
                <a:solidFill>
                  <a:srgbClr val="1F2937"/>
                </a:solidFill>
                <a:latin typeface="Arial"/>
              </a:rPr>
              <a:t>robots.txt and Crawl-delay obeyed; demo stores only; no affiliate links or urgency.</a:t>
            </a:r>
          </a:p>
        </p:txBody>
      </p:sp>
      <p:sp>
        <p:nvSpPr>
          <p:cNvPr id="14" name="TextBox 13"/>
          <p:cNvSpPr txBox="1"/>
          <p:nvPr/>
        </p:nvSpPr>
        <p:spPr>
          <a:xfrm>
            <a:off x="6812279" y="1170432"/>
            <a:ext cx="4830775"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Possible improvements</a:t>
            </a:r>
          </a:p>
        </p:txBody>
      </p:sp>
      <p:sp>
        <p:nvSpPr>
          <p:cNvPr id="15" name="TextBox 14"/>
          <p:cNvSpPr txBox="1"/>
          <p:nvPr/>
        </p:nvSpPr>
        <p:spPr>
          <a:xfrm>
            <a:off x="6812279" y="1645920"/>
            <a:ext cx="4830775" cy="4297680"/>
          </a:xfrm>
          <a:prstGeom prst="rect">
            <a:avLst/>
          </a:prstGeom>
          <a:noFill/>
        </p:spPr>
        <p:txBody>
          <a:bodyPr wrap="square" lIns="36576" tIns="18288" rIns="36576" bIns="18288" anchor="t">
            <a:noAutofit/>
          </a:bodyPr>
          <a:lstStyle/>
          <a:p>
            <a:pPr algn="l" marL="201168" indent="-201168">
              <a:spcAft>
                <a:spcPts val="800"/>
              </a:spcAft>
              <a:buClr>
                <a:srgbClr val="0079BC"/>
              </a:buClr>
              <a:buFont typeface="Arial"/>
              <a:buChar char="•"/>
            </a:pPr>
            <a:r>
              <a:rPr sz="1400" b="0" i="0">
                <a:solidFill>
                  <a:srgbClr val="1F2937"/>
                </a:solidFill>
                <a:latin typeface="Arial"/>
              </a:rPr>
              <a:t>A rotating log file and request IDs (logs go to the terminal today)</a:t>
            </a:r>
          </a:p>
          <a:p>
            <a:pPr algn="l" marL="201168" indent="-201168">
              <a:spcAft>
                <a:spcPts val="800"/>
              </a:spcAft>
              <a:buClr>
                <a:srgbClr val="0079BC"/>
              </a:buClr>
              <a:buFont typeface="Arial"/>
              <a:buChar char="•"/>
            </a:pPr>
            <a:r>
              <a:rPr sz="1400" b="0" i="0">
                <a:solidFill>
                  <a:srgbClr val="1F2937"/>
                </a:solidFill>
                <a:latin typeface="Arial"/>
              </a:rPr>
              <a:t>Persistent, per-account login limits; password reset; Secure cookies over HTTPS</a:t>
            </a:r>
          </a:p>
          <a:p>
            <a:pPr algn="l" marL="201168" indent="-201168">
              <a:spcAft>
                <a:spcPts val="800"/>
              </a:spcAft>
              <a:buClr>
                <a:srgbClr val="0079BC"/>
              </a:buClr>
              <a:buFont typeface="Arial"/>
              <a:buChar char="•"/>
            </a:pPr>
            <a:r>
              <a:rPr sz="1400" b="0" i="0">
                <a:solidFill>
                  <a:srgbClr val="1F2937"/>
                </a:solidFill>
                <a:latin typeface="Arial"/>
              </a:rPr>
              <a:t>Ask users to consent again when the notice text changes</a:t>
            </a:r>
          </a:p>
          <a:p>
            <a:pPr algn="l" marL="201168" indent="-201168">
              <a:spcAft>
                <a:spcPts val="800"/>
              </a:spcAft>
              <a:buClr>
                <a:srgbClr val="0079BC"/>
              </a:buClr>
              <a:buFont typeface="Arial"/>
              <a:buChar char="•"/>
            </a:pPr>
            <a:r>
              <a:rPr sz="1400" b="0" i="0">
                <a:solidFill>
                  <a:srgbClr val="1F2937"/>
                </a:solidFill>
                <a:latin typeface="Arial"/>
              </a:rPr>
              <a:t>Tax: marginal relief on surcharge; let users clear profile fields</a:t>
            </a:r>
          </a:p>
          <a:p>
            <a:pPr algn="l" marL="201168" indent="-201168">
              <a:spcAft>
                <a:spcPts val="800"/>
              </a:spcAft>
              <a:buClr>
                <a:srgbClr val="0079BC"/>
              </a:buClr>
              <a:buFont typeface="Arial"/>
              <a:buChar char="•"/>
            </a:pPr>
            <a:r>
              <a:rPr sz="1400" b="0" i="0">
                <a:solidFill>
                  <a:srgbClr val="1F2937"/>
                </a:solidFill>
                <a:latin typeface="Arial"/>
              </a:rPr>
              <a:t>UI: fix the subscription status filter; explain an empty backtest</a:t>
            </a:r>
          </a:p>
          <a:p>
            <a:pPr algn="l" marL="201168" indent="-201168">
              <a:spcAft>
                <a:spcPts val="800"/>
              </a:spcAft>
              <a:buClr>
                <a:srgbClr val="0079BC"/>
              </a:buClr>
              <a:buFont typeface="Arial"/>
              <a:buChar char="•"/>
            </a:pPr>
            <a:r>
              <a:rPr sz="1400" b="0" i="0">
                <a:solidFill>
                  <a:srgbClr val="1F2937"/>
                </a:solidFill>
                <a:latin typeface="Arial"/>
              </a:rPr>
              <a:t>Real data sources through Account Aggregator or Gmail with OAuth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Conclusion and future scope</a:t>
            </a:r>
          </a:p>
        </p:txBody>
      </p:sp>
      <p:sp>
        <p:nvSpPr>
          <p:cNvPr id="3" name="TextBox 2"/>
          <p:cNvSpPr txBox="1"/>
          <p:nvPr/>
        </p:nvSpPr>
        <p:spPr>
          <a:xfrm>
            <a:off x="548640" y="1188720"/>
            <a:ext cx="5394960" cy="411480"/>
          </a:xfrm>
          <a:prstGeom prst="rect">
            <a:avLst/>
          </a:prstGeom>
          <a:noFill/>
        </p:spPr>
        <p:txBody>
          <a:bodyPr wrap="square" lIns="36576" tIns="18288" rIns="36576" bIns="18288" anchor="t">
            <a:noAutofit/>
          </a:bodyPr>
          <a:lstStyle/>
          <a:p>
            <a:pPr algn="l">
              <a:spcAft>
                <a:spcPts val="400"/>
              </a:spcAft>
              <a:buNone/>
            </a:pPr>
            <a:r>
              <a:rPr sz="1900" b="1" i="0">
                <a:solidFill>
                  <a:srgbClr val="154360"/>
                </a:solidFill>
                <a:latin typeface="Arial"/>
              </a:rPr>
              <a:t>Conclusion</a:t>
            </a:r>
          </a:p>
        </p:txBody>
      </p:sp>
      <p:sp>
        <p:nvSpPr>
          <p:cNvPr id="4" name="TextBox 3"/>
          <p:cNvSpPr txBox="1"/>
          <p:nvPr/>
        </p:nvSpPr>
        <p:spPr>
          <a:xfrm>
            <a:off x="548640" y="1664208"/>
            <a:ext cx="5394960" cy="3108960"/>
          </a:xfrm>
          <a:prstGeom prst="rect">
            <a:avLst/>
          </a:prstGeom>
          <a:noFill/>
        </p:spPr>
        <p:txBody>
          <a:bodyPr wrap="square" lIns="36576" tIns="18288" rIns="36576" bIns="18288" anchor="t">
            <a:noAutofit/>
          </a:bodyPr>
          <a:lstStyle/>
          <a:p>
            <a:pPr algn="l" marL="201168" indent="-201168">
              <a:spcAft>
                <a:spcPts val="900"/>
              </a:spcAft>
              <a:buFont typeface="Arial"/>
              <a:buChar char="•"/>
            </a:pPr>
            <a:r>
              <a:rPr sz="1500" b="0" i="0">
                <a:solidFill>
                  <a:srgbClr val="1F2937"/>
                </a:solidFill>
                <a:latin typeface="Arial"/>
              </a:rPr>
              <a:t>Turns messages people already receive into a private, forward-looking view of their money</a:t>
            </a:r>
          </a:p>
          <a:p>
            <a:pPr algn="l" marL="201168" indent="-201168">
              <a:spcAft>
                <a:spcPts val="900"/>
              </a:spcAft>
              <a:buFont typeface="Arial"/>
              <a:buChar char="•"/>
            </a:pPr>
            <a:r>
              <a:rPr sz="1500" b="0" i="0">
                <a:solidFill>
                  <a:srgbClr val="1F2937"/>
                </a:solidFill>
                <a:latin typeface="Arial"/>
              </a:rPr>
              <a:t>Nine modules work end to end, offline, from one command</a:t>
            </a:r>
          </a:p>
          <a:p>
            <a:pPr algn="l" marL="201168" indent="-201168">
              <a:spcAft>
                <a:spcPts val="900"/>
              </a:spcAft>
              <a:buFont typeface="Arial"/>
              <a:buChar char="•"/>
            </a:pPr>
            <a:r>
              <a:rPr sz="1500" b="0" i="0">
                <a:solidFill>
                  <a:srgbClr val="1F2937"/>
                </a:solidFill>
                <a:latin typeface="Arial"/>
              </a:rPr>
              <a:t>Consent, purpose limitation, encryption and deletion are built in</a:t>
            </a:r>
          </a:p>
          <a:p>
            <a:pPr algn="l" marL="201168" indent="-201168">
              <a:spcAft>
                <a:spcPts val="900"/>
              </a:spcAft>
              <a:buFont typeface="Arial"/>
              <a:buChar char="•"/>
            </a:pPr>
            <a:r>
              <a:rPr sz="1500" b="0" i="0">
                <a:solidFill>
                  <a:srgbClr val="1F2937"/>
                </a:solidFill>
                <a:latin typeface="Arial"/>
              </a:rPr>
              <a:t>Results are measured honestly; 59 backend and 14 end-to-end tests pass</a:t>
            </a:r>
          </a:p>
        </p:txBody>
      </p:sp>
      <p:sp>
        <p:nvSpPr>
          <p:cNvPr id="5" name="TextBox 4"/>
          <p:cNvSpPr txBox="1"/>
          <p:nvPr/>
        </p:nvSpPr>
        <p:spPr>
          <a:xfrm>
            <a:off x="6263640" y="1188720"/>
            <a:ext cx="5376672" cy="411480"/>
          </a:xfrm>
          <a:prstGeom prst="rect">
            <a:avLst/>
          </a:prstGeom>
          <a:noFill/>
        </p:spPr>
        <p:txBody>
          <a:bodyPr wrap="square" lIns="36576" tIns="18288" rIns="36576" bIns="18288" anchor="t">
            <a:noAutofit/>
          </a:bodyPr>
          <a:lstStyle/>
          <a:p>
            <a:pPr algn="l">
              <a:spcAft>
                <a:spcPts val="400"/>
              </a:spcAft>
              <a:buNone/>
            </a:pPr>
            <a:r>
              <a:rPr sz="1900" b="1" i="0">
                <a:solidFill>
                  <a:srgbClr val="154360"/>
                </a:solidFill>
                <a:latin typeface="Arial"/>
              </a:rPr>
              <a:t>Future scope</a:t>
            </a:r>
          </a:p>
        </p:txBody>
      </p:sp>
      <p:sp>
        <p:nvSpPr>
          <p:cNvPr id="6" name="TextBox 5"/>
          <p:cNvSpPr txBox="1"/>
          <p:nvPr/>
        </p:nvSpPr>
        <p:spPr>
          <a:xfrm>
            <a:off x="6263640" y="1664208"/>
            <a:ext cx="5376672" cy="3108960"/>
          </a:xfrm>
          <a:prstGeom prst="rect">
            <a:avLst/>
          </a:prstGeom>
          <a:noFill/>
        </p:spPr>
        <p:txBody>
          <a:bodyPr wrap="square" lIns="36576" tIns="18288" rIns="36576" bIns="18288" anchor="t">
            <a:noAutofit/>
          </a:bodyPr>
          <a:lstStyle/>
          <a:p>
            <a:pPr algn="l" marL="201168" indent="-201168">
              <a:spcAft>
                <a:spcPts val="900"/>
              </a:spcAft>
              <a:buClr>
                <a:srgbClr val="0079BC"/>
              </a:buClr>
              <a:buFont typeface="Arial"/>
              <a:buChar char="•"/>
            </a:pPr>
            <a:r>
              <a:rPr sz="1500" b="0" i="0">
                <a:solidFill>
                  <a:srgbClr val="1F2937"/>
                </a:solidFill>
                <a:latin typeface="Arial"/>
              </a:rPr>
              <a:t>Real bank data through India's Account Aggregator framework</a:t>
            </a:r>
          </a:p>
          <a:p>
            <a:pPr algn="l" marL="201168" indent="-201168">
              <a:spcAft>
                <a:spcPts val="900"/>
              </a:spcAft>
              <a:buClr>
                <a:srgbClr val="0079BC"/>
              </a:buClr>
              <a:buFont typeface="Arial"/>
              <a:buChar char="•"/>
            </a:pPr>
            <a:r>
              <a:rPr sz="1500" b="0" i="0">
                <a:solidFill>
                  <a:srgbClr val="1F2937"/>
                </a:solidFill>
                <a:latin typeface="Arial"/>
              </a:rPr>
              <a:t>An Android companion app that reads SMS with permission</a:t>
            </a:r>
          </a:p>
          <a:p>
            <a:pPr algn="l" marL="201168" indent="-201168">
              <a:spcAft>
                <a:spcPts val="900"/>
              </a:spcAft>
              <a:buClr>
                <a:srgbClr val="0079BC"/>
              </a:buClr>
              <a:buFont typeface="Arial"/>
              <a:buChar char="•"/>
            </a:pPr>
            <a:r>
              <a:rPr sz="1500" b="0" i="0">
                <a:solidFill>
                  <a:srgbClr val="1F2937"/>
                </a:solidFill>
                <a:latin typeface="Arial"/>
              </a:rPr>
              <a:t>A local LLM behind the coach's ResponseProvider interface</a:t>
            </a:r>
          </a:p>
          <a:p>
            <a:pPr algn="l" marL="201168" indent="-201168">
              <a:spcAft>
                <a:spcPts val="900"/>
              </a:spcAft>
              <a:buClr>
                <a:srgbClr val="0079BC"/>
              </a:buClr>
              <a:buFont typeface="Arial"/>
              <a:buChar char="•"/>
            </a:pPr>
            <a:r>
              <a:rPr sz="1500" b="0" i="0">
                <a:solidFill>
                  <a:srgbClr val="1F2937"/>
                </a:solidFill>
                <a:latin typeface="Arial"/>
              </a:rPr>
              <a:t>Hosted multi-user deployment with HTTPS, PostgreSQL and log files</a:t>
            </a:r>
          </a:p>
          <a:p>
            <a:pPr algn="l" marL="201168" indent="-201168">
              <a:spcAft>
                <a:spcPts val="900"/>
              </a:spcAft>
              <a:buClr>
                <a:srgbClr val="0079BC"/>
              </a:buClr>
              <a:buFont typeface="Arial"/>
              <a:buChar char="•"/>
            </a:pPr>
            <a:r>
              <a:rPr sz="1500" b="0" i="0">
                <a:solidFill>
                  <a:srgbClr val="1F2937"/>
                </a:solidFill>
                <a:latin typeface="Arial"/>
              </a:rPr>
              <a:t>Partnerships with real stores for Smart Picks; more languages</a:t>
            </a:r>
          </a:p>
        </p:txBody>
      </p:sp>
      <p:sp>
        <p:nvSpPr>
          <p:cNvPr id="7" name="Rounded Rectangle 6"/>
          <p:cNvSpPr/>
          <p:nvPr/>
        </p:nvSpPr>
        <p:spPr>
          <a:xfrm>
            <a:off x="2898648" y="4892040"/>
            <a:ext cx="6400800" cy="91440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2800" b="1" i="0">
                <a:solidFill>
                  <a:srgbClr val="FFFFFF"/>
                </a:solidFill>
                <a:latin typeface="Times New Roman"/>
              </a:rPr>
              <a:t>Thank you  ·  Questions?</a:t>
            </a:r>
          </a:p>
        </p:txBody>
      </p:sp>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4994</Words>
  <Application>WPS Presentation</Application>
  <PresentationFormat>Widescreen</PresentationFormat>
  <Paragraphs>148</Paragraphs>
  <Slides>6</Slides>
  <Notes>27</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0</vt:i4>
      </vt:variant>
      <vt:variant>
        <vt:lpstr>幻灯片标题</vt:lpstr>
      </vt:variant>
      <vt:variant>
        <vt:i4>6</vt:i4>
      </vt:variant>
    </vt:vector>
  </HeadingPairs>
  <TitlesOfParts>
    <vt:vector size="27" baseType="lpstr">
      <vt:lpstr>Arial</vt:lpstr>
      <vt:lpstr>SimSun</vt:lpstr>
      <vt:lpstr>Wingdings</vt:lpstr>
      <vt:lpstr>Verdana</vt:lpstr>
      <vt:lpstr>Aptos Display</vt:lpstr>
      <vt:lpstr>Helvetica Neue</vt:lpstr>
      <vt:lpstr>Times New Roman</vt:lpstr>
      <vt:lpstr>Aptos</vt:lpstr>
      <vt:lpstr>Verdana</vt:lpstr>
      <vt:lpstr>Calibri</vt:lpstr>
      <vt:lpstr>Calibri</vt:lpstr>
      <vt:lpstr>Calibri</vt:lpstr>
      <vt:lpstr>Microsoft YaHei</vt:lpstr>
      <vt:lpstr>汉仪旗黑</vt:lpstr>
      <vt:lpstr>Arial Unicode MS</vt:lpstr>
      <vt:lpstr>Consolas</vt:lpstr>
      <vt:lpstr>Consolas</vt:lpstr>
      <vt:lpstr>Consolas</vt:lpstr>
      <vt:lpstr>苹方-简</vt:lpstr>
      <vt:lpstr>宋体-简</vt:lpstr>
      <vt:lpstr>1_Default Design</vt:lpstr>
      <vt:lpstr>SSN College of Engineering, Kalavakkam - 603110 Department of Information Technology</vt:lpstr>
      <vt:lpstr>Problem Statement</vt:lpstr>
      <vt:lpstr>Proposed Solution</vt:lpstr>
      <vt:lpstr>Block Diagram</vt:lpstr>
      <vt:lpstr>Technology Stack</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FinPilot AI — Project Presentation</dc:title>
  <dc:creator>Jeya Sangavi R, Rahul Akshath Rajendran, Rakshitha S</dc:creator>
  <cp:lastModifiedBy>rahulakshath</cp:lastModifiedBy>
  <cp:revision>110</cp:revision>
  <cp:lastPrinted>2026-07-31T08:58:42Z</cp:lastPrinted>
  <dcterms:created xsi:type="dcterms:W3CDTF">2026-07-31T08:58:42Z</dcterms:created>
  <dcterms:modified xsi:type="dcterms:W3CDTF">2026-07-31T08:58:42Z</dcterms:modified>
  <dc:subject>UIT2739 Full Stack Development Project, SSN College of Engineering</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C74005CF77AE1C8DECF8566A79DFFBB0_42</vt:lpwstr>
  </property>
</Properties>
</file>